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charts/chart3.xml" ContentType="application/vnd.openxmlformats-officedocument.drawingml.chart+xml"/>
  <Override PartName="/ppt/notesSlides/notesSlide4.xml" ContentType="application/vnd.openxmlformats-officedocument.presentationml.notesSlide+xml"/>
  <Override PartName="/ppt/charts/chart4.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5.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0.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3.xml" ContentType="application/vnd.openxmlformats-officedocument.drawingml.chart+xml"/>
  <Override PartName="/ppt/theme/themeOverride1.xml" ContentType="application/vnd.openxmlformats-officedocument.themeOverride+xml"/>
  <Override PartName="/ppt/charts/chart14.xml" ContentType="application/vnd.openxmlformats-officedocument.drawingml.chart+xml"/>
  <Override PartName="/ppt/theme/themeOverride2.xml" ContentType="application/vnd.openxmlformats-officedocument.themeOverride+xml"/>
  <Override PartName="/ppt/charts/chart15.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16.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4.xml" ContentType="application/vnd.openxmlformats-officedocument.themeOverride+xml"/>
  <Override PartName="/ppt/charts/chart17.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5.xml" ContentType="application/vnd.openxmlformats-officedocument.themeOverr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18.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6.xml" ContentType="application/vnd.openxmlformats-officedocument.themeOverride+xml"/>
  <Override PartName="/ppt/notesSlides/notesSlide40.xml" ContentType="application/vnd.openxmlformats-officedocument.presentationml.notesSlide+xml"/>
  <Override PartName="/ppt/charts/chart19.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7.xml" ContentType="application/vnd.openxmlformats-officedocument.themeOverride+xml"/>
  <Override PartName="/ppt/charts/chart20.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8.xml" ContentType="application/vnd.openxmlformats-officedocument.themeOverride+xml"/>
  <Override PartName="/ppt/charts/chart21.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9.xml" ContentType="application/vnd.openxmlformats-officedocument.themeOverr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media/image56.jpg" ContentType="image/jpeg"/>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22.xml" ContentType="application/vnd.openxmlformats-officedocument.drawingml.chart+xml"/>
  <Override PartName="/ppt/charts/chart23.xml" ContentType="application/vnd.openxmlformats-officedocument.drawingml.chart+xml"/>
  <Override PartName="/ppt/notesSlides/notesSlide45.xml" ContentType="application/vnd.openxmlformats-officedocument.presentationml.notesSlide+xml"/>
  <Override PartName="/ppt/charts/chart24.xml" ContentType="application/vnd.openxmlformats-officedocument.drawingml.chart+xml"/>
  <Override PartName="/ppt/notesSlides/notesSlide46.xml" ContentType="application/vnd.openxmlformats-officedocument.presentationml.notesSlide+xml"/>
  <Override PartName="/ppt/charts/chart25.xml" ContentType="application/vnd.openxmlformats-officedocument.drawingml.chart+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rts/chart26.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49.xml" ContentType="application/vnd.openxmlformats-officedocument.presentationml.notesSlide+xml"/>
  <Override PartName="/ppt/charts/chart2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147471053" r:id="rId2"/>
    <p:sldId id="2147471054" r:id="rId3"/>
    <p:sldId id="261" r:id="rId4"/>
    <p:sldId id="257" r:id="rId5"/>
    <p:sldId id="258" r:id="rId6"/>
    <p:sldId id="259" r:id="rId7"/>
    <p:sldId id="2147471051" r:id="rId8"/>
    <p:sldId id="2147471046" r:id="rId9"/>
    <p:sldId id="2147471047" r:id="rId10"/>
    <p:sldId id="2147471048" r:id="rId11"/>
    <p:sldId id="273" r:id="rId12"/>
    <p:sldId id="2147471049" r:id="rId13"/>
    <p:sldId id="277" r:id="rId14"/>
    <p:sldId id="276" r:id="rId15"/>
    <p:sldId id="278" r:id="rId16"/>
    <p:sldId id="275" r:id="rId17"/>
    <p:sldId id="2147471029" r:id="rId18"/>
    <p:sldId id="2147471030" r:id="rId19"/>
    <p:sldId id="2147471031" r:id="rId20"/>
    <p:sldId id="2147471032" r:id="rId21"/>
    <p:sldId id="2147471033" r:id="rId22"/>
    <p:sldId id="2147471034" r:id="rId23"/>
    <p:sldId id="2147471035" r:id="rId24"/>
    <p:sldId id="2147471036" r:id="rId25"/>
    <p:sldId id="2147471037" r:id="rId26"/>
    <p:sldId id="2147471038" r:id="rId27"/>
    <p:sldId id="2147471039" r:id="rId28"/>
    <p:sldId id="2147471040" r:id="rId29"/>
    <p:sldId id="2147471041" r:id="rId30"/>
    <p:sldId id="2147471042" r:id="rId31"/>
    <p:sldId id="2147471043" r:id="rId32"/>
    <p:sldId id="2147471044" r:id="rId33"/>
    <p:sldId id="2147471019" r:id="rId34"/>
    <p:sldId id="2147471026" r:id="rId35"/>
    <p:sldId id="2147471024" r:id="rId36"/>
    <p:sldId id="2147471027" r:id="rId37"/>
    <p:sldId id="2147471028" r:id="rId38"/>
    <p:sldId id="2147471016" r:id="rId39"/>
    <p:sldId id="2296" r:id="rId40"/>
    <p:sldId id="2370" r:id="rId41"/>
    <p:sldId id="2371" r:id="rId42"/>
    <p:sldId id="2372" r:id="rId43"/>
    <p:sldId id="2375" r:id="rId44"/>
    <p:sldId id="2380" r:id="rId45"/>
    <p:sldId id="2381" r:id="rId46"/>
    <p:sldId id="2382" r:id="rId47"/>
    <p:sldId id="2378" r:id="rId48"/>
    <p:sldId id="2376" r:id="rId49"/>
    <p:sldId id="2383" r:id="rId50"/>
    <p:sldId id="2384" r:id="rId51"/>
    <p:sldId id="2394" r:id="rId52"/>
    <p:sldId id="2395" r:id="rId53"/>
    <p:sldId id="2396" r:id="rId54"/>
    <p:sldId id="2397" r:id="rId55"/>
    <p:sldId id="2398" r:id="rId56"/>
    <p:sldId id="2399" r:id="rId57"/>
    <p:sldId id="2400" r:id="rId58"/>
    <p:sldId id="2401" r:id="rId59"/>
    <p:sldId id="2147471045" r:id="rId60"/>
    <p:sldId id="2147471055" r:id="rId61"/>
    <p:sldId id="2147471056" r:id="rId62"/>
    <p:sldId id="2147471057" r:id="rId63"/>
    <p:sldId id="2147471058" r:id="rId64"/>
    <p:sldId id="2147471059" r:id="rId65"/>
    <p:sldId id="2147471060" r:id="rId66"/>
    <p:sldId id="2147471061"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5760" y="1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1.xml"/><Relationship Id="rId1" Type="http://schemas.microsoft.com/office/2011/relationships/chartStyle" Target="style1.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2" Type="http://schemas.openxmlformats.org/officeDocument/2006/relationships/oleObject" Target="file:///C:\Users\pacifique.cyungura\AppData\Local\Microsoft\Olk\Attachments\ooa-f42cc770-9be0-422d-83ba-6e4200008790\4e503b3f5a660dee143e18b974a359bdee95a51441909521f41c1f04af1a263b\%25NND%20June,July,Aug%202026.xls" TargetMode="External"/><Relationship Id="rId1" Type="http://schemas.openxmlformats.org/officeDocument/2006/relationships/themeOverride" Target="../theme/themeOverride1.xml"/></Relationships>
</file>

<file path=ppt/charts/_rels/chart14.xml.rels><?xml version="1.0" encoding="UTF-8" standalone="yes"?>
<Relationships xmlns="http://schemas.openxmlformats.org/package/2006/relationships"><Relationship Id="rId2" Type="http://schemas.openxmlformats.org/officeDocument/2006/relationships/package" Target="../embeddings/Microsoft_Excel_Worksheet12.xlsx"/><Relationship Id="rId1" Type="http://schemas.openxmlformats.org/officeDocument/2006/relationships/themeOverride" Target="../theme/themeOverride2.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3.xlsx"/></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4.xlsx"/></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15.xlsx"/></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16.xlsx"/></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17.xlsx"/></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18.xlsx"/></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19.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9.xml"/><Relationship Id="rId1" Type="http://schemas.microsoft.com/office/2011/relationships/chartStyle" Target="style9.xml"/></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1F4B"/>
                </a:solidFill>
                <a:latin typeface="+mn-lt"/>
              </a:defRPr>
            </a:pPr>
            <a:r>
              <a:rPr lang="fr-FR" sz="1100" b="0" i="0" u="none" strike="noStrike" dirty="0">
                <a:solidFill>
                  <a:srgbClr val="0B1F4B"/>
                </a:solidFill>
                <a:latin typeface="+mn-lt"/>
              </a:rPr>
              <a:t>Ventes mensuelles 2026, hL (local + export)</a:t>
            </a:r>
          </a:p>
        </c:rich>
      </c:tx>
      <c:overlay val="0"/>
    </c:title>
    <c:autoTitleDeleted val="0"/>
    <c:plotArea>
      <c:layout/>
      <c:barChart>
        <c:barDir val="col"/>
        <c:grouping val="clustered"/>
        <c:varyColors val="0"/>
        <c:ser>
          <c:idx val="0"/>
          <c:order val="0"/>
          <c:tx>
            <c:strRef>
              <c:f>Sheet1!$B$1</c:f>
              <c:strCache>
                <c:ptCount val="1"/>
                <c:pt idx="0">
                  <c:v>Ventes mensuelles 2026 (hL)</c:v>
                </c:pt>
              </c:strCache>
            </c:strRef>
          </c:tx>
          <c:spPr>
            <a:solidFill>
              <a:srgbClr val="8FA2CC"/>
            </a:solidFill>
            <a:effectLst/>
          </c:spPr>
          <c:invertIfNegative val="0"/>
          <c:dPt>
            <c:idx val="0"/>
            <c:invertIfNegative val="0"/>
            <c:bubble3D val="0"/>
            <c:extLst>
              <c:ext xmlns:c16="http://schemas.microsoft.com/office/drawing/2014/chart" uri="{C3380CC4-5D6E-409C-BE32-E72D297353CC}">
                <c16:uniqueId val="{00000001-FFB1-4C89-9113-DD2CF6FBCF46}"/>
              </c:ext>
            </c:extLst>
          </c:dPt>
          <c:dPt>
            <c:idx val="1"/>
            <c:invertIfNegative val="0"/>
            <c:bubble3D val="0"/>
            <c:extLst>
              <c:ext xmlns:c16="http://schemas.microsoft.com/office/drawing/2014/chart" uri="{C3380CC4-5D6E-409C-BE32-E72D297353CC}">
                <c16:uniqueId val="{00000003-FFB1-4C89-9113-DD2CF6FBCF46}"/>
              </c:ext>
            </c:extLst>
          </c:dPt>
          <c:dPt>
            <c:idx val="2"/>
            <c:invertIfNegative val="0"/>
            <c:bubble3D val="0"/>
            <c:spPr>
              <a:solidFill>
                <a:srgbClr val="2E5AAC"/>
              </a:solidFill>
              <a:effectLst/>
            </c:spPr>
            <c:extLst>
              <c:ext xmlns:c16="http://schemas.microsoft.com/office/drawing/2014/chart" uri="{C3380CC4-5D6E-409C-BE32-E72D297353CC}">
                <c16:uniqueId val="{00000005-FFB1-4C89-9113-DD2CF6FBCF46}"/>
              </c:ext>
            </c:extLst>
          </c:dPt>
          <c:dPt>
            <c:idx val="3"/>
            <c:invertIfNegative val="0"/>
            <c:bubble3D val="0"/>
            <c:spPr>
              <a:solidFill>
                <a:srgbClr val="0B1F4B"/>
              </a:solidFill>
              <a:effectLst/>
            </c:spPr>
            <c:extLst>
              <c:ext xmlns:c16="http://schemas.microsoft.com/office/drawing/2014/chart" uri="{C3380CC4-5D6E-409C-BE32-E72D297353CC}">
                <c16:uniqueId val="{00000007-FFB1-4C89-9113-DD2CF6FBCF46}"/>
              </c:ext>
            </c:extLst>
          </c:dPt>
          <c:dPt>
            <c:idx val="4"/>
            <c:invertIfNegative val="0"/>
            <c:bubble3D val="0"/>
            <c:spPr>
              <a:solidFill>
                <a:srgbClr val="FFC20E"/>
              </a:solidFill>
              <a:effectLst/>
            </c:spPr>
            <c:extLst>
              <c:ext xmlns:c16="http://schemas.microsoft.com/office/drawing/2014/chart" uri="{C3380CC4-5D6E-409C-BE32-E72D297353CC}">
                <c16:uniqueId val="{00000009-FFB1-4C89-9113-DD2CF6FBCF46}"/>
              </c:ext>
            </c:extLst>
          </c:dPt>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Mai</c:v>
                </c:pt>
                <c:pt idx="1">
                  <c:v>Juin</c:v>
                </c:pt>
                <c:pt idx="2">
                  <c:v>Juil</c:v>
                </c:pt>
                <c:pt idx="3">
                  <c:v>Août</c:v>
                </c:pt>
                <c:pt idx="4">
                  <c:v>Sep</c:v>
                </c:pt>
              </c:strCache>
            </c:strRef>
          </c:cat>
          <c:val>
            <c:numRef>
              <c:f>Sheet1!$B$2:$B$6</c:f>
              <c:numCache>
                <c:formatCode>General</c:formatCode>
                <c:ptCount val="5"/>
                <c:pt idx="0">
                  <c:v>67510</c:v>
                </c:pt>
                <c:pt idx="1">
                  <c:v>71302</c:v>
                </c:pt>
                <c:pt idx="2">
                  <c:v>81660</c:v>
                </c:pt>
                <c:pt idx="3">
                  <c:v>89164</c:v>
                </c:pt>
                <c:pt idx="4">
                  <c:v>92644</c:v>
                </c:pt>
              </c:numCache>
            </c:numRef>
          </c:val>
          <c:extLst>
            <c:ext xmlns:c16="http://schemas.microsoft.com/office/drawing/2014/chart" uri="{C3380CC4-5D6E-409C-BE32-E72D297353CC}">
              <c16:uniqueId val="{0000000A-FFB1-4C89-9113-DD2CF6FBCF4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10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B1F4B"/>
                </a:solidFill>
                <a:latin typeface="+mn-lt"/>
              </a:defRPr>
            </a:pPr>
            <a:r>
              <a:rPr lang="fr-FR" sz="1000" b="0" i="0" u="none" strike="noStrike" dirty="0">
                <a:solidFill>
                  <a:srgbClr val="0B1F4B"/>
                </a:solidFill>
                <a:latin typeface="+mn-lt"/>
              </a:rPr>
              <a:t>Part de marché bière publiée 2026</a:t>
            </a:r>
          </a:p>
        </c:rich>
      </c:tx>
      <c:overlay val="0"/>
    </c:title>
    <c:autoTitleDeleted val="0"/>
    <c:plotArea>
      <c:layout/>
      <c:lineChart>
        <c:grouping val="standard"/>
        <c:varyColors val="0"/>
        <c:ser>
          <c:idx val="0"/>
          <c:order val="0"/>
          <c:tx>
            <c:strRef>
              <c:f>Sheet1!$B$1</c:f>
              <c:strCache>
                <c:ptCount val="1"/>
                <c:pt idx="0">
                  <c:v>2026</c:v>
                </c:pt>
              </c:strCache>
            </c:strRef>
          </c:tx>
          <c:spPr>
            <a:ln w="31750" cap="flat">
              <a:solidFill>
                <a:srgbClr val="D6281E"/>
              </a:solidFill>
              <a:prstDash val="solid"/>
              <a:round/>
            </a:ln>
            <a:effectLst/>
          </c:spPr>
          <c:marker>
            <c:symbol val="circle"/>
            <c:size val="5"/>
            <c:spPr>
              <a:solidFill>
                <a:srgbClr val="D6281E"/>
              </a:solidFill>
              <a:ln w="9525" cap="flat">
                <a:solidFill>
                  <a:srgbClr val="D6281E"/>
                </a:solidFill>
                <a:prstDash val="solid"/>
                <a:round/>
              </a:ln>
              <a:effectLst/>
            </c:spPr>
          </c:marker>
          <c:dLbls>
            <c:numFmt formatCode="0.0" sourceLinked="0"/>
            <c:spPr>
              <a:noFill/>
              <a:ln>
                <a:noFill/>
              </a:ln>
              <a:effectLst/>
            </c:spPr>
            <c:txPr>
              <a:bodyPr/>
              <a:lstStyle/>
              <a:p>
                <a:pPr>
                  <a:defRPr sz="800" b="0" i="0" u="none" strike="noStrike">
                    <a:solidFill>
                      <a:srgbClr val="14213D"/>
                    </a:solidFill>
                    <a:latin typeface="+mn-lt"/>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Fév</c:v>
                </c:pt>
                <c:pt idx="2">
                  <c:v>Mar</c:v>
                </c:pt>
                <c:pt idx="3">
                  <c:v>Avr</c:v>
                </c:pt>
                <c:pt idx="4">
                  <c:v>Mai</c:v>
                </c:pt>
                <c:pt idx="5">
                  <c:v>Juin</c:v>
                </c:pt>
                <c:pt idx="6">
                  <c:v>Juil</c:v>
                </c:pt>
                <c:pt idx="7">
                  <c:v>Août</c:v>
                </c:pt>
                <c:pt idx="8">
                  <c:v>Sep</c:v>
                </c:pt>
              </c:strCache>
            </c:strRef>
          </c:cat>
          <c:val>
            <c:numRef>
              <c:f>Sheet1!$B$2:$B$10</c:f>
              <c:numCache>
                <c:formatCode>General</c:formatCode>
                <c:ptCount val="9"/>
                <c:pt idx="0">
                  <c:v>25</c:v>
                </c:pt>
                <c:pt idx="1">
                  <c:v>23</c:v>
                </c:pt>
                <c:pt idx="2">
                  <c:v>22.7</c:v>
                </c:pt>
                <c:pt idx="3">
                  <c:v>25.2</c:v>
                </c:pt>
                <c:pt idx="4">
                  <c:v>23.2</c:v>
                </c:pt>
                <c:pt idx="5">
                  <c:v>24.8</c:v>
                </c:pt>
                <c:pt idx="6">
                  <c:v>26.5</c:v>
                </c:pt>
                <c:pt idx="7">
                  <c:v>27.8</c:v>
                </c:pt>
                <c:pt idx="8">
                  <c:v>31.5</c:v>
                </c:pt>
              </c:numCache>
            </c:numRef>
          </c:val>
          <c:smooth val="0"/>
          <c:extLst>
            <c:ext xmlns:c16="http://schemas.microsoft.com/office/drawing/2014/chart" uri="{C3380CC4-5D6E-409C-BE32-E72D297353CC}">
              <c16:uniqueId val="{00000000-D510-4BBC-B987-11566B3F958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34"/>
          <c:min val="20"/>
        </c:scaling>
        <c:delete val="0"/>
        <c:axPos val="l"/>
        <c:majorGridlines>
          <c:spPr>
            <a:ln w="6350" cap="flat">
              <a:solidFill>
                <a:srgbClr val="E3EA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8"/>
                </a:solidFill>
                <a:latin typeface="+mn-lt"/>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1F4B"/>
                </a:solidFill>
                <a:latin typeface="+mn-lt"/>
              </a:defRPr>
            </a:pPr>
            <a:r>
              <a:rPr lang="fr-FR" sz="1100" b="0" i="0" u="none" strike="noStrike" dirty="0">
                <a:solidFill>
                  <a:srgbClr val="0B1F4B"/>
                </a:solidFill>
                <a:latin typeface="+mn-lt"/>
              </a:rPr>
              <a:t>Ventes mensuelles 2026, hL — local (domestique)</a:t>
            </a:r>
          </a:p>
        </c:rich>
      </c:tx>
      <c:overlay val="0"/>
    </c:title>
    <c:autoTitleDeleted val="0"/>
    <c:plotArea>
      <c:layout/>
      <c:barChart>
        <c:barDir val="col"/>
        <c:grouping val="clustered"/>
        <c:varyColors val="0"/>
        <c:ser>
          <c:idx val="0"/>
          <c:order val="0"/>
          <c:tx>
            <c:strRef>
              <c:f>Sheet1!$B$1</c:f>
              <c:strCache>
                <c:ptCount val="1"/>
                <c:pt idx="0">
                  <c:v>Ventes locales 2026 (hL)</c:v>
                </c:pt>
              </c:strCache>
            </c:strRef>
          </c:tx>
          <c:spPr>
            <a:solidFill>
              <a:srgbClr val="8FA2CC"/>
            </a:solidFill>
            <a:effectLst/>
          </c:spPr>
          <c:invertIfNegative val="0"/>
          <c:dPt>
            <c:idx val="0"/>
            <c:invertIfNegative val="0"/>
            <c:bubble3D val="0"/>
            <c:extLst>
              <c:ext xmlns:c16="http://schemas.microsoft.com/office/drawing/2014/chart" uri="{C3380CC4-5D6E-409C-BE32-E72D297353CC}">
                <c16:uniqueId val="{00000001-FFB1-4C89-9113-DD2CF6FBCF46}"/>
              </c:ext>
            </c:extLst>
          </c:dPt>
          <c:dPt>
            <c:idx val="1"/>
            <c:invertIfNegative val="0"/>
            <c:bubble3D val="0"/>
            <c:extLst>
              <c:ext xmlns:c16="http://schemas.microsoft.com/office/drawing/2014/chart" uri="{C3380CC4-5D6E-409C-BE32-E72D297353CC}">
                <c16:uniqueId val="{00000003-FFB1-4C89-9113-DD2CF6FBCF46}"/>
              </c:ext>
            </c:extLst>
          </c:dPt>
          <c:dPt>
            <c:idx val="2"/>
            <c:invertIfNegative val="0"/>
            <c:bubble3D val="0"/>
            <c:extLst>
              <c:ext xmlns:c16="http://schemas.microsoft.com/office/drawing/2014/chart" uri="{C3380CC4-5D6E-409C-BE32-E72D297353CC}">
                <c16:uniqueId val="{00000005-FFB1-4C89-9113-DD2CF6FBCF46}"/>
              </c:ext>
            </c:extLst>
          </c:dPt>
          <c:dPt>
            <c:idx val="3"/>
            <c:invertIfNegative val="0"/>
            <c:bubble3D val="0"/>
            <c:extLst>
              <c:ext xmlns:c16="http://schemas.microsoft.com/office/drawing/2014/chart" uri="{C3380CC4-5D6E-409C-BE32-E72D297353CC}">
                <c16:uniqueId val="{00000007-FFB1-4C89-9113-DD2CF6FBCF46}"/>
              </c:ext>
            </c:extLst>
          </c:dPt>
          <c:dPt>
            <c:idx val="4"/>
            <c:invertIfNegative val="0"/>
            <c:bubble3D val="0"/>
            <c:extLst>
              <c:ext xmlns:c16="http://schemas.microsoft.com/office/drawing/2014/chart" uri="{C3380CC4-5D6E-409C-BE32-E72D297353CC}">
                <c16:uniqueId val="{00000009-FFB1-4C89-9113-DD2CF6FBCF46}"/>
              </c:ext>
            </c:extLst>
          </c:dPt>
          <c:dPt>
            <c:idx val="5"/>
            <c:invertIfNegative val="1"/>
            <c:bubble3D val="0"/>
            <c:spPr>
              <a:solidFill>
                <a:srgbClr val="8FA2CC"/>
              </a:solidFill>
            </c:spPr>
            <c:extLst>
              <c:ext xmlns:c16="http://schemas.microsoft.com/office/drawing/2014/chart" uri="{C3380CC4-5D6E-409C-BE32-E72D297353CC}">
                <c16:uniqueId val="{0000000B-6758-4EC3-8909-069E5CE06D89}"/>
              </c:ext>
            </c:extLst>
          </c:dPt>
          <c:dPt>
            <c:idx val="6"/>
            <c:invertIfNegative val="1"/>
            <c:bubble3D val="0"/>
            <c:spPr>
              <a:solidFill>
                <a:srgbClr val="2E5AAC"/>
              </a:solidFill>
            </c:spPr>
            <c:extLst>
              <c:ext xmlns:c16="http://schemas.microsoft.com/office/drawing/2014/chart" uri="{C3380CC4-5D6E-409C-BE32-E72D297353CC}">
                <c16:uniqueId val="{0000000D-6758-4EC3-8909-069E5CE06D89}"/>
              </c:ext>
            </c:extLst>
          </c:dPt>
          <c:dPt>
            <c:idx val="7"/>
            <c:invertIfNegative val="1"/>
            <c:bubble3D val="0"/>
            <c:spPr>
              <a:solidFill>
                <a:srgbClr val="0B1F4B"/>
              </a:solidFill>
            </c:spPr>
            <c:extLst>
              <c:ext xmlns:c16="http://schemas.microsoft.com/office/drawing/2014/chart" uri="{C3380CC4-5D6E-409C-BE32-E72D297353CC}">
                <c16:uniqueId val="{0000000F-6758-4EC3-8909-069E5CE06D89}"/>
              </c:ext>
            </c:extLst>
          </c:dPt>
          <c:dPt>
            <c:idx val="8"/>
            <c:invertIfNegative val="1"/>
            <c:bubble3D val="0"/>
            <c:spPr>
              <a:solidFill>
                <a:srgbClr val="FFC20E"/>
              </a:solidFill>
            </c:spPr>
            <c:extLst>
              <c:ext xmlns:c16="http://schemas.microsoft.com/office/drawing/2014/chart" uri="{C3380CC4-5D6E-409C-BE32-E72D297353CC}">
                <c16:uniqueId val="{00000011-6758-4EC3-8909-069E5CE06D89}"/>
              </c:ext>
            </c:extLst>
          </c:dPt>
          <c:dLbls>
            <c:numFmt formatCode="#,##0" sourceLinked="0"/>
            <c:spPr>
              <a:noFill/>
              <a:ln>
                <a:noFill/>
              </a:ln>
              <a:effectLst/>
            </c:spPr>
            <c:txPr>
              <a:bodyPr/>
              <a:lstStyle/>
              <a:p>
                <a:pPr>
                  <a:defRPr sz="11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Fév</c:v>
                </c:pt>
                <c:pt idx="2">
                  <c:v>Mar</c:v>
                </c:pt>
                <c:pt idx="3">
                  <c:v>Avr</c:v>
                </c:pt>
                <c:pt idx="4">
                  <c:v>Mai</c:v>
                </c:pt>
                <c:pt idx="5">
                  <c:v>Juin</c:v>
                </c:pt>
                <c:pt idx="6">
                  <c:v>Juil</c:v>
                </c:pt>
                <c:pt idx="7">
                  <c:v>Août</c:v>
                </c:pt>
                <c:pt idx="8">
                  <c:v>Sep</c:v>
                </c:pt>
              </c:strCache>
            </c:strRef>
          </c:cat>
          <c:val>
            <c:numRef>
              <c:f>Sheet1!$B$2:$B$10</c:f>
              <c:numCache>
                <c:formatCode>General</c:formatCode>
                <c:ptCount val="9"/>
                <c:pt idx="0">
                  <c:v>52488</c:v>
                </c:pt>
                <c:pt idx="1">
                  <c:v>51346</c:v>
                </c:pt>
                <c:pt idx="2">
                  <c:v>50975</c:v>
                </c:pt>
                <c:pt idx="3">
                  <c:v>52172</c:v>
                </c:pt>
                <c:pt idx="4">
                  <c:v>52067</c:v>
                </c:pt>
                <c:pt idx="5">
                  <c:v>55142</c:v>
                </c:pt>
                <c:pt idx="6">
                  <c:v>59165</c:v>
                </c:pt>
                <c:pt idx="7">
                  <c:v>69873</c:v>
                </c:pt>
                <c:pt idx="8">
                  <c:v>74484</c:v>
                </c:pt>
              </c:numCache>
            </c:numRef>
          </c:val>
          <c:extLst>
            <c:ext xmlns:c16="http://schemas.microsoft.com/office/drawing/2014/chart" uri="{C3380CC4-5D6E-409C-BE32-E72D297353CC}">
              <c16:uniqueId val="{0000000A-FFB1-4C89-9113-DD2CF6FBCF4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9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Écart sell-in / sell-out (%)</c:v>
                </c:pt>
              </c:strCache>
            </c:strRef>
          </c:tx>
          <c:spPr>
            <a:ln w="25400" cap="flat">
              <a:solidFill>
                <a:srgbClr val="D6281E"/>
              </a:solidFill>
              <a:prstDash val="solid"/>
              <a:round/>
            </a:ln>
            <a:effectLst/>
          </c:spPr>
          <c:marker>
            <c:symbol val="circle"/>
            <c:size val="5"/>
            <c:spPr>
              <a:solidFill>
                <a:srgbClr val="D6281E"/>
              </a:solidFill>
              <a:ln w="9525" cap="flat">
                <a:solidFill>
                  <a:srgbClr val="D6281E"/>
                </a:solidFill>
                <a:prstDash val="solid"/>
                <a:round/>
              </a:ln>
              <a:effectLst/>
            </c:spPr>
          </c:marker>
          <c:dLbls>
            <c:numFmt formatCode="0" sourceLinked="0"/>
            <c:spPr>
              <a:noFill/>
              <a:ln>
                <a:noFill/>
              </a:ln>
              <a:effectLst/>
            </c:spPr>
            <c:txPr>
              <a:bodyPr/>
              <a:lstStyle/>
              <a:p>
                <a:pPr>
                  <a:defRPr sz="800" b="0" i="0" u="none" strike="noStrike">
                    <a:solidFill>
                      <a:srgbClr val="14213D"/>
                    </a:solidFill>
                    <a:latin typeface="+mn-lt"/>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Mai</c:v>
                </c:pt>
                <c:pt idx="1">
                  <c:v>Juin</c:v>
                </c:pt>
                <c:pt idx="2">
                  <c:v>Juil.</c:v>
                </c:pt>
                <c:pt idx="3">
                  <c:v>Août</c:v>
                </c:pt>
                <c:pt idx="4">
                  <c:v>Sept.</c:v>
                </c:pt>
              </c:strCache>
            </c:strRef>
          </c:cat>
          <c:val>
            <c:numRef>
              <c:f>Sheet1!$B$2:$B$6</c:f>
              <c:numCache>
                <c:formatCode>General</c:formatCode>
                <c:ptCount val="5"/>
                <c:pt idx="0">
                  <c:v>35.200000000000003</c:v>
                </c:pt>
                <c:pt idx="1">
                  <c:v>23.5</c:v>
                </c:pt>
                <c:pt idx="2">
                  <c:v>18</c:v>
                </c:pt>
                <c:pt idx="3">
                  <c:v>8.1999999999999993</c:v>
                </c:pt>
                <c:pt idx="4">
                  <c:v>3.4</c:v>
                </c:pt>
              </c:numCache>
            </c:numRef>
          </c:val>
          <c:smooth val="0"/>
          <c:extLst>
            <c:ext xmlns:c16="http://schemas.microsoft.com/office/drawing/2014/chart" uri="{C3380CC4-5D6E-409C-BE32-E72D297353CC}">
              <c16:uniqueId val="{00000000-6467-4E5B-8742-08BDF06B360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baseline="0">
                <a:solidFill>
                  <a:srgbClr val="0B1F4B"/>
                </a:solidFill>
                <a:latin typeface="+mn-lt"/>
                <a:ea typeface="+mn-ea"/>
                <a:cs typeface="+mn-cs"/>
              </a:defRPr>
            </a:pPr>
            <a:r>
              <a:rPr lang="fr-FR" sz="1000" b="0" i="0" u="none" strike="noStrike">
                <a:solidFill>
                  <a:srgbClr val="0B1F4B"/>
                </a:solidFill>
                <a:latin typeface="+mn-lt"/>
              </a:rPr>
              <a:t>Local 2027, hL par mois (septembre 2026 : 74 500)</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B1F4B"/>
              </a:solidFill>
              <a:latin typeface="+mn-lt"/>
              <a:ea typeface="+mn-ea"/>
              <a:cs typeface="+mn-cs"/>
            </a:defRPr>
          </a:pPr>
          <a:endParaRPr lang="fr-FR"/>
        </a:p>
      </c:txPr>
    </c:title>
    <c:autoTitleDeleted val="0"/>
    <c:plotArea>
      <c:layout/>
      <c:barChart>
        <c:barDir val="col"/>
        <c:grouping val="clustered"/>
        <c:varyColors val="0"/>
        <c:ser>
          <c:idx val="0"/>
          <c:order val="0"/>
          <c:tx>
            <c:strRef>
              <c:f>Sheet1!$B$1</c:f>
              <c:strCache>
                <c:ptCount val="1"/>
                <c:pt idx="0">
                  <c:v>Local 2027 (budget)</c:v>
                </c:pt>
              </c:strCache>
            </c:strRef>
          </c:tx>
          <c:spPr>
            <a:solidFill>
              <a:schemeClr val="accent2"/>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1-431A-4BEB-88CF-82C30542002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431A-4BEB-88CF-82C305420026}"/>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5-431A-4BEB-88CF-82C305420026}"/>
              </c:ext>
            </c:extLst>
          </c:dPt>
          <c:dPt>
            <c:idx val="3"/>
            <c:invertIfNegative val="0"/>
            <c:bubble3D val="0"/>
            <c:spPr>
              <a:solidFill>
                <a:schemeClr val="accent2"/>
              </a:solidFill>
              <a:ln>
                <a:noFill/>
              </a:ln>
              <a:effectLst/>
            </c:spPr>
            <c:extLst>
              <c:ext xmlns:c16="http://schemas.microsoft.com/office/drawing/2014/chart" uri="{C3380CC4-5D6E-409C-BE32-E72D297353CC}">
                <c16:uniqueId val="{00000007-431A-4BEB-88CF-82C305420026}"/>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9-431A-4BEB-88CF-82C305420026}"/>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B-431A-4BEB-88CF-82C305420026}"/>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D-431A-4BEB-88CF-82C305420026}"/>
              </c:ext>
            </c:extLst>
          </c:dPt>
          <c:dPt>
            <c:idx val="7"/>
            <c:invertIfNegative val="0"/>
            <c:bubble3D val="0"/>
            <c:spPr>
              <a:solidFill>
                <a:schemeClr val="accent2"/>
              </a:solidFill>
              <a:ln>
                <a:noFill/>
              </a:ln>
              <a:effectLst/>
            </c:spPr>
            <c:extLst>
              <c:ext xmlns:c16="http://schemas.microsoft.com/office/drawing/2014/chart" uri="{C3380CC4-5D6E-409C-BE32-E72D297353CC}">
                <c16:uniqueId val="{0000000F-431A-4BEB-88CF-82C305420026}"/>
              </c:ext>
            </c:extLst>
          </c:dPt>
          <c:dPt>
            <c:idx val="8"/>
            <c:invertIfNegative val="0"/>
            <c:bubble3D val="0"/>
            <c:spPr>
              <a:solidFill>
                <a:schemeClr val="accent2"/>
              </a:solidFill>
              <a:ln>
                <a:noFill/>
              </a:ln>
              <a:effectLst/>
            </c:spPr>
            <c:extLst>
              <c:ext xmlns:c16="http://schemas.microsoft.com/office/drawing/2014/chart" uri="{C3380CC4-5D6E-409C-BE32-E72D297353CC}">
                <c16:uniqueId val="{00000011-431A-4BEB-88CF-82C305420026}"/>
              </c:ext>
            </c:extLst>
          </c:dPt>
          <c:dPt>
            <c:idx val="9"/>
            <c:invertIfNegative val="0"/>
            <c:bubble3D val="0"/>
            <c:spPr>
              <a:solidFill>
                <a:schemeClr val="accent2"/>
              </a:solidFill>
              <a:ln>
                <a:noFill/>
              </a:ln>
              <a:effectLst/>
            </c:spPr>
            <c:extLst>
              <c:ext xmlns:c16="http://schemas.microsoft.com/office/drawing/2014/chart" uri="{C3380CC4-5D6E-409C-BE32-E72D297353CC}">
                <c16:uniqueId val="{00000013-431A-4BEB-88CF-82C305420026}"/>
              </c:ext>
            </c:extLst>
          </c:dPt>
          <c:dPt>
            <c:idx val="10"/>
            <c:invertIfNegative val="0"/>
            <c:bubble3D val="0"/>
            <c:spPr>
              <a:solidFill>
                <a:schemeClr val="accent2"/>
              </a:solidFill>
              <a:ln>
                <a:noFill/>
              </a:ln>
              <a:effectLst/>
            </c:spPr>
            <c:extLst>
              <c:ext xmlns:c16="http://schemas.microsoft.com/office/drawing/2014/chart" uri="{C3380CC4-5D6E-409C-BE32-E72D297353CC}">
                <c16:uniqueId val="{00000015-431A-4BEB-88CF-82C305420026}"/>
              </c:ext>
            </c:extLst>
          </c:dPt>
          <c:dPt>
            <c:idx val="11"/>
            <c:invertIfNegative val="0"/>
            <c:bubble3D val="0"/>
            <c:spPr>
              <a:solidFill>
                <a:schemeClr val="accent2"/>
              </a:solidFill>
              <a:ln>
                <a:noFill/>
              </a:ln>
              <a:effectLst/>
            </c:spPr>
            <c:extLst>
              <c:ext xmlns:c16="http://schemas.microsoft.com/office/drawing/2014/chart" uri="{C3380CC4-5D6E-409C-BE32-E72D297353CC}">
                <c16:uniqueId val="{00000017-431A-4BEB-88CF-82C305420026}"/>
              </c:ext>
            </c:extLst>
          </c:dPt>
          <c:dLbls>
            <c:numFmt formatCode="#,##0" sourceLinked="0"/>
            <c:spPr>
              <a:noFill/>
              <a:ln>
                <a:noFill/>
              </a:ln>
              <a:effectLst/>
            </c:spPr>
            <c:txPr>
              <a:bodyPr rot="0" spcFirstLastPara="1" vertOverflow="ellipsis" vert="horz" wrap="square" anchor="ctr" anchorCtr="1"/>
              <a:lstStyle/>
              <a:p>
                <a:pPr>
                  <a:defRPr sz="800" b="0" i="0" u="none" strike="noStrike" kern="1200" baseline="0">
                    <a:solidFill>
                      <a:srgbClr val="14213D"/>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janv.</c:v>
                </c:pt>
                <c:pt idx="1">
                  <c:v>févr.</c:v>
                </c:pt>
                <c:pt idx="2">
                  <c:v>mars</c:v>
                </c:pt>
                <c:pt idx="3">
                  <c:v>avr.</c:v>
                </c:pt>
                <c:pt idx="4">
                  <c:v>mai</c:v>
                </c:pt>
                <c:pt idx="5">
                  <c:v>juin</c:v>
                </c:pt>
                <c:pt idx="6">
                  <c:v>juil.</c:v>
                </c:pt>
                <c:pt idx="7">
                  <c:v>août</c:v>
                </c:pt>
                <c:pt idx="8">
                  <c:v>sept.</c:v>
                </c:pt>
                <c:pt idx="9">
                  <c:v>oct.</c:v>
                </c:pt>
                <c:pt idx="10">
                  <c:v>nov.</c:v>
                </c:pt>
                <c:pt idx="11">
                  <c:v>déc.</c:v>
                </c:pt>
              </c:strCache>
            </c:strRef>
          </c:cat>
          <c:val>
            <c:numRef>
              <c:f>Sheet1!$B$2:$B$13</c:f>
              <c:numCache>
                <c:formatCode>General</c:formatCode>
                <c:ptCount val="12"/>
                <c:pt idx="0">
                  <c:v>65594</c:v>
                </c:pt>
                <c:pt idx="1">
                  <c:v>58872</c:v>
                </c:pt>
                <c:pt idx="2">
                  <c:v>54670</c:v>
                </c:pt>
                <c:pt idx="3">
                  <c:v>48788</c:v>
                </c:pt>
                <c:pt idx="4">
                  <c:v>65594</c:v>
                </c:pt>
                <c:pt idx="5">
                  <c:v>65594</c:v>
                </c:pt>
                <c:pt idx="6">
                  <c:v>67275</c:v>
                </c:pt>
                <c:pt idx="7">
                  <c:v>67275</c:v>
                </c:pt>
                <c:pt idx="8">
                  <c:v>65594</c:v>
                </c:pt>
                <c:pt idx="9">
                  <c:v>65644</c:v>
                </c:pt>
                <c:pt idx="10">
                  <c:v>66617</c:v>
                </c:pt>
                <c:pt idx="11">
                  <c:v>68617</c:v>
                </c:pt>
              </c:numCache>
            </c:numRef>
          </c:val>
          <c:extLst>
            <c:ext xmlns:c16="http://schemas.microsoft.com/office/drawing/2014/chart" uri="{C3380CC4-5D6E-409C-BE32-E72D297353CC}">
              <c16:uniqueId val="{00000018-431A-4BEB-88CF-82C305420026}"/>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900" b="0" i="0" u="none" strike="noStrike" kern="1200" baseline="0">
                <a:solidFill>
                  <a:srgbClr val="14213D"/>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9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4B"/>
                </a:solidFill>
                <a:latin typeface="+mn-lt"/>
              </a:defRPr>
            </a:pPr>
            <a:r>
              <a:rPr lang="fr-FR" sz="1400" b="0" i="0" u="none" strike="noStrike" dirty="0">
                <a:solidFill>
                  <a:srgbClr val="0B1F4B"/>
                </a:solidFill>
                <a:latin typeface="+mn-lt"/>
              </a:rPr>
              <a:t>Enveloppes OPEX</a:t>
            </a:r>
            <a:r>
              <a:rPr lang="fr-FR" sz="1400" b="0" i="0" u="none" strike="noStrike" baseline="0" dirty="0">
                <a:solidFill>
                  <a:srgbClr val="0B1F4B"/>
                </a:solidFill>
                <a:latin typeface="+mn-lt"/>
              </a:rPr>
              <a:t> – CAPEX – FREE GOODS</a:t>
            </a:r>
            <a:r>
              <a:rPr lang="fr-FR" sz="1400" b="0" i="0" u="none" strike="noStrike" dirty="0">
                <a:solidFill>
                  <a:srgbClr val="0B1F4B"/>
                </a:solidFill>
                <a:latin typeface="+mn-lt"/>
              </a:rPr>
              <a:t> (M RWF)</a:t>
            </a:r>
          </a:p>
        </c:rich>
      </c:tx>
      <c:overlay val="0"/>
    </c:title>
    <c:autoTitleDeleted val="0"/>
    <c:plotArea>
      <c:layout/>
      <c:barChart>
        <c:barDir val="col"/>
        <c:grouping val="clustered"/>
        <c:varyColors val="0"/>
        <c:ser>
          <c:idx val="0"/>
          <c:order val="0"/>
          <c:tx>
            <c:strRef>
              <c:f>Sheet1!$B$1</c:f>
              <c:strCache>
                <c:ptCount val="1"/>
                <c:pt idx="0">
                  <c:v>Budget 2026</c:v>
                </c:pt>
              </c:strCache>
            </c:strRef>
          </c:tx>
          <c:spPr>
            <a:solidFill>
              <a:srgbClr val="B8C4DE"/>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Sheet1!$B$2:$B$4</c:f>
              <c:numCache>
                <c:formatCode>General</c:formatCode>
                <c:ptCount val="3"/>
                <c:pt idx="0">
                  <c:v>2225.9</c:v>
                </c:pt>
                <c:pt idx="1">
                  <c:v>1688.3</c:v>
                </c:pt>
                <c:pt idx="2">
                  <c:v>1387.4</c:v>
                </c:pt>
              </c:numCache>
            </c:numRef>
          </c:val>
          <c:extLst>
            <c:ext xmlns:c16="http://schemas.microsoft.com/office/drawing/2014/chart" uri="{C3380CC4-5D6E-409C-BE32-E72D297353CC}">
              <c16:uniqueId val="{00000000-AF2D-421C-B1C2-E70E4244BAB6}"/>
            </c:ext>
          </c:extLst>
        </c:ser>
        <c:ser>
          <c:idx val="1"/>
          <c:order val="1"/>
          <c:tx>
            <c:strRef>
              <c:f>Sheet1!$C$1</c:f>
              <c:strCache>
                <c:ptCount val="1"/>
                <c:pt idx="0">
                  <c:v>LE T3 2026</c:v>
                </c:pt>
              </c:strCache>
            </c:strRef>
          </c:tx>
          <c:spPr>
            <a:solidFill>
              <a:srgbClr val="8FA2CC"/>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Sheet1!$C$2:$C$4</c:f>
              <c:numCache>
                <c:formatCode>General</c:formatCode>
                <c:ptCount val="3"/>
                <c:pt idx="0">
                  <c:v>2630.3</c:v>
                </c:pt>
                <c:pt idx="1">
                  <c:v>1710.9</c:v>
                </c:pt>
                <c:pt idx="2">
                  <c:v>1100.0999999999999</c:v>
                </c:pt>
              </c:numCache>
            </c:numRef>
          </c:val>
          <c:extLst>
            <c:ext xmlns:c16="http://schemas.microsoft.com/office/drawing/2014/chart" uri="{C3380CC4-5D6E-409C-BE32-E72D297353CC}">
              <c16:uniqueId val="{00000001-AF2D-421C-B1C2-E70E4244BAB6}"/>
            </c:ext>
          </c:extLst>
        </c:ser>
        <c:ser>
          <c:idx val="2"/>
          <c:order val="2"/>
          <c:tx>
            <c:strRef>
              <c:f>Sheet1!$D$1</c:f>
              <c:strCache>
                <c:ptCount val="1"/>
                <c:pt idx="0">
                  <c:v>Budget 2027</c:v>
                </c:pt>
              </c:strCache>
            </c:strRef>
          </c:tx>
          <c:spPr>
            <a:solidFill>
              <a:srgbClr val="FFC20E"/>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Sheet1!$D$2:$D$4</c:f>
              <c:numCache>
                <c:formatCode>General</c:formatCode>
                <c:ptCount val="3"/>
                <c:pt idx="0">
                  <c:v>2757.3</c:v>
                </c:pt>
                <c:pt idx="1">
                  <c:v>1411.9</c:v>
                </c:pt>
                <c:pt idx="2">
                  <c:v>1250.2</c:v>
                </c:pt>
              </c:numCache>
            </c:numRef>
          </c:val>
          <c:extLst>
            <c:ext xmlns:c16="http://schemas.microsoft.com/office/drawing/2014/chart" uri="{C3380CC4-5D6E-409C-BE32-E72D297353CC}">
              <c16:uniqueId val="{00000002-AF2D-421C-B1C2-E70E4244BAB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00">
              <a:solidFill>
                <a:srgbClr val="1421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 </c:v>
                </c:pt>
              </c:strCache>
            </c:strRef>
          </c:tx>
          <c:invertIfNegative val="1"/>
          <c:dPt>
            <c:idx val="0"/>
            <c:invertIfNegative val="1"/>
            <c:bubble3D val="0"/>
            <c:spPr>
              <a:solidFill>
                <a:srgbClr val="C9CFD6"/>
              </a:solidFill>
              <a:ln>
                <a:noFill/>
              </a:ln>
            </c:spPr>
            <c:extLst>
              <c:ext xmlns:c16="http://schemas.microsoft.com/office/drawing/2014/chart" uri="{C3380CC4-5D6E-409C-BE32-E72D297353CC}">
                <c16:uniqueId val="{00000001-BC10-4E4C-8A81-834778A75130}"/>
              </c:ext>
            </c:extLst>
          </c:dPt>
          <c:dPt>
            <c:idx val="1"/>
            <c:invertIfNegative val="1"/>
            <c:bubble3D val="0"/>
            <c:spPr>
              <a:solidFill>
                <a:srgbClr val="1F4E79"/>
              </a:solidFill>
              <a:ln>
                <a:noFill/>
              </a:ln>
            </c:spPr>
            <c:extLst>
              <c:ext xmlns:c16="http://schemas.microsoft.com/office/drawing/2014/chart" uri="{C3380CC4-5D6E-409C-BE32-E72D297353CC}">
                <c16:uniqueId val="{00000003-BC10-4E4C-8A81-834778A75130}"/>
              </c:ext>
            </c:extLst>
          </c:dPt>
          <c:dLbls>
            <c:dLbl>
              <c:idx val="0"/>
              <c:tx>
                <c:rich>
                  <a:bodyPr/>
                  <a:lstStyle/>
                  <a:p>
                    <a:r>
                      <a:rPr lang="en-US" sz="1100" b="1">
                        <a:solidFill>
                          <a:srgbClr val="1F4E79"/>
                        </a:solidFill>
                      </a:rPr>
                      <a:t>21%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C10-4E4C-8A81-834778A75130}"/>
                </c:ext>
              </c:extLst>
            </c:dLbl>
            <c:dLbl>
              <c:idx val="1"/>
              <c:tx>
                <c:rich>
                  <a:bodyPr/>
                  <a:lstStyle/>
                  <a:p>
                    <a:r>
                      <a:rPr lang="en-US" sz="1100" b="1">
                        <a:solidFill>
                          <a:srgbClr val="1F4E79"/>
                        </a:solidFill>
                      </a:rPr>
                      <a:t>78%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C10-4E4C-8A81-834778A751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Q1</c:v>
                </c:pt>
                <c:pt idx="1">
                  <c:v>September</c:v>
                </c:pt>
              </c:strCache>
            </c:strRef>
          </c:cat>
          <c:val>
            <c:numRef>
              <c:f>Sheet1!$B$2:$B$3</c:f>
              <c:numCache>
                <c:formatCode>General</c:formatCode>
                <c:ptCount val="2"/>
                <c:pt idx="0">
                  <c:v>21</c:v>
                </c:pt>
                <c:pt idx="1">
                  <c:v>78</c:v>
                </c:pt>
              </c:numCache>
            </c:numRef>
          </c:val>
          <c:extLst>
            <c:ext xmlns:c16="http://schemas.microsoft.com/office/drawing/2014/chart" uri="{C3380CC4-5D6E-409C-BE32-E72D297353CC}">
              <c16:uniqueId val="{00000004-BC10-4E4C-8A81-834778A75130}"/>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950" b="1">
                <a:solidFill>
                  <a:srgbClr val="595959"/>
                </a:solidFill>
                <a:latin typeface="Arial"/>
              </a:defRPr>
            </a:pPr>
            <a:endParaRPr lang="en-RW"/>
          </a:p>
        </c:txPr>
        <c:crossAx val="-2113994440"/>
        <c:crosses val="autoZero"/>
        <c:auto val="1"/>
        <c:lblAlgn val="ctr"/>
        <c:lblOffset val="100"/>
        <c:noMultiLvlLbl val="0"/>
      </c:catAx>
      <c:valAx>
        <c:axId val="-2113994440"/>
        <c:scaling>
          <c:orientation val="minMax"/>
          <c:max val="9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950">
          <a:solidFill>
            <a:srgbClr val="595959"/>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 </c:v>
                </c:pt>
              </c:strCache>
            </c:strRef>
          </c:tx>
          <c:invertIfNegative val="1"/>
          <c:dPt>
            <c:idx val="0"/>
            <c:invertIfNegative val="1"/>
            <c:bubble3D val="0"/>
            <c:spPr>
              <a:solidFill>
                <a:srgbClr val="C9CFD6"/>
              </a:solidFill>
              <a:ln>
                <a:noFill/>
              </a:ln>
            </c:spPr>
            <c:extLst>
              <c:ext xmlns:c16="http://schemas.microsoft.com/office/drawing/2014/chart" uri="{C3380CC4-5D6E-409C-BE32-E72D297353CC}">
                <c16:uniqueId val="{00000001-D29D-458A-B6C9-13AB2DBB39F0}"/>
              </c:ext>
            </c:extLst>
          </c:dPt>
          <c:dPt>
            <c:idx val="1"/>
            <c:invertIfNegative val="1"/>
            <c:bubble3D val="0"/>
            <c:spPr>
              <a:solidFill>
                <a:srgbClr val="1F4E79"/>
              </a:solidFill>
              <a:ln>
                <a:noFill/>
              </a:ln>
            </c:spPr>
            <c:extLst>
              <c:ext xmlns:c16="http://schemas.microsoft.com/office/drawing/2014/chart" uri="{C3380CC4-5D6E-409C-BE32-E72D297353CC}">
                <c16:uniqueId val="{00000003-D29D-458A-B6C9-13AB2DBB39F0}"/>
              </c:ext>
            </c:extLst>
          </c:dPt>
          <c:dLbls>
            <c:dLbl>
              <c:idx val="0"/>
              <c:tx>
                <c:rich>
                  <a:bodyPr/>
                  <a:lstStyle/>
                  <a:p>
                    <a:r>
                      <a:rPr lang="en-US" sz="1100" b="1">
                        <a:solidFill>
                          <a:srgbClr val="1F4E79"/>
                        </a:solidFill>
                      </a:rPr>
                      <a:t>12.8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29D-458A-B6C9-13AB2DBB39F0}"/>
                </c:ext>
              </c:extLst>
            </c:dLbl>
            <c:dLbl>
              <c:idx val="1"/>
              <c:tx>
                <c:rich>
                  <a:bodyPr/>
                  <a:lstStyle/>
                  <a:p>
                    <a:r>
                      <a:rPr lang="en-US" sz="1100" b="1">
                        <a:solidFill>
                          <a:srgbClr val="1F4E79"/>
                        </a:solidFill>
                      </a:rPr>
                      <a:t>4.3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29D-458A-B6C9-13AB2DBB39F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Q1</c:v>
                </c:pt>
                <c:pt idx="1">
                  <c:v>September</c:v>
                </c:pt>
              </c:strCache>
            </c:strRef>
          </c:cat>
          <c:val>
            <c:numRef>
              <c:f>Sheet1!$B$2:$B$3</c:f>
              <c:numCache>
                <c:formatCode>General</c:formatCode>
                <c:ptCount val="2"/>
                <c:pt idx="0">
                  <c:v>12.8</c:v>
                </c:pt>
                <c:pt idx="1">
                  <c:v>4.3</c:v>
                </c:pt>
              </c:numCache>
            </c:numRef>
          </c:val>
          <c:extLst>
            <c:ext xmlns:c16="http://schemas.microsoft.com/office/drawing/2014/chart" uri="{C3380CC4-5D6E-409C-BE32-E72D297353CC}">
              <c16:uniqueId val="{00000004-D29D-458A-B6C9-13AB2DBB39F0}"/>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950" b="1">
                <a:solidFill>
                  <a:srgbClr val="595959"/>
                </a:solidFill>
                <a:latin typeface="Arial"/>
              </a:defRPr>
            </a:pPr>
            <a:endParaRPr lang="en-RW"/>
          </a:p>
        </c:txPr>
        <c:crossAx val="-2113994440"/>
        <c:crosses val="autoZero"/>
        <c:auto val="1"/>
        <c:lblAlgn val="ctr"/>
        <c:lblOffset val="100"/>
        <c:noMultiLvlLbl val="0"/>
      </c:catAx>
      <c:valAx>
        <c:axId val="-2113994440"/>
        <c:scaling>
          <c:orientation val="minMax"/>
          <c:max val="15.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950">
          <a:solidFill>
            <a:srgbClr val="595959"/>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 </c:v>
                </c:pt>
              </c:strCache>
            </c:strRef>
          </c:tx>
          <c:spPr>
            <a:solidFill>
              <a:srgbClr val="FFD13F"/>
            </a:solidFill>
          </c:spPr>
          <c:invertIfNegative val="1"/>
          <c:dPt>
            <c:idx val="0"/>
            <c:invertIfNegative val="1"/>
            <c:bubble3D val="0"/>
            <c:spPr>
              <a:solidFill>
                <a:srgbClr val="C9CFD6"/>
              </a:solidFill>
              <a:ln>
                <a:noFill/>
              </a:ln>
            </c:spPr>
            <c:extLst>
              <c:ext xmlns:c16="http://schemas.microsoft.com/office/drawing/2014/chart" uri="{C3380CC4-5D6E-409C-BE32-E72D297353CC}">
                <c16:uniqueId val="{00000001-6118-4531-A865-1AAFB66AE21F}"/>
              </c:ext>
            </c:extLst>
          </c:dPt>
          <c:dPt>
            <c:idx val="1"/>
            <c:invertIfNegative val="1"/>
            <c:bubble3D val="0"/>
            <c:spPr>
              <a:solidFill>
                <a:srgbClr val="FFD13F"/>
              </a:solidFill>
              <a:ln>
                <a:noFill/>
              </a:ln>
            </c:spPr>
            <c:extLst>
              <c:ext xmlns:c16="http://schemas.microsoft.com/office/drawing/2014/chart" uri="{C3380CC4-5D6E-409C-BE32-E72D297353CC}">
                <c16:uniqueId val="{00000003-6118-4531-A865-1AAFB66AE21F}"/>
              </c:ext>
            </c:extLst>
          </c:dPt>
          <c:dLbls>
            <c:dLbl>
              <c:idx val="0"/>
              <c:tx>
                <c:rich>
                  <a:bodyPr/>
                  <a:lstStyle/>
                  <a:p>
                    <a:r>
                      <a:rPr lang="en-US" sz="1100" b="1">
                        <a:solidFill>
                          <a:srgbClr val="1F4E79"/>
                        </a:solidFill>
                      </a:rPr>
                      <a:t>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118-4531-A865-1AAFB66AE21F}"/>
                </c:ext>
              </c:extLst>
            </c:dLbl>
            <c:dLbl>
              <c:idx val="1"/>
              <c:tx>
                <c:rich>
                  <a:bodyPr/>
                  <a:lstStyle/>
                  <a:p>
                    <a:r>
                      <a:rPr lang="en-US" sz="1100" b="1">
                        <a:solidFill>
                          <a:srgbClr val="1F4E79"/>
                        </a:solidFill>
                      </a:rPr>
                      <a:t>197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118-4531-A865-1AAFB66AE21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June</c:v>
                </c:pt>
                <c:pt idx="1">
                  <c:v>+49 days</c:v>
                </c:pt>
              </c:strCache>
            </c:strRef>
          </c:cat>
          <c:val>
            <c:numRef>
              <c:f>Sheet1!$B$2:$B$3</c:f>
              <c:numCache>
                <c:formatCode>General</c:formatCode>
                <c:ptCount val="2"/>
                <c:pt idx="0">
                  <c:v>100</c:v>
                </c:pt>
                <c:pt idx="1">
                  <c:v>197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6118-4531-A865-1AAFB66AE21F}"/>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DE"/>
            </a:solidFill>
          </a:ln>
        </c:spPr>
        <c:txPr>
          <a:bodyPr/>
          <a:lstStyle/>
          <a:p>
            <a:pPr>
              <a:defRPr sz="950" b="1">
                <a:solidFill>
                  <a:srgbClr val="595959"/>
                </a:solidFill>
                <a:latin typeface="Arial"/>
              </a:defRPr>
            </a:pPr>
            <a:endParaRPr lang="en-RW"/>
          </a:p>
        </c:txPr>
        <c:crossAx val="-2113994440"/>
        <c:crosses val="autoZero"/>
        <c:auto val="1"/>
        <c:lblAlgn val="ctr"/>
        <c:lblOffset val="100"/>
        <c:noMultiLvlLbl val="0"/>
      </c:catAx>
      <c:valAx>
        <c:axId val="-2113994440"/>
        <c:scaling>
          <c:orientation val="minMax"/>
          <c:max val="20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950">
          <a:solidFill>
            <a:srgbClr val="595959"/>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Sales 2026 (HL)</c:v>
                </c:pt>
              </c:strCache>
            </c:strRef>
          </c:tx>
          <c:spPr>
            <a:solidFill>
              <a:srgbClr val="1F3864"/>
            </a:solidFill>
            <a:effectLst/>
          </c:spPr>
          <c:invertIfNegative val="0"/>
          <c:dLbls>
            <c:numFmt formatCode="#,##0" sourceLinked="0"/>
            <c:spPr>
              <a:noFill/>
              <a:ln>
                <a:noFill/>
              </a:ln>
              <a:effectLst/>
            </c:spPr>
            <c:txPr>
              <a:bodyPr/>
              <a:lstStyle/>
              <a:p>
                <a:pPr>
                  <a:defRPr sz="1100" b="0" i="0" u="none" strike="noStrike">
                    <a:solidFill>
                      <a:srgbClr val="222222"/>
                    </a:solidFill>
                    <a:latin typeface="+mn-lt"/>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Sheet1!$B$2:$B$6</c:f>
              <c:numCache>
                <c:formatCode>General</c:formatCode>
                <c:ptCount val="5"/>
                <c:pt idx="0">
                  <c:v>50521</c:v>
                </c:pt>
                <c:pt idx="1">
                  <c:v>53805</c:v>
                </c:pt>
                <c:pt idx="2">
                  <c:v>58154</c:v>
                </c:pt>
                <c:pt idx="3">
                  <c:v>68908</c:v>
                </c:pt>
                <c:pt idx="4">
                  <c:v>72958</c:v>
                </c:pt>
              </c:numCache>
            </c:numRef>
          </c:val>
          <c:extLst>
            <c:ext xmlns:c16="http://schemas.microsoft.com/office/drawing/2014/chart" uri="{C3380CC4-5D6E-409C-BE32-E72D297353CC}">
              <c16:uniqueId val="{00000000-1F40-4C2A-B9DA-26CD96D811A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Pacis</c:v>
                </c:pt>
              </c:strCache>
            </c:strRef>
          </c:tx>
          <c:spPr>
            <a:solidFill>
              <a:srgbClr val="1F3864"/>
            </a:solidFill>
            <a:effectLst/>
          </c:spPr>
          <c:invertIfNegative val="0"/>
          <c:dLbls>
            <c:numFmt formatCode="#,##0;;" sourceLinked="0"/>
            <c:spPr>
              <a:noFill/>
              <a:ln>
                <a:noFill/>
              </a:ln>
              <a:effectLst/>
            </c:spPr>
            <c:txPr>
              <a:bodyPr/>
              <a:lstStyle/>
              <a:p>
                <a:pPr>
                  <a:defRPr sz="800" b="0" i="0" u="none" strike="noStrike">
                    <a:solidFill>
                      <a:srgbClr val="FFFFFF"/>
                    </a:solidFill>
                    <a:latin typeface="+mn-lt"/>
                  </a:defRPr>
                </a:pPr>
                <a:endParaRPr lang="en-R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Sheet1!$B$2:$B$6</c:f>
              <c:numCache>
                <c:formatCode>General</c:formatCode>
                <c:ptCount val="5"/>
                <c:pt idx="0">
                  <c:v>3306.72</c:v>
                </c:pt>
                <c:pt idx="1">
                  <c:v>2619.37</c:v>
                </c:pt>
                <c:pt idx="2">
                  <c:v>3303.93</c:v>
                </c:pt>
                <c:pt idx="3">
                  <c:v>4025.83</c:v>
                </c:pt>
                <c:pt idx="4">
                  <c:v>4377.7700000000004</c:v>
                </c:pt>
              </c:numCache>
            </c:numRef>
          </c:val>
          <c:extLst>
            <c:ext xmlns:c16="http://schemas.microsoft.com/office/drawing/2014/chart" uri="{C3380CC4-5D6E-409C-BE32-E72D297353CC}">
              <c16:uniqueId val="{00000000-B7B4-44F9-95FF-ADCE8046B964}"/>
            </c:ext>
          </c:extLst>
        </c:ser>
        <c:ser>
          <c:idx val="1"/>
          <c:order val="1"/>
          <c:tx>
            <c:strRef>
              <c:f>Sheet1!$C$1</c:f>
              <c:strCache>
                <c:ptCount val="1"/>
                <c:pt idx="0">
                  <c:v>N&amp;A Beverages</c:v>
                </c:pt>
              </c:strCache>
            </c:strRef>
          </c:tx>
          <c:spPr>
            <a:solidFill>
              <a:srgbClr val="E0A800"/>
            </a:solidFill>
            <a:effectLst/>
          </c:spPr>
          <c:invertIfNegative val="0"/>
          <c:dLbls>
            <c:numFmt formatCode="#,##0;;" sourceLinked="0"/>
            <c:spPr>
              <a:noFill/>
              <a:ln>
                <a:noFill/>
              </a:ln>
              <a:effectLst/>
            </c:spPr>
            <c:txPr>
              <a:bodyPr/>
              <a:lstStyle/>
              <a:p>
                <a:pPr>
                  <a:defRPr sz="800" b="0" i="0" u="none" strike="noStrike">
                    <a:solidFill>
                      <a:srgbClr val="FFFFFF"/>
                    </a:solidFill>
                    <a:latin typeface="+mn-lt"/>
                  </a:defRPr>
                </a:pPr>
                <a:endParaRPr lang="en-R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Sheet1!$C$2:$C$6</c:f>
              <c:numCache>
                <c:formatCode>General</c:formatCode>
                <c:ptCount val="5"/>
                <c:pt idx="0">
                  <c:v>0</c:v>
                </c:pt>
                <c:pt idx="1">
                  <c:v>0</c:v>
                </c:pt>
                <c:pt idx="2">
                  <c:v>0</c:v>
                </c:pt>
                <c:pt idx="3">
                  <c:v>873.01</c:v>
                </c:pt>
                <c:pt idx="4">
                  <c:v>1399.97</c:v>
                </c:pt>
              </c:numCache>
            </c:numRef>
          </c:val>
          <c:extLst>
            <c:ext xmlns:c16="http://schemas.microsoft.com/office/drawing/2014/chart" uri="{C3380CC4-5D6E-409C-BE32-E72D297353CC}">
              <c16:uniqueId val="{00000001-B7B4-44F9-95FF-ADCE8046B964}"/>
            </c:ext>
          </c:extLst>
        </c:ser>
        <c:dLbls>
          <c:dLblPos val="ctr"/>
          <c:showLegendKey val="0"/>
          <c:showVal val="1"/>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4444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Mumufaco</c:v>
                </c:pt>
              </c:strCache>
            </c:strRef>
          </c:tx>
          <c:spPr>
            <a:solidFill>
              <a:srgbClr val="1F3864"/>
            </a:solidFill>
            <a:effectLst/>
          </c:spPr>
          <c:invertIfNegative val="0"/>
          <c:dLbls>
            <c:numFmt formatCode="#,##0;;" sourceLinked="0"/>
            <c:spPr>
              <a:noFill/>
              <a:ln>
                <a:noFill/>
              </a:ln>
              <a:effectLst/>
            </c:spPr>
            <c:txPr>
              <a:bodyPr/>
              <a:lstStyle/>
              <a:p>
                <a:pPr>
                  <a:defRPr sz="800" b="0" i="0" u="none" strike="noStrike">
                    <a:solidFill>
                      <a:srgbClr val="FFFFFF"/>
                    </a:solidFill>
                    <a:latin typeface="+mn-lt"/>
                  </a:defRPr>
                </a:pPr>
                <a:endParaRPr lang="en-R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Sheet1!$B$2:$B$6</c:f>
              <c:numCache>
                <c:formatCode>General</c:formatCode>
                <c:ptCount val="5"/>
                <c:pt idx="0">
                  <c:v>2997.05</c:v>
                </c:pt>
                <c:pt idx="1">
                  <c:v>2781.42</c:v>
                </c:pt>
                <c:pt idx="2">
                  <c:v>2426.77</c:v>
                </c:pt>
                <c:pt idx="3">
                  <c:v>3453.71</c:v>
                </c:pt>
                <c:pt idx="4">
                  <c:v>3518.55</c:v>
                </c:pt>
              </c:numCache>
            </c:numRef>
          </c:val>
          <c:extLst>
            <c:ext xmlns:c16="http://schemas.microsoft.com/office/drawing/2014/chart" uri="{C3380CC4-5D6E-409C-BE32-E72D297353CC}">
              <c16:uniqueId val="{00000000-E1D7-4531-9BF9-3A1916C88D6A}"/>
            </c:ext>
          </c:extLst>
        </c:ser>
        <c:ser>
          <c:idx val="1"/>
          <c:order val="1"/>
          <c:tx>
            <c:strRef>
              <c:f>Sheet1!$C$1</c:f>
              <c:strCache>
                <c:ptCount val="1"/>
                <c:pt idx="0">
                  <c:v>HITRAB</c:v>
                </c:pt>
              </c:strCache>
            </c:strRef>
          </c:tx>
          <c:spPr>
            <a:solidFill>
              <a:srgbClr val="E0A800"/>
            </a:solidFill>
            <a:effectLst/>
          </c:spPr>
          <c:invertIfNegative val="0"/>
          <c:dLbls>
            <c:numFmt formatCode="#,##0;;" sourceLinked="0"/>
            <c:spPr>
              <a:noFill/>
              <a:ln>
                <a:noFill/>
              </a:ln>
              <a:effectLst/>
            </c:spPr>
            <c:txPr>
              <a:bodyPr/>
              <a:lstStyle/>
              <a:p>
                <a:pPr>
                  <a:defRPr sz="800" b="0" i="0" u="none" strike="noStrike">
                    <a:solidFill>
                      <a:srgbClr val="FFFFFF"/>
                    </a:solidFill>
                    <a:latin typeface="+mn-lt"/>
                  </a:defRPr>
                </a:pPr>
                <a:endParaRPr lang="en-R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Sheet1!$C$2:$C$6</c:f>
              <c:numCache>
                <c:formatCode>General</c:formatCode>
                <c:ptCount val="5"/>
                <c:pt idx="0">
                  <c:v>0</c:v>
                </c:pt>
                <c:pt idx="1">
                  <c:v>0</c:v>
                </c:pt>
                <c:pt idx="2">
                  <c:v>0</c:v>
                </c:pt>
                <c:pt idx="3">
                  <c:v>1048.06</c:v>
                </c:pt>
                <c:pt idx="4">
                  <c:v>1752.76</c:v>
                </c:pt>
              </c:numCache>
            </c:numRef>
          </c:val>
          <c:extLst>
            <c:ext xmlns:c16="http://schemas.microsoft.com/office/drawing/2014/chart" uri="{C3380CC4-5D6E-409C-BE32-E72D297353CC}">
              <c16:uniqueId val="{00000001-E1D7-4531-9BF9-3A1916C88D6A}"/>
            </c:ext>
          </c:extLst>
        </c:ser>
        <c:dLbls>
          <c:dLblPos val="ctr"/>
          <c:showLegendKey val="0"/>
          <c:showVal val="1"/>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4444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b="1" dirty="0">
                <a:solidFill>
                  <a:schemeClr val="tx1"/>
                </a:solidFill>
              </a:rPr>
              <a:t>%NND AVG-KIGALI 2025 vs 2026</a:t>
            </a:r>
          </a:p>
        </c:rich>
      </c:tx>
      <c:overlay val="0"/>
      <c:spPr>
        <a:noFill/>
        <a:ln>
          <a:solidFill>
            <a:sysClr val="windowText" lastClr="000000"/>
          </a:solidFill>
        </a:ln>
        <a:effectLst/>
      </c:spPr>
    </c:title>
    <c:autoTitleDeleted val="0"/>
    <c:plotArea>
      <c:layout/>
      <c:barChart>
        <c:barDir val="col"/>
        <c:grouping val="clustered"/>
        <c:varyColors val="0"/>
        <c:ser>
          <c:idx val="0"/>
          <c:order val="0"/>
          <c:tx>
            <c:strRef>
              <c:f>'%NND 2025VS2026'!$D$3</c:f>
              <c:strCache>
                <c:ptCount val="1"/>
                <c:pt idx="0">
                  <c:v>Avg-2025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R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ysClr val="windowText" lastClr="000000"/>
                </a:solidFill>
                <a:prstDash val="sysDash"/>
              </a:ln>
            </c:spPr>
            <c:trendlineType val="linear"/>
            <c:dispRSqr val="0"/>
            <c:dispEq val="0"/>
          </c:trendline>
          <c:cat>
            <c:strRef>
              <c:f>'%NND 2025VS2026'!$C$4:$C$9</c:f>
              <c:strCache>
                <c:ptCount val="6"/>
                <c:pt idx="0">
                  <c:v>June-Kgl</c:v>
                </c:pt>
                <c:pt idx="1">
                  <c:v>July-Kgl</c:v>
                </c:pt>
                <c:pt idx="2">
                  <c:v>Aug-Kgl</c:v>
                </c:pt>
                <c:pt idx="3">
                  <c:v>June-Upc</c:v>
                </c:pt>
                <c:pt idx="4">
                  <c:v>July-Upc</c:v>
                </c:pt>
                <c:pt idx="5">
                  <c:v>Aug-Upc</c:v>
                </c:pt>
              </c:strCache>
            </c:strRef>
          </c:cat>
          <c:val>
            <c:numRef>
              <c:f>'%NND 2025VS2026'!$E$4:$E$6</c:f>
              <c:numCache>
                <c:formatCode>0%</c:formatCode>
                <c:ptCount val="3"/>
                <c:pt idx="0">
                  <c:v>0.5589673913043478</c:v>
                </c:pt>
                <c:pt idx="1">
                  <c:v>0.55898112603966732</c:v>
                </c:pt>
                <c:pt idx="2">
                  <c:v>0.53848088531187133</c:v>
                </c:pt>
              </c:numCache>
            </c:numRef>
          </c:val>
          <c:extLst>
            <c:ext xmlns:c16="http://schemas.microsoft.com/office/drawing/2014/chart" uri="{C3380CC4-5D6E-409C-BE32-E72D297353CC}">
              <c16:uniqueId val="{00000001-7074-4D77-A871-0441B539F8AB}"/>
            </c:ext>
          </c:extLst>
        </c:ser>
        <c:ser>
          <c:idx val="1"/>
          <c:order val="1"/>
          <c:tx>
            <c:strRef>
              <c:f>'%NND 2025VS2026'!$E$3</c:f>
              <c:strCache>
                <c:ptCount val="1"/>
                <c:pt idx="0">
                  <c:v>Avg-2026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R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9050">
                <a:solidFill>
                  <a:srgbClr val="FF0000"/>
                </a:solidFill>
                <a:prstDash val="sysDot"/>
              </a:ln>
            </c:spPr>
            <c:trendlineType val="linear"/>
            <c:dispRSqr val="0"/>
            <c:dispEq val="0"/>
          </c:trendline>
          <c:cat>
            <c:strRef>
              <c:f>'%NND 2025VS2026'!$C$4:$C$9</c:f>
              <c:strCache>
                <c:ptCount val="6"/>
                <c:pt idx="0">
                  <c:v>June-Kgl</c:v>
                </c:pt>
                <c:pt idx="1">
                  <c:v>July-Kgl</c:v>
                </c:pt>
                <c:pt idx="2">
                  <c:v>Aug-Kgl</c:v>
                </c:pt>
                <c:pt idx="3">
                  <c:v>June-Upc</c:v>
                </c:pt>
                <c:pt idx="4">
                  <c:v>July-Upc</c:v>
                </c:pt>
                <c:pt idx="5">
                  <c:v>Aug-Upc</c:v>
                </c:pt>
              </c:strCache>
            </c:strRef>
          </c:cat>
          <c:val>
            <c:numRef>
              <c:f>'%NND 2025VS2026'!$D$4:$D$6</c:f>
              <c:numCache>
                <c:formatCode>0%</c:formatCode>
                <c:ptCount val="3"/>
                <c:pt idx="0">
                  <c:v>0.49057604438642288</c:v>
                </c:pt>
                <c:pt idx="1">
                  <c:v>0.54363105536332168</c:v>
                </c:pt>
                <c:pt idx="2">
                  <c:v>0.58454572446555819</c:v>
                </c:pt>
              </c:numCache>
            </c:numRef>
          </c:val>
          <c:extLst>
            <c:ext xmlns:c16="http://schemas.microsoft.com/office/drawing/2014/chart" uri="{C3380CC4-5D6E-409C-BE32-E72D297353CC}">
              <c16:uniqueId val="{00000003-7074-4D77-A871-0441B539F8AB}"/>
            </c:ext>
          </c:extLst>
        </c:ser>
        <c:dLbls>
          <c:showLegendKey val="0"/>
          <c:showVal val="0"/>
          <c:showCatName val="0"/>
          <c:showSerName val="0"/>
          <c:showPercent val="0"/>
          <c:showBubbleSize val="0"/>
        </c:dLbls>
        <c:gapWidth val="219"/>
        <c:overlap val="-27"/>
        <c:axId val="1096683679"/>
        <c:axId val="1"/>
      </c:barChart>
      <c:catAx>
        <c:axId val="1096683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RW"/>
          </a:p>
        </c:txPr>
        <c:crossAx val="1"/>
        <c:crosses val="autoZero"/>
        <c:auto val="1"/>
        <c:lblAlgn val="ctr"/>
        <c:lblOffset val="100"/>
        <c:noMultiLvlLbl val="0"/>
      </c:catAx>
      <c:valAx>
        <c:axId val="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RW"/>
          </a:p>
        </c:txPr>
        <c:crossAx val="1096683679"/>
        <c:crosses val="autoZero"/>
        <c:crossBetween val="between"/>
      </c:valAx>
      <c:spPr>
        <a:noFill/>
        <a:ln w="25400">
          <a:noFill/>
        </a:ln>
      </c:spPr>
    </c:plotArea>
    <c:legend>
      <c:legendPos val="r"/>
      <c:layout>
        <c:manualLayout>
          <c:xMode val="edge"/>
          <c:yMode val="edge"/>
          <c:x val="0.7980538280048709"/>
          <c:y val="0.18751752377463701"/>
          <c:w val="0.16083931511442914"/>
          <c:h val="0.665048055039015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RW"/>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a:pPr>
      <a:endParaRPr lang="en-RW"/>
    </a:p>
  </c:tx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n-US" sz="1000" b="1" i="0" u="none" strike="noStrike" kern="1200" spc="0" baseline="0">
                <a:solidFill>
                  <a:schemeClr val="tx1"/>
                </a:solidFill>
                <a:latin typeface="+mn-lt"/>
                <a:ea typeface="+mn-ea"/>
                <a:cs typeface="+mn-cs"/>
              </a:defRPr>
            </a:pPr>
            <a:r>
              <a:rPr lang="en-US" sz="1000" b="1" i="0" u="none" strike="noStrike" kern="1200" spc="0" baseline="0" dirty="0">
                <a:solidFill>
                  <a:schemeClr val="tx1"/>
                </a:solidFill>
                <a:latin typeface="+mn-lt"/>
                <a:ea typeface="+mn-ea"/>
                <a:cs typeface="+mn-cs"/>
              </a:rPr>
              <a:t>%NND AVG - UPC 2025 vs 2026</a:t>
            </a:r>
          </a:p>
        </c:rich>
      </c:tx>
      <c:overlay val="0"/>
      <c:spPr>
        <a:noFill/>
        <a:ln>
          <a:solidFill>
            <a:sysClr val="windowText" lastClr="000000"/>
          </a:solidFill>
        </a:ln>
        <a:effectLst/>
      </c:spPr>
    </c:title>
    <c:autoTitleDeleted val="0"/>
    <c:plotArea>
      <c:layout/>
      <c:barChart>
        <c:barDir val="col"/>
        <c:grouping val="clustered"/>
        <c:varyColors val="0"/>
        <c:ser>
          <c:idx val="0"/>
          <c:order val="0"/>
          <c:tx>
            <c:strRef>
              <c:f>'%NND 2025VS2026'!$D$3</c:f>
              <c:strCache>
                <c:ptCount val="1"/>
                <c:pt idx="0">
                  <c:v>Avg-2025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R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ysClr val="windowText" lastClr="000000"/>
                </a:solidFill>
                <a:prstDash val="sysDash"/>
              </a:ln>
            </c:spPr>
            <c:trendlineType val="linear"/>
            <c:dispRSqr val="0"/>
            <c:dispEq val="0"/>
          </c:trendline>
          <c:cat>
            <c:strRef>
              <c:f>'%NND 2025VS2026'!$C$7:$C$9</c:f>
              <c:strCache>
                <c:ptCount val="3"/>
                <c:pt idx="0">
                  <c:v>June-Upc</c:v>
                </c:pt>
                <c:pt idx="1">
                  <c:v>July-Upc</c:v>
                </c:pt>
                <c:pt idx="2">
                  <c:v>Aug-Upc</c:v>
                </c:pt>
              </c:strCache>
            </c:strRef>
          </c:cat>
          <c:val>
            <c:numRef>
              <c:f>'%NND 2025VS2026'!$E$7:$E$9</c:f>
              <c:numCache>
                <c:formatCode>0%</c:formatCode>
                <c:ptCount val="3"/>
                <c:pt idx="0">
                  <c:v>0.59443380743982499</c:v>
                </c:pt>
                <c:pt idx="1">
                  <c:v>0.59248696219035213</c:v>
                </c:pt>
                <c:pt idx="2">
                  <c:v>0.55701565726083979</c:v>
                </c:pt>
              </c:numCache>
            </c:numRef>
          </c:val>
          <c:extLst>
            <c:ext xmlns:c16="http://schemas.microsoft.com/office/drawing/2014/chart" uri="{C3380CC4-5D6E-409C-BE32-E72D297353CC}">
              <c16:uniqueId val="{00000001-591D-44F1-A9F0-B8C1AF5F5BCB}"/>
            </c:ext>
          </c:extLst>
        </c:ser>
        <c:ser>
          <c:idx val="1"/>
          <c:order val="1"/>
          <c:tx>
            <c:strRef>
              <c:f>'%NND 2025VS2026'!$E$3</c:f>
              <c:strCache>
                <c:ptCount val="1"/>
                <c:pt idx="0">
                  <c:v>Avg-2026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R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9050">
                <a:solidFill>
                  <a:srgbClr val="FF0000"/>
                </a:solidFill>
                <a:prstDash val="sysDot"/>
              </a:ln>
            </c:spPr>
            <c:trendlineType val="linear"/>
            <c:dispRSqr val="0"/>
            <c:dispEq val="0"/>
          </c:trendline>
          <c:cat>
            <c:strRef>
              <c:f>'%NND 2025VS2026'!$C$7:$C$9</c:f>
              <c:strCache>
                <c:ptCount val="3"/>
                <c:pt idx="0">
                  <c:v>June-Upc</c:v>
                </c:pt>
                <c:pt idx="1">
                  <c:v>July-Upc</c:v>
                </c:pt>
                <c:pt idx="2">
                  <c:v>Aug-Upc</c:v>
                </c:pt>
              </c:strCache>
            </c:strRef>
          </c:cat>
          <c:val>
            <c:numRef>
              <c:f>'%NND 2025VS2026'!$D$7:$D$9</c:f>
              <c:numCache>
                <c:formatCode>0%</c:formatCode>
                <c:ptCount val="3"/>
                <c:pt idx="0">
                  <c:v>0.61444073455759585</c:v>
                </c:pt>
                <c:pt idx="1">
                  <c:v>0.63023843930635837</c:v>
                </c:pt>
                <c:pt idx="2">
                  <c:v>0.63853663446054754</c:v>
                </c:pt>
              </c:numCache>
            </c:numRef>
          </c:val>
          <c:extLst>
            <c:ext xmlns:c16="http://schemas.microsoft.com/office/drawing/2014/chart" uri="{C3380CC4-5D6E-409C-BE32-E72D297353CC}">
              <c16:uniqueId val="{00000003-591D-44F1-A9F0-B8C1AF5F5BCB}"/>
            </c:ext>
          </c:extLst>
        </c:ser>
        <c:dLbls>
          <c:showLegendKey val="0"/>
          <c:showVal val="0"/>
          <c:showCatName val="0"/>
          <c:showSerName val="0"/>
          <c:showPercent val="0"/>
          <c:showBubbleSize val="0"/>
        </c:dLbls>
        <c:gapWidth val="219"/>
        <c:overlap val="-27"/>
        <c:axId val="1096683679"/>
        <c:axId val="1"/>
      </c:barChart>
      <c:catAx>
        <c:axId val="1096683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RW"/>
          </a:p>
        </c:txPr>
        <c:crossAx val="1"/>
        <c:crosses val="autoZero"/>
        <c:auto val="1"/>
        <c:lblAlgn val="ctr"/>
        <c:lblOffset val="100"/>
        <c:noMultiLvlLbl val="0"/>
      </c:catAx>
      <c:valAx>
        <c:axId val="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RW"/>
          </a:p>
        </c:txPr>
        <c:crossAx val="1096683679"/>
        <c:crosses val="autoZero"/>
        <c:crossBetween val="between"/>
      </c:valAx>
      <c:spPr>
        <a:noFill/>
        <a:ln w="25400">
          <a:noFill/>
        </a:ln>
      </c:spPr>
    </c:plotArea>
    <c:legend>
      <c:legendPos val="r"/>
      <c:layout>
        <c:manualLayout>
          <c:xMode val="edge"/>
          <c:yMode val="edge"/>
          <c:x val="0.7958037386323572"/>
          <c:y val="0.17701471137037689"/>
          <c:w val="0.16083931511442914"/>
          <c:h val="0.6969663936519160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RW"/>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a:pPr>
      <a:endParaRPr lang="en-RW"/>
    </a:p>
  </c:tx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1200" b="1" i="0" u="none" strike="noStrike" kern="1200" spc="0" baseline="0">
                <a:solidFill>
                  <a:schemeClr val="tx1"/>
                </a:solidFill>
                <a:latin typeface="+mn-lt"/>
                <a:ea typeface="+mn-ea"/>
                <a:cs typeface="+mn-cs"/>
              </a:defRPr>
            </a:pPr>
            <a:r>
              <a:rPr lang="en-US" dirty="0"/>
              <a:t>Average Price Comparison </a:t>
            </a:r>
            <a:r>
              <a:rPr lang="en-US" dirty="0" err="1"/>
              <a:t>Bralirwa</a:t>
            </a:r>
            <a:r>
              <a:rPr lang="en-US" dirty="0"/>
              <a:t> Vs </a:t>
            </a:r>
            <a:r>
              <a:rPr lang="en-US" dirty="0" err="1"/>
              <a:t>Sbl</a:t>
            </a:r>
            <a:endParaRPr lang="en-US" dirty="0"/>
          </a:p>
        </c:rich>
      </c:tx>
      <c:overlay val="0"/>
      <c:spPr>
        <a:noFill/>
        <a:ln>
          <a:noFill/>
        </a:ln>
        <a:effectLst/>
      </c:spPr>
      <c:txPr>
        <a:bodyPr rot="0" spcFirstLastPara="1" vertOverflow="ellipsis" vert="horz" wrap="square" anchor="ctr" anchorCtr="1"/>
        <a:lstStyle/>
        <a:p>
          <a:pPr>
            <a:defRPr lang="en-US" sz="1200" b="1" i="0" u="none" strike="noStrike" kern="1200"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'Price comparisoz2025vs2026'!$B$5</c:f>
              <c:strCache>
                <c:ptCount val="1"/>
                <c:pt idx="0">
                  <c:v>Equal Price</c:v>
                </c:pt>
              </c:strCache>
            </c:strRef>
          </c:tx>
          <c:spPr>
            <a:ln w="19050" cap="rnd">
              <a:solidFill>
                <a:sysClr val="windowText" lastClr="000000"/>
              </a:solidFill>
              <a:prstDash val="sysDash"/>
              <a:round/>
            </a:ln>
            <a:effectLst/>
          </c:spPr>
          <c:marker>
            <c:symbol val="circle"/>
            <c:size val="5"/>
            <c:spPr>
              <a:solidFill>
                <a:schemeClr val="accent1"/>
              </a:solidFill>
              <a:ln w="19050">
                <a:solidFill>
                  <a:schemeClr val="accent1"/>
                </a:solidFill>
                <a:prstDash val="sysDash"/>
              </a:ln>
              <a:effectLst/>
            </c:spPr>
          </c:marker>
          <c:dLbls>
            <c:dLbl>
              <c:idx val="0"/>
              <c:layout>
                <c:manualLayout>
                  <c:x val="-3.4097877554790226E-2"/>
                  <c:y val="-5.81481555834732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6E8-4F0F-8F6D-FF82BE3DCF4F}"/>
                </c:ext>
              </c:extLst>
            </c:dLbl>
            <c:dLbl>
              <c:idx val="1"/>
              <c:layout>
                <c:manualLayout>
                  <c:x val="-3.1824685717804176E-2"/>
                  <c:y val="4.920228549370812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E8-4F0F-8F6D-FF82BE3DCF4F}"/>
                </c:ext>
              </c:extLst>
            </c:dLbl>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 comparisoz2025vs2026'!$C$4:$E$4</c:f>
              <c:strCache>
                <c:ptCount val="3"/>
                <c:pt idx="0">
                  <c:v>Jun (2026)</c:v>
                </c:pt>
                <c:pt idx="1">
                  <c:v>Jul (2026)</c:v>
                </c:pt>
                <c:pt idx="2">
                  <c:v>Aug (2026)</c:v>
                </c:pt>
              </c:strCache>
            </c:strRef>
          </c:cat>
          <c:val>
            <c:numRef>
              <c:f>'Price comparisoz2025vs2026'!$C$5:$E$5</c:f>
              <c:numCache>
                <c:formatCode>0%</c:formatCode>
                <c:ptCount val="3"/>
                <c:pt idx="0">
                  <c:v>0.56838865506170066</c:v>
                </c:pt>
                <c:pt idx="1">
                  <c:v>0.30745833177274473</c:v>
                </c:pt>
                <c:pt idx="2">
                  <c:v>0.28032116037906152</c:v>
                </c:pt>
              </c:numCache>
            </c:numRef>
          </c:val>
          <c:smooth val="0"/>
          <c:extLst>
            <c:ext xmlns:c16="http://schemas.microsoft.com/office/drawing/2014/chart" uri="{C3380CC4-5D6E-409C-BE32-E72D297353CC}">
              <c16:uniqueId val="{00000002-96E8-4F0F-8F6D-FF82BE3DCF4F}"/>
            </c:ext>
          </c:extLst>
        </c:ser>
        <c:ser>
          <c:idx val="1"/>
          <c:order val="1"/>
          <c:tx>
            <c:strRef>
              <c:f>'Price comparisoz2025vs2026'!$B$6</c:f>
              <c:strCache>
                <c:ptCount val="1"/>
                <c:pt idx="0">
                  <c:v>SBL  higher</c:v>
                </c:pt>
              </c:strCache>
            </c:strRef>
          </c:tx>
          <c:spPr>
            <a:ln w="19050" cap="rnd">
              <a:solidFill>
                <a:srgbClr val="FF0000"/>
              </a:solidFill>
              <a:prstDash val="sysDash"/>
              <a:round/>
            </a:ln>
            <a:effectLst/>
          </c:spPr>
          <c:marker>
            <c:symbol val="circle"/>
            <c:size val="5"/>
            <c:spPr>
              <a:solidFill>
                <a:schemeClr val="accent2"/>
              </a:solidFill>
              <a:ln w="19050">
                <a:solidFill>
                  <a:schemeClr val="accent2"/>
                </a:solidFill>
                <a:prstDash val="sysDash"/>
              </a:ln>
              <a:effectLst/>
            </c:spPr>
          </c:marker>
          <c:dLbls>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 comparisoz2025vs2026'!$C$4:$E$4</c:f>
              <c:strCache>
                <c:ptCount val="3"/>
                <c:pt idx="0">
                  <c:v>Jun (2026)</c:v>
                </c:pt>
                <c:pt idx="1">
                  <c:v>Jul (2026)</c:v>
                </c:pt>
                <c:pt idx="2">
                  <c:v>Aug (2026)</c:v>
                </c:pt>
              </c:strCache>
            </c:strRef>
          </c:cat>
          <c:val>
            <c:numRef>
              <c:f>'Price comparisoz2025vs2026'!$C$6:$E$6</c:f>
              <c:numCache>
                <c:formatCode>0%</c:formatCode>
                <c:ptCount val="3"/>
                <c:pt idx="0">
                  <c:v>2.3436644358722242E-2</c:v>
                </c:pt>
                <c:pt idx="1">
                  <c:v>4.043398973961037E-2</c:v>
                </c:pt>
                <c:pt idx="2">
                  <c:v>3.9215872934157625E-2</c:v>
                </c:pt>
              </c:numCache>
            </c:numRef>
          </c:val>
          <c:smooth val="0"/>
          <c:extLst>
            <c:ext xmlns:c16="http://schemas.microsoft.com/office/drawing/2014/chart" uri="{C3380CC4-5D6E-409C-BE32-E72D297353CC}">
              <c16:uniqueId val="{00000003-96E8-4F0F-8F6D-FF82BE3DCF4F}"/>
            </c:ext>
          </c:extLst>
        </c:ser>
        <c:ser>
          <c:idx val="2"/>
          <c:order val="2"/>
          <c:tx>
            <c:strRef>
              <c:f>'Price comparisoz2025vs2026'!$B$7</c:f>
              <c:strCache>
                <c:ptCount val="1"/>
                <c:pt idx="0">
                  <c:v>SBL Price advantage (less)</c:v>
                </c:pt>
              </c:strCache>
            </c:strRef>
          </c:tx>
          <c:spPr>
            <a:ln w="19050" cap="rnd">
              <a:solidFill>
                <a:srgbClr val="00B050"/>
              </a:solidFill>
              <a:prstDash val="sysDash"/>
              <a:round/>
            </a:ln>
            <a:effectLst/>
          </c:spPr>
          <c:marker>
            <c:symbol val="circle"/>
            <c:size val="5"/>
            <c:spPr>
              <a:solidFill>
                <a:schemeClr val="accent3"/>
              </a:solidFill>
              <a:ln w="19050">
                <a:solidFill>
                  <a:schemeClr val="accent3"/>
                </a:solidFill>
                <a:prstDash val="sysDash"/>
              </a:ln>
              <a:effectLst/>
            </c:spPr>
          </c:marker>
          <c:dLbls>
            <c:dLbl>
              <c:idx val="0"/>
              <c:layout>
                <c:manualLayout>
                  <c:x val="-4.3190644902734276E-2"/>
                  <c:y val="5.36752205385906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6E8-4F0F-8F6D-FF82BE3DCF4F}"/>
                </c:ext>
              </c:extLst>
            </c:dLbl>
            <c:dLbl>
              <c:idx val="1"/>
              <c:layout>
                <c:manualLayout>
                  <c:x val="-1.5912342858902088E-2"/>
                  <c:y val="-5.81481555834732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6E8-4F0F-8F6D-FF82BE3DCF4F}"/>
                </c:ext>
              </c:extLst>
            </c:dLbl>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 comparisoz2025vs2026'!$C$4:$E$4</c:f>
              <c:strCache>
                <c:ptCount val="3"/>
                <c:pt idx="0">
                  <c:v>Jun (2026)</c:v>
                </c:pt>
                <c:pt idx="1">
                  <c:v>Jul (2026)</c:v>
                </c:pt>
                <c:pt idx="2">
                  <c:v>Aug (2026)</c:v>
                </c:pt>
              </c:strCache>
            </c:strRef>
          </c:cat>
          <c:val>
            <c:numRef>
              <c:f>'Price comparisoz2025vs2026'!$C$7:$E$7</c:f>
              <c:numCache>
                <c:formatCode>0%</c:formatCode>
                <c:ptCount val="3"/>
                <c:pt idx="0">
                  <c:v>0.4550062782011659</c:v>
                </c:pt>
                <c:pt idx="1">
                  <c:v>0.65210767848764495</c:v>
                </c:pt>
                <c:pt idx="2">
                  <c:v>0.72861471765954355</c:v>
                </c:pt>
              </c:numCache>
            </c:numRef>
          </c:val>
          <c:smooth val="0"/>
          <c:extLst>
            <c:ext xmlns:c16="http://schemas.microsoft.com/office/drawing/2014/chart" uri="{C3380CC4-5D6E-409C-BE32-E72D297353CC}">
              <c16:uniqueId val="{00000006-96E8-4F0F-8F6D-FF82BE3DCF4F}"/>
            </c:ext>
          </c:extLst>
        </c:ser>
        <c:dLbls>
          <c:showLegendKey val="0"/>
          <c:showVal val="1"/>
          <c:showCatName val="0"/>
          <c:showSerName val="0"/>
          <c:showPercent val="0"/>
          <c:showBubbleSize val="0"/>
        </c:dLbls>
        <c:marker val="1"/>
        <c:smooth val="0"/>
        <c:axId val="813020224"/>
        <c:axId val="607275088"/>
      </c:lineChart>
      <c:catAx>
        <c:axId val="813020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RW"/>
          </a:p>
        </c:txPr>
        <c:crossAx val="607275088"/>
        <c:crosses val="autoZero"/>
        <c:auto val="1"/>
        <c:lblAlgn val="ctr"/>
        <c:lblOffset val="100"/>
        <c:noMultiLvlLbl val="0"/>
      </c:catAx>
      <c:valAx>
        <c:axId val="60727508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RW"/>
          </a:p>
        </c:txPr>
        <c:crossAx val="813020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RW"/>
        </a:p>
      </c:txPr>
    </c:legend>
    <c:plotVisOnly val="1"/>
    <c:dispBlanksAs val="gap"/>
    <c:showDLblsOverMax val="0"/>
  </c:chart>
  <c:spPr>
    <a:noFill/>
    <a:ln>
      <a:solidFill>
        <a:sysClr val="windowText" lastClr="000000"/>
      </a:solidFill>
    </a:ln>
    <a:effectLst/>
  </c:spPr>
  <c:txPr>
    <a:bodyPr/>
    <a:lstStyle/>
    <a:p>
      <a:pPr>
        <a:defRPr lang="en-US" sz="1000" b="1" i="0" u="none" strike="noStrike" kern="1200" baseline="0">
          <a:solidFill>
            <a:schemeClr val="tx1"/>
          </a:solidFill>
          <a:latin typeface="+mn-lt"/>
          <a:ea typeface="+mn-ea"/>
          <a:cs typeface="+mn-cs"/>
        </a:defRPr>
      </a:pPr>
      <a:endParaRPr lang="en-RW"/>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ysClr val="windowText" lastClr="000000"/>
                </a:solidFill>
                <a:latin typeface="+mn-lt"/>
                <a:ea typeface="+mn-ea"/>
                <a:cs typeface="+mn-cs"/>
              </a:defRPr>
            </a:pPr>
            <a:r>
              <a:rPr lang="en-US" sz="1000" dirty="0"/>
              <a:t>POS Executed: B2C Skol Malt Promo</a:t>
            </a:r>
          </a:p>
        </c:rich>
      </c:tx>
      <c:overlay val="0"/>
      <c:spPr>
        <a:noFill/>
        <a:ln>
          <a:noFill/>
        </a:ln>
        <a:effectLst/>
      </c:spPr>
      <c:txPr>
        <a:bodyPr rot="0" spcFirstLastPara="1" vertOverflow="ellipsis" vert="horz" wrap="square" anchor="ctr" anchorCtr="1"/>
        <a:lstStyle/>
        <a:p>
          <a:pPr>
            <a:defRPr sz="1000" b="0" i="0" u="none" strike="noStrike" kern="1200" spc="0" baseline="0">
              <a:solidFill>
                <a:sysClr val="windowText" lastClr="000000"/>
              </a:solidFill>
              <a:latin typeface="+mn-lt"/>
              <a:ea typeface="+mn-ea"/>
              <a:cs typeface="+mn-cs"/>
            </a:defRPr>
          </a:pPr>
          <a:endParaRPr lang="en-RW"/>
        </a:p>
      </c:txPr>
    </c:title>
    <c:autoTitleDeleted val="0"/>
    <c:plotArea>
      <c:layout>
        <c:manualLayout>
          <c:layoutTarget val="inner"/>
          <c:xMode val="edge"/>
          <c:yMode val="edge"/>
          <c:x val="6.5119086764795608E-2"/>
          <c:y val="0.16709911822371698"/>
          <c:w val="0.90587112427848082"/>
          <c:h val="0.65327099873057004"/>
        </c:manualLayout>
      </c:layout>
      <c:lineChart>
        <c:grouping val="standard"/>
        <c:varyColors val="0"/>
        <c:ser>
          <c:idx val="0"/>
          <c:order val="0"/>
          <c:tx>
            <c:v>Targeted POS</c:v>
          </c:tx>
          <c:spPr>
            <a:ln w="12700" cap="rnd">
              <a:solidFill>
                <a:schemeClr val="accent1"/>
              </a:solidFill>
              <a:round/>
            </a:ln>
            <a:effectLst/>
          </c:spPr>
          <c:marker>
            <c:symbol val="none"/>
          </c:marker>
          <c:cat>
            <c:strRef>
              <c:f>Sheet1!$B$5:$B$45</c:f>
              <c:strCache>
                <c:ptCount val="41"/>
                <c:pt idx="0">
                  <c:v>FELIX</c:v>
                </c:pt>
                <c:pt idx="1">
                  <c:v>Sulait Kayitare</c:v>
                </c:pt>
                <c:pt idx="2">
                  <c:v>Anitha</c:v>
                </c:pt>
                <c:pt idx="3">
                  <c:v>Freddy</c:v>
                </c:pt>
                <c:pt idx="4">
                  <c:v>ALEXIS</c:v>
                </c:pt>
                <c:pt idx="5">
                  <c:v>Kevin Victor</c:v>
                </c:pt>
                <c:pt idx="6">
                  <c:v>Ibrahim karekezi</c:v>
                </c:pt>
                <c:pt idx="7">
                  <c:v>Cedric N</c:v>
                </c:pt>
                <c:pt idx="8">
                  <c:v>RUBEN MUYOBOKE</c:v>
                </c:pt>
                <c:pt idx="9">
                  <c:v>Tharcisse Ngabonziza</c:v>
                </c:pt>
                <c:pt idx="10">
                  <c:v>Derrick Bagabo</c:v>
                </c:pt>
                <c:pt idx="11">
                  <c:v>Rene Nkongori</c:v>
                </c:pt>
                <c:pt idx="12">
                  <c:v>Fabrice</c:v>
                </c:pt>
                <c:pt idx="13">
                  <c:v>Gilbert</c:v>
                </c:pt>
                <c:pt idx="14">
                  <c:v>GASTON RURANGWA</c:v>
                </c:pt>
                <c:pt idx="15">
                  <c:v>Arcade</c:v>
                </c:pt>
                <c:pt idx="16">
                  <c:v>Prince</c:v>
                </c:pt>
                <c:pt idx="17">
                  <c:v>Emile U</c:v>
                </c:pt>
                <c:pt idx="18">
                  <c:v>Michel</c:v>
                </c:pt>
                <c:pt idx="19">
                  <c:v>Jean Jacques</c:v>
                </c:pt>
                <c:pt idx="20">
                  <c:v>Jonathan</c:v>
                </c:pt>
                <c:pt idx="21">
                  <c:v>Gasasira</c:v>
                </c:pt>
                <c:pt idx="22">
                  <c:v>Olivier Byiringiro</c:v>
                </c:pt>
                <c:pt idx="23">
                  <c:v>Steven M</c:v>
                </c:pt>
                <c:pt idx="24">
                  <c:v>Vedaste</c:v>
                </c:pt>
                <c:pt idx="25">
                  <c:v>Anaclet</c:v>
                </c:pt>
                <c:pt idx="26">
                  <c:v>Regis Ndatira</c:v>
                </c:pt>
                <c:pt idx="27">
                  <c:v>Ghislain</c:v>
                </c:pt>
                <c:pt idx="28">
                  <c:v>Des Gasana</c:v>
                </c:pt>
                <c:pt idx="29">
                  <c:v>ERIC GASIGWA</c:v>
                </c:pt>
                <c:pt idx="30">
                  <c:v>Niyoyita Jean De La Croix</c:v>
                </c:pt>
                <c:pt idx="31">
                  <c:v>Denis MUKIMBIRI</c:v>
                </c:pt>
                <c:pt idx="32">
                  <c:v>Emmanuel Tuyishime</c:v>
                </c:pt>
                <c:pt idx="33">
                  <c:v>Clarisse</c:v>
                </c:pt>
                <c:pt idx="34">
                  <c:v>Geofrey</c:v>
                </c:pt>
                <c:pt idx="35">
                  <c:v>HENRIETTE</c:v>
                </c:pt>
                <c:pt idx="36">
                  <c:v>JABO</c:v>
                </c:pt>
                <c:pt idx="37">
                  <c:v>Vivien</c:v>
                </c:pt>
                <c:pt idx="38">
                  <c:v>SUGIRA</c:v>
                </c:pt>
                <c:pt idx="39">
                  <c:v>MAKOMBE</c:v>
                </c:pt>
                <c:pt idx="40">
                  <c:v>BENITHA</c:v>
                </c:pt>
              </c:strCache>
            </c:strRef>
          </c:cat>
          <c:val>
            <c:numRef>
              <c:f>Sheet1!$C$5:$C$45</c:f>
              <c:numCache>
                <c:formatCode>General</c:formatCode>
                <c:ptCount val="41"/>
                <c:pt idx="0">
                  <c:v>75</c:v>
                </c:pt>
                <c:pt idx="1">
                  <c:v>75</c:v>
                </c:pt>
                <c:pt idx="2">
                  <c:v>75</c:v>
                </c:pt>
                <c:pt idx="3">
                  <c:v>75</c:v>
                </c:pt>
                <c:pt idx="4">
                  <c:v>75</c:v>
                </c:pt>
                <c:pt idx="5">
                  <c:v>75</c:v>
                </c:pt>
                <c:pt idx="6">
                  <c:v>75</c:v>
                </c:pt>
                <c:pt idx="7">
                  <c:v>75</c:v>
                </c:pt>
                <c:pt idx="8">
                  <c:v>75</c:v>
                </c:pt>
                <c:pt idx="9">
                  <c:v>75</c:v>
                </c:pt>
                <c:pt idx="10">
                  <c:v>75</c:v>
                </c:pt>
                <c:pt idx="11">
                  <c:v>75</c:v>
                </c:pt>
                <c:pt idx="12">
                  <c:v>75</c:v>
                </c:pt>
                <c:pt idx="13">
                  <c:v>75</c:v>
                </c:pt>
                <c:pt idx="14">
                  <c:v>75</c:v>
                </c:pt>
                <c:pt idx="15">
                  <c:v>75</c:v>
                </c:pt>
                <c:pt idx="16">
                  <c:v>75</c:v>
                </c:pt>
                <c:pt idx="17">
                  <c:v>75</c:v>
                </c:pt>
                <c:pt idx="18">
                  <c:v>75</c:v>
                </c:pt>
                <c:pt idx="19">
                  <c:v>75</c:v>
                </c:pt>
                <c:pt idx="20">
                  <c:v>75</c:v>
                </c:pt>
                <c:pt idx="21">
                  <c:v>75</c:v>
                </c:pt>
                <c:pt idx="22">
                  <c:v>75</c:v>
                </c:pt>
                <c:pt idx="23">
                  <c:v>75</c:v>
                </c:pt>
                <c:pt idx="24">
                  <c:v>75</c:v>
                </c:pt>
                <c:pt idx="25">
                  <c:v>75</c:v>
                </c:pt>
                <c:pt idx="26">
                  <c:v>75</c:v>
                </c:pt>
                <c:pt idx="27">
                  <c:v>75</c:v>
                </c:pt>
                <c:pt idx="28">
                  <c:v>75</c:v>
                </c:pt>
                <c:pt idx="29">
                  <c:v>75</c:v>
                </c:pt>
                <c:pt idx="30">
                  <c:v>75</c:v>
                </c:pt>
                <c:pt idx="31">
                  <c:v>75</c:v>
                </c:pt>
                <c:pt idx="32">
                  <c:v>75</c:v>
                </c:pt>
                <c:pt idx="33">
                  <c:v>75</c:v>
                </c:pt>
                <c:pt idx="34">
                  <c:v>75</c:v>
                </c:pt>
                <c:pt idx="35">
                  <c:v>75</c:v>
                </c:pt>
                <c:pt idx="36">
                  <c:v>75</c:v>
                </c:pt>
                <c:pt idx="37">
                  <c:v>75</c:v>
                </c:pt>
                <c:pt idx="38">
                  <c:v>15</c:v>
                </c:pt>
                <c:pt idx="39">
                  <c:v>15</c:v>
                </c:pt>
                <c:pt idx="40">
                  <c:v>15</c:v>
                </c:pt>
              </c:numCache>
            </c:numRef>
          </c:val>
          <c:smooth val="0"/>
          <c:extLst>
            <c:ext xmlns:c16="http://schemas.microsoft.com/office/drawing/2014/chart" uri="{C3380CC4-5D6E-409C-BE32-E72D297353CC}">
              <c16:uniqueId val="{00000000-CAF5-41FE-ACF5-E50022550385}"/>
            </c:ext>
          </c:extLst>
        </c:ser>
        <c:ser>
          <c:idx val="1"/>
          <c:order val="1"/>
          <c:tx>
            <c:v>Executed POS</c:v>
          </c:tx>
          <c:spPr>
            <a:ln w="12700" cap="rnd">
              <a:solidFill>
                <a:srgbClr val="FF0000"/>
              </a:solidFill>
              <a:round/>
            </a:ln>
            <a:effectLst/>
          </c:spPr>
          <c:marker>
            <c:symbol val="none"/>
          </c:marker>
          <c:cat>
            <c:strRef>
              <c:f>Sheet1!$B$5:$B$45</c:f>
              <c:strCache>
                <c:ptCount val="41"/>
                <c:pt idx="0">
                  <c:v>FELIX</c:v>
                </c:pt>
                <c:pt idx="1">
                  <c:v>Sulait Kayitare</c:v>
                </c:pt>
                <c:pt idx="2">
                  <c:v>Anitha</c:v>
                </c:pt>
                <c:pt idx="3">
                  <c:v>Freddy</c:v>
                </c:pt>
                <c:pt idx="4">
                  <c:v>ALEXIS</c:v>
                </c:pt>
                <c:pt idx="5">
                  <c:v>Kevin Victor</c:v>
                </c:pt>
                <c:pt idx="6">
                  <c:v>Ibrahim karekezi</c:v>
                </c:pt>
                <c:pt idx="7">
                  <c:v>Cedric N</c:v>
                </c:pt>
                <c:pt idx="8">
                  <c:v>RUBEN MUYOBOKE</c:v>
                </c:pt>
                <c:pt idx="9">
                  <c:v>Tharcisse Ngabonziza</c:v>
                </c:pt>
                <c:pt idx="10">
                  <c:v>Derrick Bagabo</c:v>
                </c:pt>
                <c:pt idx="11">
                  <c:v>Rene Nkongori</c:v>
                </c:pt>
                <c:pt idx="12">
                  <c:v>Fabrice</c:v>
                </c:pt>
                <c:pt idx="13">
                  <c:v>Gilbert</c:v>
                </c:pt>
                <c:pt idx="14">
                  <c:v>GASTON RURANGWA</c:v>
                </c:pt>
                <c:pt idx="15">
                  <c:v>Arcade</c:v>
                </c:pt>
                <c:pt idx="16">
                  <c:v>Prince</c:v>
                </c:pt>
                <c:pt idx="17">
                  <c:v>Emile U</c:v>
                </c:pt>
                <c:pt idx="18">
                  <c:v>Michel</c:v>
                </c:pt>
                <c:pt idx="19">
                  <c:v>Jean Jacques</c:v>
                </c:pt>
                <c:pt idx="20">
                  <c:v>Jonathan</c:v>
                </c:pt>
                <c:pt idx="21">
                  <c:v>Gasasira</c:v>
                </c:pt>
                <c:pt idx="22">
                  <c:v>Olivier Byiringiro</c:v>
                </c:pt>
                <c:pt idx="23">
                  <c:v>Steven M</c:v>
                </c:pt>
                <c:pt idx="24">
                  <c:v>Vedaste</c:v>
                </c:pt>
                <c:pt idx="25">
                  <c:v>Anaclet</c:v>
                </c:pt>
                <c:pt idx="26">
                  <c:v>Regis Ndatira</c:v>
                </c:pt>
                <c:pt idx="27">
                  <c:v>Ghislain</c:v>
                </c:pt>
                <c:pt idx="28">
                  <c:v>Des Gasana</c:v>
                </c:pt>
                <c:pt idx="29">
                  <c:v>ERIC GASIGWA</c:v>
                </c:pt>
                <c:pt idx="30">
                  <c:v>Niyoyita Jean De La Croix</c:v>
                </c:pt>
                <c:pt idx="31">
                  <c:v>Denis MUKIMBIRI</c:v>
                </c:pt>
                <c:pt idx="32">
                  <c:v>Emmanuel Tuyishime</c:v>
                </c:pt>
                <c:pt idx="33">
                  <c:v>Clarisse</c:v>
                </c:pt>
                <c:pt idx="34">
                  <c:v>Geofrey</c:v>
                </c:pt>
                <c:pt idx="35">
                  <c:v>HENRIETTE</c:v>
                </c:pt>
                <c:pt idx="36">
                  <c:v>JABO</c:v>
                </c:pt>
                <c:pt idx="37">
                  <c:v>Vivien</c:v>
                </c:pt>
                <c:pt idx="38">
                  <c:v>SUGIRA</c:v>
                </c:pt>
                <c:pt idx="39">
                  <c:v>MAKOMBE</c:v>
                </c:pt>
                <c:pt idx="40">
                  <c:v>BENITHA</c:v>
                </c:pt>
              </c:strCache>
            </c:strRef>
          </c:cat>
          <c:val>
            <c:numRef>
              <c:f>Sheet1!$D$5:$D$45</c:f>
              <c:numCache>
                <c:formatCode>General</c:formatCode>
                <c:ptCount val="41"/>
                <c:pt idx="0">
                  <c:v>94</c:v>
                </c:pt>
                <c:pt idx="1">
                  <c:v>91</c:v>
                </c:pt>
                <c:pt idx="2">
                  <c:v>89</c:v>
                </c:pt>
                <c:pt idx="3">
                  <c:v>89</c:v>
                </c:pt>
                <c:pt idx="4">
                  <c:v>87</c:v>
                </c:pt>
                <c:pt idx="5">
                  <c:v>85</c:v>
                </c:pt>
                <c:pt idx="6">
                  <c:v>80</c:v>
                </c:pt>
                <c:pt idx="7">
                  <c:v>79</c:v>
                </c:pt>
                <c:pt idx="8">
                  <c:v>77</c:v>
                </c:pt>
                <c:pt idx="9">
                  <c:v>77</c:v>
                </c:pt>
                <c:pt idx="10">
                  <c:v>75</c:v>
                </c:pt>
                <c:pt idx="11">
                  <c:v>74</c:v>
                </c:pt>
                <c:pt idx="12">
                  <c:v>74</c:v>
                </c:pt>
                <c:pt idx="13">
                  <c:v>74</c:v>
                </c:pt>
                <c:pt idx="14">
                  <c:v>74</c:v>
                </c:pt>
                <c:pt idx="15">
                  <c:v>70</c:v>
                </c:pt>
                <c:pt idx="16">
                  <c:v>70</c:v>
                </c:pt>
                <c:pt idx="17">
                  <c:v>69</c:v>
                </c:pt>
                <c:pt idx="18">
                  <c:v>69</c:v>
                </c:pt>
                <c:pt idx="19">
                  <c:v>67</c:v>
                </c:pt>
                <c:pt idx="20">
                  <c:v>67</c:v>
                </c:pt>
                <c:pt idx="21">
                  <c:v>65</c:v>
                </c:pt>
                <c:pt idx="22">
                  <c:v>65</c:v>
                </c:pt>
                <c:pt idx="23">
                  <c:v>65</c:v>
                </c:pt>
                <c:pt idx="24">
                  <c:v>65</c:v>
                </c:pt>
                <c:pt idx="25">
                  <c:v>65</c:v>
                </c:pt>
                <c:pt idx="26">
                  <c:v>61</c:v>
                </c:pt>
                <c:pt idx="27">
                  <c:v>60</c:v>
                </c:pt>
                <c:pt idx="28">
                  <c:v>53</c:v>
                </c:pt>
                <c:pt idx="29">
                  <c:v>43</c:v>
                </c:pt>
                <c:pt idx="30">
                  <c:v>43</c:v>
                </c:pt>
                <c:pt idx="31">
                  <c:v>41</c:v>
                </c:pt>
                <c:pt idx="32">
                  <c:v>39</c:v>
                </c:pt>
                <c:pt idx="33">
                  <c:v>35</c:v>
                </c:pt>
                <c:pt idx="34">
                  <c:v>32</c:v>
                </c:pt>
                <c:pt idx="35">
                  <c:v>26</c:v>
                </c:pt>
                <c:pt idx="36">
                  <c:v>25</c:v>
                </c:pt>
                <c:pt idx="37">
                  <c:v>21</c:v>
                </c:pt>
                <c:pt idx="38">
                  <c:v>10</c:v>
                </c:pt>
                <c:pt idx="39">
                  <c:v>6</c:v>
                </c:pt>
                <c:pt idx="40">
                  <c:v>2</c:v>
                </c:pt>
              </c:numCache>
            </c:numRef>
          </c:val>
          <c:smooth val="0"/>
          <c:extLst>
            <c:ext xmlns:c16="http://schemas.microsoft.com/office/drawing/2014/chart" uri="{C3380CC4-5D6E-409C-BE32-E72D297353CC}">
              <c16:uniqueId val="{00000001-CAF5-41FE-ACF5-E50022550385}"/>
            </c:ext>
          </c:extLst>
        </c:ser>
        <c:dLbls>
          <c:showLegendKey val="0"/>
          <c:showVal val="0"/>
          <c:showCatName val="0"/>
          <c:showSerName val="0"/>
          <c:showPercent val="0"/>
          <c:showBubbleSize val="0"/>
        </c:dLbls>
        <c:smooth val="0"/>
        <c:axId val="700517679"/>
        <c:axId val="700489359"/>
      </c:lineChart>
      <c:catAx>
        <c:axId val="700517679"/>
        <c:scaling>
          <c:orientation val="minMax"/>
        </c:scaling>
        <c:delete val="1"/>
        <c:axPos val="b"/>
        <c:numFmt formatCode="General" sourceLinked="1"/>
        <c:majorTickMark val="none"/>
        <c:minorTickMark val="none"/>
        <c:tickLblPos val="nextTo"/>
        <c:crossAx val="700489359"/>
        <c:crosses val="autoZero"/>
        <c:auto val="1"/>
        <c:lblAlgn val="ctr"/>
        <c:lblOffset val="100"/>
        <c:noMultiLvlLbl val="0"/>
      </c:catAx>
      <c:valAx>
        <c:axId val="7004893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RW"/>
          </a:p>
        </c:txPr>
        <c:crossAx val="700517679"/>
        <c:crosses val="autoZero"/>
        <c:crossBetween val="between"/>
      </c:valAx>
      <c:spPr>
        <a:noFill/>
        <a:ln>
          <a:noFill/>
        </a:ln>
        <a:effectLst/>
      </c:spPr>
    </c:plotArea>
    <c:legend>
      <c:legendPos val="b"/>
      <c:layout>
        <c:manualLayout>
          <c:xMode val="edge"/>
          <c:yMode val="edge"/>
          <c:x val="5.828943969815565E-2"/>
          <c:y val="0.86979144535292541"/>
          <c:w val="0.91110290092153934"/>
          <c:h val="9.9744361211440008E-2"/>
        </c:manualLayout>
      </c:layout>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R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ysClr val="window" lastClr="FFFFFF"/>
    </a:solidFill>
    <a:ln w="9525" cap="flat" cmpd="sng" algn="ctr">
      <a:solidFill>
        <a:sysClr val="windowText" lastClr="000000"/>
      </a:solidFill>
      <a:prstDash val="solid"/>
      <a:miter lim="800000"/>
    </a:ln>
    <a:effectLst/>
  </c:spPr>
  <c:txPr>
    <a:bodyPr/>
    <a:lstStyle/>
    <a:p>
      <a:pPr>
        <a:defRPr>
          <a:solidFill>
            <a:sysClr val="windowText" lastClr="000000"/>
          </a:solidFill>
          <a:latin typeface="+mn-lt"/>
          <a:ea typeface="+mn-ea"/>
          <a:cs typeface="+mn-cs"/>
        </a:defRPr>
      </a:pPr>
      <a:endParaRPr lang="en-RW"/>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ysClr val="windowText" lastClr="000000"/>
                </a:solidFill>
                <a:latin typeface="+mn-lt"/>
                <a:ea typeface="+mn-ea"/>
                <a:cs typeface="+mn-cs"/>
              </a:defRPr>
            </a:pPr>
            <a:r>
              <a:rPr lang="en-US" sz="1000"/>
              <a:t>Sell in Vs Sell Out performance</a:t>
            </a:r>
          </a:p>
        </c:rich>
      </c:tx>
      <c:layout>
        <c:manualLayout>
          <c:xMode val="edge"/>
          <c:yMode val="edge"/>
          <c:x val="0.24468690637540999"/>
          <c:y val="1.4750010549548227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ysClr val="windowText" lastClr="000000"/>
              </a:solidFill>
              <a:latin typeface="+mn-lt"/>
              <a:ea typeface="+mn-ea"/>
              <a:cs typeface="+mn-cs"/>
            </a:defRPr>
          </a:pPr>
          <a:endParaRPr lang="en-RW"/>
        </a:p>
      </c:txPr>
    </c:title>
    <c:autoTitleDeleted val="0"/>
    <c:plotArea>
      <c:layout>
        <c:manualLayout>
          <c:layoutTarget val="inner"/>
          <c:xMode val="edge"/>
          <c:yMode val="edge"/>
          <c:x val="7.613353024978424E-2"/>
          <c:y val="0.13530453913055399"/>
          <c:w val="0.89254666879980726"/>
          <c:h val="0.65617105985987878"/>
        </c:manualLayout>
      </c:layout>
      <c:lineChart>
        <c:grouping val="standard"/>
        <c:varyColors val="0"/>
        <c:ser>
          <c:idx val="0"/>
          <c:order val="0"/>
          <c:tx>
            <c:v>Sellin (Crates)</c:v>
          </c:tx>
          <c:spPr>
            <a:ln w="12700" cap="rnd">
              <a:solidFill>
                <a:schemeClr val="accent1"/>
              </a:solidFill>
              <a:round/>
            </a:ln>
            <a:effectLst/>
          </c:spPr>
          <c:marker>
            <c:symbol val="none"/>
          </c:marker>
          <c:cat>
            <c:strRef>
              <c:f>Sheet1!$B$5:$B$45</c:f>
              <c:strCache>
                <c:ptCount val="41"/>
                <c:pt idx="0">
                  <c:v>FELIX</c:v>
                </c:pt>
                <c:pt idx="1">
                  <c:v>Sulait Kayitare</c:v>
                </c:pt>
                <c:pt idx="2">
                  <c:v>Anitha</c:v>
                </c:pt>
                <c:pt idx="3">
                  <c:v>Freddy</c:v>
                </c:pt>
                <c:pt idx="4">
                  <c:v>ALEXIS</c:v>
                </c:pt>
                <c:pt idx="5">
                  <c:v>Kevin Victor</c:v>
                </c:pt>
                <c:pt idx="6">
                  <c:v>Ibrahim karekezi</c:v>
                </c:pt>
                <c:pt idx="7">
                  <c:v>Cedric N</c:v>
                </c:pt>
                <c:pt idx="8">
                  <c:v>RUBEN MUYOBOKE</c:v>
                </c:pt>
                <c:pt idx="9">
                  <c:v>Tharcisse Ngabonziza</c:v>
                </c:pt>
                <c:pt idx="10">
                  <c:v>Derrick Bagabo</c:v>
                </c:pt>
                <c:pt idx="11">
                  <c:v>Rene Nkongori</c:v>
                </c:pt>
                <c:pt idx="12">
                  <c:v>Fabrice</c:v>
                </c:pt>
                <c:pt idx="13">
                  <c:v>Gilbert</c:v>
                </c:pt>
                <c:pt idx="14">
                  <c:v>GASTON RURANGWA</c:v>
                </c:pt>
                <c:pt idx="15">
                  <c:v>Arcade</c:v>
                </c:pt>
                <c:pt idx="16">
                  <c:v>Prince</c:v>
                </c:pt>
                <c:pt idx="17">
                  <c:v>Emile U</c:v>
                </c:pt>
                <c:pt idx="18">
                  <c:v>Michel</c:v>
                </c:pt>
                <c:pt idx="19">
                  <c:v>Jean Jacques</c:v>
                </c:pt>
                <c:pt idx="20">
                  <c:v>Jonathan</c:v>
                </c:pt>
                <c:pt idx="21">
                  <c:v>Gasasira</c:v>
                </c:pt>
                <c:pt idx="22">
                  <c:v>Olivier Byiringiro</c:v>
                </c:pt>
                <c:pt idx="23">
                  <c:v>Steven M</c:v>
                </c:pt>
                <c:pt idx="24">
                  <c:v>Vedaste</c:v>
                </c:pt>
                <c:pt idx="25">
                  <c:v>Anaclet</c:v>
                </c:pt>
                <c:pt idx="26">
                  <c:v>Regis Ndatira</c:v>
                </c:pt>
                <c:pt idx="27">
                  <c:v>Ghislain</c:v>
                </c:pt>
                <c:pt idx="28">
                  <c:v>Des Gasana</c:v>
                </c:pt>
                <c:pt idx="29">
                  <c:v>ERIC GASIGWA</c:v>
                </c:pt>
                <c:pt idx="30">
                  <c:v>Niyoyita Jean De La Croix</c:v>
                </c:pt>
                <c:pt idx="31">
                  <c:v>Denis MUKIMBIRI</c:v>
                </c:pt>
                <c:pt idx="32">
                  <c:v>Emmanuel Tuyishime</c:v>
                </c:pt>
                <c:pt idx="33">
                  <c:v>Clarisse</c:v>
                </c:pt>
                <c:pt idx="34">
                  <c:v>Geofrey</c:v>
                </c:pt>
                <c:pt idx="35">
                  <c:v>HENRIETTE</c:v>
                </c:pt>
                <c:pt idx="36">
                  <c:v>JABO</c:v>
                </c:pt>
                <c:pt idx="37">
                  <c:v>Vivien</c:v>
                </c:pt>
                <c:pt idx="38">
                  <c:v>SUGIRA</c:v>
                </c:pt>
                <c:pt idx="39">
                  <c:v>MAKOMBE</c:v>
                </c:pt>
                <c:pt idx="40">
                  <c:v>BENITHA</c:v>
                </c:pt>
              </c:strCache>
            </c:strRef>
          </c:cat>
          <c:val>
            <c:numRef>
              <c:f>Sheet1!$F$5:$F$45</c:f>
              <c:numCache>
                <c:formatCode>General</c:formatCode>
                <c:ptCount val="41"/>
                <c:pt idx="0">
                  <c:v>390</c:v>
                </c:pt>
                <c:pt idx="1">
                  <c:v>926</c:v>
                </c:pt>
                <c:pt idx="2">
                  <c:v>285</c:v>
                </c:pt>
                <c:pt idx="3">
                  <c:v>342</c:v>
                </c:pt>
                <c:pt idx="4">
                  <c:v>687</c:v>
                </c:pt>
                <c:pt idx="5">
                  <c:v>390</c:v>
                </c:pt>
                <c:pt idx="6">
                  <c:v>396</c:v>
                </c:pt>
                <c:pt idx="7">
                  <c:v>351</c:v>
                </c:pt>
                <c:pt idx="8">
                  <c:v>712</c:v>
                </c:pt>
                <c:pt idx="9">
                  <c:v>243</c:v>
                </c:pt>
                <c:pt idx="10">
                  <c:v>354</c:v>
                </c:pt>
                <c:pt idx="11">
                  <c:v>297</c:v>
                </c:pt>
                <c:pt idx="12">
                  <c:v>276</c:v>
                </c:pt>
                <c:pt idx="13">
                  <c:v>640</c:v>
                </c:pt>
                <c:pt idx="14">
                  <c:v>349</c:v>
                </c:pt>
                <c:pt idx="15">
                  <c:v>351</c:v>
                </c:pt>
                <c:pt idx="16">
                  <c:v>384</c:v>
                </c:pt>
                <c:pt idx="17">
                  <c:v>679</c:v>
                </c:pt>
                <c:pt idx="18">
                  <c:v>327</c:v>
                </c:pt>
                <c:pt idx="19">
                  <c:v>381</c:v>
                </c:pt>
                <c:pt idx="20">
                  <c:v>330</c:v>
                </c:pt>
                <c:pt idx="21">
                  <c:v>393</c:v>
                </c:pt>
                <c:pt idx="22">
                  <c:v>285</c:v>
                </c:pt>
                <c:pt idx="23">
                  <c:v>411</c:v>
                </c:pt>
                <c:pt idx="24">
                  <c:v>444</c:v>
                </c:pt>
                <c:pt idx="25">
                  <c:v>363</c:v>
                </c:pt>
                <c:pt idx="26">
                  <c:v>372</c:v>
                </c:pt>
                <c:pt idx="27">
                  <c:v>327</c:v>
                </c:pt>
                <c:pt idx="28">
                  <c:v>232</c:v>
                </c:pt>
                <c:pt idx="29">
                  <c:v>156</c:v>
                </c:pt>
                <c:pt idx="30">
                  <c:v>150</c:v>
                </c:pt>
                <c:pt idx="31">
                  <c:v>171</c:v>
                </c:pt>
                <c:pt idx="32">
                  <c:v>144</c:v>
                </c:pt>
                <c:pt idx="33">
                  <c:v>165</c:v>
                </c:pt>
                <c:pt idx="34">
                  <c:v>168</c:v>
                </c:pt>
                <c:pt idx="35">
                  <c:v>382</c:v>
                </c:pt>
                <c:pt idx="36">
                  <c:v>117</c:v>
                </c:pt>
                <c:pt idx="37">
                  <c:v>137</c:v>
                </c:pt>
                <c:pt idx="38">
                  <c:v>89</c:v>
                </c:pt>
                <c:pt idx="39">
                  <c:v>56</c:v>
                </c:pt>
                <c:pt idx="40">
                  <c:v>6</c:v>
                </c:pt>
              </c:numCache>
            </c:numRef>
          </c:val>
          <c:smooth val="0"/>
          <c:extLst>
            <c:ext xmlns:c16="http://schemas.microsoft.com/office/drawing/2014/chart" uri="{C3380CC4-5D6E-409C-BE32-E72D297353CC}">
              <c16:uniqueId val="{00000000-25DF-4EC1-A015-4AE0D6769B99}"/>
            </c:ext>
          </c:extLst>
        </c:ser>
        <c:ser>
          <c:idx val="1"/>
          <c:order val="1"/>
          <c:tx>
            <c:v>Sellout (Crates)</c:v>
          </c:tx>
          <c:spPr>
            <a:ln w="12700" cap="rnd">
              <a:solidFill>
                <a:srgbClr val="FF0000"/>
              </a:solidFill>
              <a:round/>
            </a:ln>
            <a:effectLst/>
          </c:spPr>
          <c:marker>
            <c:symbol val="none"/>
          </c:marker>
          <c:cat>
            <c:strRef>
              <c:f>Sheet1!$B$5:$B$45</c:f>
              <c:strCache>
                <c:ptCount val="41"/>
                <c:pt idx="0">
                  <c:v>FELIX</c:v>
                </c:pt>
                <c:pt idx="1">
                  <c:v>Sulait Kayitare</c:v>
                </c:pt>
                <c:pt idx="2">
                  <c:v>Anitha</c:v>
                </c:pt>
                <c:pt idx="3">
                  <c:v>Freddy</c:v>
                </c:pt>
                <c:pt idx="4">
                  <c:v>ALEXIS</c:v>
                </c:pt>
                <c:pt idx="5">
                  <c:v>Kevin Victor</c:v>
                </c:pt>
                <c:pt idx="6">
                  <c:v>Ibrahim karekezi</c:v>
                </c:pt>
                <c:pt idx="7">
                  <c:v>Cedric N</c:v>
                </c:pt>
                <c:pt idx="8">
                  <c:v>RUBEN MUYOBOKE</c:v>
                </c:pt>
                <c:pt idx="9">
                  <c:v>Tharcisse Ngabonziza</c:v>
                </c:pt>
                <c:pt idx="10">
                  <c:v>Derrick Bagabo</c:v>
                </c:pt>
                <c:pt idx="11">
                  <c:v>Rene Nkongori</c:v>
                </c:pt>
                <c:pt idx="12">
                  <c:v>Fabrice</c:v>
                </c:pt>
                <c:pt idx="13">
                  <c:v>Gilbert</c:v>
                </c:pt>
                <c:pt idx="14">
                  <c:v>GASTON RURANGWA</c:v>
                </c:pt>
                <c:pt idx="15">
                  <c:v>Arcade</c:v>
                </c:pt>
                <c:pt idx="16">
                  <c:v>Prince</c:v>
                </c:pt>
                <c:pt idx="17">
                  <c:v>Emile U</c:v>
                </c:pt>
                <c:pt idx="18">
                  <c:v>Michel</c:v>
                </c:pt>
                <c:pt idx="19">
                  <c:v>Jean Jacques</c:v>
                </c:pt>
                <c:pt idx="20">
                  <c:v>Jonathan</c:v>
                </c:pt>
                <c:pt idx="21">
                  <c:v>Gasasira</c:v>
                </c:pt>
                <c:pt idx="22">
                  <c:v>Olivier Byiringiro</c:v>
                </c:pt>
                <c:pt idx="23">
                  <c:v>Steven M</c:v>
                </c:pt>
                <c:pt idx="24">
                  <c:v>Vedaste</c:v>
                </c:pt>
                <c:pt idx="25">
                  <c:v>Anaclet</c:v>
                </c:pt>
                <c:pt idx="26">
                  <c:v>Regis Ndatira</c:v>
                </c:pt>
                <c:pt idx="27">
                  <c:v>Ghislain</c:v>
                </c:pt>
                <c:pt idx="28">
                  <c:v>Des Gasana</c:v>
                </c:pt>
                <c:pt idx="29">
                  <c:v>ERIC GASIGWA</c:v>
                </c:pt>
                <c:pt idx="30">
                  <c:v>Niyoyita Jean De La Croix</c:v>
                </c:pt>
                <c:pt idx="31">
                  <c:v>Denis MUKIMBIRI</c:v>
                </c:pt>
                <c:pt idx="32">
                  <c:v>Emmanuel Tuyishime</c:v>
                </c:pt>
                <c:pt idx="33">
                  <c:v>Clarisse</c:v>
                </c:pt>
                <c:pt idx="34">
                  <c:v>Geofrey</c:v>
                </c:pt>
                <c:pt idx="35">
                  <c:v>HENRIETTE</c:v>
                </c:pt>
                <c:pt idx="36">
                  <c:v>JABO</c:v>
                </c:pt>
                <c:pt idx="37">
                  <c:v>Vivien</c:v>
                </c:pt>
                <c:pt idx="38">
                  <c:v>SUGIRA</c:v>
                </c:pt>
                <c:pt idx="39">
                  <c:v>MAKOMBE</c:v>
                </c:pt>
                <c:pt idx="40">
                  <c:v>BENITHA</c:v>
                </c:pt>
              </c:strCache>
            </c:strRef>
          </c:cat>
          <c:val>
            <c:numRef>
              <c:f>Sheet1!$G$5:$G$45</c:f>
              <c:numCache>
                <c:formatCode>General</c:formatCode>
                <c:ptCount val="41"/>
                <c:pt idx="0">
                  <c:v>390</c:v>
                </c:pt>
                <c:pt idx="1">
                  <c:v>904</c:v>
                </c:pt>
                <c:pt idx="2">
                  <c:v>285</c:v>
                </c:pt>
                <c:pt idx="3">
                  <c:v>342</c:v>
                </c:pt>
                <c:pt idx="4">
                  <c:v>687</c:v>
                </c:pt>
                <c:pt idx="5">
                  <c:v>390</c:v>
                </c:pt>
                <c:pt idx="6">
                  <c:v>263.89999999999998</c:v>
                </c:pt>
                <c:pt idx="7">
                  <c:v>351</c:v>
                </c:pt>
                <c:pt idx="8">
                  <c:v>676</c:v>
                </c:pt>
                <c:pt idx="9">
                  <c:v>243</c:v>
                </c:pt>
                <c:pt idx="10">
                  <c:v>340</c:v>
                </c:pt>
                <c:pt idx="11">
                  <c:v>297</c:v>
                </c:pt>
                <c:pt idx="12">
                  <c:v>276</c:v>
                </c:pt>
                <c:pt idx="13">
                  <c:v>640</c:v>
                </c:pt>
                <c:pt idx="14">
                  <c:v>375</c:v>
                </c:pt>
                <c:pt idx="15">
                  <c:v>337</c:v>
                </c:pt>
                <c:pt idx="16">
                  <c:v>366</c:v>
                </c:pt>
                <c:pt idx="17">
                  <c:v>624</c:v>
                </c:pt>
                <c:pt idx="18">
                  <c:v>206.5</c:v>
                </c:pt>
                <c:pt idx="19">
                  <c:v>300</c:v>
                </c:pt>
                <c:pt idx="20">
                  <c:v>321</c:v>
                </c:pt>
                <c:pt idx="21">
                  <c:v>378</c:v>
                </c:pt>
                <c:pt idx="22">
                  <c:v>236</c:v>
                </c:pt>
                <c:pt idx="23">
                  <c:v>400</c:v>
                </c:pt>
                <c:pt idx="24">
                  <c:v>405</c:v>
                </c:pt>
                <c:pt idx="25">
                  <c:v>303</c:v>
                </c:pt>
                <c:pt idx="26">
                  <c:v>323</c:v>
                </c:pt>
                <c:pt idx="27">
                  <c:v>327</c:v>
                </c:pt>
                <c:pt idx="28">
                  <c:v>226</c:v>
                </c:pt>
                <c:pt idx="29">
                  <c:v>125</c:v>
                </c:pt>
                <c:pt idx="30">
                  <c:v>143</c:v>
                </c:pt>
                <c:pt idx="31">
                  <c:v>178</c:v>
                </c:pt>
                <c:pt idx="32">
                  <c:v>144</c:v>
                </c:pt>
                <c:pt idx="33">
                  <c:v>165</c:v>
                </c:pt>
                <c:pt idx="34">
                  <c:v>168</c:v>
                </c:pt>
                <c:pt idx="35">
                  <c:v>304</c:v>
                </c:pt>
                <c:pt idx="36">
                  <c:v>107</c:v>
                </c:pt>
                <c:pt idx="37">
                  <c:v>137</c:v>
                </c:pt>
                <c:pt idx="38">
                  <c:v>60</c:v>
                </c:pt>
                <c:pt idx="39">
                  <c:v>58</c:v>
                </c:pt>
                <c:pt idx="40">
                  <c:v>3</c:v>
                </c:pt>
              </c:numCache>
            </c:numRef>
          </c:val>
          <c:smooth val="0"/>
          <c:extLst>
            <c:ext xmlns:c16="http://schemas.microsoft.com/office/drawing/2014/chart" uri="{C3380CC4-5D6E-409C-BE32-E72D297353CC}">
              <c16:uniqueId val="{00000001-25DF-4EC1-A015-4AE0D6769B99}"/>
            </c:ext>
          </c:extLst>
        </c:ser>
        <c:dLbls>
          <c:showLegendKey val="0"/>
          <c:showVal val="0"/>
          <c:showCatName val="0"/>
          <c:showSerName val="0"/>
          <c:showPercent val="0"/>
          <c:showBubbleSize val="0"/>
        </c:dLbls>
        <c:smooth val="0"/>
        <c:axId val="700517679"/>
        <c:axId val="700489359"/>
      </c:lineChart>
      <c:catAx>
        <c:axId val="700517679"/>
        <c:scaling>
          <c:orientation val="minMax"/>
        </c:scaling>
        <c:delete val="1"/>
        <c:axPos val="b"/>
        <c:numFmt formatCode="General" sourceLinked="1"/>
        <c:majorTickMark val="none"/>
        <c:minorTickMark val="none"/>
        <c:tickLblPos val="nextTo"/>
        <c:crossAx val="700489359"/>
        <c:crosses val="autoZero"/>
        <c:auto val="1"/>
        <c:lblAlgn val="ctr"/>
        <c:lblOffset val="100"/>
        <c:noMultiLvlLbl val="0"/>
      </c:catAx>
      <c:valAx>
        <c:axId val="7004893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RW"/>
          </a:p>
        </c:txPr>
        <c:crossAx val="700517679"/>
        <c:crosses val="autoZero"/>
        <c:crossBetween val="between"/>
      </c:valAx>
      <c:spPr>
        <a:noFill/>
        <a:ln>
          <a:noFill/>
        </a:ln>
        <a:effectLst/>
      </c:spPr>
    </c:plotArea>
    <c:legend>
      <c:legendPos val="b"/>
      <c:layout>
        <c:manualLayout>
          <c:xMode val="edge"/>
          <c:yMode val="edge"/>
          <c:x val="3.5379553121865352E-2"/>
          <c:y val="0.87414347298658757"/>
          <c:w val="0.89641177675595729"/>
          <c:h val="9.9744361211440008E-2"/>
        </c:manualLayout>
      </c:layout>
      <c:overlay val="0"/>
      <c:spPr>
        <a:noFill/>
        <a:ln>
          <a:noFill/>
        </a:ln>
        <a:effectLst/>
      </c:spPr>
      <c:txPr>
        <a:bodyPr rot="0" spcFirstLastPara="1" vertOverflow="ellipsis" vert="horz" wrap="square" anchor="ctr" anchorCtr="1"/>
        <a:lstStyle/>
        <a:p>
          <a:pPr algn="ctr">
            <a:defRPr lang="en-US" sz="1000" b="0" i="0" u="none" strike="noStrike" kern="1200" baseline="0">
              <a:solidFill>
                <a:sysClr val="windowText" lastClr="000000"/>
              </a:solidFill>
              <a:latin typeface="+mn-lt"/>
              <a:ea typeface="+mn-ea"/>
              <a:cs typeface="+mn-cs"/>
            </a:defRPr>
          </a:pPr>
          <a:endParaRPr lang="en-R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ysClr val="window" lastClr="FFFFFF"/>
    </a:solidFill>
    <a:ln w="12700" cap="flat" cmpd="sng" algn="ctr">
      <a:solidFill>
        <a:sysClr val="windowText" lastClr="000000"/>
      </a:solidFill>
      <a:prstDash val="solid"/>
      <a:miter lim="800000"/>
    </a:ln>
    <a:effectLst/>
  </c:spPr>
  <c:txPr>
    <a:bodyPr/>
    <a:lstStyle/>
    <a:p>
      <a:pPr>
        <a:defRPr>
          <a:solidFill>
            <a:sysClr val="windowText" lastClr="000000"/>
          </a:solidFill>
          <a:latin typeface="+mn-lt"/>
          <a:ea typeface="+mn-ea"/>
          <a:cs typeface="+mn-cs"/>
        </a:defRPr>
      </a:pPr>
      <a:endParaRPr lang="en-RW"/>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a:t>BUDGET BY BRAND</a:t>
            </a:r>
          </a:p>
        </c:rich>
      </c:tx>
      <c:overlay val="0"/>
      <c:spPr>
        <a:noFill/>
        <a:ln>
          <a:solidFill>
            <a:sysClr val="windowText" lastClr="000000"/>
          </a:solid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RW"/>
        </a:p>
      </c:tx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CFA8-4D23-B12D-39E2357F952F}"/>
              </c:ext>
            </c:extLst>
          </c:dPt>
          <c:dPt>
            <c:idx val="1"/>
            <c:invertIfNegative val="0"/>
            <c:bubble3D val="0"/>
            <c:spPr>
              <a:solidFill>
                <a:srgbClr val="70AD47">
                  <a:lumMod val="75000"/>
                </a:srgbClr>
              </a:solidFill>
              <a:ln>
                <a:solidFill>
                  <a:srgbClr val="70AD47">
                    <a:lumMod val="75000"/>
                  </a:srgbClr>
                </a:solidFill>
              </a:ln>
              <a:effectLst/>
            </c:spPr>
            <c:extLst>
              <c:ext xmlns:c16="http://schemas.microsoft.com/office/drawing/2014/chart" uri="{C3380CC4-5D6E-409C-BE32-E72D297353CC}">
                <c16:uniqueId val="{00000002-CFA8-4D23-B12D-39E2357F952F}"/>
              </c:ext>
            </c:extLst>
          </c:dPt>
          <c:dPt>
            <c:idx val="2"/>
            <c:invertIfNegative val="0"/>
            <c:bubble3D val="0"/>
            <c:spPr>
              <a:solidFill>
                <a:srgbClr val="ED7D31">
                  <a:lumMod val="75000"/>
                </a:srgbClr>
              </a:solidFill>
              <a:ln>
                <a:noFill/>
              </a:ln>
              <a:effectLst/>
            </c:spPr>
            <c:extLst>
              <c:ext xmlns:c16="http://schemas.microsoft.com/office/drawing/2014/chart" uri="{C3380CC4-5D6E-409C-BE32-E72D297353CC}">
                <c16:uniqueId val="{00000003-CFA8-4D23-B12D-39E2357F952F}"/>
              </c:ext>
            </c:extLst>
          </c:dPt>
          <c:dPt>
            <c:idx val="3"/>
            <c:invertIfNegative val="0"/>
            <c:bubble3D val="0"/>
            <c:spPr>
              <a:solidFill>
                <a:srgbClr val="29F73D"/>
              </a:solidFill>
              <a:ln>
                <a:solidFill>
                  <a:srgbClr val="29F73D"/>
                </a:solidFill>
              </a:ln>
              <a:effectLst/>
            </c:spPr>
            <c:extLst>
              <c:ext xmlns:c16="http://schemas.microsoft.com/office/drawing/2014/chart" uri="{C3380CC4-5D6E-409C-BE32-E72D297353CC}">
                <c16:uniqueId val="{00000004-CFA8-4D23-B12D-39E2357F952F}"/>
              </c:ext>
            </c:extLst>
          </c:dPt>
          <c:dLbls>
            <c:spPr>
              <a:solidFill>
                <a:srgbClr val="FFFF00"/>
              </a:solidFill>
              <a:ln>
                <a:solidFill>
                  <a:sysClr val="windowText" lastClr="000000"/>
                </a:solidFill>
              </a:ln>
              <a:effectLst/>
            </c:spPr>
            <c:txPr>
              <a:bodyPr rot="0" spcFirstLastPara="1" vertOverflow="ellipsis" vert="horz" wrap="square" anchor="ctr" anchorCtr="0"/>
              <a:lstStyle/>
              <a:p>
                <a:pPr algn="ctr">
                  <a:defRPr lang="en-US" sz="1000" b="1" i="0" u="none" strike="noStrike" kern="1200" baseline="0">
                    <a:solidFill>
                      <a:schemeClr val="tx1"/>
                    </a:solidFill>
                    <a:highlight>
                      <a:srgbClr val="FFFF00"/>
                    </a:highlight>
                    <a:latin typeface="Aptos" panose="020B0004020202020204" pitchFamily="34" charset="0"/>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Sheet2!$B$8:$B$12</c:f>
              <c:strCache>
                <c:ptCount val="5"/>
                <c:pt idx="0">
                  <c:v>SKOL MALT</c:v>
                </c:pt>
                <c:pt idx="1">
                  <c:v>GATANU</c:v>
                </c:pt>
                <c:pt idx="2">
                  <c:v>VIRUNGA</c:v>
                </c:pt>
                <c:pt idx="3">
                  <c:v>PANACHE</c:v>
                </c:pt>
                <c:pt idx="4">
                  <c:v>SKOL LAGER</c:v>
                </c:pt>
              </c:strCache>
            </c:strRef>
          </c:cat>
          <c:val>
            <c:numRef>
              <c:f>Sheet2!$F$8:$F$12</c:f>
              <c:numCache>
                <c:formatCode>_(* #,##0_);_(* \(#,##0\);_(* "-"_);_(@_)</c:formatCode>
                <c:ptCount val="5"/>
                <c:pt idx="0">
                  <c:v>1020183449.4506984</c:v>
                </c:pt>
                <c:pt idx="1">
                  <c:v>909893346.80737972</c:v>
                </c:pt>
                <c:pt idx="2">
                  <c:v>689313141.52074218</c:v>
                </c:pt>
                <c:pt idx="3">
                  <c:v>137862628.30414844</c:v>
                </c:pt>
                <c:pt idx="4">
                  <c:v>0</c:v>
                </c:pt>
              </c:numCache>
            </c:numRef>
          </c:val>
          <c:extLst>
            <c:ext xmlns:c16="http://schemas.microsoft.com/office/drawing/2014/chart" uri="{C3380CC4-5D6E-409C-BE32-E72D297353CC}">
              <c16:uniqueId val="{00000000-CFA8-4D23-B12D-39E2357F952F}"/>
            </c:ext>
          </c:extLst>
        </c:ser>
        <c:dLbls>
          <c:showLegendKey val="0"/>
          <c:showVal val="0"/>
          <c:showCatName val="0"/>
          <c:showSerName val="0"/>
          <c:showPercent val="0"/>
          <c:showBubbleSize val="0"/>
        </c:dLbls>
        <c:gapWidth val="219"/>
        <c:overlap val="-27"/>
        <c:axId val="399333167"/>
        <c:axId val="399334127"/>
      </c:barChart>
      <c:catAx>
        <c:axId val="399333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RW"/>
          </a:p>
        </c:txPr>
        <c:crossAx val="399334127"/>
        <c:crosses val="autoZero"/>
        <c:auto val="1"/>
        <c:lblAlgn val="ctr"/>
        <c:lblOffset val="100"/>
        <c:noMultiLvlLbl val="0"/>
      </c:catAx>
      <c:valAx>
        <c:axId val="399334127"/>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RW"/>
          </a:p>
        </c:txPr>
        <c:crossAx val="3993331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ysClr val="windowText" lastClr="000000"/>
      </a:solidFill>
    </a:ln>
    <a:effectLst/>
  </c:spPr>
  <c:txPr>
    <a:bodyPr/>
    <a:lstStyle/>
    <a:p>
      <a:pPr>
        <a:defRPr>
          <a:solidFill>
            <a:schemeClr val="tx1"/>
          </a:solidFill>
        </a:defRPr>
      </a:pPr>
      <a:endParaRPr lang="en-RW"/>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Aptos" panose="020B0004020202020204" pitchFamily="34" charset="0"/>
                <a:ea typeface="+mn-ea"/>
                <a:cs typeface="+mn-cs"/>
              </a:defRPr>
            </a:pPr>
            <a:r>
              <a:rPr lang="en-US" sz="1200" dirty="0"/>
              <a:t>BTL BUDGET BY CHANNEL</a:t>
            </a:r>
          </a:p>
        </c:rich>
      </c:tx>
      <c:layout>
        <c:manualLayout>
          <c:xMode val="edge"/>
          <c:yMode val="edge"/>
          <c:x val="0.35754340897638659"/>
          <c:y val="1.9326680761785724E-2"/>
        </c:manualLayout>
      </c:layout>
      <c:overlay val="0"/>
      <c:spPr>
        <a:noFill/>
        <a:ln>
          <a:solidFill>
            <a:sysClr val="windowText" lastClr="000000"/>
          </a:solidFill>
        </a:ln>
        <a:effectLst/>
      </c:spPr>
      <c:txPr>
        <a:bodyPr rot="0" spcFirstLastPara="1" vertOverflow="ellipsis" vert="horz" wrap="square" anchor="ctr" anchorCtr="1"/>
        <a:lstStyle/>
        <a:p>
          <a:pPr>
            <a:defRPr sz="1200" b="0" i="0" u="none" strike="noStrike" kern="1200" spc="0" baseline="0">
              <a:solidFill>
                <a:schemeClr val="tx1"/>
              </a:solidFill>
              <a:latin typeface="Aptos" panose="020B0004020202020204" pitchFamily="34" charset="0"/>
              <a:ea typeface="+mn-ea"/>
              <a:cs typeface="+mn-cs"/>
            </a:defRPr>
          </a:pPr>
          <a:endParaRPr lang="en-RW"/>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5.7975650753916086E-2"/>
          <c:y val="0.18228438759817697"/>
          <c:w val="0.88178658509758878"/>
          <c:h val="0.74181244531108892"/>
        </c:manualLayout>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A3BC-4D67-A99F-B031DBBAD346}"/>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A3BC-4D67-A99F-B031DBBAD346}"/>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A3BC-4D67-A99F-B031DBBAD346}"/>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A3BC-4D67-A99F-B031DBBAD346}"/>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A3BC-4D67-A99F-B031DBBAD346}"/>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A3BC-4D67-A99F-B031DBBAD346}"/>
              </c:ext>
            </c:extLst>
          </c:dPt>
          <c:dLbls>
            <c:dLbl>
              <c:idx val="0"/>
              <c:layout>
                <c:manualLayout>
                  <c:x val="-0.10607495005093326"/>
                  <c:y val="-0.12522533146521569"/>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3BC-4D67-A99F-B031DBBAD346}"/>
                </c:ext>
              </c:extLst>
            </c:dLbl>
            <c:dLbl>
              <c:idx val="1"/>
              <c:layout>
                <c:manualLayout>
                  <c:x val="0.12478423089658597"/>
                  <c:y val="-9.5895197195719224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3BC-4D67-A99F-B031DBBAD346}"/>
                </c:ext>
              </c:extLst>
            </c:dLbl>
            <c:dLbl>
              <c:idx val="2"/>
              <c:layout>
                <c:manualLayout>
                  <c:x val="4.8528032126997536E-2"/>
                  <c:y val="0.3263408975732591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3BC-4D67-A99F-B031DBBAD346}"/>
                </c:ext>
              </c:extLst>
            </c:dLbl>
            <c:dLbl>
              <c:idx val="3"/>
              <c:layout>
                <c:manualLayout>
                  <c:x val="-5.1123050240826015E-2"/>
                  <c:y val="-4.647351873056846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3BC-4D67-A99F-B031DBBAD346}"/>
                </c:ext>
              </c:extLst>
            </c:dLbl>
            <c:dLbl>
              <c:idx val="4"/>
              <c:layout>
                <c:manualLayout>
                  <c:x val="1.3363390348684379E-2"/>
                  <c:y val="1.2808364546852745E-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A3BC-4D67-A99F-B031DBBAD346}"/>
                </c:ext>
              </c:extLst>
            </c:dLbl>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ptos" panose="020B0004020202020204" pitchFamily="34" charset="0"/>
                    <a:ea typeface="+mn-ea"/>
                    <a:cs typeface="+mn-cs"/>
                  </a:defRPr>
                </a:pPr>
                <a:endParaRPr lang="en-RW"/>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Sheet1!$B$10:$B$15</c:f>
              <c:strCache>
                <c:ptCount val="5"/>
                <c:pt idx="0">
                  <c:v>Classy</c:v>
                </c:pt>
                <c:pt idx="1">
                  <c:v>Premium</c:v>
                </c:pt>
                <c:pt idx="2">
                  <c:v>Basic</c:v>
                </c:pt>
                <c:pt idx="3">
                  <c:v>Standard</c:v>
                </c:pt>
                <c:pt idx="4">
                  <c:v>Restaurant</c:v>
                </c:pt>
              </c:strCache>
            </c:strRef>
          </c:cat>
          <c:val>
            <c:numRef>
              <c:f>Sheet1!$C$10:$C$15</c:f>
              <c:numCache>
                <c:formatCode>#,##0</c:formatCode>
                <c:ptCount val="6"/>
                <c:pt idx="0">
                  <c:v>894144854.135167</c:v>
                </c:pt>
                <c:pt idx="1">
                  <c:v>704765951.79776871</c:v>
                </c:pt>
                <c:pt idx="2">
                  <c:v>685111623.92004347</c:v>
                </c:pt>
                <c:pt idx="3">
                  <c:v>324714332.22935939</c:v>
                </c:pt>
                <c:pt idx="4">
                  <c:v>22284577.496033899</c:v>
                </c:pt>
              </c:numCache>
            </c:numRef>
          </c:val>
          <c:extLst>
            <c:ext xmlns:c16="http://schemas.microsoft.com/office/drawing/2014/chart" uri="{C3380CC4-5D6E-409C-BE32-E72D297353CC}">
              <c16:uniqueId val="{0000000C-A3BC-4D67-A99F-B031DBBAD346}"/>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ysClr val="windowText" lastClr="000000"/>
      </a:solidFill>
    </a:ln>
    <a:effectLst/>
  </c:spPr>
  <c:txPr>
    <a:bodyPr/>
    <a:lstStyle/>
    <a:p>
      <a:pPr>
        <a:defRPr>
          <a:solidFill>
            <a:schemeClr val="tx1"/>
          </a:solidFill>
          <a:latin typeface="Aptos" panose="020B0004020202020204" pitchFamily="34" charset="0"/>
        </a:defRPr>
      </a:pPr>
      <a:endParaRPr lang="en-RW"/>
    </a:p>
  </c:txPr>
  <c:externalData r:id="rId4">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dirty="0"/>
              <a:t>BUDGET</a:t>
            </a:r>
            <a:r>
              <a:rPr lang="en-US" sz="1200" baseline="0" dirty="0"/>
              <a:t> BY DEPARTMENT: TRADE MARKETING &amp; EVENT</a:t>
            </a:r>
            <a:endParaRPr lang="en-US" sz="1200" dirty="0"/>
          </a:p>
        </c:rich>
      </c:tx>
      <c:overlay val="0"/>
      <c:spPr>
        <a:noFill/>
        <a:ln>
          <a:solidFill>
            <a:sysClr val="windowText" lastClr="000000"/>
          </a:solid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w="19050">
              <a:solidFill>
                <a:schemeClr val="lt1"/>
              </a:solidFill>
            </a:ln>
            <a:effectLst/>
          </c:spPr>
          <c:invertIfNegative val="0"/>
          <c:dPt>
            <c:idx val="0"/>
            <c:invertIfNegative val="0"/>
            <c:bubble3D val="0"/>
            <c:spPr>
              <a:solidFill>
                <a:srgbClr val="FFC000"/>
              </a:solidFill>
              <a:ln w="19050">
                <a:solidFill>
                  <a:schemeClr val="lt1"/>
                </a:solidFill>
              </a:ln>
              <a:effectLst/>
            </c:spPr>
            <c:extLst>
              <c:ext xmlns:c16="http://schemas.microsoft.com/office/drawing/2014/chart" uri="{C3380CC4-5D6E-409C-BE32-E72D297353CC}">
                <c16:uniqueId val="{00000002-4A71-4704-8FC6-AF7C5F6F3436}"/>
              </c:ext>
            </c:extLst>
          </c:dPt>
          <c:dPt>
            <c:idx val="1"/>
            <c:invertIfNegative val="0"/>
            <c:bubble3D val="0"/>
            <c:spPr>
              <a:solidFill>
                <a:srgbClr val="0070C0"/>
              </a:solidFill>
              <a:ln w="19050">
                <a:solidFill>
                  <a:schemeClr val="lt1"/>
                </a:solidFill>
              </a:ln>
              <a:effectLst/>
            </c:spPr>
            <c:extLst>
              <c:ext xmlns:c16="http://schemas.microsoft.com/office/drawing/2014/chart" uri="{C3380CC4-5D6E-409C-BE32-E72D297353CC}">
                <c16:uniqueId val="{00000001-4A71-4704-8FC6-AF7C5F6F3436}"/>
              </c:ext>
            </c:extLst>
          </c:dPt>
          <c:dLbls>
            <c:spPr>
              <a:solidFill>
                <a:srgbClr val="FFFF00"/>
              </a:solidFill>
              <a:ln>
                <a:solidFill>
                  <a:sysClr val="windowText" lastClr="000000"/>
                </a:solidFill>
              </a:ln>
              <a:effectLst/>
            </c:spPr>
            <c:txPr>
              <a:bodyPr rot="0" spcFirstLastPara="1" vertOverflow="ellipsis" vert="horz" wrap="square" anchor="ctr" anchorCtr="1"/>
              <a:lstStyle/>
              <a:p>
                <a:pPr>
                  <a:defRPr sz="1200" b="0" i="0" u="none" strike="noStrike" kern="1200" baseline="0">
                    <a:solidFill>
                      <a:schemeClr val="tx1"/>
                    </a:solidFill>
                    <a:highlight>
                      <a:srgbClr val="FFFF00"/>
                    </a:highlight>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Sheet1!$B$10:$B$11</c:f>
              <c:strCache>
                <c:ptCount val="2"/>
                <c:pt idx="0">
                  <c:v>BTL BUDGET EVENT</c:v>
                </c:pt>
                <c:pt idx="1">
                  <c:v>BTL BUDGET TRADE MARKETING</c:v>
                </c:pt>
              </c:strCache>
            </c:strRef>
          </c:cat>
          <c:val>
            <c:numRef>
              <c:f>Sheet1!$F$10:$F$11</c:f>
              <c:numCache>
                <c:formatCode>#,##0</c:formatCode>
                <c:ptCount val="2"/>
                <c:pt idx="0">
                  <c:v>1221970008.8162253</c:v>
                </c:pt>
                <c:pt idx="1">
                  <c:v>1535282557.2667434</c:v>
                </c:pt>
              </c:numCache>
            </c:numRef>
          </c:val>
          <c:extLst>
            <c:ext xmlns:c16="http://schemas.microsoft.com/office/drawing/2014/chart" uri="{C3380CC4-5D6E-409C-BE32-E72D297353CC}">
              <c16:uniqueId val="{00000000-4A71-4704-8FC6-AF7C5F6F3436}"/>
            </c:ext>
          </c:extLst>
        </c:ser>
        <c:dLbls>
          <c:showLegendKey val="0"/>
          <c:showVal val="0"/>
          <c:showCatName val="0"/>
          <c:showSerName val="0"/>
          <c:showPercent val="0"/>
          <c:showBubbleSize val="0"/>
        </c:dLbls>
        <c:gapWidth val="150"/>
        <c:axId val="1297613295"/>
        <c:axId val="1297613775"/>
      </c:barChart>
      <c:catAx>
        <c:axId val="129761329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RW"/>
          </a:p>
        </c:txPr>
        <c:crossAx val="1297613775"/>
        <c:crosses val="autoZero"/>
        <c:auto val="1"/>
        <c:lblAlgn val="ctr"/>
        <c:lblOffset val="100"/>
        <c:noMultiLvlLbl val="0"/>
      </c:catAx>
      <c:valAx>
        <c:axId val="1297613775"/>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2976132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ysClr val="windowText" lastClr="000000"/>
      </a:solidFill>
    </a:ln>
    <a:effectLst/>
  </c:spPr>
  <c:txPr>
    <a:bodyPr/>
    <a:lstStyle/>
    <a:p>
      <a:pPr>
        <a:defRPr>
          <a:solidFill>
            <a:schemeClr val="tx1"/>
          </a:solidFill>
        </a:defRPr>
      </a:pPr>
      <a:endParaRPr lang="en-RW"/>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dirty="0"/>
              <a:t>BUDGET BY ACTIVITY</a:t>
            </a:r>
          </a:p>
        </c:rich>
      </c:tx>
      <c:overlay val="0"/>
      <c:spPr>
        <a:noFill/>
        <a:ln>
          <a:solidFill>
            <a:sysClr val="windowText" lastClr="000000"/>
          </a:solid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RW"/>
        </a:p>
      </c:txPr>
    </c:title>
    <c:autoTitleDeleted val="0"/>
    <c:plotArea>
      <c:layout/>
      <c:barChart>
        <c:barDir val="col"/>
        <c:grouping val="clustered"/>
        <c:varyColors val="0"/>
        <c:ser>
          <c:idx val="1"/>
          <c:order val="1"/>
          <c:tx>
            <c:strRef>
              <c:f>Sheet1!$M$12</c:f>
              <c:strCache>
                <c:ptCount val="1"/>
                <c:pt idx="0">
                  <c:v>2027</c:v>
                </c:pt>
              </c:strCache>
            </c:strRef>
          </c:tx>
          <c:spPr>
            <a:solidFill>
              <a:schemeClr val="accent2"/>
            </a:solidFill>
            <a:ln>
              <a:noFill/>
            </a:ln>
            <a:effectLst/>
          </c:spPr>
          <c:invertIfNegative val="0"/>
          <c:dLbls>
            <c:dLbl>
              <c:idx val="0"/>
              <c:tx>
                <c:rich>
                  <a:bodyPr/>
                  <a:lstStyle/>
                  <a:p>
                    <a:r>
                      <a:rPr lang="en-US"/>
                      <a:t>42%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624-46CB-B217-08783E1EB277}"/>
                </c:ext>
              </c:extLst>
            </c:dLbl>
            <c:dLbl>
              <c:idx val="1"/>
              <c:tx>
                <c:rich>
                  <a:bodyPr/>
                  <a:lstStyle/>
                  <a:p>
                    <a:r>
                      <a:rPr lang="en-US"/>
                      <a:t>22%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624-46CB-B217-08783E1EB277}"/>
                </c:ext>
              </c:extLst>
            </c:dLbl>
            <c:dLbl>
              <c:idx val="2"/>
              <c:tx>
                <c:rich>
                  <a:bodyPr/>
                  <a:lstStyle/>
                  <a:p>
                    <a:r>
                      <a:rPr lang="en-US"/>
                      <a:t>21%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624-46CB-B217-08783E1EB277}"/>
                </c:ext>
              </c:extLst>
            </c:dLbl>
            <c:dLbl>
              <c:idx val="3"/>
              <c:tx>
                <c:rich>
                  <a:bodyPr/>
                  <a:lstStyle/>
                  <a:p>
                    <a:r>
                      <a:rPr lang="en-US" dirty="0"/>
                      <a:t>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624-46CB-B217-08783E1EB277}"/>
                </c:ext>
              </c:extLst>
            </c:dLbl>
            <c:dLbl>
              <c:idx val="4"/>
              <c:tx>
                <c:rich>
                  <a:bodyPr/>
                  <a:lstStyle/>
                  <a:p>
                    <a:r>
                      <a:rPr lang="en-US"/>
                      <a:t>6%</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624-46CB-B217-08783E1EB277}"/>
                </c:ext>
              </c:extLst>
            </c:dLbl>
            <c:dLbl>
              <c:idx val="5"/>
              <c:tx>
                <c:rich>
                  <a:bodyPr/>
                  <a:lstStyle/>
                  <a:p>
                    <a:r>
                      <a:rPr lang="en-US"/>
                      <a:t>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624-46CB-B217-08783E1EB277}"/>
                </c:ext>
              </c:extLst>
            </c:dLbl>
            <c:spPr>
              <a:solidFill>
                <a:srgbClr val="FFFF00"/>
              </a:solidFill>
              <a:ln>
                <a:solidFill>
                  <a:sysClr val="windowText" lastClr="000000"/>
                </a:solid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Sheet1!$K$13:$K$18</c:f>
              <c:strCache>
                <c:ptCount val="6"/>
                <c:pt idx="0">
                  <c:v>SPONSORING - EVENT</c:v>
                </c:pt>
                <c:pt idx="1">
                  <c:v>POS MATERIALS</c:v>
                </c:pt>
                <c:pt idx="2">
                  <c:v>BRANDING: PAINTING, BILLBOARDS, CARS,…</c:v>
                </c:pt>
                <c:pt idx="3">
                  <c:v>IN-STORE ACTIVATION</c:v>
                </c:pt>
                <c:pt idx="4">
                  <c:v>CONSUMER PROMOTION</c:v>
                </c:pt>
                <c:pt idx="5">
                  <c:v>EVENT MATERIALS</c:v>
                </c:pt>
              </c:strCache>
            </c:strRef>
          </c:cat>
          <c:val>
            <c:numRef>
              <c:f>Sheet1!$M$13:$M$18</c:f>
              <c:numCache>
                <c:formatCode>#,##0</c:formatCode>
                <c:ptCount val="6"/>
                <c:pt idx="0">
                  <c:v>1157702839.9999998</c:v>
                </c:pt>
                <c:pt idx="1">
                  <c:v>600943726.13724971</c:v>
                </c:pt>
                <c:pt idx="2">
                  <c:v>580199312.32876599</c:v>
                </c:pt>
                <c:pt idx="3">
                  <c:v>193471596.76016361</c:v>
                </c:pt>
                <c:pt idx="4">
                  <c:v>160667922.04056364</c:v>
                </c:pt>
                <c:pt idx="5">
                  <c:v>64267168.816225454</c:v>
                </c:pt>
              </c:numCache>
            </c:numRef>
          </c:val>
          <c:extLst>
            <c:ext xmlns:c16="http://schemas.microsoft.com/office/drawing/2014/chart" uri="{C3380CC4-5D6E-409C-BE32-E72D297353CC}">
              <c16:uniqueId val="{00000000-1624-46CB-B217-08783E1EB277}"/>
            </c:ext>
          </c:extLst>
        </c:ser>
        <c:dLbls>
          <c:showLegendKey val="0"/>
          <c:showVal val="0"/>
          <c:showCatName val="0"/>
          <c:showSerName val="0"/>
          <c:showPercent val="0"/>
          <c:showBubbleSize val="0"/>
        </c:dLbls>
        <c:gapWidth val="219"/>
        <c:overlap val="-27"/>
        <c:axId val="1434462767"/>
        <c:axId val="1434463727"/>
      </c:barChart>
      <c:lineChart>
        <c:grouping val="stacked"/>
        <c:varyColors val="0"/>
        <c:ser>
          <c:idx val="0"/>
          <c:order val="0"/>
          <c:tx>
            <c:strRef>
              <c:f>Sheet1!$L$12</c:f>
              <c:strCache>
                <c:ptCount val="1"/>
                <c:pt idx="0">
                  <c:v>2026</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strRef>
              <c:f>Sheet1!$K$13:$K$18</c:f>
              <c:strCache>
                <c:ptCount val="6"/>
                <c:pt idx="0">
                  <c:v>SPONSORING - EVENT</c:v>
                </c:pt>
                <c:pt idx="1">
                  <c:v>POS MATERIALS</c:v>
                </c:pt>
                <c:pt idx="2">
                  <c:v>BRANDING: PAINTING, BILLBOARDS, CARS,…</c:v>
                </c:pt>
                <c:pt idx="3">
                  <c:v>IN-STORE ACTIVATION</c:v>
                </c:pt>
                <c:pt idx="4">
                  <c:v>CONSUMER PROMOTION</c:v>
                </c:pt>
                <c:pt idx="5">
                  <c:v>EVENT MATERIALS</c:v>
                </c:pt>
              </c:strCache>
            </c:strRef>
          </c:cat>
          <c:val>
            <c:numRef>
              <c:f>Sheet1!$L$13:$L$18</c:f>
              <c:numCache>
                <c:formatCode>#,##0</c:formatCode>
                <c:ptCount val="6"/>
                <c:pt idx="0">
                  <c:v>981480730.72800314</c:v>
                </c:pt>
                <c:pt idx="1">
                  <c:v>467535552.9163518</c:v>
                </c:pt>
                <c:pt idx="2">
                  <c:v>451396352.92467093</c:v>
                </c:pt>
                <c:pt idx="3">
                  <c:v>150521331.74981105</c:v>
                </c:pt>
                <c:pt idx="4">
                  <c:v>125000000.00000003</c:v>
                </c:pt>
                <c:pt idx="5">
                  <c:v>50000000</c:v>
                </c:pt>
              </c:numCache>
            </c:numRef>
          </c:val>
          <c:smooth val="0"/>
          <c:extLst>
            <c:ext xmlns:c16="http://schemas.microsoft.com/office/drawing/2014/chart" uri="{C3380CC4-5D6E-409C-BE32-E72D297353CC}">
              <c16:uniqueId val="{00000001-1624-46CB-B217-08783E1EB277}"/>
            </c:ext>
          </c:extLst>
        </c:ser>
        <c:dLbls>
          <c:showLegendKey val="0"/>
          <c:showVal val="0"/>
          <c:showCatName val="0"/>
          <c:showSerName val="0"/>
          <c:showPercent val="0"/>
          <c:showBubbleSize val="0"/>
        </c:dLbls>
        <c:marker val="1"/>
        <c:smooth val="0"/>
        <c:axId val="1434462767"/>
        <c:axId val="1434463727"/>
      </c:lineChart>
      <c:catAx>
        <c:axId val="14344627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1620000" spcFirstLastPara="1" vertOverflow="ellipsis" wrap="square" anchor="ctr" anchorCtr="1"/>
          <a:lstStyle/>
          <a:p>
            <a:pPr>
              <a:defRPr sz="800" b="0" i="0" u="none" strike="noStrike" kern="1200" baseline="0">
                <a:solidFill>
                  <a:schemeClr val="tx1"/>
                </a:solidFill>
                <a:latin typeface="+mn-lt"/>
                <a:ea typeface="+mn-ea"/>
                <a:cs typeface="+mn-cs"/>
              </a:defRPr>
            </a:pPr>
            <a:endParaRPr lang="en-RW"/>
          </a:p>
        </c:txPr>
        <c:crossAx val="1434463727"/>
        <c:crosses val="autoZero"/>
        <c:auto val="1"/>
        <c:lblAlgn val="ctr"/>
        <c:lblOffset val="100"/>
        <c:noMultiLvlLbl val="0"/>
      </c:catAx>
      <c:valAx>
        <c:axId val="1434463727"/>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434462767"/>
        <c:crosses val="autoZero"/>
        <c:crossBetween val="between"/>
      </c:valAx>
      <c:spPr>
        <a:noFill/>
        <a:ln>
          <a:noFill/>
        </a:ln>
        <a:effectLst/>
      </c:spPr>
    </c:plotArea>
    <c:legend>
      <c:legendPos val="r"/>
      <c:layout>
        <c:manualLayout>
          <c:xMode val="edge"/>
          <c:yMode val="edge"/>
          <c:x val="0.86166319808945546"/>
          <c:y val="0.20736031919272324"/>
          <c:w val="0.12023998388157509"/>
          <c:h val="0.37040685618322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R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ysClr val="windowText" lastClr="000000"/>
      </a:solidFill>
    </a:ln>
    <a:effectLst/>
  </c:spPr>
  <c:txPr>
    <a:bodyPr/>
    <a:lstStyle/>
    <a:p>
      <a:pPr>
        <a:defRPr>
          <a:solidFill>
            <a:schemeClr val="tx1"/>
          </a:solidFill>
        </a:defRPr>
      </a:pPr>
      <a:endParaRPr lang="en-RW"/>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1F4B"/>
                </a:solidFill>
                <a:latin typeface="+mn-lt"/>
              </a:defRPr>
            </a:pPr>
            <a:r>
              <a:rPr lang="fr-FR" sz="1100" b="0" i="0" u="none" strike="noStrike" dirty="0">
                <a:solidFill>
                  <a:srgbClr val="0B1F4B"/>
                </a:solidFill>
                <a:latin typeface="+mn-lt"/>
              </a:rPr>
              <a:t>Monthly sales 2026, hL (local + export)</a:t>
            </a:r>
          </a:p>
        </c:rich>
      </c:tx>
      <c:overlay val="0"/>
    </c:title>
    <c:autoTitleDeleted val="0"/>
    <c:plotArea>
      <c:layout/>
      <c:barChart>
        <c:barDir val="col"/>
        <c:grouping val="clustered"/>
        <c:varyColors val="0"/>
        <c:ser>
          <c:idx val="0"/>
          <c:order val="0"/>
          <c:tx>
            <c:strRef>
              <c:f>Sheet1!$B$1</c:f>
              <c:strCache>
                <c:ptCount val="1"/>
                <c:pt idx="0">
                  <c:v>Monthly sales 2026 (hL)</c:v>
                </c:pt>
              </c:strCache>
            </c:strRef>
          </c:tx>
          <c:spPr>
            <a:solidFill>
              <a:srgbClr val="8FA2CC"/>
            </a:solidFill>
            <a:effectLst/>
          </c:spPr>
          <c:invertIfNegative val="0"/>
          <c:dPt>
            <c:idx val="0"/>
            <c:invertIfNegative val="0"/>
            <c:bubble3D val="0"/>
            <c:extLst>
              <c:ext xmlns:c16="http://schemas.microsoft.com/office/drawing/2014/chart" uri="{C3380CC4-5D6E-409C-BE32-E72D297353CC}">
                <c16:uniqueId val="{00000001-FFB1-4C89-9113-DD2CF6FBCF46}"/>
              </c:ext>
            </c:extLst>
          </c:dPt>
          <c:dPt>
            <c:idx val="1"/>
            <c:invertIfNegative val="0"/>
            <c:bubble3D val="0"/>
            <c:extLst>
              <c:ext xmlns:c16="http://schemas.microsoft.com/office/drawing/2014/chart" uri="{C3380CC4-5D6E-409C-BE32-E72D297353CC}">
                <c16:uniqueId val="{00000003-FFB1-4C89-9113-DD2CF6FBCF46}"/>
              </c:ext>
            </c:extLst>
          </c:dPt>
          <c:dPt>
            <c:idx val="2"/>
            <c:invertIfNegative val="0"/>
            <c:bubble3D val="0"/>
            <c:spPr>
              <a:solidFill>
                <a:srgbClr val="2E5AAC"/>
              </a:solidFill>
              <a:effectLst/>
            </c:spPr>
            <c:extLst>
              <c:ext xmlns:c16="http://schemas.microsoft.com/office/drawing/2014/chart" uri="{C3380CC4-5D6E-409C-BE32-E72D297353CC}">
                <c16:uniqueId val="{00000005-FFB1-4C89-9113-DD2CF6FBCF46}"/>
              </c:ext>
            </c:extLst>
          </c:dPt>
          <c:dPt>
            <c:idx val="3"/>
            <c:invertIfNegative val="0"/>
            <c:bubble3D val="0"/>
            <c:spPr>
              <a:solidFill>
                <a:srgbClr val="0B1F4B"/>
              </a:solidFill>
              <a:effectLst/>
            </c:spPr>
            <c:extLst>
              <c:ext xmlns:c16="http://schemas.microsoft.com/office/drawing/2014/chart" uri="{C3380CC4-5D6E-409C-BE32-E72D297353CC}">
                <c16:uniqueId val="{00000007-FFB1-4C89-9113-DD2CF6FBCF46}"/>
              </c:ext>
            </c:extLst>
          </c:dPt>
          <c:dPt>
            <c:idx val="4"/>
            <c:invertIfNegative val="0"/>
            <c:bubble3D val="0"/>
            <c:spPr>
              <a:solidFill>
                <a:srgbClr val="FFC20E"/>
              </a:solidFill>
              <a:effectLst/>
            </c:spPr>
            <c:extLst>
              <c:ext xmlns:c16="http://schemas.microsoft.com/office/drawing/2014/chart" uri="{C3380CC4-5D6E-409C-BE32-E72D297353CC}">
                <c16:uniqueId val="{00000009-FFB1-4C89-9113-DD2CF6FBCF46}"/>
              </c:ext>
            </c:extLst>
          </c:dPt>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Sheet1!$B$2:$B$6</c:f>
              <c:numCache>
                <c:formatCode>General</c:formatCode>
                <c:ptCount val="5"/>
                <c:pt idx="0">
                  <c:v>67510</c:v>
                </c:pt>
                <c:pt idx="1">
                  <c:v>71302</c:v>
                </c:pt>
                <c:pt idx="2">
                  <c:v>81660</c:v>
                </c:pt>
                <c:pt idx="3">
                  <c:v>89164</c:v>
                </c:pt>
                <c:pt idx="4">
                  <c:v>92644</c:v>
                </c:pt>
              </c:numCache>
            </c:numRef>
          </c:val>
          <c:extLst>
            <c:ext xmlns:c16="http://schemas.microsoft.com/office/drawing/2014/chart" uri="{C3380CC4-5D6E-409C-BE32-E72D297353CC}">
              <c16:uniqueId val="{0000000A-FFB1-4C89-9113-DD2CF6FBCF4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10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B1F4B"/>
                </a:solidFill>
                <a:latin typeface="+mn-lt"/>
              </a:defRPr>
            </a:pPr>
            <a:r>
              <a:rPr lang="fr-FR" sz="1000" b="0" i="0" u="none" strike="noStrike" dirty="0">
                <a:solidFill>
                  <a:srgbClr val="0B1F4B"/>
                </a:solidFill>
                <a:latin typeface="+mn-lt"/>
              </a:rPr>
              <a:t>Published beer market share 2026</a:t>
            </a:r>
          </a:p>
        </c:rich>
      </c:tx>
      <c:overlay val="0"/>
    </c:title>
    <c:autoTitleDeleted val="0"/>
    <c:plotArea>
      <c:layout/>
      <c:lineChart>
        <c:grouping val="standard"/>
        <c:varyColors val="0"/>
        <c:ser>
          <c:idx val="0"/>
          <c:order val="0"/>
          <c:tx>
            <c:strRef>
              <c:f>Sheet1!$B$1</c:f>
              <c:strCache>
                <c:ptCount val="1"/>
                <c:pt idx="0">
                  <c:v>2026</c:v>
                </c:pt>
              </c:strCache>
            </c:strRef>
          </c:tx>
          <c:spPr>
            <a:ln w="31750" cap="flat">
              <a:solidFill>
                <a:srgbClr val="D6281E"/>
              </a:solidFill>
              <a:prstDash val="solid"/>
              <a:round/>
            </a:ln>
            <a:effectLst/>
          </c:spPr>
          <c:marker>
            <c:symbol val="circle"/>
            <c:size val="5"/>
            <c:spPr>
              <a:solidFill>
                <a:srgbClr val="D6281E"/>
              </a:solidFill>
              <a:ln w="9525" cap="flat">
                <a:solidFill>
                  <a:srgbClr val="D6281E"/>
                </a:solidFill>
                <a:prstDash val="solid"/>
                <a:round/>
              </a:ln>
              <a:effectLst/>
            </c:spPr>
          </c:marker>
          <c:dLbls>
            <c:numFmt formatCode="0.0" sourceLinked="0"/>
            <c:spPr>
              <a:noFill/>
              <a:ln>
                <a:noFill/>
              </a:ln>
              <a:effectLst/>
            </c:spPr>
            <c:txPr>
              <a:bodyPr/>
              <a:lstStyle/>
              <a:p>
                <a:pPr>
                  <a:defRPr sz="800" b="0" i="0" u="none" strike="noStrike">
                    <a:solidFill>
                      <a:srgbClr val="14213D"/>
                    </a:solidFill>
                    <a:latin typeface="+mn-lt"/>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General</c:formatCode>
                <c:ptCount val="9"/>
                <c:pt idx="0">
                  <c:v>25</c:v>
                </c:pt>
                <c:pt idx="1">
                  <c:v>23</c:v>
                </c:pt>
                <c:pt idx="2">
                  <c:v>22.7</c:v>
                </c:pt>
                <c:pt idx="3">
                  <c:v>25.2</c:v>
                </c:pt>
                <c:pt idx="4">
                  <c:v>23.2</c:v>
                </c:pt>
                <c:pt idx="5">
                  <c:v>24.8</c:v>
                </c:pt>
                <c:pt idx="6">
                  <c:v>26.5</c:v>
                </c:pt>
                <c:pt idx="7">
                  <c:v>27.8</c:v>
                </c:pt>
                <c:pt idx="8">
                  <c:v>31.5</c:v>
                </c:pt>
              </c:numCache>
            </c:numRef>
          </c:val>
          <c:smooth val="0"/>
          <c:extLst>
            <c:ext xmlns:c16="http://schemas.microsoft.com/office/drawing/2014/chart" uri="{C3380CC4-5D6E-409C-BE32-E72D297353CC}">
              <c16:uniqueId val="{00000000-D510-4BBC-B987-11566B3F958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34"/>
          <c:min val="20"/>
        </c:scaling>
        <c:delete val="0"/>
        <c:axPos val="l"/>
        <c:majorGridlines>
          <c:spPr>
            <a:ln w="6350" cap="flat">
              <a:solidFill>
                <a:srgbClr val="E3EA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8"/>
                </a:solidFill>
                <a:latin typeface="+mn-lt"/>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1F4B"/>
                </a:solidFill>
                <a:latin typeface="+mn-lt"/>
              </a:defRPr>
            </a:pPr>
            <a:r>
              <a:rPr lang="fr-FR" sz="1100" b="0" i="0" u="none" strike="noStrike" dirty="0">
                <a:solidFill>
                  <a:srgbClr val="0B1F4B"/>
                </a:solidFill>
                <a:latin typeface="+mn-lt"/>
              </a:rPr>
              <a:t>Monthly sales 2026, hL — local (domestic)</a:t>
            </a:r>
          </a:p>
        </c:rich>
      </c:tx>
      <c:overlay val="0"/>
    </c:title>
    <c:autoTitleDeleted val="0"/>
    <c:plotArea>
      <c:layout/>
      <c:barChart>
        <c:barDir val="col"/>
        <c:grouping val="clustered"/>
        <c:varyColors val="0"/>
        <c:ser>
          <c:idx val="0"/>
          <c:order val="0"/>
          <c:tx>
            <c:strRef>
              <c:f>Sheet1!$B$1</c:f>
              <c:strCache>
                <c:ptCount val="1"/>
                <c:pt idx="0">
                  <c:v>Local sales 2026 (hL)</c:v>
                </c:pt>
              </c:strCache>
            </c:strRef>
          </c:tx>
          <c:spPr>
            <a:solidFill>
              <a:srgbClr val="8FA2CC"/>
            </a:solidFill>
            <a:effectLst/>
          </c:spPr>
          <c:invertIfNegative val="0"/>
          <c:dPt>
            <c:idx val="0"/>
            <c:invertIfNegative val="0"/>
            <c:bubble3D val="0"/>
            <c:extLst>
              <c:ext xmlns:c16="http://schemas.microsoft.com/office/drawing/2014/chart" uri="{C3380CC4-5D6E-409C-BE32-E72D297353CC}">
                <c16:uniqueId val="{00000001-FFB1-4C89-9113-DD2CF6FBCF46}"/>
              </c:ext>
            </c:extLst>
          </c:dPt>
          <c:dPt>
            <c:idx val="1"/>
            <c:invertIfNegative val="0"/>
            <c:bubble3D val="0"/>
            <c:extLst>
              <c:ext xmlns:c16="http://schemas.microsoft.com/office/drawing/2014/chart" uri="{C3380CC4-5D6E-409C-BE32-E72D297353CC}">
                <c16:uniqueId val="{00000003-FFB1-4C89-9113-DD2CF6FBCF46}"/>
              </c:ext>
            </c:extLst>
          </c:dPt>
          <c:dPt>
            <c:idx val="2"/>
            <c:invertIfNegative val="0"/>
            <c:bubble3D val="0"/>
            <c:extLst>
              <c:ext xmlns:c16="http://schemas.microsoft.com/office/drawing/2014/chart" uri="{C3380CC4-5D6E-409C-BE32-E72D297353CC}">
                <c16:uniqueId val="{00000005-FFB1-4C89-9113-DD2CF6FBCF46}"/>
              </c:ext>
            </c:extLst>
          </c:dPt>
          <c:dPt>
            <c:idx val="3"/>
            <c:invertIfNegative val="0"/>
            <c:bubble3D val="0"/>
            <c:extLst>
              <c:ext xmlns:c16="http://schemas.microsoft.com/office/drawing/2014/chart" uri="{C3380CC4-5D6E-409C-BE32-E72D297353CC}">
                <c16:uniqueId val="{00000007-FFB1-4C89-9113-DD2CF6FBCF46}"/>
              </c:ext>
            </c:extLst>
          </c:dPt>
          <c:dPt>
            <c:idx val="4"/>
            <c:invertIfNegative val="0"/>
            <c:bubble3D val="0"/>
            <c:extLst>
              <c:ext xmlns:c16="http://schemas.microsoft.com/office/drawing/2014/chart" uri="{C3380CC4-5D6E-409C-BE32-E72D297353CC}">
                <c16:uniqueId val="{00000009-FFB1-4C89-9113-DD2CF6FBCF46}"/>
              </c:ext>
            </c:extLst>
          </c:dPt>
          <c:dPt>
            <c:idx val="5"/>
            <c:invertIfNegative val="1"/>
            <c:bubble3D val="0"/>
            <c:spPr>
              <a:solidFill>
                <a:srgbClr val="8FA2CC"/>
              </a:solidFill>
            </c:spPr>
            <c:extLst>
              <c:ext xmlns:c16="http://schemas.microsoft.com/office/drawing/2014/chart" uri="{C3380CC4-5D6E-409C-BE32-E72D297353CC}">
                <c16:uniqueId val="{0000000B-2242-4D36-AF71-E1D35528257A}"/>
              </c:ext>
            </c:extLst>
          </c:dPt>
          <c:dPt>
            <c:idx val="6"/>
            <c:invertIfNegative val="1"/>
            <c:bubble3D val="0"/>
            <c:spPr>
              <a:solidFill>
                <a:srgbClr val="2E5AAC"/>
              </a:solidFill>
            </c:spPr>
            <c:extLst>
              <c:ext xmlns:c16="http://schemas.microsoft.com/office/drawing/2014/chart" uri="{C3380CC4-5D6E-409C-BE32-E72D297353CC}">
                <c16:uniqueId val="{0000000D-2242-4D36-AF71-E1D35528257A}"/>
              </c:ext>
            </c:extLst>
          </c:dPt>
          <c:dPt>
            <c:idx val="7"/>
            <c:invertIfNegative val="1"/>
            <c:bubble3D val="0"/>
            <c:spPr>
              <a:solidFill>
                <a:srgbClr val="0B1F4B"/>
              </a:solidFill>
            </c:spPr>
            <c:extLst>
              <c:ext xmlns:c16="http://schemas.microsoft.com/office/drawing/2014/chart" uri="{C3380CC4-5D6E-409C-BE32-E72D297353CC}">
                <c16:uniqueId val="{0000000F-2242-4D36-AF71-E1D35528257A}"/>
              </c:ext>
            </c:extLst>
          </c:dPt>
          <c:dPt>
            <c:idx val="8"/>
            <c:invertIfNegative val="1"/>
            <c:bubble3D val="0"/>
            <c:spPr>
              <a:solidFill>
                <a:srgbClr val="FFC20E"/>
              </a:solidFill>
            </c:spPr>
            <c:extLst>
              <c:ext xmlns:c16="http://schemas.microsoft.com/office/drawing/2014/chart" uri="{C3380CC4-5D6E-409C-BE32-E72D297353CC}">
                <c16:uniqueId val="{00000011-2242-4D36-AF71-E1D35528257A}"/>
              </c:ext>
            </c:extLst>
          </c:dPt>
          <c:dLbls>
            <c:numFmt formatCode="#,##0" sourceLinked="0"/>
            <c:spPr>
              <a:noFill/>
              <a:ln>
                <a:noFill/>
              </a:ln>
              <a:effectLst/>
            </c:spPr>
            <c:txPr>
              <a:bodyPr/>
              <a:lstStyle/>
              <a:p>
                <a:pPr>
                  <a:defRPr sz="11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General</c:formatCode>
                <c:ptCount val="9"/>
                <c:pt idx="0">
                  <c:v>52488</c:v>
                </c:pt>
                <c:pt idx="1">
                  <c:v>51346</c:v>
                </c:pt>
                <c:pt idx="2">
                  <c:v>50975</c:v>
                </c:pt>
                <c:pt idx="3">
                  <c:v>52172</c:v>
                </c:pt>
                <c:pt idx="4">
                  <c:v>52067</c:v>
                </c:pt>
                <c:pt idx="5">
                  <c:v>55142</c:v>
                </c:pt>
                <c:pt idx="6">
                  <c:v>59165</c:v>
                </c:pt>
                <c:pt idx="7">
                  <c:v>69873</c:v>
                </c:pt>
                <c:pt idx="8">
                  <c:v>74484</c:v>
                </c:pt>
              </c:numCache>
            </c:numRef>
          </c:val>
          <c:extLst>
            <c:ext xmlns:c16="http://schemas.microsoft.com/office/drawing/2014/chart" uri="{C3380CC4-5D6E-409C-BE32-E72D297353CC}">
              <c16:uniqueId val="{0000000A-FFB1-4C89-9113-DD2CF6FBCF4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9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Sell-in / sell-out gap (%)</c:v>
                </c:pt>
              </c:strCache>
            </c:strRef>
          </c:tx>
          <c:spPr>
            <a:ln w="25400" cap="flat">
              <a:solidFill>
                <a:srgbClr val="D6281E"/>
              </a:solidFill>
              <a:prstDash val="solid"/>
              <a:round/>
            </a:ln>
            <a:effectLst/>
          </c:spPr>
          <c:marker>
            <c:symbol val="circle"/>
            <c:size val="5"/>
            <c:spPr>
              <a:solidFill>
                <a:srgbClr val="D6281E"/>
              </a:solidFill>
              <a:ln w="9525" cap="flat">
                <a:solidFill>
                  <a:srgbClr val="D6281E"/>
                </a:solidFill>
                <a:prstDash val="solid"/>
                <a:round/>
              </a:ln>
              <a:effectLst/>
            </c:spPr>
          </c:marker>
          <c:dLbls>
            <c:numFmt formatCode="0" sourceLinked="0"/>
            <c:spPr>
              <a:noFill/>
              <a:ln>
                <a:noFill/>
              </a:ln>
              <a:effectLst/>
            </c:spPr>
            <c:txPr>
              <a:bodyPr/>
              <a:lstStyle/>
              <a:p>
                <a:pPr>
                  <a:defRPr sz="800" b="0" i="0" u="none" strike="noStrike">
                    <a:solidFill>
                      <a:srgbClr val="14213D"/>
                    </a:solidFill>
                    <a:latin typeface="+mn-lt"/>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Sheet1!$B$2:$B$6</c:f>
              <c:numCache>
                <c:formatCode>General</c:formatCode>
                <c:ptCount val="5"/>
                <c:pt idx="0">
                  <c:v>35.200000000000003</c:v>
                </c:pt>
                <c:pt idx="1">
                  <c:v>23.5</c:v>
                </c:pt>
                <c:pt idx="2">
                  <c:v>18</c:v>
                </c:pt>
                <c:pt idx="3">
                  <c:v>8.1999999999999993</c:v>
                </c:pt>
                <c:pt idx="4">
                  <c:v>3.4</c:v>
                </c:pt>
              </c:numCache>
            </c:numRef>
          </c:val>
          <c:smooth val="0"/>
          <c:extLst>
            <c:ext xmlns:c16="http://schemas.microsoft.com/office/drawing/2014/chart" uri="{C3380CC4-5D6E-409C-BE32-E72D297353CC}">
              <c16:uniqueId val="{00000000-6467-4E5B-8742-08BDF06B360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baseline="0">
                <a:solidFill>
                  <a:srgbClr val="0B1F4B"/>
                </a:solidFill>
                <a:latin typeface="+mn-lt"/>
                <a:ea typeface="+mn-ea"/>
                <a:cs typeface="+mn-cs"/>
              </a:defRPr>
            </a:pPr>
            <a:r>
              <a:rPr lang="fr-FR" sz="1000" b="0" i="0" u="none" strike="noStrike">
                <a:solidFill>
                  <a:srgbClr val="0B1F4B"/>
                </a:solidFill>
                <a:latin typeface="+mn-lt"/>
              </a:rPr>
              <a:t>Local 2027, hL per month (September 2026: 74,500)</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B1F4B"/>
              </a:solidFill>
              <a:latin typeface="+mn-lt"/>
              <a:ea typeface="+mn-ea"/>
              <a:cs typeface="+mn-cs"/>
            </a:defRPr>
          </a:pPr>
          <a:endParaRPr lang="fr-FR"/>
        </a:p>
      </c:txPr>
    </c:title>
    <c:autoTitleDeleted val="0"/>
    <c:plotArea>
      <c:layout/>
      <c:barChart>
        <c:barDir val="col"/>
        <c:grouping val="clustered"/>
        <c:varyColors val="0"/>
        <c:ser>
          <c:idx val="0"/>
          <c:order val="0"/>
          <c:tx>
            <c:strRef>
              <c:f>Sheet1!$B$1</c:f>
              <c:strCache>
                <c:ptCount val="1"/>
                <c:pt idx="0">
                  <c:v>Local 2027 (budget)</c:v>
                </c:pt>
              </c:strCache>
            </c:strRef>
          </c:tx>
          <c:spPr>
            <a:solidFill>
              <a:schemeClr val="accent2"/>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1-431A-4BEB-88CF-82C30542002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431A-4BEB-88CF-82C305420026}"/>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5-431A-4BEB-88CF-82C305420026}"/>
              </c:ext>
            </c:extLst>
          </c:dPt>
          <c:dPt>
            <c:idx val="3"/>
            <c:invertIfNegative val="0"/>
            <c:bubble3D val="0"/>
            <c:spPr>
              <a:solidFill>
                <a:schemeClr val="accent2"/>
              </a:solidFill>
              <a:ln>
                <a:noFill/>
              </a:ln>
              <a:effectLst/>
            </c:spPr>
            <c:extLst>
              <c:ext xmlns:c16="http://schemas.microsoft.com/office/drawing/2014/chart" uri="{C3380CC4-5D6E-409C-BE32-E72D297353CC}">
                <c16:uniqueId val="{00000007-431A-4BEB-88CF-82C305420026}"/>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9-431A-4BEB-88CF-82C305420026}"/>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B-431A-4BEB-88CF-82C305420026}"/>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D-431A-4BEB-88CF-82C305420026}"/>
              </c:ext>
            </c:extLst>
          </c:dPt>
          <c:dPt>
            <c:idx val="7"/>
            <c:invertIfNegative val="0"/>
            <c:bubble3D val="0"/>
            <c:spPr>
              <a:solidFill>
                <a:schemeClr val="accent2"/>
              </a:solidFill>
              <a:ln>
                <a:noFill/>
              </a:ln>
              <a:effectLst/>
            </c:spPr>
            <c:extLst>
              <c:ext xmlns:c16="http://schemas.microsoft.com/office/drawing/2014/chart" uri="{C3380CC4-5D6E-409C-BE32-E72D297353CC}">
                <c16:uniqueId val="{0000000F-431A-4BEB-88CF-82C305420026}"/>
              </c:ext>
            </c:extLst>
          </c:dPt>
          <c:dPt>
            <c:idx val="8"/>
            <c:invertIfNegative val="0"/>
            <c:bubble3D val="0"/>
            <c:spPr>
              <a:solidFill>
                <a:schemeClr val="accent2"/>
              </a:solidFill>
              <a:ln>
                <a:noFill/>
              </a:ln>
              <a:effectLst/>
            </c:spPr>
            <c:extLst>
              <c:ext xmlns:c16="http://schemas.microsoft.com/office/drawing/2014/chart" uri="{C3380CC4-5D6E-409C-BE32-E72D297353CC}">
                <c16:uniqueId val="{00000011-431A-4BEB-88CF-82C305420026}"/>
              </c:ext>
            </c:extLst>
          </c:dPt>
          <c:dPt>
            <c:idx val="9"/>
            <c:invertIfNegative val="0"/>
            <c:bubble3D val="0"/>
            <c:spPr>
              <a:solidFill>
                <a:schemeClr val="accent2"/>
              </a:solidFill>
              <a:ln>
                <a:noFill/>
              </a:ln>
              <a:effectLst/>
            </c:spPr>
            <c:extLst>
              <c:ext xmlns:c16="http://schemas.microsoft.com/office/drawing/2014/chart" uri="{C3380CC4-5D6E-409C-BE32-E72D297353CC}">
                <c16:uniqueId val="{00000013-431A-4BEB-88CF-82C305420026}"/>
              </c:ext>
            </c:extLst>
          </c:dPt>
          <c:dPt>
            <c:idx val="10"/>
            <c:invertIfNegative val="0"/>
            <c:bubble3D val="0"/>
            <c:spPr>
              <a:solidFill>
                <a:schemeClr val="accent2"/>
              </a:solidFill>
              <a:ln>
                <a:noFill/>
              </a:ln>
              <a:effectLst/>
            </c:spPr>
            <c:extLst>
              <c:ext xmlns:c16="http://schemas.microsoft.com/office/drawing/2014/chart" uri="{C3380CC4-5D6E-409C-BE32-E72D297353CC}">
                <c16:uniqueId val="{00000015-431A-4BEB-88CF-82C305420026}"/>
              </c:ext>
            </c:extLst>
          </c:dPt>
          <c:dPt>
            <c:idx val="11"/>
            <c:invertIfNegative val="0"/>
            <c:bubble3D val="0"/>
            <c:spPr>
              <a:solidFill>
                <a:schemeClr val="accent2"/>
              </a:solidFill>
              <a:ln>
                <a:noFill/>
              </a:ln>
              <a:effectLst/>
            </c:spPr>
            <c:extLst>
              <c:ext xmlns:c16="http://schemas.microsoft.com/office/drawing/2014/chart" uri="{C3380CC4-5D6E-409C-BE32-E72D297353CC}">
                <c16:uniqueId val="{00000017-431A-4BEB-88CF-82C305420026}"/>
              </c:ext>
            </c:extLst>
          </c:dPt>
          <c:dLbls>
            <c:numFmt formatCode="#,##0" sourceLinked="0"/>
            <c:spPr>
              <a:noFill/>
              <a:ln>
                <a:noFill/>
              </a:ln>
              <a:effectLst/>
            </c:spPr>
            <c:txPr>
              <a:bodyPr rot="0" spcFirstLastPara="1" vertOverflow="ellipsis" vert="horz" wrap="square" anchor="ctr" anchorCtr="1"/>
              <a:lstStyle/>
              <a:p>
                <a:pPr>
                  <a:defRPr sz="800" b="0" i="0" u="none" strike="noStrike" kern="1200" baseline="0">
                    <a:solidFill>
                      <a:srgbClr val="14213D"/>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65594</c:v>
                </c:pt>
                <c:pt idx="1">
                  <c:v>58872</c:v>
                </c:pt>
                <c:pt idx="2">
                  <c:v>54670</c:v>
                </c:pt>
                <c:pt idx="3">
                  <c:v>48788</c:v>
                </c:pt>
                <c:pt idx="4">
                  <c:v>65594</c:v>
                </c:pt>
                <c:pt idx="5">
                  <c:v>65594</c:v>
                </c:pt>
                <c:pt idx="6">
                  <c:v>67275</c:v>
                </c:pt>
                <c:pt idx="7">
                  <c:v>67275</c:v>
                </c:pt>
                <c:pt idx="8">
                  <c:v>65594</c:v>
                </c:pt>
                <c:pt idx="9">
                  <c:v>65644</c:v>
                </c:pt>
                <c:pt idx="10">
                  <c:v>66617</c:v>
                </c:pt>
                <c:pt idx="11">
                  <c:v>68617</c:v>
                </c:pt>
              </c:numCache>
            </c:numRef>
          </c:val>
          <c:extLst>
            <c:ext xmlns:c16="http://schemas.microsoft.com/office/drawing/2014/chart" uri="{C3380CC4-5D6E-409C-BE32-E72D297353CC}">
              <c16:uniqueId val="{00000018-431A-4BEB-88CF-82C305420026}"/>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900" b="0" i="0" u="none" strike="noStrike" kern="1200" baseline="0">
                <a:solidFill>
                  <a:srgbClr val="14213D"/>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9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fr-FR"/>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4B"/>
                </a:solidFill>
                <a:latin typeface="+mn-lt"/>
              </a:defRPr>
            </a:pPr>
            <a:r>
              <a:rPr lang="fr-FR" sz="1400" b="0" i="0" u="none" strike="noStrike" dirty="0">
                <a:solidFill>
                  <a:srgbClr val="0B1F4B"/>
                </a:solidFill>
                <a:latin typeface="+mn-lt"/>
              </a:rPr>
              <a:t>OPEX – CAPEX – FREE GOODS envelopes (M RWF)</a:t>
            </a:r>
          </a:p>
        </c:rich>
      </c:tx>
      <c:overlay val="0"/>
    </c:title>
    <c:autoTitleDeleted val="0"/>
    <c:plotArea>
      <c:layout/>
      <c:barChart>
        <c:barDir val="col"/>
        <c:grouping val="clustered"/>
        <c:varyColors val="0"/>
        <c:ser>
          <c:idx val="0"/>
          <c:order val="0"/>
          <c:tx>
            <c:strRef>
              <c:f>Sheet1!$B$1</c:f>
              <c:strCache>
                <c:ptCount val="1"/>
                <c:pt idx="0">
                  <c:v>2026 budget</c:v>
                </c:pt>
              </c:strCache>
            </c:strRef>
          </c:tx>
          <c:spPr>
            <a:solidFill>
              <a:srgbClr val="B8C4DE"/>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Sheet1!$B$2:$B$4</c:f>
              <c:numCache>
                <c:formatCode>General</c:formatCode>
                <c:ptCount val="3"/>
                <c:pt idx="0">
                  <c:v>2225.9</c:v>
                </c:pt>
                <c:pt idx="1">
                  <c:v>1688.3</c:v>
                </c:pt>
                <c:pt idx="2">
                  <c:v>1387.4</c:v>
                </c:pt>
              </c:numCache>
            </c:numRef>
          </c:val>
          <c:extLst>
            <c:ext xmlns:c16="http://schemas.microsoft.com/office/drawing/2014/chart" uri="{C3380CC4-5D6E-409C-BE32-E72D297353CC}">
              <c16:uniqueId val="{00000000-AF2D-421C-B1C2-E70E4244BAB6}"/>
            </c:ext>
          </c:extLst>
        </c:ser>
        <c:ser>
          <c:idx val="1"/>
          <c:order val="1"/>
          <c:tx>
            <c:strRef>
              <c:f>Sheet1!$C$1</c:f>
              <c:strCache>
                <c:ptCount val="1"/>
                <c:pt idx="0">
                  <c:v>LE T3 2026</c:v>
                </c:pt>
              </c:strCache>
            </c:strRef>
          </c:tx>
          <c:spPr>
            <a:solidFill>
              <a:srgbClr val="8FA2CC"/>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Sheet1!$C$2:$C$4</c:f>
              <c:numCache>
                <c:formatCode>General</c:formatCode>
                <c:ptCount val="3"/>
                <c:pt idx="0">
                  <c:v>2630.3</c:v>
                </c:pt>
                <c:pt idx="1">
                  <c:v>1710.9</c:v>
                </c:pt>
                <c:pt idx="2">
                  <c:v>1100.0999999999999</c:v>
                </c:pt>
              </c:numCache>
            </c:numRef>
          </c:val>
          <c:extLst>
            <c:ext xmlns:c16="http://schemas.microsoft.com/office/drawing/2014/chart" uri="{C3380CC4-5D6E-409C-BE32-E72D297353CC}">
              <c16:uniqueId val="{00000001-AF2D-421C-B1C2-E70E4244BAB6}"/>
            </c:ext>
          </c:extLst>
        </c:ser>
        <c:ser>
          <c:idx val="2"/>
          <c:order val="2"/>
          <c:tx>
            <c:strRef>
              <c:f>Sheet1!$D$1</c:f>
              <c:strCache>
                <c:ptCount val="1"/>
                <c:pt idx="0">
                  <c:v>2027 budget</c:v>
                </c:pt>
              </c:strCache>
            </c:strRef>
          </c:tx>
          <c:spPr>
            <a:solidFill>
              <a:srgbClr val="FFC20E"/>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Sheet1!$D$2:$D$4</c:f>
              <c:numCache>
                <c:formatCode>General</c:formatCode>
                <c:ptCount val="3"/>
                <c:pt idx="0">
                  <c:v>2757.3</c:v>
                </c:pt>
                <c:pt idx="1">
                  <c:v>1411.9</c:v>
                </c:pt>
                <c:pt idx="2">
                  <c:v>1250.2</c:v>
                </c:pt>
              </c:numCache>
            </c:numRef>
          </c:val>
          <c:extLst>
            <c:ext xmlns:c16="http://schemas.microsoft.com/office/drawing/2014/chart" uri="{C3380CC4-5D6E-409C-BE32-E72D297353CC}">
              <c16:uniqueId val="{00000002-AF2D-421C-B1C2-E70E4244BAB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00">
              <a:solidFill>
                <a:srgbClr val="1421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919EA0-EA94-43C2-99B0-71287DE61976}"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2D73B9-7943-4302-9C5D-C4B0ADA3052C}" type="slidenum">
              <a:rPr lang="en-US" smtClean="0"/>
              <a:t>‹#›</a:t>
            </a:fld>
            <a:endParaRPr lang="en-US"/>
          </a:p>
        </p:txBody>
      </p:sp>
    </p:spTree>
    <p:extLst>
      <p:ext uri="{BB962C8B-B14F-4D97-AF65-F5344CB8AC3E}">
        <p14:creationId xmlns:p14="http://schemas.microsoft.com/office/powerpoint/2010/main" val="310191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17DAF-5857-8589-8098-CAB033D73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7BBB9-1BF6-BF24-CED3-319DA4E9C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4631B-283D-244A-E170-BC775AE5C5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B51913-E1B4-4B4A-9AB7-12BD1BEA6C5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7634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PRÊTES — Où en est le local ? 517 712 hL au 30/09 (Monthly Report) vs budget 561 940 : −7,9 % ; l'écart cumulé était de −11,3 % fin août ; en septembre, le local dépasse son budget de +20 % et le LE02 de +9,8 %. Octobre à date (Daily 19/10, journée en cours) : 40 864 hL hors export en 19 jours ; cumul au 19/10 : 558 576 hL (30/09 + octobre à date, recalcul à confirmer avec la BI). Ventes mensuelles 2026 (local + export, Monthly Report) : mai 67 510 ; juin 71 302 ; juillet 81 660 ; août 89 164 ; septembre 92 644 hL (+31 % août–septembre vs mai–juin). Pourquoi un retard sur le budget ? Constats des rapports mensuels : ruptures sur Lager (local −58,8 % cumul), Panaché (stock insuffisant en septembre) et eau ; quatre hausses de prix en 2026 ; transport +33 % cumulé ; restrictions de communication. Pas de cause unique ; ne pas accuser la Production ni les distributeurs. Production : deux lignes sous tension, maintenances et overhauls obligatoires. Atterrissage : LE T3 660,3 k hL (−11,1 % vs budget 743,1 k), à comparer au rythme de septembre (74,5 k hL) ; ne pas confondre avec le total SBL cumulé (660,1 k hL, export inclus). Total SBL : 660 123 hL, +4,7 % vs budget, +11,9 % vs LE02 ; export 142,4 k hL (+107,9 % vs budget) = 21,6 % du total ; Skol Horizon 2030 fixe une cible export &lt; 10 % du volume total ; la valeur export est absente du reporting valeur. Part de marché : publiée en local + export ; 25,7 % cumulé, 31,5 % en septembre contre 27,8 % en août ; de 22,7 % en mars à 31,5 % en septembre. Valeur : Value Report 18/10, 95,46 Md RWF ; octobre à date 8,46 Md. ÉCUEILS : ne pas citer 31,5 % comme part locale ; ne pas présenter le +4,7 % du total SBL comme performance du marché local. RÉSERVE — comparaisons N-1, à ne citer que si on vous les demande : local −6,7 % vs N-1 au 30/09 ; août +11,5 %, septembre +33,3 %, octobre à date +41,8 % ; Daily Report : −10,4 % car son cumul N-1 inclut octobre à date et son cumul 2026 non ; valeur +4,3 % ; part de marché 25,7 % vs 24,3 % cumul.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RÉPONSES PRÊTES — Ventes mensuelles 2026, local (domestique), hL, Monthly Report de septembre : janvier 52 488 ; février 51 346 ; mars 50 975 (creux) ; avril 52 172 ; mai 52 067 ; juin 55 142 ; juillet 59 165 ; août 69 873 ; septembre 74 484 ; cumul 517 713 hL (517 712 dans le texte du rapport : arrondi). Septembre dépasse son budget de +20 % et le LE02 de +9,8 % ; cumul à −7,9 % vs budget. Octobre à date (Daily 19/10, journée en cours) : 40 864 hL hors export en 19 jours. Le graphique de la slide 1 est le local + export : 67 510 (mai) à 92 644 (septembre) ; l'export pèse 21,6 % du total cumulé : ne pas confondre les deux courbes. RÉSERVE — comparaisons N-1, à ne citer que si on vous les demande : août +11,5 % (+7 203 hL) et septembre +33,3 % (+18 587 hL) vs N-1 ; janvier à juillet entre −7,5 % et −22,2 % ; cumul −6,7 % vs N-1.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ÉTAT D'ESPRIT : retour aux basiques. Avant, on gérait l'activité et le sell-in ; maintenant, on gère l'exécution, le sell-out et la donnée (Henry : « Nine months ago we managed activity. Today we manage execution. »). Philosophie : Back to Basics, la qualité d'abord, le volume ensuite. RÉPONSES PRÊTES — 2026 = fondations. Repères : local vs budget, cumul : −11,3 % fin août → −7,9 % fin septembre ; part de marché publiée 22,7 % en mars → 31,5 % en septembre ; stock distributeurs 12,8 → 4,3 jours, T1 → septembre (Henry) ; Odoo : 105 dépôts, 19/20 distributeurs, 154/202 utilisateurs actifs en juin ; Kigali : Codimad sorti début août, 7 distributeurs, 35/35 secteurs couverts (Beni). Malt : le local progresse sur les formats 65 cl et 50 cl, le 33 cl recule encore ; sept distributeurs à Kigali : contrats arrivant à échéance le 01/04/2027, rationalisation à arbitrer. Bonus à 87 %, 20/20 au prix, 14 682 visiteurs : preuves d'exécution, pas des volumes. Organisation : Head of Field, Senior Field Manager et 7 Field Managers. QUESTIONS ATTENDUES : « Ces résultats se voient-ils sur le volume ? » Pas encore assez : le local est à −7,9 % vs budget au 30/09, mais l'écart se réduit (−11,3 % fin août), septembre dépasse son budget de +20 % et octobre à date est à 40,9 k hL en 19 jours ; ce sont des preuves d'exécution (bonus, prix, données), pas encore de volume. « Les +9 019 hL et le 87 % sont-ils comparables ? » Non : périmètres et périodes propres à chaque équipe, non recoupés avec la Finance. « 4 casiers par jour ? » PDV activés uniquement. Avant : on gérait l'activité et le sell-in. Maintenant : exécution, sell-out, données. Field (Henry) : bonus maximum 8,1 % au T1, 9,3 % au T2, 16,5 % en juillet, 68 % en août, 87 % en septembre ; +9 019 hL en 38 jours sur les territoires ouverts, +106 %. RTM (Beni) : 20/20 distributeurs au prix recommandé (18 en août) ; ventes août–sept. 141,9 k hL vs mai–juin 104,3 k (+36 %) ; modèle mixte avec grossistes ; garanties bancaires 18/20 ; contrats expirant le 31/03/2027. BI (Ernest) : écart sell-in/sell-out 35,21 % en mai → 3,35 % en septembre ; Odoo 105 dépôts, 164 utilisateurs ; certification CIS/API obtenue ; EBM sur 156 dépôts en 9 mois. Trade Marketing (Pacifique) : Skol Malt de 1 à 4 casiers par jour et par PDV ; part de marché 27 → 33 % dans les PDV activés Coupe du Monde. Events (Florian) : Village Coupe du Monde 14 682 visiteurs, 1 268 casiers ; 306 matchs RPL. RÉSERVE — repères d'audit (novembre 2025), à ne citer que si on vous les demande : local −12,5 % ; 8 distributeurs à Kigali ; rotation des stocks 21 jours.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FORMATION (orientation pour 2027) : modules courts, pratiques, par rôle, qui s'appuient sur l'expertise interne et sur des situations réelles de SBL. Trois axes prioritaires : finance commerciale, prévision des ventes (sales forecasting), prise de décision par la donnée. Objectif : aider les managers (Leadership Team et Field) à passer du simple suivi des volumes au pilotage de leurs territoires comme des business units, avec une vision élargie de la performance, des coûts, des risques et des opportunités. Déjà en cours : Sales Academy ; certifications CPSP/CPSL (T4) ; PICOS (70 commerciaux) ; 25 changements de personnel chez les distributeurs. Calendrier et budget de ces modules : non fournis, à arrêter. CONTEXTE : nos objectifs sont sous contrainte de production : nos deux lignes actuelles sont sous tension et des maintenances et overhauls obligatoires réduisent les capacités. Les alcools locaux et les bières de banane seront probablement réautorisés après les nouvelles réglementations des autorités, que nous attendons aussi pour décider et avancer ; aucun volume correspondant ne figure dans le budget 2027 fourni. 2026 a posé de nouvelles fondations ; 2027 doit être la consolidation, en attendant que les nouvelle ligne de production soient en place et opérationnels. Ce n'est pas un manque d'ambition commerciale : la demande de septembre (74,5 k hL en local) montre qu'elle dépasse ce que les outils actuels permettent de servir durablement. RÉPONSES PRÊTES — Pourquoi 760 583 hL en local ? +9,7 % vs l'atterrissage 2026 prévu (693 619 hL) et +2,4 % vs budget 2026 (743 082) ; 63,4 k hL/mois en moyenne ; aucun mois du budget local 2027 (max 68,6 k en décembre) n'atteint septembre 2026 (74,5 k). Avec l'export : 945 756 hL (export 185 173 hL = 19,6 %, −1,0 % vs l'atterrissage 2026 de 187 105 hL), 78,8 k hL/mois en moyenne, pic 86,9 k en décembre ; l'export ne se lit pas avec le local. Capacité : 78 k hL/mois d'emballage citée, mais 91 083 hL vendus en septembre (total) : à confirmer avec la Production ; Mist 50 cl : 12,5 k hL/mois au budget contre 15,8 k vendus en septembre ; Virunga +39,6 % et Mist 50 cl +64,5 % vs la base 2026 du template ; casiers Sage X3 +25 k vs physique ; interchangeabilité à confirmer. QUESTIONS ATTENDUES : « D'où vient le +9,65 % ? » La base est l'atterrissage 2026 prévu de 693 619 hL en local (760 583 / 693 619 = +9,65 %), alors que le LE T3 est à 660,3 k : contre le LE T3, 2027 serait à +15,2 % ; contre le budget 2026, +2,4 %. Il faut arrêter la base avec la Finance. « Comment atteindre 63 k/mois ? » Septembre 2026 : 74,5 k ; le LE T3 (660,3 k) suppose 47,5 k/mois en T4 ; l'atterrissage prévu (693 619) suppose environ 58,6 k/mois. « Et l'export ? » 185 k hL en 2027 contre 118,8 k au LE T2 et 85,5 k au budget 2026 ; Skol Horizon 2030 fixe une cible &lt; 10 % du volume : l'export pèse 19,6 % du volume 2027 ; à arbitrer, car il consomme de la capacité. « Et la valeur ? » 137,6 Md RWF = volumes 2027 (755 858 hL, version précédente) × prix 2026, provisoire ; à recalculer sur 760 583 hL ; prix nets et marge à arrêter avec la DAF. Volumes 2027 local (budget du 29/09) : Gatanu 263 407 (+9,5 %) ; Skol Malt 242 716 (+2,8 %) ; Virunga 151 032 (+39,6 %) ; Panaché 102 229 (−3,8 %) ; Lager can 600 ; OW 600. Les écarts en % sont ceux du template vs sa base 2026. Version précédente : 755 858 hL (Panaché 98 101) ; écart +4 725 hL, dont Panaché +4 128 et OW 600. Structure 2027 : 2026 fondations, 2027 consolidation : création de valeur ; disponibilité/production ; distribution/RTM ; priorité marques ; RPL, activations TM et events ; digitalisation/Odoo (sell-out) ; formation et responsabilisation. Positionnement (Skol Horizon 2030) : Skol Malt = premium accessible local ; Virunga = identité premium unifiée ; ambition 2030 : référence brassicole au Rwanda et dans les Grands Lacs.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 le phasage est borné par la capacité de production actuelle (deux lignes sous tension, maintenances et overhauls obligatoires) ; la réglementation des alcools locaux et des bières de banane est attendue des autorités avant toute décision ; avec l'export, 78,8 k hL par mois en moyenne et 86,9 k en décembre (capacité citée : 78 k) ; il se lit comme un budget de consolidation, dans l'attente des nouvelle ligne de production. RÉPONSES PRÊTES — Budget 2027 mois par mois (prévision du 29/09/2026). Local : 65 594 (janv.), 58 872, 54 670, 48 788 (avril, minimum), 65 594, 65 594, 67 275, 67 275, 65 594, 65 644, 66 617, 68 617 (décembre, maximum) ; total 760 583 hL ; moyenne 63,4 k. Aucun mois n'atteint septembre 2026 (74,5 k). Export : de 12,9 k (avril) à 18,3 k (décembre), 185 173 hL au total ; local + export : de 61,7 k à 86,9 k par mois, 945 756 hL, +7,4 % vs l'atterrissage 2026 prévu (880 724 hL). Marques : Skol Malt 242 716 (+2,8 %), Gatanu 263 407 (+9,5 %), Virunga 151 032 (+39,6 %), Panaché 102 229 (−3,8 %). Virunga : Mist 50 cl 143 840 hL (+64,5 %), soit environ 12,5 k par mois. QUESTIONS ATTENDUES : « Pourquoi un creux en avril ? » Phasage du fichier : Skol Malt, Gatanu et Virunga reculent de 25 à 26 % en avril par rapport à un mois standard ; à justifier avec le calendrier (saisonnalité, jours ouvrés, événements). « Le plan est-il réaliste ? » Septembre 2026 a atteint 74,5 k en local ; octobre à date est à +42 % ; le budget reste en dessous de ces niveaux, mais la capacité en emballages et en Mist 50 cl reste à confirmer. « Pourquoi 599 hL d'écart ? » Le total annuel du fichier inclut 1 200 hL (OW et Lager canette) alors que la somme des douze mois du total domestique n'en contient que 600. « Et le +9,7 % ? » Base 2026 du template d'environ 693,6 k hL ; le LE T3 est à 660,3 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PRODUCTION : arbitrage 1 = lignes sous tension (Mist 50 cl, Malt 65 cl, Gatanu, export). CONTEXTE RPL : la Rwanda Premier League est un gros dossier de partenariat de sponsoring sur les trois ans à venir ; c'est ce qui explique un budget Trade Marketing et Events significatif (OPEX 2 757 M, CAPEX 1 412 M, enveloppes non additionnables). Position : un engagement pluriannuel se pilote par des indicateurs de retour annuels (visiteurs, casiers, activations, sell-out), pas par une coupe événement par événement ; équipements existants d'abord, P4P 814 M payé sur le sell-out. RÉPONSES PRÊTES — OPEX +24 % vs budget 2026, mais +4,8 % vs LE T3 (budget 2026 dépassé de 18 %) ; CAPEX −17,5 % vs LE T3. Les enveloppes ne s'additionnent pas (recouvrement possible). Règles de décision 2027 : sell-out before sell-in ; performance before exclusivity ; ROI before investment ; simplify before adding ; data before opinion ; execution before more budget. Chaîne de retour : objectif → cible → budget → résultat → mesure ; P4P payé sur le sell-out. FTE 2027 (budget, département commercial permanent et temporaire) : 76 permanents (+3), 13 temporaires (−2), coût mensuel 114,0 M RWF, annuel 1 368,1 M RWF ; créations citées : Event Warehouse &amp; Asset Manager, Technical Production Assistant, Sales Administrative Clerk ; 9 hôtesses et 4 barmen ; à confirmer avec les RH. Les quatre arbitrages sont des questions posées à la Direction ; l'arbitrage capacité inclut l'export (19,6 % du volume 2027 contre &lt; 10 % visé par Horizon 2030 ; 21,6 % au 30/09). Culture : One team, one spirit, from brewery to bar ; sécurité : tolérance zéro, aucune vente ne vaut une vie. GRAIN À MOUDRE : quatre arbitrages demandés à la Direction (capacité par SKU, emballages, P4P sur le sell-out, OPEX conditionné au ROI) + valeur 2027 à arrêter avec la DAF. Responsables : Henry, Beni, Pacifique, Florian, Ernest avec Production, Logistique et Finance. QUESTIONS ATTENDUES : « Pourquoi +24 % d'OPEX ? » vs budget 2026 ; vs LE T3 seulement +4,8 % ; le budget 2026 a été dépassé de 18 %. « Les enveloppes s'additionnent-elles ? » Non, recouvrement possible. OPEX 2027 : 2 757,3 M RWF (budget 2026 : 2 225,9 M ; LE T3 : 2 630,3 M). CAPEX : 1 411,9 M (budget 2026 : 1 688,3 M ; LE T3 : 1 710,9 M) ; matériel PDV 587 k (≈ 996 M) et événementiel 245 k (≈ 416 M) convertis à 1 696 RWF par unité (taux du 21/09/2026 dans le fichier). Free goods : 1 250,2 M (budget 2026 : 1 387,4 M ; LE T3 : 1 100,1 M), dont P4P 814,3 M, compensation 297,5 M, promo PDV 136,4 M (non exécutée en 2026 à cause des restrictions), reprise prévue dès juin 2027 avec l'AFCON et la RPL. BI/Odoo/EBM : 168,5 M. Par hL : OPEX + CAPEX 5 482 RWF/hL vs 6 575 au LE T3 (−17 %), mais vs 5 267 au budget 2026 (+4,1 %). Quatre décisions : volume, valeur, capacité, ROI.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on the conclusion: nine months of changing how we work, and Q3 is where it shows in the numbers.</a:t>
            </a:r>
          </a:p>
          <a:p>
            <a:r>
              <a:t>Set the route: the evidence, then the five gaps, then Kigali and the brands, then 2027.</a:t>
            </a:r>
          </a:p>
          <a:p>
            <a:r>
              <a:t>Flag the uncomfortable one early: price discipline slipped to 73% below Brl — it sits in the gap row, not hidden.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map for the whole session.</a:t>
            </a:r>
          </a:p>
          <a:p>
            <a:r>
              <a:t>Q1–Q3 we changed execution; Q4 we consolidate and correct the gaps; 2027 we scale what works.</a:t>
            </a:r>
          </a:p>
          <a:p>
            <a:r>
              <a:t>Every slide after this is evidence for one of those three lines — keep pointing back here.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structure: ten initiatives became four pillars.</a:t>
            </a:r>
          </a:p>
          <a:p>
            <a:r>
              <a:t>Ten initiatives became one operating model: target and bonus, RTM and availability, data and accountability, sell-out and coverage.</a:t>
            </a:r>
          </a:p>
          <a:p>
            <a:r>
              <a:t>Each pillar carries one proof point — use them as evidence the change is embedded, not planned.</a:t>
            </a:r>
          </a:p>
          <a:p>
            <a:r>
              <a:t>The strength is that the four run every week, together, not as separate projects.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proof, the mechanic — the loop that turns coverage into volume.</a:t>
            </a:r>
          </a:p>
          <a:p>
            <a:r>
              <a:t>One page for the model: loop, last mile, engine.</a:t>
            </a:r>
          </a:p>
          <a:p>
            <a:r>
              <a:t>Walk the six steps quickly — the point is that the loop closes, so an outlet reorders instead of waiting.</a:t>
            </a:r>
          </a:p>
          <a:p>
            <a:r>
              <a:t>Then the three numbers that make it pay: 10 crates, under six hours, open until 23:00 — and +124% more orders from the same team.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this is how we run it: six numbers, every week.</a:t>
            </a:r>
          </a:p>
          <a:p>
            <a:r>
              <a:t>Headline: availability and coverage moved first, and fastest.</a:t>
            </a:r>
          </a:p>
          <a:p>
            <a:r>
              <a:t>8,921 hL unlocked in 49 days and 5,689 hL added in September; stock cover 12.8 → 4.3 days; undelivered orders 1,622 → 89.</a:t>
            </a:r>
          </a:p>
          <a:p>
            <a:r>
              <a:t>Stress the quality behind it: data accuracy 21% → 78%, bonus achievement 16.5% → 87%. Volume without control would not have held.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payoff, and the honesty: what the quarter delivered and what is still open.</a:t>
            </a:r>
          </a:p>
          <a:p>
            <a:r>
              <a:t>Three pages in one: territories produced the volume (+8,921 hL in 49 days, +97%), interchangeability produced the service (1,622 to 89 undelivered, 12.8 to 4.3 days cover), and the five gaps are what Q4 is for. Land the last line: the next step is not more initiatives, it is more consistent execution.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region question. Kigali grew 7%, but the north did all of it (+54%) while the south gave back 8,030 hL. So don't sell the win — sell the recovery: half of the south's loss is +4,000 hL, 91% of the city's entire net gain. Two moves only: stop the south leak, keep the north running.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this is how we win it: the brands that take share at the outlet.</a:t>
            </a:r>
          </a:p>
          <a:p>
            <a:r>
              <a:t>Four brands: Virunga 4.1x, Skol Malt +63%, Gatanu +95%, Lono -27%. 69.4% of beer now runs through Virunga and Skol Malt, was 50.3%.</a:t>
            </a:r>
          </a:p>
          <a:p>
            <a:r>
              <a:t>Beer grew 97.8% against 71.4% for the zone overall: the mix is aimed, not accidental.</a:t>
            </a:r>
          </a:p>
          <a:p>
            <a:r>
              <a:t>Close on 'range focus, not range breadth' and move to 2027.</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is exactly why the plan is 2027.</a:t>
            </a:r>
          </a:p>
          <a:p>
            <a:r>
              <a:t>This is the destination, and it is 2027 — not another Q4 push. Walk the four: territories, outlets, wallet, money. Each one is the Q3 model applied wider, not a new initiative. Close on the band: Q4 consolidates, 2027 scales.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in HL: May 50,521 / Jun 53,805 / Jul 58,154 / Aug 68,908 / Sep 72,958. Aug–Sep 141,866 HL vs May–Jun 104,325 HL = +36%.
Growth continued after the World Cup period, which supports a structural effect, not only seasonality.
The next three slides take each rule in turn.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map (29 Sep 2026): 20 distributors, 27/27 upcountry districts, 35/35 Kigali sectors, no white spots, no shared areas.
Codimad: ranked 'under expectation' in June with an expired bank guarantee; contract terminated early August and Kigali remapped across the 7 Kigali distributors (BM Shop, Jamalin, MAM, Nedico, Silver Eagle, Gaudence, T&amp;U Sons).
All 20 distributors visited jointly by SBL and distributors. Visits continue; no consolidated findings yet — results at the next QRM.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Fuel rose from RWF 1,684/L (Apr 2024) to 2,927/L (Jun 2026). SBL raised transport rates twice in 2026, +33% on average, in return for target achievement, KPI compliance, empties recovery and recommended pricing.
August: 18 of 20 compliant. Pacis and Mumufaco were not, so exclusivity was removed and from 13 Aug N&amp;A Beverages (Nyanza) and HITRAB LTD (Huye) distribute in their zones. Today all 20 comply.
Pacis zone: 5,926 -&gt; 10,677 HL (+80%), Pacis alone +42%, N&amp;A 24% of zone sales in Sep.
Mumufaco zone: 5,778 -&gt; 9,773 HL (+69%), Mumufaco alone +21%, HITRAB 33% of zone sales in Sep.
Both zones +75% vs +36% nationally; 15% of national sales but about 23% of national growth.
Likely question: both were 'Performers' in the June ranking (Jan–May data); the price issue appeared after.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Interchangeability live since end of July: distributor stock down from 8 to 4 days, dormant empties reduced, faster rotation. Lower stock means distributors sell through instead of loading.
Odoo: everything is in place. EBM integration comes next, so every distributor sale is visible in Odoo: full sell-out by distributor and zone, and where RTM and coverage can improve. EBM timeline is presented separately in the Odoo/EBM update.
P4P: today paid on sell-in; with EBM data it moves to sell-out. Proposal comes with the 2027 budget.
Contracts: no change, all expire 31 March 2027.
Bank guarantees: 18 of 20 valid; Mumufaco and T&amp;U requested new guarantees, expected soon.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Changes vs today: (1) 'Total volume target' is replaced by 'Sell-out vs sell-in' at 30%, the largest weight: a distributor earns it only when the stock it buys is sold to the market. (2) 'Odoo usage &amp; accuracy' is added at 7%: the sell-out KPI depends on complete, correct distributor data in Odoo (with EBM). (3) Weights move: total volume 10% -&gt; removed; Beer 30% -&gt; 20%; Skol Malt 20% -&gt; 15%; Virunga 20% -&gt; 18%; Service 20% -&gt; 10%. Price respect stays an MSOP gate: no bonus if recommended prices are not respected. Payout curves: volume and Odoo 90%-&gt;30%, 95%-&gt;75%, 100%-&gt;100%, 110%-&gt;120%; service 85%-&gt;75%, 90%-&gt;100%, 95%-&gt;110%, 100%-&gt;120% (same curves as today; Odoo uses the volume curve). Cost and budget come with the 2027 budget.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EBM integration timeline is presented separately in the Odoo update. P4P on sell-out: detailed proposal comes with the 2027 budget. Bank guarantees: Mumufaco and T&amp;U have requested new guarantees, expected soon.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walk through how the distributor map has changed since before the summer, and what is coming next, so we can review the options together.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Every upcountry district had exactly one exclusive distributor. Kigali is too small at this scale: see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Traced from the left-hand map of the Kigali distributors' mapping slide. At this stage Kagarama was with SILVER EAGLE and Nyamirambo with MAM; both changed in stage 2.</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August MUMUFACO and PACIS lost exclusivity. Two wholesalers were introduced in their zones: HITRAB in the MUMUFACO zone and N&amp;A BEVERAGES in the PACIS zone. In each zone the distributor and the wholesaler now operate side by side.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CODIMAD's three sectors went to SILVER EAGLE. In the same reshuffle SILVER EAGLE gave Kagarama to MAM, and MAM gave Nyamirambo to NEDICO. Kigali stays fully exclusive: no sector is shared.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upcoming RTM vision: one wholesaler in each of the FIREMC, NETINVEST and ALDINCOM 2 zones. FIREMC goes first (in the coming days); the X marks show the two zones that follow. Candidates are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Musanze is the candidate for the FIREMC zone, where it is based. Candidates for the ALDINCOM 2 and NETINVEST zones are yet to be identified, and Narcisse's zone is still open.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F97DA-26ED-6525-4B59-CA29BE319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CAB88-8C8F-388A-E61E-527DC1CE7A2C}"/>
              </a:ext>
            </a:extLst>
          </p:cNvPr>
          <p:cNvSpPr>
            <a:spLocks noGrp="1" noRot="1" noChangeAspect="1"/>
          </p:cNvSpPr>
          <p:nvPr>
            <p:ph type="sldImg"/>
          </p:nvPr>
        </p:nvSpPr>
        <p:spPr/>
        <p:txBody>
          <a:bodyPr/>
          <a:lstStyle/>
          <a:p>
            <a:endParaRPr lang="en-RW"/>
          </a:p>
        </p:txBody>
      </p:sp>
      <p:sp>
        <p:nvSpPr>
          <p:cNvPr id="3" name="Notes Placeholder 2">
            <a:extLst>
              <a:ext uri="{FF2B5EF4-FFF2-40B4-BE49-F238E27FC236}">
                <a16:creationId xmlns:a16="http://schemas.microsoft.com/office/drawing/2014/main" id="{BF7F1B94-2A07-C612-79EF-34A9ABA64BF1}"/>
              </a:ext>
            </a:extLst>
          </p:cNvPr>
          <p:cNvSpPr>
            <a:spLocks noGrp="1"/>
          </p:cNvSpPr>
          <p:nvPr>
            <p:ph type="body" idx="1"/>
          </p:nvPr>
        </p:nvSpPr>
        <p:spPr/>
        <p:txBody>
          <a:bodyPr/>
          <a:lstStyle/>
          <a:p>
            <a:r>
              <a:rPr lang="en-US" dirty="0">
                <a:solidFill>
                  <a:schemeClr val="tx1"/>
                </a:solidFill>
              </a:rPr>
              <a:t>CIS: Certified Invoicing System</a:t>
            </a:r>
          </a:p>
        </p:txBody>
      </p:sp>
      <p:sp>
        <p:nvSpPr>
          <p:cNvPr id="4" name="Slide Number Placeholder 3">
            <a:extLst>
              <a:ext uri="{FF2B5EF4-FFF2-40B4-BE49-F238E27FC236}">
                <a16:creationId xmlns:a16="http://schemas.microsoft.com/office/drawing/2014/main" id="{BC134EA9-D095-DAD3-C03C-BD16FB229D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1C73A8-B84E-4F2B-9DA5-DC92620D82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03706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9BD03-C92C-8EB1-47B5-6785E931D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DC4DC-9E1C-562A-D3CB-C6563284B1CB}"/>
              </a:ext>
            </a:extLst>
          </p:cNvPr>
          <p:cNvSpPr>
            <a:spLocks noGrp="1" noRot="1" noChangeAspect="1"/>
          </p:cNvSpPr>
          <p:nvPr>
            <p:ph type="sldImg"/>
          </p:nvPr>
        </p:nvSpPr>
        <p:spPr/>
        <p:txBody>
          <a:bodyPr/>
          <a:lstStyle/>
          <a:p>
            <a:endParaRPr lang="en-RW"/>
          </a:p>
        </p:txBody>
      </p:sp>
      <p:sp>
        <p:nvSpPr>
          <p:cNvPr id="3" name="Notes Placeholder 2">
            <a:extLst>
              <a:ext uri="{FF2B5EF4-FFF2-40B4-BE49-F238E27FC236}">
                <a16:creationId xmlns:a16="http://schemas.microsoft.com/office/drawing/2014/main" id="{8C42AA5A-F2D7-D51A-C781-1E8636C34CA4}"/>
              </a:ext>
            </a:extLst>
          </p:cNvPr>
          <p:cNvSpPr>
            <a:spLocks noGrp="1"/>
          </p:cNvSpPr>
          <p:nvPr>
            <p:ph type="body" idx="1"/>
          </p:nvPr>
        </p:nvSpPr>
        <p:spPr/>
        <p:txBody>
          <a:bodyPr/>
          <a:lstStyle/>
          <a:p>
            <a:pPr marL="285750" indent="-285750">
              <a:buFontTx/>
              <a:buChar char="-"/>
            </a:pPr>
            <a:r>
              <a:rPr lang="en-US" sz="1000" dirty="0">
                <a:latin typeface="Century Gothic" panose="020B0502020202020204" pitchFamily="34" charset="0"/>
              </a:rPr>
              <a:t>Lack of Commitment at MUMUFACO</a:t>
            </a:r>
          </a:p>
          <a:p>
            <a:pPr marL="285750" indent="-285750">
              <a:buFontTx/>
              <a:buChar char="-"/>
            </a:pPr>
            <a:r>
              <a:rPr lang="en-US" sz="1000" dirty="0">
                <a:latin typeface="Century Gothic" panose="020B0502020202020204" pitchFamily="34" charset="0"/>
              </a:rPr>
              <a:t>Main Depots issues at M.F.D </a:t>
            </a:r>
          </a:p>
          <a:p>
            <a:pPr marL="285750" indent="-285750">
              <a:buFontTx/>
              <a:buChar char="-"/>
            </a:pPr>
            <a:r>
              <a:rPr lang="en-US" sz="1000" dirty="0">
                <a:latin typeface="Century Gothic" panose="020B0502020202020204" pitchFamily="34" charset="0"/>
              </a:rPr>
              <a:t>Electricity Issues at MP - Distributor</a:t>
            </a:r>
          </a:p>
        </p:txBody>
      </p:sp>
      <p:sp>
        <p:nvSpPr>
          <p:cNvPr id="4" name="Slide Number Placeholder 3">
            <a:extLst>
              <a:ext uri="{FF2B5EF4-FFF2-40B4-BE49-F238E27FC236}">
                <a16:creationId xmlns:a16="http://schemas.microsoft.com/office/drawing/2014/main" id="{D485BE08-9665-1D16-390E-9AED6E2BC5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1C73A8-B84E-4F2B-9DA5-DC92620D82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81678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1C73A8-B84E-4F2B-9DA5-DC92620D82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4072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5FF56-E3DF-C0D2-0F40-6BE782107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2C09F-AFE7-9AAE-B605-F4E87F1D598F}"/>
              </a:ext>
            </a:extLst>
          </p:cNvPr>
          <p:cNvSpPr>
            <a:spLocks noGrp="1" noRot="1" noChangeAspect="1"/>
          </p:cNvSpPr>
          <p:nvPr>
            <p:ph type="sldImg"/>
          </p:nvPr>
        </p:nvSpPr>
        <p:spPr/>
        <p:txBody>
          <a:bodyPr/>
          <a:lstStyle/>
          <a:p>
            <a:endParaRPr lang="en-RW"/>
          </a:p>
        </p:txBody>
      </p:sp>
      <p:sp>
        <p:nvSpPr>
          <p:cNvPr id="3" name="Notes Placeholder 2">
            <a:extLst>
              <a:ext uri="{FF2B5EF4-FFF2-40B4-BE49-F238E27FC236}">
                <a16:creationId xmlns:a16="http://schemas.microsoft.com/office/drawing/2014/main" id="{4F9CE0AD-E937-2498-A72F-892103076B50}"/>
              </a:ext>
            </a:extLst>
          </p:cNvPr>
          <p:cNvSpPr>
            <a:spLocks noGrp="1"/>
          </p:cNvSpPr>
          <p:nvPr>
            <p:ph type="body" idx="1"/>
          </p:nvPr>
        </p:nvSpPr>
        <p:spPr/>
        <p:txBody>
          <a:bodyPr/>
          <a:lstStyle/>
          <a:p>
            <a:r>
              <a:rPr lang="en-US" dirty="0"/>
              <a:t>Non recovered volume based on new distributor: </a:t>
            </a:r>
          </a:p>
        </p:txBody>
      </p:sp>
      <p:sp>
        <p:nvSpPr>
          <p:cNvPr id="4" name="Slide Number Placeholder 3">
            <a:extLst>
              <a:ext uri="{FF2B5EF4-FFF2-40B4-BE49-F238E27FC236}">
                <a16:creationId xmlns:a16="http://schemas.microsoft.com/office/drawing/2014/main" id="{9B8CB86B-36C4-5DDA-1A9E-61870632F2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1C73A8-B84E-4F2B-9DA5-DC92620D82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33204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42B44-4AE7-4E54-939E-FEF635358B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42647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58963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30AE-F862-1F46-F043-744738E85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29857-8E80-C7C7-CBD4-488BA6536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42961-8A37-0A86-482C-E851C986D441}"/>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98F2A0C5-B8D1-B04D-B2B9-73198BA38D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9297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87422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75510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6F28-5CA3-987C-E81F-C33000F3E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D71B3-288B-A44E-AB9A-2BC90DAC7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3CEB2-1AB6-D5DE-1E7C-9677F36B26BA}"/>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65047CEB-3F02-5B8C-F42E-2F3F7C41AB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56485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42B44-4AE7-4E54-939E-FEF635358B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42647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0500D9-B5C7-4438-8171-E351D391039E}"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15053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ANSWERS — Where does the local market stand? 517,712 hL at 30 Sep (Monthly Report) vs budget 561,940: −7.9%; the cumulative gap was −11.3% at end August; in September, local beat its budget by +20% and LE02 by +9.8%. October to date (Daily 19 Oct, day in progress): 40,864 hL excluding export in 19 days; cumulative at 19 Oct: 558,576 hL (30 Sep + October to date, to be reconfirmed with BI). Monthly sales 2026 (local + export, Monthly Report): May 67,510; June 71,302; July 81,660; August 89,164; September 92,644 hL (+31% Aug–Sep vs May–Jun). Why behind budget? Findings from the monthly reports: stock-outs on Lager (local −58.8% cumulative), Panaché (insufficient stock in September) and water; four price increases in 2026; transport +33% cumulative; communication restrictions. No single cause; do not blame Production or the distributors. Production: two lines under strain, mandatory maintenance and overhauls. Landing: LE T3 660.3 k hL (−11.1% vs budget 743.1 k), to be compared with the September run rate (74.5 k hL); do not confuse with the cumulative SBL total (660.1 k hL, export included). Total SBL: 660,123 hL, +4.7% vs budget, +11.9% vs LE02; export 142.4 k hL (+107.9% vs budget) = 21.6% of total; Skol Horizon 2030 sets an export target &lt; 10% of total volume; export value is absent from value reporting. Market share: published for local + export; 25.7% cumulative, 31.5% in September vs 27.8% in August; from 22.7% in March to 31.5% in September. Value: Value Report 18 Oct, 95.46 Bn RWF; October to date 8.46 Bn. PITFALLS: do not quote 31.5% as local share; do not present the +4.7% of total SBL as local market performance. RESERVE — prior-year comparisons, only if asked: local −6.7% vs prior year at 30 Sep; August +11.5%, September +33.3%, October to date +41.8%; Daily Report: −10.4% because its prior-year cumulative includes October to date and its 2026 cumulative does not; value +4.3%; market share 25.7% vs 24.3% cumulative.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READY ANSWERS — Monthly sales 2026, local (domestic), hL, September Monthly Report: January 52,488; February 51,346; March 50,975 (low point); April 52,172; May 52,067; June 55,142; July 59,165; August 69,873; September 74,484; cumulative 517,713 hL (517,712 in the report text: rounding). September beat its budget by +20% and LE02 by +9.8%; cumulative at −7.9% vs budget. October to date (Daily 19 Oct, day in progress): 40,864 hL excluding export in 19 days. The chart on slide 1 is local + export: 67,510 (May) to 92,644 (September); export is 21.6% of the cumulative total: do not mix the two series. RESERVE — prior-year comparisons, only if asked: August +11.5% (+7,203 hL) and September +33.3% (+18,587 hL) vs prior year; January to July between −7.5% and −22.2%; cumulative −6.7% vs prior year.</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MINDSET: back to basics. Before, we managed activity and sell-in; now we manage execution, sell-out and data (Henry: “Nine months ago we managed activity. Today we manage execution.”). Philosophy: Back to Basics, quality first, volume next. READY ANSWERS — 2026 = foundations. Markers: local vs budget, cumulative: −11.3% end August → −7.9% end September; published market share 22.7% in March → 31.5% in September; distributor stock 12.8 → 4.3 days, Q1 → September (Henry); Odoo: 105 depots, 19/20 distributors, 154/202 active users in June; Kigali: Codimad exited early August, 7 distributors, 35/35 sectors covered (Beni). Malt: local is growing on the 65 cl and 50 cl formats, 33 cl is still declining; seven distributors in Kigali: contracts expiring on 01/04/2027, rationalisation to be decided. Bonus at 87%, 20/20 on price, 14,682 visitors: proof of execution, not volumes. Organisation: Head of Field, Senior Field Manager and 7 Field Managers. EXPECTED QUESTIONS: “Do these results show up in volume?” Not enough yet: local is at −7.9% vs budget at 30 Sep, but the gap is narrowing (−11.3% end August), September beat its budget by +20% and October to date is at 40.9 k hL in 19 days; these are proof of execution (bonus, price, data), not yet of volume. “Are the +9,019 hL and the 87% comparable?” No: each team has its own scope and period, not cross-checked with Finance. “4 crates a day?” Activated POS only. Before: we managed activity and sell-in. Now: execution, sell-out, data. Field (Henry): maximum bonus 8.1% in Q1, 9.3% in Q2, 16.5% in July, 68% in August, 87% in September; +9,019 hL in 38 days on opened territories, +106%. RTM (Beni): 20/20 distributors at the recommended price (18 in August); Aug–Sep sales 141.9 k hL vs May–Jun 104.3 k (+36%); mixed model with wholesalers; bank guarantees 18/20; contracts expiring 31/03/2027. BI (Ernest): sell-in/sell-out gap 35.21% in May → 3.35% in September; Odoo 105 depots, 164 users; CIS/API certification obtained; EBM across 156 depots in 9 months. Trade Marketing (Pacifique): Skol Malt from 1 to 4 crates per day per POS; market share 27 → 33% in World Cup-activated POS. Events (Florian): World Cup Village 14,682 visitors, 1,268 crates; 306 RPL matches. RESERVE — audit markers (November 2025), only if asked: local −12.5%; 8 distributors in Kigali; stock turnover 21 days.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(orientation for 2027): short, practical, role-specific modules that draw on internal expertise and real SBL business situations. Three priority axes: commercial finance, sales forecasting, data-driven decision making. Goal: help managers (Leadership Team and Field) move from simply monitoring volumes to managing their territories as business units, with a broader view of performance, costs, risks and opportunities. Already under way: Sales Academy; CPSP/CPSL certifications (Q4); PICOS (70 sales reps); 25 staff changes at distributors. Schedule and budget of these modules: not provided, to be set. CONTEXT: our targets are under production constraint: our two current lines are under strain and mandatory maintenance and overhauls reduce capacity. Local spirits and banana beers will probably be re-authorised after the authorities' new regulations, which we are also waiting for before deciding and moving forward; no corresponding volume is in the 2027 budget provided. 2026 laid new foundations; 2027 must be consolidation, until the new production line is in place and operational. This is not a lack of commercial ambition: September demand (74.5 k hL local) shows it exceeds what current equipment can durably serve. READY ANSWERS — Why 760,583 hL local? +9.7% vs the forecast 2026 landing (693,619 hL) and +2.4% vs the 2026 budget (743,082); 63.4 k hL/month on average; no month of the 2027 local budget (max 68.6 k in December) reaches September 2026 (74.5 k). With export: 945,756 hL (export 185,173 hL = 19.6%, −1.0% vs the 2026 landing of 187,105 hL), 78.8 k hL/month on average, peak 86.9 k in December; export is not read together with local. Capacity: 78 k hL/month of packaging quoted, but 91,083 hL sold in September (total): to be confirmed with Production; Mist 50 cl: 12.5 k hL/month in the budget vs 15.8 k sold in September; Virunga +39.6% and Mist 50 cl +64.5% vs the template's 2026 base; Sage X3 crates +25 k vs physical; interchangeability to be confirmed. EXPECTED QUESTIONS: “Where does the +9.65% come from?” The base is the forecast 2026 landing of 693,619 hL local (760,583 / 693,619 = +9.65%), whereas LE T3 is at 660.3 k: against LE T3, 2027 would be at +15.2%; against the 2026 budget, +2.4%. The base needs to be confirmed with Finance. “How do we reach 63 k/month?” September 2026: 74.5 k; LE T3 (660.3 k) implies 47.5 k/month in Q4; the forecast landing (693,619) implies about 58.6 k/month. “And export?” 185 k hL in 2027 vs 118.8 k at LE T2 and 85.5 k in the 2026 budget; Skol Horizon 2030 sets a target &lt; 10% of volume: export is 19.6% of 2027 volume; to be arbitrated, as it consumes capacity. “And value?” 137.6 Bn RWF = 2027 volumes (755,858 hL, previous version) × 2026 prices, provisional; to be recalculated on 760,583 hL; net prices and margin to be set with the CFO. 2027 local volumes (budget of 29 Sep): Gatanu 263,407 (+9.5%); Skol Malt 242,716 (+2.8%); Virunga 151,032 (+39.6%); Panaché 102,229 (−3.8%); Lager can 600; OW 600. The % gaps are the template's vs its 2026 base. Previous version: 755,858 hL (Panaché 98,101); gap +4,725 hL, of which Panaché +4,128 and OW 600. 2027 structure: 2026 foundations, 2027 consolidation: value creation; availability/production; distribution/RTM; brand priorities; RPL, TM activations and events; digitalisation/Odoo (sell-out); training and accountability. Positioning (Skol Horizon 2030): Skol Malt = accessible local premium; Virunga = unified premium identity; 2030 ambition: the brewing reference in Rwanda and the Great Lakes.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the phasing is bounded by current production capacity (two lines under strain, mandatory maintenance and overhauls); the regulation on local spirits and banana beers is awaited from the authorities before any decision; with export, 78.8 k hL per month on average and 86.9 k in December (quoted capacity: 78 k); it reads as a consolidation budget, pending the new production line. READY ANSWERS — 2027 budget month by month (forecast of 29/09/2026). Local: 65,594 (Jan), 58,872, 54,670, 48,788 (April, minimum), 65,594, 65,594, 67,275, 67,275, 65,594, 65,644, 66,617, 68,617 (December, maximum); total 760,583 hL; average 63.4 k. No month reaches September 2026 (74.5 k). Export: from 12.9 k (April) to 18.3 k (December), 185,173 hL in total; local + export: from 61.7 k to 86.9 k per month, 945,756 hL, +7.4% vs the forecast 2026 landing (880,724 hL). Brands: Skol Malt 242,716 (+2.8%), Gatanu 263,407 (+9.5%), Virunga 151,032 (+39.6%), Panaché 102,229 (−3.8%). Virunga: Mist 50 cl 143,840 hL (+64.5%), about 12.5 k per month. EXPECTED QUESTIONS: “Why a dip in April?” File phasing: Skol Malt, Gatanu and Virunga fall by 25 to 26% in April vs a standard month; to be justified with the calendar (seasonality, working days, events). “Is the plan realistic?” September 2026 reached 74.5 k local; October to date is at +42%; the budget stays below these levels, but packaging and Mist 50 cl capacity remain to be confirmed. “Why a 449 hL gap?” The file's annual total (760,583) is 449 hL above the sum of the twelve months (599 hL before the October–December update); the annual total includes 1,200 hL (OW and Lager can) while the twelve months contain only about 600; to be confirmed. “And the +9.7%?” It is measured against the forecast 2026 landing of 693,619 hL local; LE T3 is at 660.3 k.</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CONTEXT: trade-off 1 = lines under strain (Mist 50 cl, Malt 65 cl, Gatanu, export). RPL CONTEXT: the Rwanda Premier League is a large sponsorship partnership over the next three years; this explains a significant Trade Marketing and Events budget (OPEX 2,757 M, CAPEX 1,412 M, envelopes not additive). Position: a multi-year commitment is steered by annual return indicators (visitors, crates, activations, sell-out), not by cutting event by event; existing equipment first, P4P 814 M paid on sell-out. READY ANSWERS — OPEX +24% vs 2026 budget, but +4.8% vs LE T3 (2026 budget exceeded by 18%); CAPEX −17.5% vs LE T3. The envelopes are not additive (possible overlap). 2027 decision rules: sell-out before sell-in; performance before exclusivity; ROI before investment; simplify before adding; data before opinion; execution before more budget. Return chain: objective → target → budget → result → measure; P4P paid on sell-out. 2027 FTE (budget, permanent and temporary commercial department): 76 permanent (+3), 13 temporary (−2), monthly cost 114.0 M RWF, annual 1,368.1 M RWF; roles cited: Event Warehouse &amp; Asset Manager, Technical Production Assistant, Sales Administrative Clerk; 9 hostesses and 4 barmen; to be confirmed with HR. The four trade-offs are questions put to the Management; the capacity trade-off includes export (19.6% of 2027 volume vs &lt; 10% targeted by Horizon 2030; 21.6% at 30 Sep). Culture: One team, one spirit, from brewery to bar; safety: zero tolerance, no sale is worth a life. FOOD FOR THOUGHT: four trade-offs asked of the Management (capacity by SKU, packaging, P4P on sell-out, OPEX conditional on ROI) + 2027 value to be set with the CFO. Owners: Henry, Beni, Pacifique, Florian, Ernest with Production, Logistics and Finance. EXPECTED QUESTIONS: “Why +24% OPEX?” vs 2026 budget; vs LE T3 only +4.8%; the 2026 budget was exceeded by 18%. “Are the envelopes additive?” No, possible overlap. 2027 OPEX: 2,757.3 M RWF (2026 budget: 2,225.9 M; LE T3: 2,630.3 M). CAPEX: 1,411.9 M (2026 budget: 1,688.3 M; LE T3: 1,710.9 M); POS equipment 587 k (≈ 996 M) and events 245 k (≈ 416 M) converted at 1,696 RWF per unit (rate of 21/09/2026 in the file). Free goods: 1,250.2 M (2026 budget: 1,387.4 M; LE T3: 1,100.1 M), of which P4P 814.3 M, compensation 297.5 M, POS promo 136.4 M (not executed in 2026 because of restrictions), resumption planned from June 2027 with the AFCON and the RPL. BI/Odoo/EBM: 168.5 M. Per hL: OPEX + CAPEX 5,482 RWF/hL vs 6,575 at LE T3 (−17%), but vs 5,267 in the 2026 budget (+4.1%). Four decisions: volume, value, capacity, ROI.</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7DCFA-AEE0-A365-2F46-06517E12FA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44422E-D550-FD67-514C-4ADBC54084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B39A44-DB0F-6F92-93CA-B15228AD026E}"/>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E9BD8648-88AA-05D2-F5FF-4BF8721AFA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E2E690-5642-7D37-FF9B-D2BEE3921575}"/>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3788605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717FB-0D06-FF0E-EEA4-83F07D97D0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85791F-5DB1-6A01-1B75-1097F654DE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D7BAE0-64AD-399F-75C7-0973AF75DE89}"/>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122A1F72-6A33-E37D-AFEA-EA6F2E6BC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1B285E-DF7D-FEC2-97CF-651D59FEEA9D}"/>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274026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752E5-66E0-93E1-7342-7827971CB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5E952-A4DA-BB3D-730E-512469DD0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04A8ED-E37A-AD4F-CDBE-BA12BDB1B035}"/>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3FD7241A-DC14-145B-C5CD-A3A91DB4E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1102AE-7DF1-21EE-0350-6A5CD6D2CA2D}"/>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441509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95820-382D-3B81-52C2-8B90135652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606D7B-CF0E-4C2E-69B3-F4224DF2B0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33A3AE-7555-CC9F-4CAA-9C3DF26990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7BCB54-27A6-8A35-182B-CF3EB88E3F0A}"/>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6" name="Footer Placeholder 5">
            <a:extLst>
              <a:ext uri="{FF2B5EF4-FFF2-40B4-BE49-F238E27FC236}">
                <a16:creationId xmlns:a16="http://schemas.microsoft.com/office/drawing/2014/main" id="{6CB6D25A-6BDA-E5AD-C098-5CCD784DA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148464-44CD-811E-EE99-DAE2FDA4AA41}"/>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3958308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97D69-2CB5-94DC-8AFB-52DE31347A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A74384-F1EA-A898-FD17-9E0F2FE009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690101-0939-5D38-6B3E-F3036432B9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B32E2-DBBD-907A-7D2F-A7EE015377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A959EB-8B28-E2E7-181A-7D2B1FCC06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46A420-4063-045D-6C75-5A5D8C5029B5}"/>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8" name="Footer Placeholder 7">
            <a:extLst>
              <a:ext uri="{FF2B5EF4-FFF2-40B4-BE49-F238E27FC236}">
                <a16:creationId xmlns:a16="http://schemas.microsoft.com/office/drawing/2014/main" id="{AB26D4B3-3AEE-F520-4C11-76E3630301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024CBE-A5FE-36DE-A342-59F9173A5310}"/>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17816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93302-7CE2-4013-9D0F-78315A7F82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1A9A9D-5653-36D9-BA8D-90F2C178864A}"/>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4" name="Footer Placeholder 3">
            <a:extLst>
              <a:ext uri="{FF2B5EF4-FFF2-40B4-BE49-F238E27FC236}">
                <a16:creationId xmlns:a16="http://schemas.microsoft.com/office/drawing/2014/main" id="{6CCAE15C-0E62-F56E-2C0C-E12C54629B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21CDE0-3559-CF4D-061F-880BF49901CE}"/>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330200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3AF064-1DE3-7C69-417B-FC677C9C5223}"/>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3" name="Footer Placeholder 2">
            <a:extLst>
              <a:ext uri="{FF2B5EF4-FFF2-40B4-BE49-F238E27FC236}">
                <a16:creationId xmlns:a16="http://schemas.microsoft.com/office/drawing/2014/main" id="{76DC229E-8419-497B-ACB3-26F0EEA816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5C425C-7E85-EC61-681C-85BAFB393F22}"/>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334414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4D0A3-06C1-E773-3B69-760849A3B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0DAC61-1D15-C9CC-0F82-064DA450B4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FA4F0C-AE88-7AA5-2B96-3A78B3450F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C79445-1C85-3245-5BAB-436E96C29A27}"/>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6" name="Footer Placeholder 5">
            <a:extLst>
              <a:ext uri="{FF2B5EF4-FFF2-40B4-BE49-F238E27FC236}">
                <a16:creationId xmlns:a16="http://schemas.microsoft.com/office/drawing/2014/main" id="{D9A34DD8-427C-3C24-E9AD-19A1C359EB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E749F9-F8B1-C0AD-94C7-C8FA385FA8ED}"/>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256508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8B9B-A0CF-13B6-12B3-87289E5BA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14AD29-8275-514E-41C4-B70604DA5F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5329D6-2D40-D816-4B9F-998C6E50FC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6C8EBC-A33B-7759-FC10-5DF71E853C93}"/>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6" name="Footer Placeholder 5">
            <a:extLst>
              <a:ext uri="{FF2B5EF4-FFF2-40B4-BE49-F238E27FC236}">
                <a16:creationId xmlns:a16="http://schemas.microsoft.com/office/drawing/2014/main" id="{AAD8EFAB-330C-9A52-C079-927FBAEFD0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39DED3-5DF2-C546-3A76-D64298D70FA8}"/>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2430716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0EF9B-29AF-BF39-D825-E8C7077534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F1713E-DA6E-B3B6-D841-6C2EE44632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2B402F-CF3E-ECF3-EBA5-731E74C82C4C}"/>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957DB4E7-0845-9184-45F8-EC22F9B14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C6371-6BB4-9B92-8911-246D327B6C3A}"/>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2881271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DEE1A3-7D21-FFA1-BED5-D6282AD978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C6ECC9-57F3-B9C6-ACC1-28024736AE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E862A-6765-11ED-836A-81BDAB7CD1B0}"/>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0E64B92A-1923-4FA9-E551-A1F9DBFB19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41ADC-BC70-4E5E-5F8B-00891D373F61}"/>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874208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BL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560320"/>
            <a:ext cx="9445752" cy="914400"/>
          </a:xfrm>
          <a:prstGeom prst="rect">
            <a:avLst/>
          </a:prstGeom>
          <a:noFill/>
          <a:ln/>
        </p:spPr>
        <p:txBody>
          <a:bodyPr wrap="square" rtlCol="0"/>
          <a:lstStyle>
            <a:lvl1pPr marL="0" indent="0" algn="ctr">
              <a:buNone/>
              <a:defRPr lang="en-US" sz="4000" b="1" dirty="0">
                <a:solidFill>
                  <a:srgbClr val="002060"/>
                </a:solidFill>
                <a:latin typeface="Arial" pitchFamily="34" charset="0"/>
                <a:ea typeface="Arial" pitchFamily="34" charset="-122"/>
                <a:cs typeface="Arial" pitchFamily="34" charset="-120"/>
              </a:defRPr>
            </a:lvl1pPr>
          </a:lstStyle>
          <a:p>
            <a:pPr marL="0" indent="0" algn="ctr">
              <a:buNone/>
            </a:pPr>
            <a:endParaRPr lang="en-US" sz="4000" dirty="0"/>
          </a:p>
        </p:txBody>
      </p:sp>
      <p:sp>
        <p:nvSpPr>
          <p:cNvPr id="3" name="Text 0"/>
          <p:cNvSpPr>
            <a:spLocks noGrp="1"/>
          </p:cNvSpPr>
          <p:nvPr>
            <p:ph type="body" idx="101" hasCustomPrompt="1"/>
          </p:nvPr>
        </p:nvSpPr>
        <p:spPr>
          <a:xfrm>
            <a:off x="1371600" y="3520440"/>
            <a:ext cx="9445752" cy="548640"/>
          </a:xfrm>
          <a:prstGeom prst="rect">
            <a:avLst/>
          </a:prstGeom>
          <a:noFill/>
          <a:ln/>
        </p:spPr>
        <p:txBody>
          <a:bodyPr wrap="square" rtlCol="0"/>
          <a:lstStyle>
            <a:lvl1pPr marL="0" indent="0" algn="ctr">
              <a:buNone/>
              <a:defRPr lang="en-US" sz="2000" dirty="0">
                <a:solidFill>
                  <a:srgbClr val="002060"/>
                </a:solidFill>
                <a:latin typeface="Arial" pitchFamily="34" charset="0"/>
                <a:ea typeface="Arial" pitchFamily="34" charset="-122"/>
                <a:cs typeface="Arial" pitchFamily="34" charset="-120"/>
              </a:defRPr>
            </a:lvl1pPr>
          </a:lstStyle>
          <a:p>
            <a:pPr marL="0" indent="0" algn="ctr">
              <a:buNone/>
            </a:pPr>
            <a:endParaRPr lang="en-US" sz="2000" dirty="0"/>
          </a:p>
        </p:txBody>
      </p:sp>
      <p:sp>
        <p:nvSpPr>
          <p:cNvPr id="4" name="Text 0"/>
          <p:cNvSpPr>
            <a:spLocks noGrp="1"/>
          </p:cNvSpPr>
          <p:nvPr>
            <p:ph type="body" idx="102" hasCustomPrompt="1"/>
          </p:nvPr>
        </p:nvSpPr>
        <p:spPr>
          <a:xfrm>
            <a:off x="1371600" y="5715000"/>
            <a:ext cx="9445752" cy="457200"/>
          </a:xfrm>
          <a:prstGeom prst="rect">
            <a:avLst/>
          </a:prstGeom>
          <a:noFill/>
          <a:ln/>
        </p:spPr>
        <p:txBody>
          <a:bodyPr wrap="square" rtlCol="0"/>
          <a:lstStyle>
            <a:lvl1pPr marL="0" indent="0" algn="ctr">
              <a:buNone/>
              <a:defRPr lang="en-US" sz="2000" b="1" dirty="0">
                <a:solidFill>
                  <a:srgbClr val="002060"/>
                </a:solidFill>
                <a:latin typeface="Arial" pitchFamily="34" charset="0"/>
                <a:ea typeface="Arial" pitchFamily="34" charset="-122"/>
                <a:cs typeface="Arial" pitchFamily="34" charset="-120"/>
              </a:defRPr>
            </a:lvl1pPr>
          </a:lstStyle>
          <a:p>
            <a:pPr marL="0" indent="0" algn="ctr">
              <a:buNone/>
            </a:pPr>
            <a:endParaRPr lang="en-US" sz="2000" dirty="0"/>
          </a:p>
        </p:txBody>
      </p:sp>
    </p:spTree>
    <p:extLst>
      <p:ext uri="{BB962C8B-B14F-4D97-AF65-F5344CB8AC3E}">
        <p14:creationId xmlns:p14="http://schemas.microsoft.com/office/powerpoint/2010/main" val="116653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_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566928"/>
            <a:ext cx="11365992" cy="749808"/>
          </a:xfrm>
          <a:prstGeom prst="rect">
            <a:avLst/>
          </a:prstGeom>
          <a:noFill/>
          <a:ln/>
        </p:spPr>
        <p:txBody>
          <a:bodyPr wrap="square" rtlCol="0"/>
          <a:lstStyle>
            <a:lvl1pPr marL="0" indent="0" algn="l">
              <a:buNone/>
              <a:defRPr lang="en-US" sz="2800" b="1" dirty="0">
                <a:solidFill>
                  <a:srgbClr val="0B1F4B"/>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3" name="Text 0"/>
          <p:cNvSpPr/>
          <p:nvPr/>
        </p:nvSpPr>
        <p:spPr>
          <a:xfrm>
            <a:off x="411480" y="6583680"/>
            <a:ext cx="9875520" cy="22860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SBL · QRM 2026 · Introduction de la Direction Commerciale · Volumes au 30/09 (rapport mensuel) · octobre au 19/10, journée en cours · valeur au 18/10</a:t>
            </a:r>
            <a:endParaRPr lang="en-US" sz="900" dirty="0"/>
          </a:p>
        </p:txBody>
      </p:sp>
    </p:spTree>
    <p:extLst>
      <p:ext uri="{BB962C8B-B14F-4D97-AF65-F5344CB8AC3E}">
        <p14:creationId xmlns:p14="http://schemas.microsoft.com/office/powerpoint/2010/main" val="562294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BL_CONTENT">
    <p:bg>
      <p:bgPr>
        <a:solidFill>
          <a:srgbClr val="FFFFFF"/>
        </a:solidFill>
        <a:effectLst/>
      </p:bgPr>
    </p:bg>
    <p:spTree>
      <p:nvGrpSpPr>
        <p:cNvPr id="1" name=""/>
        <p:cNvGrpSpPr/>
        <p:nvPr/>
      </p:nvGrpSpPr>
      <p:grpSpPr>
        <a:xfrm>
          <a:off x="0" y="0"/>
          <a:ext cx="0" cy="0"/>
          <a:chOff x="0" y="0"/>
          <a:chExt cx="0" cy="0"/>
        </a:xfrm>
      </p:grpSpPr>
      <p:pic>
        <p:nvPicPr>
          <p:cNvPr id="2" name="Image 0" descr="/home/claude/logo.png"/>
          <p:cNvPicPr>
            <a:picLocks noChangeAspect="1"/>
          </p:cNvPicPr>
          <p:nvPr/>
        </p:nvPicPr>
        <p:blipFill>
          <a:blip r:embed="rId2"/>
          <a:stretch>
            <a:fillRect/>
          </a:stretch>
        </p:blipFill>
        <p:spPr>
          <a:xfrm>
            <a:off x="310896" y="137160"/>
            <a:ext cx="1225296" cy="608076"/>
          </a:xfrm>
          <a:prstGeom prst="rect">
            <a:avLst/>
          </a:prstGeom>
        </p:spPr>
      </p:pic>
      <p:sp>
        <p:nvSpPr>
          <p:cNvPr id="3" name="Shape 0"/>
          <p:cNvSpPr/>
          <p:nvPr/>
        </p:nvSpPr>
        <p:spPr>
          <a:xfrm>
            <a:off x="1536192" y="718718"/>
            <a:ext cx="10652760" cy="0"/>
          </a:xfrm>
          <a:prstGeom prst="line">
            <a:avLst/>
          </a:prstGeom>
          <a:noFill/>
          <a:ln w="19050">
            <a:solidFill>
              <a:srgbClr val="FFD13F"/>
            </a:solidFill>
            <a:prstDash val="solid"/>
          </a:ln>
        </p:spPr>
        <p:txBody>
          <a:bodyPr/>
          <a:lstStyle/>
          <a:p>
            <a:endParaRPr lang="en-RW"/>
          </a:p>
        </p:txBody>
      </p:sp>
      <p:sp>
        <p:nvSpPr>
          <p:cNvPr id="4" name="Text 1"/>
          <p:cNvSpPr>
            <a:spLocks noGrp="1"/>
          </p:cNvSpPr>
          <p:nvPr>
            <p:ph type="title" idx="102" hasCustomPrompt="1"/>
          </p:nvPr>
        </p:nvSpPr>
        <p:spPr>
          <a:xfrm>
            <a:off x="1737360" y="182880"/>
            <a:ext cx="9966960" cy="502920"/>
          </a:xfrm>
          <a:prstGeom prst="rect">
            <a:avLst/>
          </a:prstGeom>
          <a:noFill/>
          <a:ln/>
        </p:spPr>
        <p:txBody>
          <a:bodyPr wrap="square" rtlCol="0"/>
          <a:lstStyle>
            <a:lvl1pPr marL="0" indent="0" algn="ctr">
              <a:buNone/>
              <a:defRPr lang="en-US" sz="2200" b="1" dirty="0">
                <a:solidFill>
                  <a:schemeClr val="tx2"/>
                </a:solidFill>
              </a:defRPr>
            </a:lvl1pPr>
          </a:lstStyle>
          <a:p>
            <a:pPr marL="0" indent="0" algn="ctr">
              <a:buNone/>
            </a:pPr>
            <a:endParaRPr lang="en-US" sz="22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4A6"/>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881109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1E77D8-9AA1-4540-35DF-837CF4E82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BFAD38-66C6-9F57-695C-05F5B642B6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9D60D4-11B3-0FE9-D8EA-5895DF5AA1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93E5D3E5-FEA8-A355-72C4-3F9D3358F9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9D6E15-D73C-B613-B2F7-1F1E6C0584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7F35CA-8A6D-4671-A8F6-E3CC4B7983DA}" type="slidenum">
              <a:rPr lang="en-US" smtClean="0"/>
              <a:t>‹#›</a:t>
            </a:fld>
            <a:endParaRPr lang="en-US"/>
          </a:p>
        </p:txBody>
      </p:sp>
    </p:spTree>
    <p:extLst>
      <p:ext uri="{BB962C8B-B14F-4D97-AF65-F5344CB8AC3E}">
        <p14:creationId xmlns:p14="http://schemas.microsoft.com/office/powerpoint/2010/main" val="4166108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chart" Target="../charts/char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chart" Target="../charts/chart4.xml"/><Relationship Id="rId5" Type="http://schemas.openxmlformats.org/officeDocument/2006/relationships/image" Target="../media/image5.jpg"/><Relationship Id="rId10" Type="http://schemas.openxmlformats.org/officeDocument/2006/relationships/image" Target="../media/image9.jpg"/><Relationship Id="rId4" Type="http://schemas.openxmlformats.org/officeDocument/2006/relationships/image" Target="../media/image4.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chart" Target="../charts/chart12.xml"/><Relationship Id="rId4" Type="http://schemas.openxmlformats.org/officeDocument/2006/relationships/chart" Target="../charts/char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7.xml"/><Relationship Id="rId4" Type="http://schemas.openxmlformats.org/officeDocument/2006/relationships/chart" Target="../charts/chart15.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chart" Target="../charts/chart17.xml"/><Relationship Id="rId5" Type="http://schemas.openxmlformats.org/officeDocument/2006/relationships/chart" Target="../charts/chart16.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chart" Target="../charts/chart21.xml"/><Relationship Id="rId4" Type="http://schemas.openxmlformats.org/officeDocument/2006/relationships/chart" Target="../charts/chart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48.png"/><Relationship Id="rId7" Type="http://schemas.openxmlformats.org/officeDocument/2006/relationships/image" Target="../media/image52.jpe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51.png"/><Relationship Id="rId11" Type="http://schemas.openxmlformats.org/officeDocument/2006/relationships/image" Target="../media/image56.jpg"/><Relationship Id="rId5" Type="http://schemas.openxmlformats.org/officeDocument/2006/relationships/image" Target="../media/image50.jpeg"/><Relationship Id="rId10" Type="http://schemas.openxmlformats.org/officeDocument/2006/relationships/image" Target="../media/image55.png"/><Relationship Id="rId4" Type="http://schemas.openxmlformats.org/officeDocument/2006/relationships/image" Target="../media/image49.jpeg"/><Relationship Id="rId9" Type="http://schemas.openxmlformats.org/officeDocument/2006/relationships/image" Target="../media/image54.jpeg"/></Relationships>
</file>

<file path=ppt/slides/_rels/slide5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48.png"/><Relationship Id="rId7" Type="http://schemas.openxmlformats.org/officeDocument/2006/relationships/image" Target="../media/image61.jpeg"/><Relationship Id="rId2" Type="http://schemas.openxmlformats.org/officeDocument/2006/relationships/image" Target="../media/image57.jpe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jpeg"/><Relationship Id="rId4" Type="http://schemas.openxmlformats.org/officeDocument/2006/relationships/image" Target="../media/image58.jpeg"/></Relationships>
</file>

<file path=ppt/slides/_rels/slide54.xml.rels><?xml version="1.0" encoding="UTF-8" standalone="yes"?>
<Relationships xmlns="http://schemas.openxmlformats.org/package/2006/relationships"><Relationship Id="rId3" Type="http://schemas.openxmlformats.org/officeDocument/2006/relationships/image" Target="../media/image63.jpeg"/><Relationship Id="rId7" Type="http://schemas.openxmlformats.org/officeDocument/2006/relationships/image" Target="../media/image67.jpe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4.jpeg"/></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jpeg"/><Relationship Id="rId4" Type="http://schemas.openxmlformats.org/officeDocument/2006/relationships/image" Target="../media/image73.jpeg"/></Relationships>
</file>

<file path=ppt/slides/_rels/slide5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77.jpeg"/></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3.xml"/><Relationship Id="rId5" Type="http://schemas.openxmlformats.org/officeDocument/2006/relationships/chart" Target="../charts/chart23.xml"/><Relationship Id="rId4" Type="http://schemas.openxmlformats.org/officeDocument/2006/relationships/chart" Target="../charts/chart2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chart" Target="../charts/chart24.xml"/></Relationships>
</file>

<file path=ppt/slides/_rels/slide6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chart" Target="../charts/chart25.xml"/><Relationship Id="rId5" Type="http://schemas.openxmlformats.org/officeDocument/2006/relationships/image" Target="../media/image5.jpg"/><Relationship Id="rId10" Type="http://schemas.openxmlformats.org/officeDocument/2006/relationships/image" Target="../media/image9.jpg"/><Relationship Id="rId4" Type="http://schemas.openxmlformats.org/officeDocument/2006/relationships/image" Target="../media/image4.png"/><Relationship Id="rId9"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chart" Target="../charts/chart26.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chart" Target="../charts/char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68A5F-8F81-B79F-D48F-7F0FF8A0C7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504B78-BD6C-1DE4-7262-208A70AAE670}"/>
              </a:ext>
            </a:extLst>
          </p:cNvPr>
          <p:cNvSpPr>
            <a:spLocks noGrp="1"/>
          </p:cNvSpPr>
          <p:nvPr>
            <p:ph type="title" idx="100" hasCustomPrompt="1"/>
          </p:nvPr>
        </p:nvSpPr>
        <p:spPr>
          <a:xfrm>
            <a:off x="1371600" y="2560320"/>
            <a:ext cx="9445752" cy="914400"/>
          </a:xfrm>
          <a:prstGeom prst="rect">
            <a:avLst/>
          </a:prstGeom>
          <a:noFill/>
          <a:ln/>
        </p:spPr>
        <p:txBody>
          <a:bodyPr wrap="square" lIns="0" tIns="0" rIns="0" bIns="0" rtlCol="0" anchor="ctr"/>
          <a:lstStyle/>
          <a:p>
            <a:pPr marL="0" indent="0" algn="ctr">
              <a:buNone/>
            </a:pPr>
            <a:r>
              <a:rPr lang="en-US" dirty="0"/>
              <a:t>QRM  Octobre 2026</a:t>
            </a:r>
            <a:endParaRPr lang="en-US" sz="4000" dirty="0"/>
          </a:p>
        </p:txBody>
      </p:sp>
      <p:sp>
        <p:nvSpPr>
          <p:cNvPr id="3" name="Text 0">
            <a:extLst>
              <a:ext uri="{FF2B5EF4-FFF2-40B4-BE49-F238E27FC236}">
                <a16:creationId xmlns:a16="http://schemas.microsoft.com/office/drawing/2014/main" id="{A065F063-FFC8-FC37-E7BE-3D9AEB7055BF}"/>
              </a:ext>
            </a:extLst>
          </p:cNvPr>
          <p:cNvSpPr>
            <a:spLocks noGrp="1"/>
          </p:cNvSpPr>
          <p:nvPr>
            <p:ph type="body" idx="101" hasCustomPrompt="1"/>
          </p:nvPr>
        </p:nvSpPr>
        <p:spPr>
          <a:xfrm>
            <a:off x="1371600" y="3520440"/>
            <a:ext cx="9445752" cy="548640"/>
          </a:xfrm>
          <a:prstGeom prst="rect">
            <a:avLst/>
          </a:prstGeom>
          <a:noFill/>
          <a:ln/>
        </p:spPr>
        <p:txBody>
          <a:bodyPr wrap="square" lIns="0" tIns="0" rIns="0" bIns="0" rtlCol="0" anchor="ctr"/>
          <a:lstStyle/>
          <a:p>
            <a:pPr marL="0" indent="0" algn="ctr">
              <a:buNone/>
            </a:pPr>
            <a:r>
              <a:rPr lang="en-US" dirty="0"/>
              <a:t>COMMERCIAL</a:t>
            </a:r>
            <a:r>
              <a:rPr lang="en-US" sz="2000" dirty="0"/>
              <a:t> DEPARTMENT</a:t>
            </a:r>
          </a:p>
        </p:txBody>
      </p:sp>
      <p:sp>
        <p:nvSpPr>
          <p:cNvPr id="4" name="Text 0">
            <a:extLst>
              <a:ext uri="{FF2B5EF4-FFF2-40B4-BE49-F238E27FC236}">
                <a16:creationId xmlns:a16="http://schemas.microsoft.com/office/drawing/2014/main" id="{F041DA4F-F623-D8DE-F0A1-090885AD2447}"/>
              </a:ext>
            </a:extLst>
          </p:cNvPr>
          <p:cNvSpPr>
            <a:spLocks noGrp="1"/>
          </p:cNvSpPr>
          <p:nvPr>
            <p:ph type="body" idx="102" hasCustomPrompt="1"/>
          </p:nvPr>
        </p:nvSpPr>
        <p:spPr>
          <a:xfrm>
            <a:off x="1371600" y="5715000"/>
            <a:ext cx="9445752" cy="457200"/>
          </a:xfrm>
          <a:prstGeom prst="rect">
            <a:avLst/>
          </a:prstGeom>
          <a:noFill/>
          <a:ln/>
        </p:spPr>
        <p:txBody>
          <a:bodyPr wrap="square" lIns="0" tIns="0" rIns="0" bIns="0" rtlCol="0" anchor="ctr"/>
          <a:lstStyle/>
          <a:p>
            <a:pPr marL="0" indent="0" algn="ctr">
              <a:buNone/>
            </a:pPr>
            <a:r>
              <a:rPr lang="en-US" dirty="0"/>
              <a:t>ONE TEAM</a:t>
            </a:r>
            <a:endParaRPr lang="en-US" sz="2000" dirty="0"/>
          </a:p>
        </p:txBody>
      </p:sp>
    </p:spTree>
    <p:extLst>
      <p:ext uri="{BB962C8B-B14F-4D97-AF65-F5344CB8AC3E}">
        <p14:creationId xmlns:p14="http://schemas.microsoft.com/office/powerpoint/2010/main" val="104407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963363" cy="256032"/>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3" name="Text 1"/>
          <p:cNvSpPr txBox="1"/>
          <p:nvPr/>
        </p:nvSpPr>
        <p:spPr>
          <a:xfrm>
            <a:off x="411480" y="256032"/>
            <a:ext cx="4963363"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 · 2026 : LES FONDATIONS — RÉSULTATS ET PARTS DE MARCHÉ</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2026 : les fondations </a:t>
            </a:r>
            <a:r>
              <a:rPr lang="en-US" sz="2800" b="1" dirty="0" err="1">
                <a:solidFill>
                  <a:srgbClr val="0B1F4B"/>
                </a:solidFill>
                <a:latin typeface="Calibri" pitchFamily="34" charset="0"/>
                <a:ea typeface="Calibri" pitchFamily="34" charset="-122"/>
                <a:cs typeface="Calibri" pitchFamily="34" charset="-120"/>
              </a:rPr>
              <a:t>sont</a:t>
            </a:r>
            <a:r>
              <a:rPr lang="en-US" sz="2800" b="1" dirty="0">
                <a:solidFill>
                  <a:srgbClr val="0B1F4B"/>
                </a:solidFill>
                <a:latin typeface="Calibri" pitchFamily="34" charset="0"/>
                <a:ea typeface="Calibri" pitchFamily="34" charset="-122"/>
                <a:cs typeface="Calibri" pitchFamily="34" charset="-120"/>
              </a:rPr>
              <a:t> </a:t>
            </a:r>
            <a:r>
              <a:rPr lang="en-US" sz="2800" b="1" dirty="0" err="1">
                <a:solidFill>
                  <a:srgbClr val="0B1F4B"/>
                </a:solidFill>
                <a:latin typeface="Calibri" pitchFamily="34" charset="0"/>
                <a:ea typeface="Calibri" pitchFamily="34" charset="-122"/>
                <a:cs typeface="Calibri" pitchFamily="34" charset="-120"/>
              </a:rPr>
              <a:t>posées</a:t>
            </a:r>
            <a:endParaRPr lang="en-US" sz="2800" dirty="0"/>
          </a:p>
        </p:txBody>
      </p:sp>
      <p:sp>
        <p:nvSpPr>
          <p:cNvPr id="6" name="s1-k1"/>
          <p:cNvSpPr/>
          <p:nvPr/>
        </p:nvSpPr>
        <p:spPr>
          <a:xfrm>
            <a:off x="411480" y="1371600"/>
            <a:ext cx="2743200" cy="1234440"/>
          </a:xfrm>
          <a:prstGeom prst="roundRect">
            <a:avLst>
              <a:gd name="adj" fmla="val 5926"/>
            </a:avLst>
          </a:prstGeom>
          <a:solidFill>
            <a:srgbClr val="F2F5FB"/>
          </a:solidFill>
          <a:ln w="12700">
            <a:solidFill>
              <a:srgbClr val="F2F5FB"/>
            </a:solidFill>
            <a:prstDash val="solid"/>
          </a:ln>
        </p:spPr>
        <p:txBody>
          <a:bodyPr/>
          <a:lstStyle/>
          <a:p>
            <a:endParaRPr lang="fr-FR"/>
          </a:p>
        </p:txBody>
      </p:sp>
      <p:sp>
        <p:nvSpPr>
          <p:cNvPr id="7" name="s1-k1-bar"/>
          <p:cNvSpPr/>
          <p:nvPr/>
        </p:nvSpPr>
        <p:spPr>
          <a:xfrm>
            <a:off x="411480" y="1371600"/>
            <a:ext cx="109728" cy="1234440"/>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8" name="Text 5"/>
          <p:cNvSpPr txBox="1"/>
          <p:nvPr/>
        </p:nvSpPr>
        <p:spPr>
          <a:xfrm>
            <a:off x="640080" y="1417320"/>
            <a:ext cx="2450592" cy="237744"/>
          </a:xfrm>
          <a:prstGeom prst="rect">
            <a:avLst/>
          </a:prstGeom>
          <a:noFill/>
          <a:ln/>
        </p:spPr>
        <p:txBody>
          <a:bodyPr wrap="square" lIns="0" tIns="0" rIns="0" bIns="0" rtlCol="0" anchor="t"/>
          <a:lstStyle/>
          <a:p>
            <a:pPr marL="0" indent="0">
              <a:buNone/>
            </a:pPr>
            <a:r>
              <a:rPr lang="en-US" sz="1050" b="1" dirty="0">
                <a:solidFill>
                  <a:srgbClr val="5B6478"/>
                </a:solidFill>
                <a:latin typeface="Calibri" pitchFamily="34" charset="0"/>
                <a:ea typeface="Calibri" pitchFamily="34" charset="-122"/>
                <a:cs typeface="Calibri" pitchFamily="34" charset="-120"/>
              </a:rPr>
              <a:t>DOMESTIQUE · VOLUME CUMULÉ AU 30/09</a:t>
            </a:r>
            <a:endParaRPr lang="en-US" sz="1050" dirty="0"/>
          </a:p>
        </p:txBody>
      </p:sp>
      <p:sp>
        <p:nvSpPr>
          <p:cNvPr id="9" name="Text 6"/>
          <p:cNvSpPr txBox="1"/>
          <p:nvPr/>
        </p:nvSpPr>
        <p:spPr>
          <a:xfrm>
            <a:off x="640080" y="1645920"/>
            <a:ext cx="1463040" cy="45720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517,7 k hL</a:t>
            </a:r>
            <a:endParaRPr lang="en-US" sz="2150" dirty="0"/>
          </a:p>
        </p:txBody>
      </p:sp>
      <p:sp>
        <p:nvSpPr>
          <p:cNvPr id="10" name="Text 7"/>
          <p:cNvSpPr txBox="1"/>
          <p:nvPr/>
        </p:nvSpPr>
        <p:spPr>
          <a:xfrm>
            <a:off x="1965960" y="1645920"/>
            <a:ext cx="1097280" cy="457200"/>
          </a:xfrm>
          <a:prstGeom prst="rect">
            <a:avLst/>
          </a:prstGeom>
          <a:noFill/>
          <a:ln/>
        </p:spPr>
        <p:txBody>
          <a:bodyPr wrap="square" lIns="0" tIns="0" rIns="0" bIns="0" rtlCol="0" anchor="ctr"/>
          <a:lstStyle/>
          <a:p>
            <a:pPr marL="0" indent="0" algn="r">
              <a:buNone/>
            </a:pPr>
            <a:r>
              <a:rPr lang="en-US" sz="1800" b="1" dirty="0">
                <a:solidFill>
                  <a:srgbClr val="D6281E"/>
                </a:solidFill>
                <a:latin typeface="Calibri" pitchFamily="34" charset="0"/>
                <a:ea typeface="Calibri" pitchFamily="34" charset="-122"/>
                <a:cs typeface="Calibri" pitchFamily="34" charset="-120"/>
              </a:rPr>
              <a:t>−7,9 %</a:t>
            </a:r>
            <a:endParaRPr lang="en-US" sz="1800" dirty="0"/>
          </a:p>
        </p:txBody>
      </p:sp>
      <p:sp>
        <p:nvSpPr>
          <p:cNvPr id="11" name="Text 8"/>
          <p:cNvSpPr txBox="1"/>
          <p:nvPr/>
        </p:nvSpPr>
        <p:spPr>
          <a:xfrm>
            <a:off x="640080" y="2121408"/>
            <a:ext cx="2450592" cy="457200"/>
          </a:xfrm>
          <a:prstGeom prst="rect">
            <a:avLst/>
          </a:prstGeom>
          <a:noFill/>
          <a:ln/>
        </p:spPr>
        <p:txBody>
          <a:bodyPr wrap="square" lIns="0" tIns="0" rIns="0" bIns="0" rtlCol="0" anchor="t"/>
          <a:lstStyle/>
          <a:p>
            <a:pPr marL="0" indent="0">
              <a:buNone/>
            </a:pPr>
            <a:r>
              <a:rPr lang="en-US" sz="1050" dirty="0">
                <a:solidFill>
                  <a:srgbClr val="14213D"/>
                </a:solidFill>
                <a:latin typeface="Calibri" pitchFamily="34" charset="0"/>
                <a:ea typeface="Calibri" pitchFamily="34" charset="-122"/>
                <a:cs typeface="Calibri" pitchFamily="34" charset="-120"/>
              </a:rPr>
              <a:t>vs budget 561,9 k · écart cumulé : −11,3 % fin août → −7,9 % fin sept. · au 19/10 : 558,6 k hL</a:t>
            </a:r>
            <a:endParaRPr lang="en-US" sz="1050" dirty="0"/>
          </a:p>
        </p:txBody>
      </p:sp>
      <p:sp>
        <p:nvSpPr>
          <p:cNvPr id="12" name="s1-k2"/>
          <p:cNvSpPr/>
          <p:nvPr/>
        </p:nvSpPr>
        <p:spPr>
          <a:xfrm>
            <a:off x="3280867" y="1371600"/>
            <a:ext cx="2743200" cy="1234440"/>
          </a:xfrm>
          <a:prstGeom prst="roundRect">
            <a:avLst>
              <a:gd name="adj" fmla="val 5926"/>
            </a:avLst>
          </a:prstGeom>
          <a:solidFill>
            <a:srgbClr val="F2F5FB"/>
          </a:solidFill>
          <a:ln w="12700">
            <a:solidFill>
              <a:srgbClr val="F2F5FB"/>
            </a:solidFill>
            <a:prstDash val="solid"/>
          </a:ln>
        </p:spPr>
        <p:txBody>
          <a:bodyPr/>
          <a:lstStyle/>
          <a:p>
            <a:endParaRPr lang="fr-FR"/>
          </a:p>
        </p:txBody>
      </p:sp>
      <p:sp>
        <p:nvSpPr>
          <p:cNvPr id="13" name="s1-k2-bar"/>
          <p:cNvSpPr/>
          <p:nvPr/>
        </p:nvSpPr>
        <p:spPr>
          <a:xfrm>
            <a:off x="3280867" y="1371600"/>
            <a:ext cx="109728" cy="1234440"/>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14" name="Text 11"/>
          <p:cNvSpPr txBox="1"/>
          <p:nvPr/>
        </p:nvSpPr>
        <p:spPr>
          <a:xfrm>
            <a:off x="3509467" y="1417320"/>
            <a:ext cx="2450592" cy="237744"/>
          </a:xfrm>
          <a:prstGeom prst="rect">
            <a:avLst/>
          </a:prstGeom>
          <a:noFill/>
          <a:ln/>
        </p:spPr>
        <p:txBody>
          <a:bodyPr wrap="square" lIns="0" tIns="0" rIns="0" bIns="0" rtlCol="0" anchor="t"/>
          <a:lstStyle/>
          <a:p>
            <a:pPr marL="0" indent="0">
              <a:buNone/>
            </a:pPr>
            <a:r>
              <a:rPr lang="en-US" sz="1050" b="1" dirty="0">
                <a:solidFill>
                  <a:srgbClr val="5B6478"/>
                </a:solidFill>
                <a:latin typeface="Calibri" pitchFamily="34" charset="0"/>
                <a:ea typeface="Calibri" pitchFamily="34" charset="-122"/>
                <a:cs typeface="Calibri" pitchFamily="34" charset="-120"/>
              </a:rPr>
              <a:t>DOMESTIQUE · VALEUR (RWF) CUMULÉE</a:t>
            </a:r>
            <a:endParaRPr lang="en-US" sz="1050" dirty="0"/>
          </a:p>
        </p:txBody>
      </p:sp>
      <p:sp>
        <p:nvSpPr>
          <p:cNvPr id="15" name="Text 12"/>
          <p:cNvSpPr txBox="1"/>
          <p:nvPr/>
        </p:nvSpPr>
        <p:spPr>
          <a:xfrm>
            <a:off x="3509467" y="1645920"/>
            <a:ext cx="1463040" cy="45720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95,5 Md</a:t>
            </a:r>
            <a:endParaRPr lang="en-US" sz="2150" dirty="0"/>
          </a:p>
        </p:txBody>
      </p:sp>
      <p:sp>
        <p:nvSpPr>
          <p:cNvPr id="16" name="Text 13"/>
          <p:cNvSpPr txBox="1"/>
          <p:nvPr/>
        </p:nvSpPr>
        <p:spPr>
          <a:xfrm>
            <a:off x="4835347" y="1645920"/>
            <a:ext cx="1097280" cy="457200"/>
          </a:xfrm>
          <a:prstGeom prst="rect">
            <a:avLst/>
          </a:prstGeom>
          <a:noFill/>
          <a:ln/>
        </p:spPr>
        <p:txBody>
          <a:bodyPr wrap="square" lIns="0" tIns="0" rIns="0" bIns="0" rtlCol="0" anchor="ctr"/>
          <a:lstStyle/>
          <a:p>
            <a:pPr marL="0" indent="0" algn="r">
              <a:buNone/>
            </a:pPr>
            <a:r>
              <a:rPr lang="en-US" sz="1800" b="1" dirty="0">
                <a:solidFill>
                  <a:srgbClr val="2E5AAC"/>
                </a:solidFill>
                <a:latin typeface="Calibri" pitchFamily="34" charset="0"/>
                <a:ea typeface="Calibri" pitchFamily="34" charset="-122"/>
                <a:cs typeface="Calibri" pitchFamily="34" charset="-120"/>
              </a:rPr>
              <a:t>au 18/10</a:t>
            </a:r>
            <a:endParaRPr lang="en-US" sz="1800" dirty="0"/>
          </a:p>
        </p:txBody>
      </p:sp>
      <p:sp>
        <p:nvSpPr>
          <p:cNvPr id="17" name="Text 14"/>
          <p:cNvSpPr txBox="1"/>
          <p:nvPr/>
        </p:nvSpPr>
        <p:spPr>
          <a:xfrm>
            <a:off x="3509467" y="2121408"/>
            <a:ext cx="2450592" cy="457200"/>
          </a:xfrm>
          <a:prstGeom prst="rect">
            <a:avLst/>
          </a:prstGeom>
          <a:noFill/>
          <a:ln/>
        </p:spPr>
        <p:txBody>
          <a:bodyPr wrap="square" lIns="0" tIns="0" rIns="0" bIns="0" rtlCol="0" anchor="t"/>
          <a:lstStyle/>
          <a:p>
            <a:pPr marL="0" indent="0">
              <a:buNone/>
            </a:pPr>
            <a:r>
              <a:rPr lang="en-US" sz="1050" dirty="0" err="1">
                <a:solidFill>
                  <a:srgbClr val="14213D"/>
                </a:solidFill>
                <a:latin typeface="Calibri" pitchFamily="34" charset="0"/>
                <a:ea typeface="Calibri" pitchFamily="34" charset="-122"/>
                <a:cs typeface="Calibri" pitchFamily="34" charset="-120"/>
              </a:rPr>
              <a:t>octobre</a:t>
            </a:r>
            <a:r>
              <a:rPr lang="en-US" sz="1050" dirty="0">
                <a:solidFill>
                  <a:srgbClr val="14213D"/>
                </a:solidFill>
                <a:latin typeface="Calibri" pitchFamily="34" charset="0"/>
                <a:ea typeface="Calibri" pitchFamily="34" charset="-122"/>
                <a:cs typeface="Calibri" pitchFamily="34" charset="-120"/>
              </a:rPr>
              <a:t> à date : 8,5 Md RWF</a:t>
            </a:r>
            <a:endParaRPr lang="en-US" sz="1050" dirty="0"/>
          </a:p>
        </p:txBody>
      </p:sp>
      <p:sp>
        <p:nvSpPr>
          <p:cNvPr id="18" name="s1-k3"/>
          <p:cNvSpPr/>
          <p:nvPr/>
        </p:nvSpPr>
        <p:spPr>
          <a:xfrm>
            <a:off x="6150254" y="1371600"/>
            <a:ext cx="2743200" cy="1234440"/>
          </a:xfrm>
          <a:prstGeom prst="roundRect">
            <a:avLst>
              <a:gd name="adj" fmla="val 5926"/>
            </a:avLst>
          </a:prstGeom>
          <a:solidFill>
            <a:srgbClr val="F2F5FB"/>
          </a:solidFill>
          <a:ln w="12700">
            <a:solidFill>
              <a:srgbClr val="F2F5FB"/>
            </a:solidFill>
            <a:prstDash val="solid"/>
          </a:ln>
        </p:spPr>
        <p:txBody>
          <a:bodyPr/>
          <a:lstStyle/>
          <a:p>
            <a:endParaRPr lang="fr-FR"/>
          </a:p>
        </p:txBody>
      </p:sp>
      <p:sp>
        <p:nvSpPr>
          <p:cNvPr id="19" name="s1-k3-bar"/>
          <p:cNvSpPr/>
          <p:nvPr/>
        </p:nvSpPr>
        <p:spPr>
          <a:xfrm>
            <a:off x="6150254" y="1371600"/>
            <a:ext cx="109728" cy="1234440"/>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20" name="Text 17"/>
          <p:cNvSpPr txBox="1"/>
          <p:nvPr/>
        </p:nvSpPr>
        <p:spPr>
          <a:xfrm>
            <a:off x="6378854" y="1417320"/>
            <a:ext cx="2450592" cy="237744"/>
          </a:xfrm>
          <a:prstGeom prst="rect">
            <a:avLst/>
          </a:prstGeom>
          <a:noFill/>
          <a:ln/>
        </p:spPr>
        <p:txBody>
          <a:bodyPr wrap="square" lIns="0" tIns="0" rIns="0" bIns="0" rtlCol="0" anchor="t"/>
          <a:lstStyle/>
          <a:p>
            <a:pPr marL="0" indent="0">
              <a:buNone/>
            </a:pPr>
            <a:r>
              <a:rPr lang="en-US" sz="1050" b="1" dirty="0">
                <a:solidFill>
                  <a:srgbClr val="5B6478"/>
                </a:solidFill>
                <a:latin typeface="Calibri" pitchFamily="34" charset="0"/>
                <a:ea typeface="Calibri" pitchFamily="34" charset="-122"/>
                <a:cs typeface="Calibri" pitchFamily="34" charset="-120"/>
              </a:rPr>
              <a:t>TOTAL SBL (DOM. + EXPORT) · AU 30/09</a:t>
            </a:r>
            <a:endParaRPr lang="en-US" sz="1050" dirty="0"/>
          </a:p>
        </p:txBody>
      </p:sp>
      <p:sp>
        <p:nvSpPr>
          <p:cNvPr id="21" name="Text 18"/>
          <p:cNvSpPr txBox="1"/>
          <p:nvPr/>
        </p:nvSpPr>
        <p:spPr>
          <a:xfrm>
            <a:off x="6378854" y="1645920"/>
            <a:ext cx="1463040" cy="45720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660,1 k hL</a:t>
            </a:r>
            <a:endParaRPr lang="en-US" sz="2150" dirty="0"/>
          </a:p>
        </p:txBody>
      </p:sp>
      <p:sp>
        <p:nvSpPr>
          <p:cNvPr id="22" name="Text 19"/>
          <p:cNvSpPr txBox="1"/>
          <p:nvPr/>
        </p:nvSpPr>
        <p:spPr>
          <a:xfrm>
            <a:off x="7704734" y="1645920"/>
            <a:ext cx="1097280" cy="457200"/>
          </a:xfrm>
          <a:prstGeom prst="rect">
            <a:avLst/>
          </a:prstGeom>
          <a:noFill/>
          <a:ln/>
        </p:spPr>
        <p:txBody>
          <a:bodyPr wrap="square" lIns="0" tIns="0" rIns="0" bIns="0" rtlCol="0" anchor="ctr"/>
          <a:lstStyle/>
          <a:p>
            <a:pPr marL="0" indent="0" algn="r">
              <a:buNone/>
            </a:pPr>
            <a:r>
              <a:rPr lang="en-US" sz="1800" b="1" dirty="0">
                <a:solidFill>
                  <a:srgbClr val="2E5AAC"/>
                </a:solidFill>
                <a:latin typeface="Calibri" pitchFamily="34" charset="0"/>
                <a:ea typeface="Calibri" pitchFamily="34" charset="-122"/>
                <a:cs typeface="Calibri" pitchFamily="34" charset="-120"/>
              </a:rPr>
              <a:t>+4,7 %</a:t>
            </a:r>
            <a:endParaRPr lang="en-US" sz="1800" dirty="0"/>
          </a:p>
        </p:txBody>
      </p:sp>
      <p:sp>
        <p:nvSpPr>
          <p:cNvPr id="23" name="Text 20"/>
          <p:cNvSpPr txBox="1"/>
          <p:nvPr/>
        </p:nvSpPr>
        <p:spPr>
          <a:xfrm>
            <a:off x="6378854" y="2121408"/>
            <a:ext cx="2450592" cy="457200"/>
          </a:xfrm>
          <a:prstGeom prst="rect">
            <a:avLst/>
          </a:prstGeom>
          <a:noFill/>
          <a:ln/>
        </p:spPr>
        <p:txBody>
          <a:bodyPr wrap="square" lIns="0" tIns="0" rIns="0" bIns="0" rtlCol="0" anchor="t"/>
          <a:lstStyle/>
          <a:p>
            <a:pPr marL="0" indent="0">
              <a:buNone/>
            </a:pPr>
            <a:r>
              <a:rPr lang="en-US" sz="1050" dirty="0">
                <a:solidFill>
                  <a:srgbClr val="14213D"/>
                </a:solidFill>
                <a:latin typeface="Calibri" pitchFamily="34" charset="0"/>
                <a:ea typeface="Calibri" pitchFamily="34" charset="-122"/>
                <a:cs typeface="Calibri" pitchFamily="34" charset="-120"/>
              </a:rPr>
              <a:t>export 142,4 k </a:t>
            </a:r>
            <a:r>
              <a:rPr lang="en-US" sz="1050" dirty="0" err="1">
                <a:solidFill>
                  <a:srgbClr val="14213D"/>
                </a:solidFill>
                <a:latin typeface="Calibri" pitchFamily="34" charset="0"/>
                <a:ea typeface="Calibri" pitchFamily="34" charset="-122"/>
                <a:cs typeface="Calibri" pitchFamily="34" charset="-120"/>
              </a:rPr>
              <a:t>hL</a:t>
            </a:r>
            <a:r>
              <a:rPr lang="en-US" sz="1050" dirty="0">
                <a:solidFill>
                  <a:srgbClr val="14213D"/>
                </a:solidFill>
                <a:latin typeface="Calibri" pitchFamily="34" charset="0"/>
                <a:ea typeface="Calibri" pitchFamily="34" charset="-122"/>
                <a:cs typeface="Calibri" pitchFamily="34" charset="-120"/>
              </a:rPr>
              <a:t> = 21,6 % du total</a:t>
            </a:r>
            <a:endParaRPr lang="en-US" sz="1050" dirty="0"/>
          </a:p>
        </p:txBody>
      </p:sp>
      <p:sp>
        <p:nvSpPr>
          <p:cNvPr id="24" name="s1-k4"/>
          <p:cNvSpPr/>
          <p:nvPr/>
        </p:nvSpPr>
        <p:spPr>
          <a:xfrm>
            <a:off x="9019642" y="1371600"/>
            <a:ext cx="2743200" cy="1234440"/>
          </a:xfrm>
          <a:prstGeom prst="roundRect">
            <a:avLst>
              <a:gd name="adj" fmla="val 5926"/>
            </a:avLst>
          </a:prstGeom>
          <a:solidFill>
            <a:srgbClr val="F2F5FB"/>
          </a:solidFill>
          <a:ln w="12700">
            <a:solidFill>
              <a:srgbClr val="F2F5FB"/>
            </a:solidFill>
            <a:prstDash val="solid"/>
          </a:ln>
        </p:spPr>
        <p:txBody>
          <a:bodyPr/>
          <a:lstStyle/>
          <a:p>
            <a:endParaRPr lang="fr-FR"/>
          </a:p>
        </p:txBody>
      </p:sp>
      <p:sp>
        <p:nvSpPr>
          <p:cNvPr id="25" name="s1-k4-bar"/>
          <p:cNvSpPr/>
          <p:nvPr/>
        </p:nvSpPr>
        <p:spPr>
          <a:xfrm>
            <a:off x="9019642" y="1371600"/>
            <a:ext cx="109728" cy="123444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26" name="Text 23"/>
          <p:cNvSpPr txBox="1"/>
          <p:nvPr/>
        </p:nvSpPr>
        <p:spPr>
          <a:xfrm>
            <a:off x="9248242" y="1417320"/>
            <a:ext cx="2450592" cy="237744"/>
          </a:xfrm>
          <a:prstGeom prst="rect">
            <a:avLst/>
          </a:prstGeom>
          <a:noFill/>
          <a:ln/>
        </p:spPr>
        <p:txBody>
          <a:bodyPr wrap="square" lIns="0" tIns="0" rIns="0" bIns="0" rtlCol="0" anchor="t"/>
          <a:lstStyle/>
          <a:p>
            <a:pPr marL="0" indent="0">
              <a:buNone/>
            </a:pPr>
            <a:r>
              <a:rPr lang="en-US" sz="1050" b="1" dirty="0">
                <a:solidFill>
                  <a:srgbClr val="5B6478"/>
                </a:solidFill>
                <a:latin typeface="Calibri" pitchFamily="34" charset="0"/>
                <a:ea typeface="Calibri" pitchFamily="34" charset="-122"/>
                <a:cs typeface="Calibri" pitchFamily="34" charset="-120"/>
              </a:rPr>
              <a:t>PART DE MARCHÉ</a:t>
            </a:r>
            <a:endParaRPr lang="en-US" sz="1050" dirty="0"/>
          </a:p>
        </p:txBody>
      </p:sp>
      <p:sp>
        <p:nvSpPr>
          <p:cNvPr id="27" name="Text 24"/>
          <p:cNvSpPr txBox="1"/>
          <p:nvPr/>
        </p:nvSpPr>
        <p:spPr>
          <a:xfrm>
            <a:off x="9248242" y="1645920"/>
            <a:ext cx="1463040" cy="45720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25,7 %</a:t>
            </a:r>
            <a:endParaRPr lang="en-US" sz="2150" dirty="0"/>
          </a:p>
        </p:txBody>
      </p:sp>
      <p:sp>
        <p:nvSpPr>
          <p:cNvPr id="28" name="Text 25"/>
          <p:cNvSpPr txBox="1"/>
          <p:nvPr/>
        </p:nvSpPr>
        <p:spPr>
          <a:xfrm>
            <a:off x="10574122" y="1645920"/>
            <a:ext cx="1097280" cy="457200"/>
          </a:xfrm>
          <a:prstGeom prst="rect">
            <a:avLst/>
          </a:prstGeom>
          <a:noFill/>
          <a:ln/>
        </p:spPr>
        <p:txBody>
          <a:bodyPr wrap="square" lIns="0" tIns="0" rIns="0" bIns="0" rtlCol="0" anchor="ctr"/>
          <a:lstStyle/>
          <a:p>
            <a:pPr marL="0" indent="0" algn="r">
              <a:buNone/>
            </a:pPr>
            <a:r>
              <a:rPr lang="en-US" sz="1800" b="1" dirty="0">
                <a:solidFill>
                  <a:srgbClr val="2E5AAC"/>
                </a:solidFill>
                <a:latin typeface="Calibri" pitchFamily="34" charset="0"/>
                <a:ea typeface="Calibri" pitchFamily="34" charset="-122"/>
                <a:cs typeface="Calibri" pitchFamily="34" charset="-120"/>
              </a:rPr>
              <a:t>31,5 %</a:t>
            </a:r>
            <a:endParaRPr lang="en-US" sz="1800" dirty="0"/>
          </a:p>
        </p:txBody>
      </p:sp>
      <p:sp>
        <p:nvSpPr>
          <p:cNvPr id="29" name="Text 26"/>
          <p:cNvSpPr txBox="1"/>
          <p:nvPr/>
        </p:nvSpPr>
        <p:spPr>
          <a:xfrm>
            <a:off x="9248242" y="2121408"/>
            <a:ext cx="2450592" cy="457200"/>
          </a:xfrm>
          <a:prstGeom prst="rect">
            <a:avLst/>
          </a:prstGeom>
          <a:noFill/>
          <a:ln/>
        </p:spPr>
        <p:txBody>
          <a:bodyPr wrap="square" lIns="0" tIns="0" rIns="0" bIns="0" rtlCol="0" anchor="t"/>
          <a:lstStyle/>
          <a:p>
            <a:pPr marL="0" indent="0">
              <a:buNone/>
            </a:pPr>
            <a:r>
              <a:rPr lang="en-US" sz="1050" dirty="0" err="1">
                <a:solidFill>
                  <a:srgbClr val="14213D"/>
                </a:solidFill>
                <a:latin typeface="Calibri" pitchFamily="34" charset="0"/>
                <a:ea typeface="Calibri" pitchFamily="34" charset="-122"/>
                <a:cs typeface="Calibri" pitchFamily="34" charset="-120"/>
              </a:rPr>
              <a:t>Cumul</a:t>
            </a:r>
            <a:r>
              <a:rPr lang="en-US" sz="1050" dirty="0">
                <a:solidFill>
                  <a:srgbClr val="14213D"/>
                </a:solidFill>
                <a:latin typeface="Calibri" pitchFamily="34" charset="0"/>
                <a:ea typeface="Calibri" pitchFamily="34" charset="-122"/>
                <a:cs typeface="Calibri" pitchFamily="34" charset="-120"/>
              </a:rPr>
              <a:t> 30/09 · septembre : 31,5 %, 22,7 % en mars · SBL bière vs Bralirwa bière</a:t>
            </a:r>
            <a:endParaRPr lang="en-US" sz="1050" dirty="0"/>
          </a:p>
        </p:txBody>
      </p:sp>
      <p:graphicFrame>
        <p:nvGraphicFramePr>
          <p:cNvPr id="30" name="Chart 0"/>
          <p:cNvGraphicFramePr/>
          <p:nvPr/>
        </p:nvGraphicFramePr>
        <p:xfrm>
          <a:off x="411480" y="2697480"/>
          <a:ext cx="5486400" cy="271576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 name="Chart 1"/>
          <p:cNvGraphicFramePr/>
          <p:nvPr/>
        </p:nvGraphicFramePr>
        <p:xfrm>
          <a:off x="6035040" y="2697480"/>
          <a:ext cx="5742432" cy="2715768"/>
        </p:xfrm>
        <a:graphic>
          <a:graphicData uri="http://schemas.openxmlformats.org/drawingml/2006/chart">
            <c:chart xmlns:c="http://schemas.openxmlformats.org/drawingml/2006/chart" xmlns:r="http://schemas.openxmlformats.org/officeDocument/2006/relationships" r:id="rId5"/>
          </a:graphicData>
        </a:graphic>
      </p:graphicFrame>
      <p:sp>
        <p:nvSpPr>
          <p:cNvPr id="36" name="banner"/>
          <p:cNvSpPr/>
          <p:nvPr/>
        </p:nvSpPr>
        <p:spPr>
          <a:xfrm>
            <a:off x="411480" y="5504688"/>
            <a:ext cx="11365992" cy="777240"/>
          </a:xfrm>
          <a:prstGeom prst="roundRect">
            <a:avLst>
              <a:gd name="adj" fmla="val 9412"/>
            </a:avLst>
          </a:prstGeom>
          <a:solidFill>
            <a:srgbClr val="0B1F4B"/>
          </a:solidFill>
          <a:ln w="12700">
            <a:solidFill>
              <a:srgbClr val="0B1F4B"/>
            </a:solidFill>
            <a:prstDash val="solid"/>
          </a:ln>
        </p:spPr>
        <p:txBody>
          <a:bodyPr/>
          <a:lstStyle/>
          <a:p>
            <a:endParaRPr lang="fr-FR"/>
          </a:p>
        </p:txBody>
      </p:sp>
      <p:sp>
        <p:nvSpPr>
          <p:cNvPr id="37" name="banner-bar"/>
          <p:cNvSpPr/>
          <p:nvPr/>
        </p:nvSpPr>
        <p:spPr>
          <a:xfrm>
            <a:off x="411480" y="5504688"/>
            <a:ext cx="128016" cy="777240"/>
          </a:xfrm>
          <a:prstGeom prst="rect">
            <a:avLst/>
          </a:prstGeom>
          <a:solidFill>
            <a:srgbClr val="FFC20E"/>
          </a:solidFill>
          <a:ln w="12700">
            <a:solidFill>
              <a:srgbClr val="FFC20E"/>
            </a:solidFill>
            <a:prstDash val="solid"/>
          </a:ln>
        </p:spPr>
        <p:txBody>
          <a:bodyPr/>
          <a:lstStyle/>
          <a:p>
            <a:endParaRPr lang="fr-FR"/>
          </a:p>
        </p:txBody>
      </p:sp>
      <p:sp>
        <p:nvSpPr>
          <p:cNvPr id="38" name="Text 33"/>
          <p:cNvSpPr txBox="1"/>
          <p:nvPr/>
        </p:nvSpPr>
        <p:spPr>
          <a:xfrm>
            <a:off x="731520" y="5504688"/>
            <a:ext cx="10927080" cy="777240"/>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En faire </a:t>
            </a:r>
            <a:r>
              <a:rPr lang="en-US" sz="1700" b="1" dirty="0" err="1">
                <a:solidFill>
                  <a:srgbClr val="FFC20E"/>
                </a:solidFill>
                <a:latin typeface="Calibri" pitchFamily="34" charset="0"/>
                <a:ea typeface="Calibri" pitchFamily="34" charset="-122"/>
                <a:cs typeface="Calibri" pitchFamily="34" charset="-120"/>
              </a:rPr>
              <a:t>une</a:t>
            </a:r>
            <a:r>
              <a:rPr lang="en-US" sz="1700" b="1" dirty="0">
                <a:solidFill>
                  <a:srgbClr val="FFC20E"/>
                </a:solidFill>
                <a:latin typeface="Calibri" pitchFamily="34" charset="0"/>
                <a:ea typeface="Calibri" pitchFamily="34" charset="-122"/>
                <a:cs typeface="Calibri" pitchFamily="34" charset="-120"/>
              </a:rPr>
              <a:t> tendance durable…</a:t>
            </a:r>
            <a:endParaRPr lang="en-US" sz="17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963363" cy="256032"/>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3" name="Text 1"/>
          <p:cNvSpPr txBox="1"/>
          <p:nvPr/>
        </p:nvSpPr>
        <p:spPr>
          <a:xfrm>
            <a:off x="411480" y="256032"/>
            <a:ext cx="4963363"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 · 2026 : VENTES MENSUELLES — LOCAL (DOMESTIQUE)</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2026 : le local, de 51 k hL en mars à 74 k en septembre</a:t>
            </a:r>
            <a:endParaRPr lang="en-US" sz="2800" dirty="0"/>
          </a:p>
        </p:txBody>
      </p:sp>
      <p:sp>
        <p:nvSpPr>
          <p:cNvPr id="36" name="banner"/>
          <p:cNvSpPr/>
          <p:nvPr/>
        </p:nvSpPr>
        <p:spPr>
          <a:xfrm>
            <a:off x="411480" y="5504688"/>
            <a:ext cx="11365992" cy="777240"/>
          </a:xfrm>
          <a:prstGeom prst="roundRect">
            <a:avLst>
              <a:gd name="adj" fmla="val 9412"/>
            </a:avLst>
          </a:prstGeom>
          <a:solidFill>
            <a:srgbClr val="0B1F4B"/>
          </a:solidFill>
          <a:ln w="12700">
            <a:solidFill>
              <a:srgbClr val="0B1F4B"/>
            </a:solidFill>
            <a:prstDash val="solid"/>
          </a:ln>
        </p:spPr>
        <p:txBody>
          <a:bodyPr/>
          <a:lstStyle/>
          <a:p>
            <a:endParaRPr lang="fr-FR"/>
          </a:p>
        </p:txBody>
      </p:sp>
      <p:sp>
        <p:nvSpPr>
          <p:cNvPr id="37" name="banner-bar"/>
          <p:cNvSpPr/>
          <p:nvPr/>
        </p:nvSpPr>
        <p:spPr>
          <a:xfrm>
            <a:off x="411480" y="5504688"/>
            <a:ext cx="128016" cy="777240"/>
          </a:xfrm>
          <a:prstGeom prst="rect">
            <a:avLst/>
          </a:prstGeom>
          <a:solidFill>
            <a:srgbClr val="FFC20E"/>
          </a:solidFill>
          <a:ln w="12700">
            <a:solidFill>
              <a:srgbClr val="FFC20E"/>
            </a:solidFill>
            <a:prstDash val="solid"/>
          </a:ln>
        </p:spPr>
        <p:txBody>
          <a:bodyPr/>
          <a:lstStyle/>
          <a:p>
            <a:endParaRPr lang="fr-FR"/>
          </a:p>
        </p:txBody>
      </p:sp>
      <p:sp>
        <p:nvSpPr>
          <p:cNvPr id="38" name="Text 33"/>
          <p:cNvSpPr txBox="1"/>
          <p:nvPr/>
        </p:nvSpPr>
        <p:spPr>
          <a:xfrm>
            <a:off x="731520" y="5504688"/>
            <a:ext cx="10927080" cy="777240"/>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Septembre : 74 484 hL en local, +20 % vs budget · cumul 517 712 hL (−7,9 %)</a:t>
            </a:r>
            <a:endParaRPr lang="en-US" sz="1700" dirty="0"/>
          </a:p>
        </p:txBody>
      </p:sp>
      <p:graphicFrame>
        <p:nvGraphicFramePr>
          <p:cNvPr id="39" name="s2n-chart"/>
          <p:cNvGraphicFramePr>
            <a:graphicFrameLocks noGrp="1"/>
          </p:cNvGraphicFramePr>
          <p:nvPr/>
        </p:nvGraphicFramePr>
        <p:xfrm>
          <a:off x="411480" y="1417320"/>
          <a:ext cx="11365992" cy="3977639"/>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3675888" cy="256032"/>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3" name="Text 1"/>
          <p:cNvSpPr txBox="1"/>
          <p:nvPr/>
        </p:nvSpPr>
        <p:spPr>
          <a:xfrm>
            <a:off x="411480" y="256032"/>
            <a:ext cx="3675888"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 · 2026 : UNE TRANSFORMATION COLLECTIVE</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2026 : 1 équipe, de l'activité à l'exécution</a:t>
            </a:r>
            <a:endParaRPr lang="en-US" sz="2800" dirty="0"/>
          </a:p>
        </p:txBody>
      </p:sp>
      <p:sp>
        <p:nvSpPr>
          <p:cNvPr id="6" name="s2-audit"/>
          <p:cNvSpPr/>
          <p:nvPr/>
        </p:nvSpPr>
        <p:spPr>
          <a:xfrm>
            <a:off x="411480" y="1371600"/>
            <a:ext cx="1554480" cy="603504"/>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7" name="Text 4"/>
          <p:cNvSpPr txBox="1"/>
          <p:nvPr/>
        </p:nvSpPr>
        <p:spPr>
          <a:xfrm>
            <a:off x="411480" y="1371600"/>
            <a:ext cx="1554480" cy="60350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ÉTAT D'ESPRIT</a:t>
            </a:r>
            <a:endParaRPr lang="en-US" sz="1150" dirty="0"/>
          </a:p>
          <a:p>
            <a:pPr marL="0" indent="0" algn="ctr">
              <a:buNone/>
            </a:pPr>
            <a:r>
              <a:rPr lang="en-US" sz="1100" b="1" dirty="0">
                <a:solidFill>
                  <a:srgbClr val="FFFFFF"/>
                </a:solidFill>
                <a:latin typeface="Calibri" pitchFamily="34" charset="0"/>
                <a:ea typeface="Calibri" pitchFamily="34" charset="-122"/>
                <a:cs typeface="Calibri" pitchFamily="34" charset="-120"/>
              </a:rPr>
              <a:t>RETOUR AUX BASIQUES</a:t>
            </a:r>
            <a:endParaRPr lang="en-US" sz="1100" dirty="0"/>
          </a:p>
        </p:txBody>
      </p:sp>
      <p:sp>
        <p:nvSpPr>
          <p:cNvPr id="33" name="s2-card1"/>
          <p:cNvSpPr/>
          <p:nvPr/>
        </p:nvSpPr>
        <p:spPr>
          <a:xfrm>
            <a:off x="411480"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34" name="s2-head1"/>
          <p:cNvSpPr/>
          <p:nvPr/>
        </p:nvSpPr>
        <p:spPr>
          <a:xfrm>
            <a:off x="411480" y="2066544"/>
            <a:ext cx="2167128" cy="384048"/>
          </a:xfrm>
          <a:prstGeom prst="roundRect">
            <a:avLst>
              <a:gd name="adj" fmla="val 11905"/>
            </a:avLst>
          </a:prstGeom>
          <a:solidFill>
            <a:srgbClr val="0B1F4B"/>
          </a:solidFill>
          <a:ln w="12700">
            <a:solidFill>
              <a:srgbClr val="0B1F4B"/>
            </a:solidFill>
            <a:prstDash val="solid"/>
          </a:ln>
        </p:spPr>
        <p:txBody>
          <a:bodyPr/>
          <a:lstStyle/>
          <a:p>
            <a:endParaRPr lang="fr-FR"/>
          </a:p>
        </p:txBody>
      </p:sp>
      <p:sp>
        <p:nvSpPr>
          <p:cNvPr id="35" name="Text 32"/>
          <p:cNvSpPr txBox="1"/>
          <p:nvPr/>
        </p:nvSpPr>
        <p:spPr>
          <a:xfrm>
            <a:off x="502920" y="2066544"/>
            <a:ext cx="11612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FIELD SALES</a:t>
            </a:r>
            <a:endParaRPr lang="en-US" sz="1250" dirty="0"/>
          </a:p>
        </p:txBody>
      </p:sp>
      <p:sp>
        <p:nvSpPr>
          <p:cNvPr id="36" name="Text 33"/>
          <p:cNvSpPr txBox="1"/>
          <p:nvPr/>
        </p:nvSpPr>
        <p:spPr>
          <a:xfrm>
            <a:off x="1572768" y="2066544"/>
            <a:ext cx="914400" cy="384048"/>
          </a:xfrm>
          <a:prstGeom prst="rect">
            <a:avLst/>
          </a:prstGeom>
          <a:noFill/>
          <a:ln/>
        </p:spPr>
        <p:txBody>
          <a:bodyPr wrap="square" lIns="0" tIns="0" rIns="0" bIns="0" rtlCol="0" anchor="ctr"/>
          <a:lstStyle/>
          <a:p>
            <a:pPr marL="0" indent="0" algn="r">
              <a:buNone/>
            </a:pPr>
            <a:r>
              <a:rPr lang="en-US" sz="1100" b="1" dirty="0">
                <a:solidFill>
                  <a:srgbClr val="FFC20E"/>
                </a:solidFill>
                <a:latin typeface="Calibri" pitchFamily="34" charset="0"/>
                <a:ea typeface="Calibri" pitchFamily="34" charset="-122"/>
                <a:cs typeface="Calibri" pitchFamily="34" charset="-120"/>
              </a:rPr>
              <a:t>HENRY</a:t>
            </a:r>
            <a:endParaRPr lang="en-US" sz="1100" dirty="0"/>
          </a:p>
        </p:txBody>
      </p:sp>
      <p:sp>
        <p:nvSpPr>
          <p:cNvPr id="37" name="s2-vis1"/>
          <p:cNvSpPr/>
          <p:nvPr/>
        </p:nvSpPr>
        <p:spPr>
          <a:xfrm>
            <a:off x="484632"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sp>
        <p:nvSpPr>
          <p:cNvPr id="41" name="Text 38"/>
          <p:cNvSpPr txBox="1"/>
          <p:nvPr/>
        </p:nvSpPr>
        <p:spPr>
          <a:xfrm>
            <a:off x="521208" y="4480560"/>
            <a:ext cx="1947672" cy="347472"/>
          </a:xfrm>
          <a:prstGeom prst="rect">
            <a:avLst/>
          </a:prstGeom>
          <a:noFill/>
          <a:ln/>
        </p:spPr>
        <p:txBody>
          <a:bodyPr wrap="square" lIns="0" tIns="0" rIns="0" bIns="0" rtlCol="0" anchor="t"/>
          <a:lstStyle/>
          <a:p>
            <a:pPr marL="0" indent="0">
              <a:buNone/>
            </a:pPr>
            <a:endParaRPr lang="en-US" sz="1100" dirty="0"/>
          </a:p>
        </p:txBody>
      </p:sp>
      <p:sp>
        <p:nvSpPr>
          <p:cNvPr id="44" name="s2-card2"/>
          <p:cNvSpPr/>
          <p:nvPr/>
        </p:nvSpPr>
        <p:spPr>
          <a:xfrm>
            <a:off x="2711196"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45" name="s2-head2"/>
          <p:cNvSpPr/>
          <p:nvPr/>
        </p:nvSpPr>
        <p:spPr>
          <a:xfrm>
            <a:off x="2711196" y="2066544"/>
            <a:ext cx="2167128" cy="384048"/>
          </a:xfrm>
          <a:prstGeom prst="roundRect">
            <a:avLst>
              <a:gd name="adj" fmla="val 11905"/>
            </a:avLst>
          </a:prstGeom>
          <a:solidFill>
            <a:srgbClr val="2E5AAC"/>
          </a:solidFill>
          <a:ln w="12700">
            <a:solidFill>
              <a:srgbClr val="2E5AAC"/>
            </a:solidFill>
            <a:prstDash val="solid"/>
          </a:ln>
        </p:spPr>
        <p:txBody>
          <a:bodyPr/>
          <a:lstStyle/>
          <a:p>
            <a:endParaRPr lang="fr-FR"/>
          </a:p>
        </p:txBody>
      </p:sp>
      <p:sp>
        <p:nvSpPr>
          <p:cNvPr id="46" name="Text 43"/>
          <p:cNvSpPr txBox="1"/>
          <p:nvPr/>
        </p:nvSpPr>
        <p:spPr>
          <a:xfrm>
            <a:off x="2802636" y="2066544"/>
            <a:ext cx="11612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ROUTE TO MARKET</a:t>
            </a:r>
            <a:endParaRPr lang="en-US" sz="1250" dirty="0"/>
          </a:p>
        </p:txBody>
      </p:sp>
      <p:sp>
        <p:nvSpPr>
          <p:cNvPr id="47" name="Text 44"/>
          <p:cNvSpPr txBox="1"/>
          <p:nvPr/>
        </p:nvSpPr>
        <p:spPr>
          <a:xfrm>
            <a:off x="3872484" y="2066544"/>
            <a:ext cx="914400" cy="384048"/>
          </a:xfrm>
          <a:prstGeom prst="rect">
            <a:avLst/>
          </a:prstGeom>
          <a:noFill/>
          <a:ln/>
        </p:spPr>
        <p:txBody>
          <a:bodyPr wrap="square" lIns="0" tIns="0" rIns="0" bIns="0" rtlCol="0" anchor="ctr"/>
          <a:lstStyle/>
          <a:p>
            <a:pPr marL="0" indent="0" algn="r">
              <a:buNone/>
            </a:pPr>
            <a:r>
              <a:rPr lang="en-US" sz="1100" b="1" dirty="0">
                <a:solidFill>
                  <a:srgbClr val="FFC20E"/>
                </a:solidFill>
                <a:latin typeface="Calibri" pitchFamily="34" charset="0"/>
                <a:ea typeface="Calibri" pitchFamily="34" charset="-122"/>
                <a:cs typeface="Calibri" pitchFamily="34" charset="-120"/>
              </a:rPr>
              <a:t>BENI</a:t>
            </a:r>
            <a:endParaRPr lang="en-US" sz="1100" dirty="0"/>
          </a:p>
        </p:txBody>
      </p:sp>
      <p:sp>
        <p:nvSpPr>
          <p:cNvPr id="48" name="s2-vis2"/>
          <p:cNvSpPr/>
          <p:nvPr/>
        </p:nvSpPr>
        <p:spPr>
          <a:xfrm>
            <a:off x="2784348"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sp>
        <p:nvSpPr>
          <p:cNvPr id="55" name="s2-card3"/>
          <p:cNvSpPr/>
          <p:nvPr/>
        </p:nvSpPr>
        <p:spPr>
          <a:xfrm>
            <a:off x="5010912"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56" name="s2-head3"/>
          <p:cNvSpPr/>
          <p:nvPr/>
        </p:nvSpPr>
        <p:spPr>
          <a:xfrm>
            <a:off x="5010912" y="2066544"/>
            <a:ext cx="2167128" cy="384048"/>
          </a:xfrm>
          <a:prstGeom prst="roundRect">
            <a:avLst>
              <a:gd name="adj" fmla="val 11905"/>
            </a:avLst>
          </a:prstGeom>
          <a:solidFill>
            <a:srgbClr val="FFC20E"/>
          </a:solidFill>
          <a:ln w="12700">
            <a:solidFill>
              <a:srgbClr val="FFC20E"/>
            </a:solidFill>
            <a:prstDash val="solid"/>
          </a:ln>
        </p:spPr>
        <p:txBody>
          <a:bodyPr/>
          <a:lstStyle/>
          <a:p>
            <a:endParaRPr lang="fr-FR"/>
          </a:p>
        </p:txBody>
      </p:sp>
      <p:sp>
        <p:nvSpPr>
          <p:cNvPr id="57" name="Text 54"/>
          <p:cNvSpPr txBox="1"/>
          <p:nvPr/>
        </p:nvSpPr>
        <p:spPr>
          <a:xfrm>
            <a:off x="5102352" y="2066544"/>
            <a:ext cx="1161288" cy="384048"/>
          </a:xfrm>
          <a:prstGeom prst="rect">
            <a:avLst/>
          </a:prstGeom>
          <a:noFill/>
          <a:ln/>
        </p:spPr>
        <p:txBody>
          <a:bodyPr wrap="square" lIns="0" tIns="0" rIns="0" bIns="0" rtlCol="0" anchor="ctr"/>
          <a:lstStyle/>
          <a:p>
            <a:pPr marL="0" indent="0">
              <a:buNone/>
            </a:pPr>
            <a:r>
              <a:rPr lang="en-US" sz="1250" b="1" dirty="0">
                <a:solidFill>
                  <a:srgbClr val="14213D"/>
                </a:solidFill>
                <a:latin typeface="Calibri" pitchFamily="34" charset="0"/>
                <a:ea typeface="Calibri" pitchFamily="34" charset="-122"/>
                <a:cs typeface="Calibri" pitchFamily="34" charset="-120"/>
              </a:rPr>
              <a:t>BI · ODOO · EBM</a:t>
            </a:r>
            <a:endParaRPr lang="en-US" sz="1250" dirty="0"/>
          </a:p>
        </p:txBody>
      </p:sp>
      <p:sp>
        <p:nvSpPr>
          <p:cNvPr id="58" name="Text 55"/>
          <p:cNvSpPr txBox="1"/>
          <p:nvPr/>
        </p:nvSpPr>
        <p:spPr>
          <a:xfrm>
            <a:off x="6172200" y="2066544"/>
            <a:ext cx="914400" cy="384048"/>
          </a:xfrm>
          <a:prstGeom prst="rect">
            <a:avLst/>
          </a:prstGeom>
          <a:noFill/>
          <a:ln/>
        </p:spPr>
        <p:txBody>
          <a:bodyPr wrap="square" lIns="0" tIns="0" rIns="0" bIns="0" rtlCol="0" anchor="ctr"/>
          <a:lstStyle/>
          <a:p>
            <a:pPr marL="0" indent="0" algn="r">
              <a:buNone/>
            </a:pPr>
            <a:r>
              <a:rPr lang="en-US" sz="1100" b="1" dirty="0">
                <a:solidFill>
                  <a:srgbClr val="14213D"/>
                </a:solidFill>
                <a:latin typeface="Calibri" pitchFamily="34" charset="0"/>
                <a:ea typeface="Calibri" pitchFamily="34" charset="-122"/>
                <a:cs typeface="Calibri" pitchFamily="34" charset="-120"/>
              </a:rPr>
              <a:t>ERNEST</a:t>
            </a:r>
            <a:endParaRPr lang="en-US" sz="1100" dirty="0"/>
          </a:p>
        </p:txBody>
      </p:sp>
      <p:sp>
        <p:nvSpPr>
          <p:cNvPr id="59" name="s2-vis3"/>
          <p:cNvSpPr/>
          <p:nvPr/>
        </p:nvSpPr>
        <p:spPr>
          <a:xfrm>
            <a:off x="5084064"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sp>
        <p:nvSpPr>
          <p:cNvPr id="66" name="s2-card4"/>
          <p:cNvSpPr/>
          <p:nvPr/>
        </p:nvSpPr>
        <p:spPr>
          <a:xfrm>
            <a:off x="7310628"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67" name="s2-head4"/>
          <p:cNvSpPr/>
          <p:nvPr/>
        </p:nvSpPr>
        <p:spPr>
          <a:xfrm>
            <a:off x="7310628" y="2066544"/>
            <a:ext cx="2167128" cy="384048"/>
          </a:xfrm>
          <a:prstGeom prst="roundRect">
            <a:avLst>
              <a:gd name="adj" fmla="val 11905"/>
            </a:avLst>
          </a:prstGeom>
          <a:solidFill>
            <a:srgbClr val="D6281E"/>
          </a:solidFill>
          <a:ln w="12700">
            <a:solidFill>
              <a:srgbClr val="D6281E"/>
            </a:solidFill>
            <a:prstDash val="solid"/>
          </a:ln>
        </p:spPr>
        <p:txBody>
          <a:bodyPr/>
          <a:lstStyle/>
          <a:p>
            <a:endParaRPr lang="fr-FR"/>
          </a:p>
        </p:txBody>
      </p:sp>
      <p:sp>
        <p:nvSpPr>
          <p:cNvPr id="68" name="Text 65"/>
          <p:cNvSpPr txBox="1"/>
          <p:nvPr/>
        </p:nvSpPr>
        <p:spPr>
          <a:xfrm>
            <a:off x="7402068" y="2066544"/>
            <a:ext cx="11612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TRADE MARKETING</a:t>
            </a:r>
            <a:endParaRPr lang="en-US" sz="1250" dirty="0"/>
          </a:p>
        </p:txBody>
      </p:sp>
      <p:sp>
        <p:nvSpPr>
          <p:cNvPr id="69" name="Text 66"/>
          <p:cNvSpPr txBox="1"/>
          <p:nvPr/>
        </p:nvSpPr>
        <p:spPr>
          <a:xfrm>
            <a:off x="8471916" y="2066544"/>
            <a:ext cx="914400" cy="384048"/>
          </a:xfrm>
          <a:prstGeom prst="rect">
            <a:avLst/>
          </a:prstGeom>
          <a:noFill/>
          <a:ln/>
        </p:spPr>
        <p:txBody>
          <a:bodyPr wrap="square" lIns="0" tIns="0" rIns="0" bIns="0" rtlCol="0" anchor="ctr"/>
          <a:lstStyle/>
          <a:p>
            <a:pPr marL="0" indent="0" algn="r">
              <a:buNone/>
            </a:pPr>
            <a:r>
              <a:rPr lang="en-US" sz="1100" b="1" dirty="0">
                <a:solidFill>
                  <a:srgbClr val="FFC20E"/>
                </a:solidFill>
                <a:latin typeface="Calibri" pitchFamily="34" charset="0"/>
                <a:ea typeface="Calibri" pitchFamily="34" charset="-122"/>
                <a:cs typeface="Calibri" pitchFamily="34" charset="-120"/>
              </a:rPr>
              <a:t>PACIFIQUE</a:t>
            </a:r>
            <a:endParaRPr lang="en-US" sz="1100" dirty="0"/>
          </a:p>
        </p:txBody>
      </p:sp>
      <p:sp>
        <p:nvSpPr>
          <p:cNvPr id="70" name="s2-vis4"/>
          <p:cNvSpPr/>
          <p:nvPr/>
        </p:nvSpPr>
        <p:spPr>
          <a:xfrm>
            <a:off x="7383780"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sp>
        <p:nvSpPr>
          <p:cNvPr id="77" name="s2-card5"/>
          <p:cNvSpPr/>
          <p:nvPr/>
        </p:nvSpPr>
        <p:spPr>
          <a:xfrm>
            <a:off x="9610344"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78" name="s2-head5"/>
          <p:cNvSpPr/>
          <p:nvPr/>
        </p:nvSpPr>
        <p:spPr>
          <a:xfrm>
            <a:off x="9610344" y="2066544"/>
            <a:ext cx="2167128" cy="384048"/>
          </a:xfrm>
          <a:prstGeom prst="roundRect">
            <a:avLst>
              <a:gd name="adj" fmla="val 11905"/>
            </a:avLst>
          </a:prstGeom>
          <a:solidFill>
            <a:srgbClr val="0B1F4B"/>
          </a:solidFill>
          <a:ln w="12700">
            <a:solidFill>
              <a:srgbClr val="0B1F4B"/>
            </a:solidFill>
            <a:prstDash val="solid"/>
          </a:ln>
        </p:spPr>
        <p:txBody>
          <a:bodyPr/>
          <a:lstStyle/>
          <a:p>
            <a:endParaRPr lang="fr-FR"/>
          </a:p>
        </p:txBody>
      </p:sp>
      <p:sp>
        <p:nvSpPr>
          <p:cNvPr id="79" name="Text 76"/>
          <p:cNvSpPr txBox="1"/>
          <p:nvPr/>
        </p:nvSpPr>
        <p:spPr>
          <a:xfrm>
            <a:off x="9701784" y="2066544"/>
            <a:ext cx="11612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EVENTS</a:t>
            </a:r>
            <a:endParaRPr lang="en-US" sz="1250" dirty="0"/>
          </a:p>
        </p:txBody>
      </p:sp>
      <p:sp>
        <p:nvSpPr>
          <p:cNvPr id="80" name="Text 77"/>
          <p:cNvSpPr txBox="1"/>
          <p:nvPr/>
        </p:nvSpPr>
        <p:spPr>
          <a:xfrm>
            <a:off x="10771632" y="2066544"/>
            <a:ext cx="914400" cy="384048"/>
          </a:xfrm>
          <a:prstGeom prst="rect">
            <a:avLst/>
          </a:prstGeom>
          <a:noFill/>
          <a:ln/>
        </p:spPr>
        <p:txBody>
          <a:bodyPr wrap="square" lIns="0" tIns="0" rIns="0" bIns="0" rtlCol="0" anchor="ctr"/>
          <a:lstStyle/>
          <a:p>
            <a:pPr marL="0" indent="0" algn="r">
              <a:buNone/>
            </a:pPr>
            <a:r>
              <a:rPr lang="en-US" sz="1100" b="1" dirty="0">
                <a:solidFill>
                  <a:srgbClr val="FFC20E"/>
                </a:solidFill>
                <a:latin typeface="Calibri" pitchFamily="34" charset="0"/>
                <a:ea typeface="Calibri" pitchFamily="34" charset="-122"/>
                <a:cs typeface="Calibri" pitchFamily="34" charset="-120"/>
              </a:rPr>
              <a:t>FLORIAN</a:t>
            </a:r>
            <a:endParaRPr lang="en-US" sz="1100" dirty="0"/>
          </a:p>
        </p:txBody>
      </p:sp>
      <p:sp>
        <p:nvSpPr>
          <p:cNvPr id="81" name="s2-vis5"/>
          <p:cNvSpPr/>
          <p:nvPr/>
        </p:nvSpPr>
        <p:spPr>
          <a:xfrm>
            <a:off x="9683496"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pic>
        <p:nvPicPr>
          <p:cNvPr id="88" name="s2-vis-helmet" descr="Casque Born to sell"/>
          <p:cNvPicPr>
            <a:picLocks noChangeAspect="1"/>
          </p:cNvPicPr>
          <p:nvPr/>
        </p:nvPicPr>
        <p:blipFill>
          <a:blip r:embed="rId4"/>
          <a:stretch>
            <a:fillRect/>
          </a:stretch>
        </p:blipFill>
        <p:spPr>
          <a:xfrm>
            <a:off x="909828" y="2532888"/>
            <a:ext cx="1170432" cy="868680"/>
          </a:xfrm>
          <a:prstGeom prst="rect">
            <a:avLst/>
          </a:prstGeom>
        </p:spPr>
      </p:pic>
      <p:pic>
        <p:nvPicPr>
          <p:cNvPr id="89" name="s2-vis-map" descr="Carte du réseau de distribution"/>
          <p:cNvPicPr>
            <a:picLocks noChangeAspect="1"/>
          </p:cNvPicPr>
          <p:nvPr/>
        </p:nvPicPr>
        <p:blipFill>
          <a:blip r:embed="rId5"/>
          <a:stretch>
            <a:fillRect/>
          </a:stretch>
        </p:blipFill>
        <p:spPr>
          <a:xfrm>
            <a:off x="3328416" y="2523744"/>
            <a:ext cx="932688" cy="896112"/>
          </a:xfrm>
          <a:prstGeom prst="rect">
            <a:avLst/>
          </a:prstGeom>
        </p:spPr>
      </p:pic>
      <p:graphicFrame>
        <p:nvGraphicFramePr>
          <p:cNvPr id="90" name="Chart 0"/>
          <p:cNvGraphicFramePr/>
          <p:nvPr/>
        </p:nvGraphicFramePr>
        <p:xfrm>
          <a:off x="5084064" y="2505456"/>
          <a:ext cx="2020824" cy="932688"/>
        </p:xfrm>
        <a:graphic>
          <a:graphicData uri="http://schemas.openxmlformats.org/drawingml/2006/chart">
            <c:chart xmlns:c="http://schemas.openxmlformats.org/drawingml/2006/chart" xmlns:r="http://schemas.openxmlformats.org/officeDocument/2006/relationships" r:id="rId6"/>
          </a:graphicData>
        </a:graphic>
      </p:graphicFrame>
      <p:pic>
        <p:nvPicPr>
          <p:cNvPr id="91" name="s2-vis-malt" descr="Bouteille malt"/>
          <p:cNvPicPr>
            <a:picLocks noChangeAspect="1"/>
          </p:cNvPicPr>
          <p:nvPr/>
        </p:nvPicPr>
        <p:blipFill>
          <a:blip r:embed="rId7"/>
          <a:stretch>
            <a:fillRect/>
          </a:stretch>
        </p:blipFill>
        <p:spPr>
          <a:xfrm>
            <a:off x="7703820" y="2532888"/>
            <a:ext cx="374538" cy="877824"/>
          </a:xfrm>
          <a:prstGeom prst="rect">
            <a:avLst/>
          </a:prstGeom>
        </p:spPr>
      </p:pic>
      <p:pic>
        <p:nvPicPr>
          <p:cNvPr id="92" name="s2-vis-gatanu" descr="Bouteille gatanu"/>
          <p:cNvPicPr>
            <a:picLocks noChangeAspect="1"/>
          </p:cNvPicPr>
          <p:nvPr/>
        </p:nvPicPr>
        <p:blipFill>
          <a:blip r:embed="rId8"/>
          <a:stretch>
            <a:fillRect/>
          </a:stretch>
        </p:blipFill>
        <p:spPr>
          <a:xfrm>
            <a:off x="8206740" y="2532888"/>
            <a:ext cx="260421" cy="877824"/>
          </a:xfrm>
          <a:prstGeom prst="rect">
            <a:avLst/>
          </a:prstGeom>
        </p:spPr>
      </p:pic>
      <p:pic>
        <p:nvPicPr>
          <p:cNvPr id="93" name="s2-vis-mist" descr="Bouteille mist"/>
          <p:cNvPicPr>
            <a:picLocks noChangeAspect="1"/>
          </p:cNvPicPr>
          <p:nvPr/>
        </p:nvPicPr>
        <p:blipFill>
          <a:blip r:embed="rId9"/>
          <a:stretch>
            <a:fillRect/>
          </a:stretch>
        </p:blipFill>
        <p:spPr>
          <a:xfrm>
            <a:off x="8663940" y="2532888"/>
            <a:ext cx="296509" cy="877824"/>
          </a:xfrm>
          <a:prstGeom prst="rect">
            <a:avLst/>
          </a:prstGeom>
        </p:spPr>
      </p:pic>
      <p:pic>
        <p:nvPicPr>
          <p:cNvPr id="94" name="s2-vis-event" descr="Village Coupe du Monde"/>
          <p:cNvPicPr>
            <a:picLocks noChangeAspect="1"/>
          </p:cNvPicPr>
          <p:nvPr/>
        </p:nvPicPr>
        <p:blipFill>
          <a:blip r:embed="rId10"/>
          <a:stretch>
            <a:fillRect/>
          </a:stretch>
        </p:blipFill>
        <p:spPr>
          <a:xfrm>
            <a:off x="9683496" y="2505456"/>
            <a:ext cx="2020824" cy="932688"/>
          </a:xfrm>
          <a:prstGeom prst="rect">
            <a:avLst/>
          </a:prstGeom>
        </p:spPr>
      </p:pic>
      <p:sp>
        <p:nvSpPr>
          <p:cNvPr id="95" name="banner"/>
          <p:cNvSpPr/>
          <p:nvPr/>
        </p:nvSpPr>
        <p:spPr>
          <a:xfrm>
            <a:off x="411480" y="5687568"/>
            <a:ext cx="11365992" cy="594360"/>
          </a:xfrm>
          <a:prstGeom prst="roundRect">
            <a:avLst>
              <a:gd name="adj" fmla="val 12308"/>
            </a:avLst>
          </a:prstGeom>
          <a:solidFill>
            <a:srgbClr val="0B1F4B"/>
          </a:solidFill>
          <a:ln w="12700">
            <a:solidFill>
              <a:srgbClr val="0B1F4B"/>
            </a:solidFill>
            <a:prstDash val="solid"/>
          </a:ln>
        </p:spPr>
        <p:txBody>
          <a:bodyPr/>
          <a:lstStyle/>
          <a:p>
            <a:endParaRPr lang="fr-FR"/>
          </a:p>
        </p:txBody>
      </p:sp>
      <p:sp>
        <p:nvSpPr>
          <p:cNvPr id="96" name="banner-bar"/>
          <p:cNvSpPr/>
          <p:nvPr/>
        </p:nvSpPr>
        <p:spPr>
          <a:xfrm>
            <a:off x="411480" y="5687568"/>
            <a:ext cx="128016" cy="594360"/>
          </a:xfrm>
          <a:prstGeom prst="rect">
            <a:avLst/>
          </a:prstGeom>
          <a:solidFill>
            <a:srgbClr val="FFC20E"/>
          </a:solidFill>
          <a:ln w="12700">
            <a:solidFill>
              <a:srgbClr val="FFC20E"/>
            </a:solidFill>
            <a:prstDash val="solid"/>
          </a:ln>
        </p:spPr>
        <p:txBody>
          <a:bodyPr/>
          <a:lstStyle/>
          <a:p>
            <a:endParaRPr lang="fr-FR"/>
          </a:p>
        </p:txBody>
      </p:sp>
      <p:sp>
        <p:nvSpPr>
          <p:cNvPr id="97" name="Text 87"/>
          <p:cNvSpPr txBox="1"/>
          <p:nvPr/>
        </p:nvSpPr>
        <p:spPr>
          <a:xfrm>
            <a:off x="731520" y="5687568"/>
            <a:ext cx="10927080" cy="594360"/>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ONE COMMERCIAL TEAM · ONE DIRECTION · ONE EXECUTION</a:t>
            </a:r>
            <a:r>
              <a:rPr lang="en-US" sz="1700" b="1" dirty="0">
                <a:solidFill>
                  <a:srgbClr val="FFFFFF"/>
                </a:solidFill>
                <a:latin typeface="Calibri" pitchFamily="34" charset="0"/>
                <a:ea typeface="Calibri" pitchFamily="34" charset="-122"/>
                <a:cs typeface="Calibri" pitchFamily="34" charset="-120"/>
              </a:rPr>
              <a:t>  —&gt;  From Brewery to Consumer…</a:t>
            </a:r>
            <a:endParaRPr lang="en-US" sz="1700" dirty="0"/>
          </a:p>
        </p:txBody>
      </p:sp>
      <p:sp>
        <p:nvSpPr>
          <p:cNvPr id="98" name="s2-plan1"/>
          <p:cNvSpPr txBox="1"/>
          <p:nvPr/>
        </p:nvSpPr>
        <p:spPr>
          <a:xfrm>
            <a:off x="502920" y="3529584"/>
            <a:ext cx="1984248" cy="1851789"/>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a:solidFill>
                  <a:srgbClr val="14213D"/>
                </a:solidFill>
                <a:latin typeface="Calibri"/>
              </a:rPr>
              <a:t>De </a:t>
            </a:r>
            <a:r>
              <a:rPr sz="1050" dirty="0" err="1">
                <a:solidFill>
                  <a:srgbClr val="14213D"/>
                </a:solidFill>
                <a:latin typeface="Calibri"/>
              </a:rPr>
              <a:t>l'activité</a:t>
            </a:r>
            <a:r>
              <a:rPr sz="1050" dirty="0">
                <a:solidFill>
                  <a:srgbClr val="14213D"/>
                </a:solidFill>
                <a:latin typeface="Calibri"/>
              </a:rPr>
              <a:t> à </a:t>
            </a:r>
            <a:r>
              <a:rPr sz="1050" dirty="0" err="1">
                <a:solidFill>
                  <a:srgbClr val="14213D"/>
                </a:solidFill>
                <a:latin typeface="Calibri"/>
              </a:rPr>
              <a:t>l'exécution</a:t>
            </a:r>
            <a:r>
              <a:rPr sz="1050" dirty="0">
                <a:solidFill>
                  <a:srgbClr val="14213D"/>
                </a:solidFill>
                <a:latin typeface="Calibri"/>
              </a:rPr>
              <a:t> : 4 </a:t>
            </a:r>
            <a:r>
              <a:rPr sz="1050" dirty="0" err="1">
                <a:solidFill>
                  <a:srgbClr val="14213D"/>
                </a:solidFill>
                <a:latin typeface="Calibri"/>
              </a:rPr>
              <a:t>piliers</a:t>
            </a:r>
            <a:endParaRPr sz="1050" dirty="0">
              <a:solidFill>
                <a:srgbClr val="14213D"/>
              </a:solidFill>
              <a:latin typeface="Calibri"/>
            </a:endParaRPr>
          </a:p>
          <a:p>
            <a:pPr>
              <a:spcAft>
                <a:spcPts val="500"/>
              </a:spcAft>
            </a:pPr>
            <a:r>
              <a:rPr sz="1050" b="1" dirty="0">
                <a:solidFill>
                  <a:srgbClr val="D6281E"/>
                </a:solidFill>
                <a:latin typeface="Calibri"/>
              </a:rPr>
              <a:t>2 · </a:t>
            </a:r>
            <a:r>
              <a:rPr sz="1050" dirty="0" err="1">
                <a:solidFill>
                  <a:srgbClr val="14213D"/>
                </a:solidFill>
                <a:latin typeface="Calibri"/>
              </a:rPr>
              <a:t>Preuves</a:t>
            </a:r>
            <a:r>
              <a:rPr sz="1050" dirty="0">
                <a:solidFill>
                  <a:srgbClr val="14213D"/>
                </a:solidFill>
                <a:latin typeface="Calibri"/>
              </a:rPr>
              <a:t> : </a:t>
            </a:r>
            <a:r>
              <a:rPr sz="1050" dirty="0" err="1">
                <a:solidFill>
                  <a:srgbClr val="14213D"/>
                </a:solidFill>
                <a:latin typeface="Calibri"/>
              </a:rPr>
              <a:t>territoires</a:t>
            </a:r>
            <a:r>
              <a:rPr sz="1050" dirty="0">
                <a:solidFill>
                  <a:srgbClr val="14213D"/>
                </a:solidFill>
                <a:latin typeface="Calibri"/>
              </a:rPr>
              <a:t>, </a:t>
            </a:r>
            <a:r>
              <a:rPr sz="1050" dirty="0" err="1">
                <a:solidFill>
                  <a:srgbClr val="14213D"/>
                </a:solidFill>
                <a:latin typeface="Calibri"/>
              </a:rPr>
              <a:t>interchangeabilité</a:t>
            </a:r>
            <a:r>
              <a:rPr sz="1050" dirty="0">
                <a:solidFill>
                  <a:srgbClr val="14213D"/>
                </a:solidFill>
                <a:latin typeface="Calibri"/>
              </a:rPr>
              <a:t>, revues KPI et bonus</a:t>
            </a:r>
          </a:p>
          <a:p>
            <a:pPr>
              <a:spcAft>
                <a:spcPts val="500"/>
              </a:spcAft>
            </a:pPr>
            <a:r>
              <a:rPr sz="1050" b="1" dirty="0">
                <a:solidFill>
                  <a:srgbClr val="D6281E"/>
                </a:solidFill>
                <a:latin typeface="Calibri"/>
              </a:rPr>
              <a:t>3 · </a:t>
            </a:r>
            <a:r>
              <a:rPr sz="1050" dirty="0" err="1">
                <a:solidFill>
                  <a:srgbClr val="14213D"/>
                </a:solidFill>
                <a:latin typeface="Calibri"/>
              </a:rPr>
              <a:t>Parité</a:t>
            </a:r>
            <a:r>
              <a:rPr sz="1050" dirty="0">
                <a:solidFill>
                  <a:srgbClr val="14213D"/>
                </a:solidFill>
                <a:latin typeface="Calibri"/>
              </a:rPr>
              <a:t> prix et 5 </a:t>
            </a:r>
            <a:r>
              <a:rPr sz="1050" dirty="0" err="1">
                <a:solidFill>
                  <a:srgbClr val="14213D"/>
                </a:solidFill>
                <a:latin typeface="Calibri"/>
              </a:rPr>
              <a:t>écarts</a:t>
            </a:r>
            <a:r>
              <a:rPr sz="1050" dirty="0">
                <a:solidFill>
                  <a:srgbClr val="14213D"/>
                </a:solidFill>
                <a:latin typeface="Calibri"/>
              </a:rPr>
              <a:t> à </a:t>
            </a:r>
            <a:r>
              <a:rPr sz="1050" dirty="0" err="1">
                <a:solidFill>
                  <a:srgbClr val="14213D"/>
                </a:solidFill>
                <a:latin typeface="Calibri"/>
              </a:rPr>
              <a:t>fermer</a:t>
            </a:r>
            <a:endParaRPr sz="1050" dirty="0">
              <a:solidFill>
                <a:srgbClr val="14213D"/>
              </a:solidFill>
              <a:latin typeface="Calibri"/>
            </a:endParaRPr>
          </a:p>
          <a:p>
            <a:pPr>
              <a:spcAft>
                <a:spcPts val="500"/>
              </a:spcAft>
            </a:pPr>
            <a:r>
              <a:rPr sz="1050" b="1" dirty="0">
                <a:solidFill>
                  <a:srgbClr val="D6281E"/>
                </a:solidFill>
                <a:latin typeface="Calibri"/>
              </a:rPr>
              <a:t>4 · </a:t>
            </a:r>
            <a:r>
              <a:rPr sz="1050" dirty="0">
                <a:solidFill>
                  <a:srgbClr val="14213D"/>
                </a:solidFill>
                <a:latin typeface="Calibri"/>
              </a:rPr>
              <a:t>T4 : </a:t>
            </a:r>
            <a:r>
              <a:rPr sz="1050" dirty="0" err="1">
                <a:solidFill>
                  <a:srgbClr val="14213D"/>
                </a:solidFill>
                <a:latin typeface="Calibri"/>
              </a:rPr>
              <a:t>consolider</a:t>
            </a:r>
            <a:r>
              <a:rPr sz="1050" dirty="0">
                <a:solidFill>
                  <a:srgbClr val="14213D"/>
                </a:solidFill>
                <a:latin typeface="Calibri"/>
              </a:rPr>
              <a:t> et </a:t>
            </a:r>
            <a:r>
              <a:rPr sz="1050" dirty="0" err="1">
                <a:solidFill>
                  <a:srgbClr val="14213D"/>
                </a:solidFill>
                <a:latin typeface="Calibri"/>
              </a:rPr>
              <a:t>corriger</a:t>
            </a:r>
            <a:r>
              <a:rPr sz="1050" dirty="0">
                <a:solidFill>
                  <a:srgbClr val="14213D"/>
                </a:solidFill>
                <a:latin typeface="Calibri"/>
              </a:rPr>
              <a:t> · 2027 : </a:t>
            </a:r>
            <a:r>
              <a:rPr sz="1050" dirty="0" err="1">
                <a:solidFill>
                  <a:srgbClr val="14213D"/>
                </a:solidFill>
                <a:latin typeface="Calibri"/>
              </a:rPr>
              <a:t>investir</a:t>
            </a:r>
            <a:r>
              <a:rPr sz="1050" dirty="0">
                <a:solidFill>
                  <a:srgbClr val="14213D"/>
                </a:solidFill>
                <a:latin typeface="Calibri"/>
              </a:rPr>
              <a:t> </a:t>
            </a:r>
            <a:r>
              <a:rPr sz="1050" dirty="0" err="1">
                <a:solidFill>
                  <a:srgbClr val="14213D"/>
                </a:solidFill>
                <a:latin typeface="Calibri"/>
              </a:rPr>
              <a:t>là</a:t>
            </a:r>
            <a:r>
              <a:rPr sz="1050" dirty="0">
                <a:solidFill>
                  <a:srgbClr val="14213D"/>
                </a:solidFill>
                <a:latin typeface="Calibri"/>
              </a:rPr>
              <a:t> </a:t>
            </a:r>
            <a:r>
              <a:rPr sz="1050" dirty="0" err="1">
                <a:solidFill>
                  <a:srgbClr val="14213D"/>
                </a:solidFill>
                <a:latin typeface="Calibri"/>
              </a:rPr>
              <a:t>où</a:t>
            </a:r>
            <a:r>
              <a:rPr sz="1050" dirty="0">
                <a:solidFill>
                  <a:srgbClr val="14213D"/>
                </a:solidFill>
                <a:latin typeface="Calibri"/>
              </a:rPr>
              <a:t> </a:t>
            </a:r>
            <a:r>
              <a:rPr sz="1050" dirty="0" err="1">
                <a:solidFill>
                  <a:srgbClr val="14213D"/>
                </a:solidFill>
                <a:latin typeface="Calibri"/>
              </a:rPr>
              <a:t>l'exécution</a:t>
            </a:r>
            <a:r>
              <a:rPr sz="1050" dirty="0">
                <a:solidFill>
                  <a:srgbClr val="14213D"/>
                </a:solidFill>
                <a:latin typeface="Calibri"/>
              </a:rPr>
              <a:t> </a:t>
            </a:r>
            <a:r>
              <a:rPr sz="1050" dirty="0" err="1">
                <a:solidFill>
                  <a:srgbClr val="14213D"/>
                </a:solidFill>
                <a:latin typeface="Calibri"/>
              </a:rPr>
              <a:t>crée</a:t>
            </a:r>
            <a:r>
              <a:rPr sz="1050" dirty="0">
                <a:solidFill>
                  <a:srgbClr val="14213D"/>
                </a:solidFill>
                <a:latin typeface="Calibri"/>
              </a:rPr>
              <a:t> de la </a:t>
            </a:r>
            <a:r>
              <a:rPr sz="1050" dirty="0" err="1">
                <a:solidFill>
                  <a:srgbClr val="14213D"/>
                </a:solidFill>
                <a:latin typeface="Calibri"/>
              </a:rPr>
              <a:t>valeur</a:t>
            </a:r>
            <a:endParaRPr sz="1050" dirty="0">
              <a:solidFill>
                <a:srgbClr val="14213D"/>
              </a:solidFill>
              <a:latin typeface="Calibri"/>
            </a:endParaRPr>
          </a:p>
        </p:txBody>
      </p:sp>
      <p:sp>
        <p:nvSpPr>
          <p:cNvPr id="99" name="s2-plan2"/>
          <p:cNvSpPr txBox="1"/>
          <p:nvPr/>
        </p:nvSpPr>
        <p:spPr>
          <a:xfrm>
            <a:off x="2802636" y="3529584"/>
            <a:ext cx="1984248" cy="1915909"/>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a:solidFill>
                  <a:srgbClr val="14213D"/>
                </a:solidFill>
                <a:latin typeface="Calibri"/>
              </a:rPr>
              <a:t>Trois </a:t>
            </a:r>
            <a:r>
              <a:rPr sz="1050" dirty="0" err="1">
                <a:solidFill>
                  <a:srgbClr val="14213D"/>
                </a:solidFill>
                <a:latin typeface="Calibri"/>
              </a:rPr>
              <a:t>règles</a:t>
            </a:r>
            <a:r>
              <a:rPr sz="1050" dirty="0">
                <a:solidFill>
                  <a:srgbClr val="14213D"/>
                </a:solidFill>
                <a:latin typeface="Calibri"/>
              </a:rPr>
              <a:t> : </a:t>
            </a:r>
            <a:r>
              <a:rPr sz="1050" dirty="0" err="1">
                <a:solidFill>
                  <a:srgbClr val="14213D"/>
                </a:solidFill>
                <a:latin typeface="Calibri"/>
              </a:rPr>
              <a:t>couvrir</a:t>
            </a:r>
            <a:r>
              <a:rPr sz="1050" dirty="0">
                <a:solidFill>
                  <a:srgbClr val="14213D"/>
                </a:solidFill>
                <a:latin typeface="Calibri"/>
              </a:rPr>
              <a:t>, prix, sell-out</a:t>
            </a:r>
          </a:p>
          <a:p>
            <a:pPr>
              <a:spcAft>
                <a:spcPts val="500"/>
              </a:spcAft>
            </a:pPr>
            <a:r>
              <a:rPr sz="1050" b="1" dirty="0">
                <a:solidFill>
                  <a:srgbClr val="D6281E"/>
                </a:solidFill>
                <a:latin typeface="Calibri"/>
              </a:rPr>
              <a:t>2 · </a:t>
            </a:r>
            <a:r>
              <a:rPr sz="1050" dirty="0">
                <a:solidFill>
                  <a:srgbClr val="14213D"/>
                </a:solidFill>
                <a:latin typeface="Calibri"/>
              </a:rPr>
              <a:t>Couverture : </a:t>
            </a:r>
            <a:r>
              <a:rPr lang="fr-FR" sz="1050" dirty="0">
                <a:solidFill>
                  <a:srgbClr val="14213D"/>
                </a:solidFill>
                <a:latin typeface="Calibri"/>
              </a:rPr>
              <a:t>mapping</a:t>
            </a:r>
            <a:r>
              <a:rPr sz="1050" dirty="0">
                <a:solidFill>
                  <a:srgbClr val="14213D"/>
                </a:solidFill>
                <a:latin typeface="Calibri"/>
              </a:rPr>
              <a:t>, </a:t>
            </a:r>
            <a:r>
              <a:rPr lang="fr-FR" sz="1050" dirty="0">
                <a:solidFill>
                  <a:srgbClr val="14213D"/>
                </a:solidFill>
                <a:latin typeface="Calibri"/>
              </a:rPr>
              <a:t>redécoupage</a:t>
            </a:r>
            <a:endParaRPr sz="1050" dirty="0">
              <a:solidFill>
                <a:srgbClr val="14213D"/>
              </a:solidFill>
              <a:latin typeface="Calibri"/>
            </a:endParaRPr>
          </a:p>
          <a:p>
            <a:pPr>
              <a:spcAft>
                <a:spcPts val="500"/>
              </a:spcAft>
            </a:pPr>
            <a:r>
              <a:rPr sz="1050" b="1" dirty="0">
                <a:solidFill>
                  <a:srgbClr val="D6281E"/>
                </a:solidFill>
                <a:latin typeface="Calibri"/>
              </a:rPr>
              <a:t>3 · </a:t>
            </a:r>
            <a:r>
              <a:rPr sz="1050" dirty="0">
                <a:solidFill>
                  <a:srgbClr val="14213D"/>
                </a:solidFill>
                <a:latin typeface="Calibri"/>
              </a:rPr>
              <a:t>Prix : </a:t>
            </a:r>
            <a:r>
              <a:rPr sz="1050" dirty="0" err="1">
                <a:solidFill>
                  <a:srgbClr val="14213D"/>
                </a:solidFill>
                <a:latin typeface="Calibri"/>
              </a:rPr>
              <a:t>soutien</a:t>
            </a:r>
            <a:r>
              <a:rPr sz="1050" dirty="0">
                <a:solidFill>
                  <a:srgbClr val="14213D"/>
                </a:solidFill>
                <a:latin typeface="Calibri"/>
              </a:rPr>
              <a:t> </a:t>
            </a:r>
            <a:r>
              <a:rPr sz="1050" dirty="0" err="1">
                <a:solidFill>
                  <a:srgbClr val="14213D"/>
                </a:solidFill>
                <a:latin typeface="Calibri"/>
              </a:rPr>
              <a:t>contre</a:t>
            </a:r>
            <a:r>
              <a:rPr sz="1050" dirty="0">
                <a:solidFill>
                  <a:srgbClr val="14213D"/>
                </a:solidFill>
                <a:latin typeface="Calibri"/>
              </a:rPr>
              <a:t> discipline</a:t>
            </a:r>
          </a:p>
          <a:p>
            <a:pPr>
              <a:spcAft>
                <a:spcPts val="500"/>
              </a:spcAft>
            </a:pPr>
            <a:r>
              <a:rPr sz="1050" b="1" dirty="0">
                <a:solidFill>
                  <a:srgbClr val="D6281E"/>
                </a:solidFill>
                <a:latin typeface="Calibri"/>
              </a:rPr>
              <a:t>4 · </a:t>
            </a:r>
            <a:r>
              <a:rPr sz="1050" dirty="0">
                <a:solidFill>
                  <a:srgbClr val="14213D"/>
                </a:solidFill>
                <a:latin typeface="Calibri"/>
              </a:rPr>
              <a:t>Sell-out : </a:t>
            </a:r>
            <a:r>
              <a:rPr sz="1050" dirty="0" err="1">
                <a:solidFill>
                  <a:srgbClr val="14213D"/>
                </a:solidFill>
                <a:latin typeface="Calibri"/>
              </a:rPr>
              <a:t>interchangeabilité</a:t>
            </a:r>
            <a:r>
              <a:rPr sz="1050" dirty="0">
                <a:solidFill>
                  <a:srgbClr val="14213D"/>
                </a:solidFill>
                <a:latin typeface="Calibri"/>
              </a:rPr>
              <a:t>, Odoo, EBM</a:t>
            </a:r>
          </a:p>
          <a:p>
            <a:pPr>
              <a:spcAft>
                <a:spcPts val="500"/>
              </a:spcAft>
            </a:pPr>
            <a:r>
              <a:rPr sz="1050" b="1" dirty="0">
                <a:solidFill>
                  <a:srgbClr val="D6281E"/>
                </a:solidFill>
                <a:latin typeface="Calibri"/>
              </a:rPr>
              <a:t>5 · </a:t>
            </a:r>
            <a:r>
              <a:rPr sz="1050" dirty="0" err="1">
                <a:solidFill>
                  <a:srgbClr val="14213D"/>
                </a:solidFill>
                <a:latin typeface="Calibri"/>
              </a:rPr>
              <a:t>Prochaines</a:t>
            </a:r>
            <a:r>
              <a:rPr sz="1050" dirty="0">
                <a:solidFill>
                  <a:srgbClr val="14213D"/>
                </a:solidFill>
                <a:latin typeface="Calibri"/>
              </a:rPr>
              <a:t> étapes et </a:t>
            </a:r>
            <a:r>
              <a:rPr sz="1050" dirty="0" err="1">
                <a:solidFill>
                  <a:srgbClr val="14213D"/>
                </a:solidFill>
                <a:latin typeface="Calibri"/>
              </a:rPr>
              <a:t>décisions</a:t>
            </a:r>
            <a:r>
              <a:rPr sz="1050" dirty="0">
                <a:solidFill>
                  <a:srgbClr val="14213D"/>
                </a:solidFill>
                <a:latin typeface="Calibri"/>
              </a:rPr>
              <a:t> (RTM 2027)</a:t>
            </a:r>
          </a:p>
        </p:txBody>
      </p:sp>
      <p:sp>
        <p:nvSpPr>
          <p:cNvPr id="100" name="s2-plan3"/>
          <p:cNvSpPr txBox="1"/>
          <p:nvPr/>
        </p:nvSpPr>
        <p:spPr>
          <a:xfrm>
            <a:off x="5102352" y="3529584"/>
            <a:ext cx="1984248" cy="1690206"/>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err="1">
                <a:solidFill>
                  <a:srgbClr val="14213D"/>
                </a:solidFill>
                <a:latin typeface="Calibri"/>
              </a:rPr>
              <a:t>Fondation</a:t>
            </a:r>
            <a:r>
              <a:rPr sz="1050" dirty="0">
                <a:solidFill>
                  <a:srgbClr val="14213D"/>
                </a:solidFill>
                <a:latin typeface="Calibri"/>
              </a:rPr>
              <a:t> numérique : adoption Odoo</a:t>
            </a:r>
          </a:p>
          <a:p>
            <a:pPr>
              <a:spcAft>
                <a:spcPts val="500"/>
              </a:spcAft>
            </a:pPr>
            <a:r>
              <a:rPr sz="1050" b="1" dirty="0">
                <a:solidFill>
                  <a:srgbClr val="D6281E"/>
                </a:solidFill>
                <a:latin typeface="Calibri"/>
              </a:rPr>
              <a:t>2 · </a:t>
            </a:r>
            <a:r>
              <a:rPr sz="1050" dirty="0" err="1">
                <a:solidFill>
                  <a:srgbClr val="14213D"/>
                </a:solidFill>
                <a:latin typeface="Calibri"/>
              </a:rPr>
              <a:t>Qualité</a:t>
            </a:r>
            <a:r>
              <a:rPr sz="1050" dirty="0">
                <a:solidFill>
                  <a:srgbClr val="14213D"/>
                </a:solidFill>
                <a:latin typeface="Calibri"/>
              </a:rPr>
              <a:t> des données et ratio sell-out</a:t>
            </a:r>
          </a:p>
          <a:p>
            <a:pPr>
              <a:spcAft>
                <a:spcPts val="500"/>
              </a:spcAft>
            </a:pPr>
            <a:r>
              <a:rPr sz="1050" b="1" dirty="0">
                <a:solidFill>
                  <a:srgbClr val="D6281E"/>
                </a:solidFill>
                <a:latin typeface="Calibri"/>
              </a:rPr>
              <a:t>3 · </a:t>
            </a:r>
            <a:r>
              <a:rPr sz="1050" dirty="0">
                <a:solidFill>
                  <a:srgbClr val="14213D"/>
                </a:solidFill>
                <a:latin typeface="Calibri"/>
              </a:rPr>
              <a:t>Certification CIS et onboarding EBM</a:t>
            </a:r>
            <a:r>
              <a:rPr lang="fr-FR" sz="1050" dirty="0">
                <a:solidFill>
                  <a:srgbClr val="14213D"/>
                </a:solidFill>
                <a:latin typeface="Calibri"/>
              </a:rPr>
              <a:t> de chaque dépôt</a:t>
            </a:r>
            <a:endParaRPr sz="1050" dirty="0">
              <a:solidFill>
                <a:srgbClr val="14213D"/>
              </a:solidFill>
              <a:latin typeface="Calibri"/>
            </a:endParaRPr>
          </a:p>
          <a:p>
            <a:pPr>
              <a:spcAft>
                <a:spcPts val="500"/>
              </a:spcAft>
            </a:pPr>
            <a:r>
              <a:rPr sz="1050" b="1" dirty="0">
                <a:solidFill>
                  <a:srgbClr val="D6281E"/>
                </a:solidFill>
                <a:latin typeface="Calibri"/>
              </a:rPr>
              <a:t>4 · </a:t>
            </a:r>
            <a:r>
              <a:rPr sz="1050" dirty="0">
                <a:solidFill>
                  <a:srgbClr val="14213D"/>
                </a:solidFill>
                <a:latin typeface="Calibri"/>
              </a:rPr>
              <a:t>Vision 2027 : </a:t>
            </a:r>
            <a:r>
              <a:rPr sz="1050" dirty="0" err="1">
                <a:solidFill>
                  <a:srgbClr val="14213D"/>
                </a:solidFill>
                <a:latin typeface="Calibri"/>
              </a:rPr>
              <a:t>fiabilité</a:t>
            </a:r>
            <a:r>
              <a:rPr sz="1050" dirty="0">
                <a:solidFill>
                  <a:srgbClr val="14213D"/>
                </a:solidFill>
                <a:latin typeface="Calibri"/>
              </a:rPr>
              <a:t>, </a:t>
            </a:r>
            <a:r>
              <a:rPr sz="1050" dirty="0" err="1">
                <a:solidFill>
                  <a:srgbClr val="14213D"/>
                </a:solidFill>
                <a:latin typeface="Calibri"/>
              </a:rPr>
              <a:t>continuité</a:t>
            </a:r>
            <a:r>
              <a:rPr sz="1050" dirty="0">
                <a:solidFill>
                  <a:srgbClr val="14213D"/>
                </a:solidFill>
                <a:latin typeface="Calibri"/>
              </a:rPr>
              <a:t>, 168,5 M RWF</a:t>
            </a:r>
          </a:p>
        </p:txBody>
      </p:sp>
      <p:sp>
        <p:nvSpPr>
          <p:cNvPr id="101" name="s2-plan4"/>
          <p:cNvSpPr txBox="1"/>
          <p:nvPr/>
        </p:nvSpPr>
        <p:spPr>
          <a:xfrm>
            <a:off x="7402068" y="3529584"/>
            <a:ext cx="1984248" cy="1528624"/>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a:solidFill>
                  <a:srgbClr val="14213D"/>
                </a:solidFill>
                <a:latin typeface="Calibri"/>
              </a:rPr>
              <a:t>Bilan T3 : </a:t>
            </a:r>
            <a:r>
              <a:rPr sz="1050" dirty="0" err="1">
                <a:solidFill>
                  <a:srgbClr val="14213D"/>
                </a:solidFill>
                <a:latin typeface="Calibri"/>
              </a:rPr>
              <a:t>disponibilité</a:t>
            </a:r>
            <a:r>
              <a:rPr sz="1050" dirty="0">
                <a:solidFill>
                  <a:srgbClr val="14213D"/>
                </a:solidFill>
                <a:latin typeface="Calibri"/>
              </a:rPr>
              <a:t>, prix, activations</a:t>
            </a:r>
          </a:p>
          <a:p>
            <a:pPr>
              <a:spcAft>
                <a:spcPts val="500"/>
              </a:spcAft>
            </a:pPr>
            <a:r>
              <a:rPr sz="1050" b="1" dirty="0">
                <a:solidFill>
                  <a:srgbClr val="D6281E"/>
                </a:solidFill>
                <a:latin typeface="Calibri"/>
              </a:rPr>
              <a:t>2 · </a:t>
            </a:r>
            <a:r>
              <a:rPr sz="1050" dirty="0">
                <a:solidFill>
                  <a:srgbClr val="14213D"/>
                </a:solidFill>
                <a:latin typeface="Calibri"/>
              </a:rPr>
              <a:t>Plan T4 : </a:t>
            </a:r>
            <a:r>
              <a:rPr sz="1050" dirty="0" err="1">
                <a:solidFill>
                  <a:srgbClr val="14213D"/>
                </a:solidFill>
                <a:latin typeface="Calibri"/>
              </a:rPr>
              <a:t>activités</a:t>
            </a:r>
            <a:r>
              <a:rPr sz="1050" dirty="0">
                <a:solidFill>
                  <a:srgbClr val="14213D"/>
                </a:solidFill>
                <a:latin typeface="Calibri"/>
              </a:rPr>
              <a:t> </a:t>
            </a:r>
            <a:r>
              <a:rPr sz="1050" dirty="0" err="1">
                <a:solidFill>
                  <a:srgbClr val="14213D"/>
                </a:solidFill>
                <a:latin typeface="Calibri"/>
              </a:rPr>
              <a:t>prioritaires</a:t>
            </a:r>
            <a:endParaRPr sz="1050" dirty="0">
              <a:solidFill>
                <a:srgbClr val="14213D"/>
              </a:solidFill>
              <a:latin typeface="Calibri"/>
            </a:endParaRPr>
          </a:p>
          <a:p>
            <a:pPr>
              <a:spcAft>
                <a:spcPts val="500"/>
              </a:spcAft>
            </a:pPr>
            <a:r>
              <a:rPr sz="1050" b="1" dirty="0">
                <a:solidFill>
                  <a:srgbClr val="D6281E"/>
                </a:solidFill>
                <a:latin typeface="Calibri"/>
              </a:rPr>
              <a:t>3 · </a:t>
            </a:r>
            <a:r>
              <a:rPr sz="1050" dirty="0">
                <a:solidFill>
                  <a:srgbClr val="14213D"/>
                </a:solidFill>
                <a:latin typeface="Calibri"/>
              </a:rPr>
              <a:t>Gagner </a:t>
            </a:r>
            <a:r>
              <a:rPr sz="1050" dirty="0" err="1">
                <a:solidFill>
                  <a:srgbClr val="14213D"/>
                </a:solidFill>
                <a:latin typeface="Calibri"/>
              </a:rPr>
              <a:t>en</a:t>
            </a:r>
            <a:r>
              <a:rPr sz="1050" dirty="0">
                <a:solidFill>
                  <a:srgbClr val="14213D"/>
                </a:solidFill>
                <a:latin typeface="Calibri"/>
              </a:rPr>
              <a:t> 2027 : Skol Malt, Virunga, </a:t>
            </a:r>
            <a:r>
              <a:rPr sz="1050" dirty="0" err="1">
                <a:solidFill>
                  <a:srgbClr val="14213D"/>
                </a:solidFill>
                <a:latin typeface="Calibri"/>
              </a:rPr>
              <a:t>Gatanu</a:t>
            </a:r>
            <a:endParaRPr sz="1050" dirty="0">
              <a:solidFill>
                <a:srgbClr val="14213D"/>
              </a:solidFill>
              <a:latin typeface="Calibri"/>
            </a:endParaRPr>
          </a:p>
          <a:p>
            <a:pPr>
              <a:spcAft>
                <a:spcPts val="500"/>
              </a:spcAft>
            </a:pPr>
            <a:r>
              <a:rPr sz="1050" b="1" dirty="0">
                <a:solidFill>
                  <a:srgbClr val="D6281E"/>
                </a:solidFill>
                <a:latin typeface="Calibri"/>
              </a:rPr>
              <a:t>4 · </a:t>
            </a:r>
            <a:r>
              <a:rPr sz="1050" dirty="0">
                <a:solidFill>
                  <a:srgbClr val="14213D"/>
                </a:solidFill>
                <a:latin typeface="Calibri"/>
              </a:rPr>
              <a:t>Budget 2027 par SKU, marque, </a:t>
            </a:r>
            <a:r>
              <a:rPr sz="1050" dirty="0" err="1">
                <a:solidFill>
                  <a:srgbClr val="14213D"/>
                </a:solidFill>
                <a:latin typeface="Calibri"/>
              </a:rPr>
              <a:t>activité</a:t>
            </a:r>
            <a:endParaRPr sz="1050" dirty="0">
              <a:solidFill>
                <a:srgbClr val="14213D"/>
              </a:solidFill>
              <a:latin typeface="Calibri"/>
            </a:endParaRPr>
          </a:p>
        </p:txBody>
      </p:sp>
      <p:sp>
        <p:nvSpPr>
          <p:cNvPr id="102" name="s2-plan5"/>
          <p:cNvSpPr txBox="1"/>
          <p:nvPr/>
        </p:nvSpPr>
        <p:spPr>
          <a:xfrm>
            <a:off x="9701784" y="3529584"/>
            <a:ext cx="1984248" cy="1528624"/>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a:solidFill>
                  <a:srgbClr val="14213D"/>
                </a:solidFill>
                <a:latin typeface="Calibri"/>
              </a:rPr>
              <a:t>Bilan T3 : Village Coupe du Monde, RPL, Reminisce</a:t>
            </a:r>
          </a:p>
          <a:p>
            <a:pPr>
              <a:spcAft>
                <a:spcPts val="500"/>
              </a:spcAft>
            </a:pPr>
            <a:r>
              <a:rPr sz="1050" b="1" dirty="0">
                <a:solidFill>
                  <a:srgbClr val="D6281E"/>
                </a:solidFill>
                <a:latin typeface="Calibri"/>
              </a:rPr>
              <a:t>2 · </a:t>
            </a:r>
            <a:r>
              <a:rPr sz="1050" dirty="0">
                <a:solidFill>
                  <a:srgbClr val="14213D"/>
                </a:solidFill>
                <a:latin typeface="Calibri"/>
              </a:rPr>
              <a:t>Plan T4 : RPL, Reminisce 3, </a:t>
            </a:r>
            <a:r>
              <a:rPr lang="fr-FR" sz="1050" dirty="0">
                <a:solidFill>
                  <a:srgbClr val="14213D"/>
                </a:solidFill>
                <a:latin typeface="Calibri"/>
              </a:rPr>
              <a:t>…</a:t>
            </a:r>
            <a:endParaRPr sz="1050" dirty="0">
              <a:solidFill>
                <a:srgbClr val="14213D"/>
              </a:solidFill>
              <a:latin typeface="Calibri"/>
            </a:endParaRPr>
          </a:p>
          <a:p>
            <a:pPr>
              <a:spcAft>
                <a:spcPts val="500"/>
              </a:spcAft>
            </a:pPr>
            <a:r>
              <a:rPr sz="1050" b="1" dirty="0">
                <a:solidFill>
                  <a:srgbClr val="D6281E"/>
                </a:solidFill>
                <a:latin typeface="Calibri"/>
              </a:rPr>
              <a:t>3 · </a:t>
            </a:r>
            <a:r>
              <a:rPr sz="1050" dirty="0">
                <a:solidFill>
                  <a:srgbClr val="14213D"/>
                </a:solidFill>
                <a:latin typeface="Calibri"/>
              </a:rPr>
              <a:t>2027 : production propre, </a:t>
            </a:r>
            <a:r>
              <a:rPr sz="1050" dirty="0" err="1">
                <a:solidFill>
                  <a:srgbClr val="14213D"/>
                </a:solidFill>
                <a:latin typeface="Calibri"/>
              </a:rPr>
              <a:t>conformité</a:t>
            </a:r>
            <a:r>
              <a:rPr sz="1050" dirty="0">
                <a:solidFill>
                  <a:srgbClr val="14213D"/>
                </a:solidFill>
                <a:latin typeface="Calibri"/>
              </a:rPr>
              <a:t>, ROI</a:t>
            </a:r>
          </a:p>
          <a:p>
            <a:pPr>
              <a:spcAft>
                <a:spcPts val="500"/>
              </a:spcAft>
            </a:pPr>
            <a:r>
              <a:rPr sz="1050" b="1" dirty="0">
                <a:solidFill>
                  <a:srgbClr val="D6281E"/>
                </a:solidFill>
                <a:latin typeface="Calibri"/>
              </a:rPr>
              <a:t>4 · </a:t>
            </a:r>
            <a:r>
              <a:rPr sz="1050" dirty="0" err="1">
                <a:solidFill>
                  <a:srgbClr val="14213D"/>
                </a:solidFill>
                <a:latin typeface="Calibri"/>
              </a:rPr>
              <a:t>Stratégie</a:t>
            </a:r>
            <a:r>
              <a:rPr sz="1050" dirty="0">
                <a:solidFill>
                  <a:srgbClr val="14213D"/>
                </a:solidFill>
                <a:latin typeface="Calibri"/>
              </a:rPr>
              <a:t> par marque et CAPEX 2027</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3917290" cy="256032"/>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3" name="Text 1"/>
          <p:cNvSpPr txBox="1"/>
          <p:nvPr/>
        </p:nvSpPr>
        <p:spPr>
          <a:xfrm>
            <a:off x="411480" y="256032"/>
            <a:ext cx="3917290"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 · 2027 : AMBITION ET CONDITIONS DE SUCCÈS</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 760 583 hL en local, soit 63 k hL/mois</a:t>
            </a:r>
            <a:endParaRPr lang="en-US" sz="2800" dirty="0"/>
          </a:p>
        </p:txBody>
      </p:sp>
      <p:sp>
        <p:nvSpPr>
          <p:cNvPr id="6" name="s3-vol"/>
          <p:cNvSpPr/>
          <p:nvPr/>
        </p:nvSpPr>
        <p:spPr>
          <a:xfrm>
            <a:off x="411480" y="1371600"/>
            <a:ext cx="2788920" cy="868680"/>
          </a:xfrm>
          <a:prstGeom prst="roundRect">
            <a:avLst>
              <a:gd name="adj" fmla="val 8421"/>
            </a:avLst>
          </a:prstGeom>
          <a:solidFill>
            <a:srgbClr val="0B1F4B"/>
          </a:solidFill>
          <a:ln w="12700">
            <a:solidFill>
              <a:srgbClr val="0B1F4B"/>
            </a:solidFill>
            <a:prstDash val="solid"/>
          </a:ln>
        </p:spPr>
        <p:txBody>
          <a:bodyPr/>
          <a:lstStyle/>
          <a:p>
            <a:endParaRPr lang="fr-FR"/>
          </a:p>
        </p:txBody>
      </p:sp>
      <p:sp>
        <p:nvSpPr>
          <p:cNvPr id="7" name="Text 4"/>
          <p:cNvSpPr txBox="1"/>
          <p:nvPr/>
        </p:nvSpPr>
        <p:spPr>
          <a:xfrm>
            <a:off x="548640" y="1389888"/>
            <a:ext cx="2560320" cy="502920"/>
          </a:xfrm>
          <a:prstGeom prst="rect">
            <a:avLst/>
          </a:prstGeom>
          <a:noFill/>
          <a:ln/>
        </p:spPr>
        <p:txBody>
          <a:bodyPr wrap="square" lIns="0" tIns="0" rIns="0" bIns="0" rtlCol="0" anchor="ctr"/>
          <a:lstStyle/>
          <a:p>
            <a:pPr marL="0" indent="0">
              <a:buNone/>
            </a:pPr>
            <a:r>
              <a:rPr lang="en-US" sz="2450" b="1" dirty="0">
                <a:solidFill>
                  <a:srgbClr val="FFC20E"/>
                </a:solidFill>
                <a:latin typeface="Calibri" pitchFamily="34" charset="0"/>
                <a:ea typeface="Calibri" pitchFamily="34" charset="-122"/>
                <a:cs typeface="Calibri" pitchFamily="34" charset="-120"/>
              </a:rPr>
              <a:t>760 583 hL</a:t>
            </a:r>
            <a:r>
              <a:rPr lang="en-US" sz="1300" b="1" dirty="0">
                <a:solidFill>
                  <a:srgbClr val="FFFFFF"/>
                </a:solidFill>
                <a:latin typeface="Calibri" pitchFamily="34" charset="0"/>
                <a:ea typeface="Calibri" pitchFamily="34" charset="-122"/>
                <a:cs typeface="Calibri" pitchFamily="34" charset="-120"/>
              </a:rPr>
              <a:t>  LOCAL</a:t>
            </a:r>
            <a:endParaRPr lang="en-US" sz="1550" dirty="0"/>
          </a:p>
        </p:txBody>
      </p:sp>
      <p:sp>
        <p:nvSpPr>
          <p:cNvPr id="8" name="Text 5"/>
          <p:cNvSpPr txBox="1"/>
          <p:nvPr/>
        </p:nvSpPr>
        <p:spPr>
          <a:xfrm>
            <a:off x="548640" y="1874520"/>
            <a:ext cx="2560320" cy="347472"/>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+9,7 % vs atterrissage 2026 prévu (693 619 hL) · moy. 63,4 k/mois · pic déc. : 68,6 k</a:t>
            </a:r>
            <a:endParaRPr lang="en-US" sz="1050" dirty="0"/>
          </a:p>
        </p:txBody>
      </p:sp>
      <p:sp>
        <p:nvSpPr>
          <p:cNvPr id="9" name="s3-val"/>
          <p:cNvSpPr/>
          <p:nvPr/>
        </p:nvSpPr>
        <p:spPr>
          <a:xfrm>
            <a:off x="3310128" y="1371600"/>
            <a:ext cx="2862072" cy="868680"/>
          </a:xfrm>
          <a:prstGeom prst="roundRect">
            <a:avLst>
              <a:gd name="adj" fmla="val 8421"/>
            </a:avLst>
          </a:prstGeom>
          <a:solidFill>
            <a:srgbClr val="FFF1BF"/>
          </a:solidFill>
          <a:ln w="12700">
            <a:solidFill>
              <a:srgbClr val="FFF1BF"/>
            </a:solidFill>
            <a:prstDash val="solid"/>
          </a:ln>
        </p:spPr>
        <p:txBody>
          <a:bodyPr/>
          <a:lstStyle/>
          <a:p>
            <a:endParaRPr lang="fr-FR"/>
          </a:p>
        </p:txBody>
      </p:sp>
      <p:sp>
        <p:nvSpPr>
          <p:cNvPr id="10" name="Text 7"/>
          <p:cNvSpPr txBox="1"/>
          <p:nvPr/>
        </p:nvSpPr>
        <p:spPr>
          <a:xfrm>
            <a:off x="3429000" y="1371600"/>
            <a:ext cx="2697480" cy="86868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945 756 hL</a:t>
            </a:r>
            <a:endParaRPr lang="en-US" sz="1550" dirty="0"/>
          </a:p>
          <a:p>
            <a:pPr marL="0" indent="0">
              <a:buNone/>
            </a:pPr>
            <a:r>
              <a:rPr lang="en-US" sz="1050" b="1" dirty="0">
                <a:solidFill>
                  <a:srgbClr val="D6281E"/>
                </a:solidFill>
                <a:latin typeface="Calibri" pitchFamily="34" charset="0"/>
                <a:ea typeface="Calibri" pitchFamily="34" charset="-122"/>
                <a:cs typeface="Calibri" pitchFamily="34" charset="-120"/>
              </a:rPr>
              <a:t>LOCAL + EXPORT · +7,4 % vs atterrissage 2026 (880 724 hL) · dont export 185 173 hL (19,6 %)</a:t>
            </a:r>
            <a:endParaRPr lang="en-US" sz="1550" dirty="0"/>
          </a:p>
        </p:txBody>
      </p:sp>
      <p:sp>
        <p:nvSpPr>
          <p:cNvPr id="11" name="s3-brand1"/>
          <p:cNvSpPr/>
          <p:nvPr/>
        </p:nvSpPr>
        <p:spPr>
          <a:xfrm>
            <a:off x="411480" y="2350008"/>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12" name="s3-img1" descr="Bouteille gatanu"/>
          <p:cNvPicPr>
            <a:picLocks noChangeAspect="1"/>
          </p:cNvPicPr>
          <p:nvPr/>
        </p:nvPicPr>
        <p:blipFill>
          <a:blip r:embed="rId4"/>
          <a:stretch>
            <a:fillRect/>
          </a:stretch>
        </p:blipFill>
        <p:spPr>
          <a:xfrm>
            <a:off x="475488" y="2368296"/>
            <a:ext cx="151912" cy="512064"/>
          </a:xfrm>
          <a:prstGeom prst="rect">
            <a:avLst/>
          </a:prstGeom>
        </p:spPr>
      </p:pic>
      <p:sp>
        <p:nvSpPr>
          <p:cNvPr id="13" name="Text 9"/>
          <p:cNvSpPr txBox="1"/>
          <p:nvPr/>
        </p:nvSpPr>
        <p:spPr>
          <a:xfrm>
            <a:off x="960120" y="2368296"/>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GATANU</a:t>
            </a:r>
            <a:endParaRPr lang="en-US" sz="1150" dirty="0"/>
          </a:p>
        </p:txBody>
      </p:sp>
      <p:sp>
        <p:nvSpPr>
          <p:cNvPr id="14" name="Text 10"/>
          <p:cNvSpPr txBox="1"/>
          <p:nvPr/>
        </p:nvSpPr>
        <p:spPr>
          <a:xfrm>
            <a:off x="960120" y="2587752"/>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263 407 hL</a:t>
            </a:r>
            <a:endParaRPr lang="en-US" sz="1800" dirty="0"/>
          </a:p>
        </p:txBody>
      </p:sp>
      <p:sp>
        <p:nvSpPr>
          <p:cNvPr id="15" name="s3-track1"/>
          <p:cNvSpPr/>
          <p:nvPr/>
        </p:nvSpPr>
        <p:spPr>
          <a:xfrm>
            <a:off x="2697480" y="2459736"/>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16" name="s3-fill1"/>
          <p:cNvSpPr/>
          <p:nvPr/>
        </p:nvSpPr>
        <p:spPr>
          <a:xfrm>
            <a:off x="2697480" y="2459736"/>
            <a:ext cx="1186434" cy="146304"/>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17" name="Text 13"/>
          <p:cNvSpPr txBox="1"/>
          <p:nvPr/>
        </p:nvSpPr>
        <p:spPr>
          <a:xfrm>
            <a:off x="4114800" y="2386584"/>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34,6 %</a:t>
            </a:r>
            <a:endParaRPr lang="en-US" sz="1300" dirty="0"/>
          </a:p>
        </p:txBody>
      </p:sp>
      <p:sp>
        <p:nvSpPr>
          <p:cNvPr id="18" name="Text 14"/>
          <p:cNvSpPr txBox="1"/>
          <p:nvPr/>
        </p:nvSpPr>
        <p:spPr>
          <a:xfrm>
            <a:off x="2697480" y="2642616"/>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+9,5 % · socle volume : accessibilité, disponibilité</a:t>
            </a:r>
            <a:endParaRPr lang="en-US" sz="1100" dirty="0"/>
          </a:p>
        </p:txBody>
      </p:sp>
      <p:sp>
        <p:nvSpPr>
          <p:cNvPr id="19" name="s3-brand2"/>
          <p:cNvSpPr/>
          <p:nvPr/>
        </p:nvSpPr>
        <p:spPr>
          <a:xfrm>
            <a:off x="411480" y="2953512"/>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20" name="s3-img2" descr="Bouteille malt"/>
          <p:cNvPicPr>
            <a:picLocks noChangeAspect="1"/>
          </p:cNvPicPr>
          <p:nvPr/>
        </p:nvPicPr>
        <p:blipFill>
          <a:blip r:embed="rId5"/>
          <a:stretch>
            <a:fillRect/>
          </a:stretch>
        </p:blipFill>
        <p:spPr>
          <a:xfrm>
            <a:off x="475488" y="2971800"/>
            <a:ext cx="218481" cy="512064"/>
          </a:xfrm>
          <a:prstGeom prst="rect">
            <a:avLst/>
          </a:prstGeom>
        </p:spPr>
      </p:pic>
      <p:sp>
        <p:nvSpPr>
          <p:cNvPr id="21" name="Text 16"/>
          <p:cNvSpPr txBox="1"/>
          <p:nvPr/>
        </p:nvSpPr>
        <p:spPr>
          <a:xfrm>
            <a:off x="960120" y="2971800"/>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SKOL MALT</a:t>
            </a:r>
            <a:endParaRPr lang="en-US" sz="1150" dirty="0"/>
          </a:p>
        </p:txBody>
      </p:sp>
      <p:sp>
        <p:nvSpPr>
          <p:cNvPr id="22" name="Text 17"/>
          <p:cNvSpPr txBox="1"/>
          <p:nvPr/>
        </p:nvSpPr>
        <p:spPr>
          <a:xfrm>
            <a:off x="960120" y="3191256"/>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242 716 hL</a:t>
            </a:r>
            <a:endParaRPr lang="en-US" sz="1800" dirty="0"/>
          </a:p>
        </p:txBody>
      </p:sp>
      <p:sp>
        <p:nvSpPr>
          <p:cNvPr id="23" name="s3-track2"/>
          <p:cNvSpPr/>
          <p:nvPr/>
        </p:nvSpPr>
        <p:spPr>
          <a:xfrm>
            <a:off x="2697480" y="3063240"/>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24" name="s3-fill2"/>
          <p:cNvSpPr/>
          <p:nvPr/>
        </p:nvSpPr>
        <p:spPr>
          <a:xfrm>
            <a:off x="2697480" y="3063240"/>
            <a:ext cx="1093851" cy="146304"/>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25" name="Text 20"/>
          <p:cNvSpPr txBox="1"/>
          <p:nvPr/>
        </p:nvSpPr>
        <p:spPr>
          <a:xfrm>
            <a:off x="4114800" y="2990088"/>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31,9 %</a:t>
            </a:r>
            <a:endParaRPr lang="en-US" sz="1300" dirty="0"/>
          </a:p>
        </p:txBody>
      </p:sp>
      <p:sp>
        <p:nvSpPr>
          <p:cNvPr id="26" name="Text 21"/>
          <p:cNvSpPr txBox="1"/>
          <p:nvPr/>
        </p:nvSpPr>
        <p:spPr>
          <a:xfrm>
            <a:off x="2697480" y="3246120"/>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+2,8 % · premium accessible local · football et RPL</a:t>
            </a:r>
            <a:endParaRPr lang="en-US" sz="1100" dirty="0"/>
          </a:p>
        </p:txBody>
      </p:sp>
      <p:sp>
        <p:nvSpPr>
          <p:cNvPr id="27" name="s3-brand3"/>
          <p:cNvSpPr/>
          <p:nvPr/>
        </p:nvSpPr>
        <p:spPr>
          <a:xfrm>
            <a:off x="411480" y="3557016"/>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28" name="s3-img3" descr="Bouteille mist"/>
          <p:cNvPicPr>
            <a:picLocks noChangeAspect="1"/>
          </p:cNvPicPr>
          <p:nvPr/>
        </p:nvPicPr>
        <p:blipFill>
          <a:blip r:embed="rId6"/>
          <a:stretch>
            <a:fillRect/>
          </a:stretch>
        </p:blipFill>
        <p:spPr>
          <a:xfrm>
            <a:off x="475488" y="3575304"/>
            <a:ext cx="172964" cy="512064"/>
          </a:xfrm>
          <a:prstGeom prst="rect">
            <a:avLst/>
          </a:prstGeom>
        </p:spPr>
      </p:pic>
      <p:sp>
        <p:nvSpPr>
          <p:cNvPr id="29" name="Text 23"/>
          <p:cNvSpPr txBox="1"/>
          <p:nvPr/>
        </p:nvSpPr>
        <p:spPr>
          <a:xfrm>
            <a:off x="960120" y="3575304"/>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VIRUNGA</a:t>
            </a:r>
            <a:endParaRPr lang="en-US" sz="1150" dirty="0"/>
          </a:p>
        </p:txBody>
      </p:sp>
      <p:sp>
        <p:nvSpPr>
          <p:cNvPr id="30" name="Text 24"/>
          <p:cNvSpPr txBox="1"/>
          <p:nvPr/>
        </p:nvSpPr>
        <p:spPr>
          <a:xfrm>
            <a:off x="960120" y="3794760"/>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151 032 hL</a:t>
            </a:r>
            <a:endParaRPr lang="en-US" sz="1800" dirty="0"/>
          </a:p>
        </p:txBody>
      </p:sp>
      <p:sp>
        <p:nvSpPr>
          <p:cNvPr id="31" name="s3-track3"/>
          <p:cNvSpPr/>
          <p:nvPr/>
        </p:nvSpPr>
        <p:spPr>
          <a:xfrm>
            <a:off x="2697480" y="3666744"/>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32" name="s3-fill3"/>
          <p:cNvSpPr/>
          <p:nvPr/>
        </p:nvSpPr>
        <p:spPr>
          <a:xfrm>
            <a:off x="2697480" y="3666744"/>
            <a:ext cx="682371" cy="146304"/>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33" name="Text 27"/>
          <p:cNvSpPr txBox="1"/>
          <p:nvPr/>
        </p:nvSpPr>
        <p:spPr>
          <a:xfrm>
            <a:off x="4114800" y="3593592"/>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19,9 %</a:t>
            </a:r>
            <a:endParaRPr lang="en-US" sz="1300" dirty="0"/>
          </a:p>
        </p:txBody>
      </p:sp>
      <p:sp>
        <p:nvSpPr>
          <p:cNvPr id="34" name="Text 28"/>
          <p:cNvSpPr txBox="1"/>
          <p:nvPr/>
        </p:nvSpPr>
        <p:spPr>
          <a:xfrm>
            <a:off x="2697480" y="3849624"/>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+39,6 % : le plus gros pari (Mist 50 cl +64,5 %)</a:t>
            </a:r>
            <a:endParaRPr lang="en-US" sz="1100" dirty="0"/>
          </a:p>
        </p:txBody>
      </p:sp>
      <p:sp>
        <p:nvSpPr>
          <p:cNvPr id="35" name="s3-brand4"/>
          <p:cNvSpPr/>
          <p:nvPr/>
        </p:nvSpPr>
        <p:spPr>
          <a:xfrm>
            <a:off x="411480" y="4160520"/>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36" name="s3-img4" descr="Bouteille panache"/>
          <p:cNvPicPr>
            <a:picLocks noChangeAspect="1"/>
          </p:cNvPicPr>
          <p:nvPr/>
        </p:nvPicPr>
        <p:blipFill>
          <a:blip r:embed="rId7"/>
          <a:stretch>
            <a:fillRect/>
          </a:stretch>
        </p:blipFill>
        <p:spPr>
          <a:xfrm>
            <a:off x="475488" y="4178808"/>
            <a:ext cx="139537" cy="512064"/>
          </a:xfrm>
          <a:prstGeom prst="rect">
            <a:avLst/>
          </a:prstGeom>
        </p:spPr>
      </p:pic>
      <p:sp>
        <p:nvSpPr>
          <p:cNvPr id="37" name="Text 30"/>
          <p:cNvSpPr txBox="1"/>
          <p:nvPr/>
        </p:nvSpPr>
        <p:spPr>
          <a:xfrm>
            <a:off x="960120" y="4178808"/>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PANACHÉ</a:t>
            </a:r>
            <a:endParaRPr lang="en-US" sz="1150" dirty="0"/>
          </a:p>
        </p:txBody>
      </p:sp>
      <p:sp>
        <p:nvSpPr>
          <p:cNvPr id="38" name="Text 31"/>
          <p:cNvSpPr txBox="1"/>
          <p:nvPr/>
        </p:nvSpPr>
        <p:spPr>
          <a:xfrm>
            <a:off x="960120" y="4398264"/>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102 229 hL</a:t>
            </a:r>
            <a:endParaRPr lang="en-US" sz="1800" dirty="0"/>
          </a:p>
        </p:txBody>
      </p:sp>
      <p:sp>
        <p:nvSpPr>
          <p:cNvPr id="39" name="s3-track4"/>
          <p:cNvSpPr/>
          <p:nvPr/>
        </p:nvSpPr>
        <p:spPr>
          <a:xfrm>
            <a:off x="2697480" y="4270248"/>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40" name="s3-fill4"/>
          <p:cNvSpPr/>
          <p:nvPr/>
        </p:nvSpPr>
        <p:spPr>
          <a:xfrm>
            <a:off x="2697480" y="4270248"/>
            <a:ext cx="459486" cy="146304"/>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41" name="Text 34"/>
          <p:cNvSpPr txBox="1"/>
          <p:nvPr/>
        </p:nvSpPr>
        <p:spPr>
          <a:xfrm>
            <a:off x="4114800" y="4197096"/>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13,4 %</a:t>
            </a:r>
            <a:endParaRPr lang="en-US" sz="1300" dirty="0"/>
          </a:p>
        </p:txBody>
      </p:sp>
      <p:sp>
        <p:nvSpPr>
          <p:cNvPr id="42" name="Text 35"/>
          <p:cNvSpPr txBox="1"/>
          <p:nvPr/>
        </p:nvSpPr>
        <p:spPr>
          <a:xfrm>
            <a:off x="2697480" y="4453128"/>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−3,8 % vs base 2026 · stock insuffisant en septembre</a:t>
            </a:r>
            <a:endParaRPr lang="en-US" sz="1100" dirty="0"/>
          </a:p>
        </p:txBody>
      </p:sp>
      <p:sp>
        <p:nvSpPr>
          <p:cNvPr id="43" name="s3-c1"/>
          <p:cNvSpPr/>
          <p:nvPr/>
        </p:nvSpPr>
        <p:spPr>
          <a:xfrm>
            <a:off x="6309360" y="137160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44" name="s3-cbar1"/>
          <p:cNvSpPr/>
          <p:nvPr/>
        </p:nvSpPr>
        <p:spPr>
          <a:xfrm>
            <a:off x="6309360" y="1371600"/>
            <a:ext cx="109728" cy="804672"/>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45" name="Text 38"/>
          <p:cNvSpPr txBox="1"/>
          <p:nvPr/>
        </p:nvSpPr>
        <p:spPr>
          <a:xfrm>
            <a:off x="6510528" y="139903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1 · LA PRODUCTION vs OBJECTIFS</a:t>
            </a:r>
            <a:endParaRPr lang="en-US" sz="1150" dirty="0"/>
          </a:p>
        </p:txBody>
      </p:sp>
      <p:sp>
        <p:nvSpPr>
          <p:cNvPr id="46" name="Text 39"/>
          <p:cNvSpPr txBox="1"/>
          <p:nvPr/>
        </p:nvSpPr>
        <p:spPr>
          <a:xfrm>
            <a:off x="6510528" y="1627632"/>
            <a:ext cx="5212080" cy="530352"/>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Oui : nos 2 lignes sont sous tension ; maintenances et overhauls obligatoires réduisent la capacité. Aucun mois (max 68,6 k) n'atteint sept. 2026 (74,5 k) ; avec l'export, 78,8 k/mois pour 78 k de capacité citée.</a:t>
            </a:r>
            <a:endParaRPr lang="en-US" sz="1150" dirty="0"/>
          </a:p>
        </p:txBody>
      </p:sp>
      <p:sp>
        <p:nvSpPr>
          <p:cNvPr id="47" name="s3-c2"/>
          <p:cNvSpPr/>
          <p:nvPr/>
        </p:nvSpPr>
        <p:spPr>
          <a:xfrm>
            <a:off x="6309360" y="224028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48" name="s3-cbar2"/>
          <p:cNvSpPr/>
          <p:nvPr/>
        </p:nvSpPr>
        <p:spPr>
          <a:xfrm>
            <a:off x="6309360" y="2240280"/>
            <a:ext cx="109728" cy="804672"/>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49" name="Text 42"/>
          <p:cNvSpPr txBox="1"/>
          <p:nvPr/>
        </p:nvSpPr>
        <p:spPr>
          <a:xfrm>
            <a:off x="6510528" y="226771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2 · LES EMBALLAGES</a:t>
            </a:r>
            <a:endParaRPr lang="en-US" sz="1150" dirty="0"/>
          </a:p>
        </p:txBody>
      </p:sp>
      <p:sp>
        <p:nvSpPr>
          <p:cNvPr id="50" name="Text 43"/>
          <p:cNvSpPr txBox="1"/>
          <p:nvPr/>
        </p:nvSpPr>
        <p:spPr>
          <a:xfrm>
            <a:off x="6510528" y="249631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Interchangeabilité</a:t>
            </a:r>
            <a:r>
              <a:rPr lang="en-US" sz="1150" dirty="0">
                <a:solidFill>
                  <a:srgbClr val="14213D"/>
                </a:solidFill>
                <a:latin typeface="Calibri" pitchFamily="34" charset="0"/>
                <a:ea typeface="Calibri" pitchFamily="34" charset="-122"/>
                <a:cs typeface="Calibri" pitchFamily="34" charset="-120"/>
              </a:rPr>
              <a:t> sous </a:t>
            </a:r>
            <a:r>
              <a:rPr lang="en-US" sz="1150" dirty="0" err="1">
                <a:solidFill>
                  <a:srgbClr val="14213D"/>
                </a:solidFill>
                <a:latin typeface="Calibri" pitchFamily="34" charset="0"/>
                <a:ea typeface="Calibri" pitchFamily="34" charset="-122"/>
                <a:cs typeface="Calibri" pitchFamily="34" charset="-120"/>
              </a:rPr>
              <a:t>contrainte</a:t>
            </a:r>
            <a:r>
              <a:rPr lang="en-US" sz="1150" dirty="0">
                <a:solidFill>
                  <a:srgbClr val="14213D"/>
                </a:solidFill>
                <a:latin typeface="Calibri" pitchFamily="34" charset="0"/>
                <a:ea typeface="Calibri" pitchFamily="34" charset="-122"/>
                <a:cs typeface="Calibri" pitchFamily="34" charset="-120"/>
              </a:rPr>
              <a:t> / Les retours </a:t>
            </a:r>
            <a:r>
              <a:rPr lang="en-US" sz="1150" dirty="0" err="1">
                <a:solidFill>
                  <a:srgbClr val="14213D"/>
                </a:solidFill>
                <a:latin typeface="Calibri" pitchFamily="34" charset="0"/>
                <a:ea typeface="Calibri" pitchFamily="34" charset="-122"/>
                <a:cs typeface="Calibri" pitchFamily="34" charset="-120"/>
              </a:rPr>
              <a:t>conditionnent</a:t>
            </a:r>
            <a:r>
              <a:rPr lang="en-US" sz="1150" dirty="0">
                <a:solidFill>
                  <a:srgbClr val="14213D"/>
                </a:solidFill>
                <a:latin typeface="Calibri" pitchFamily="34" charset="0"/>
                <a:ea typeface="Calibri" pitchFamily="34" charset="-122"/>
                <a:cs typeface="Calibri" pitchFamily="34" charset="-120"/>
              </a:rPr>
              <a:t> le planning de production.</a:t>
            </a:r>
            <a:endParaRPr lang="en-US" sz="1150" dirty="0"/>
          </a:p>
        </p:txBody>
      </p:sp>
      <p:sp>
        <p:nvSpPr>
          <p:cNvPr id="51" name="s3-c3"/>
          <p:cNvSpPr/>
          <p:nvPr/>
        </p:nvSpPr>
        <p:spPr>
          <a:xfrm>
            <a:off x="6309360" y="310896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52" name="s3-cbar3"/>
          <p:cNvSpPr/>
          <p:nvPr/>
        </p:nvSpPr>
        <p:spPr>
          <a:xfrm>
            <a:off x="6309360" y="3108960"/>
            <a:ext cx="109728" cy="804672"/>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53" name="Text 46"/>
          <p:cNvSpPr txBox="1"/>
          <p:nvPr/>
        </p:nvSpPr>
        <p:spPr>
          <a:xfrm>
            <a:off x="6510528" y="313639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3 · LA DONNÉE / LES DATAS</a:t>
            </a:r>
            <a:endParaRPr lang="en-US" sz="1150" dirty="0"/>
          </a:p>
        </p:txBody>
      </p:sp>
      <p:sp>
        <p:nvSpPr>
          <p:cNvPr id="54" name="Text 47"/>
          <p:cNvSpPr txBox="1"/>
          <p:nvPr/>
        </p:nvSpPr>
        <p:spPr>
          <a:xfrm>
            <a:off x="6510528" y="336499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Suivi</a:t>
            </a:r>
            <a:r>
              <a:rPr lang="en-US" sz="1150" dirty="0">
                <a:solidFill>
                  <a:srgbClr val="14213D"/>
                </a:solidFill>
                <a:latin typeface="Calibri" pitchFamily="34" charset="0"/>
                <a:ea typeface="Calibri" pitchFamily="34" charset="-122"/>
                <a:cs typeface="Calibri" pitchFamily="34" charset="-120"/>
              </a:rPr>
              <a:t> SAS pour le terrain, </a:t>
            </a:r>
            <a:r>
              <a:rPr lang="en-US" sz="1150" dirty="0" err="1">
                <a:solidFill>
                  <a:srgbClr val="14213D"/>
                </a:solidFill>
                <a:latin typeface="Calibri" pitchFamily="34" charset="0"/>
                <a:ea typeface="Calibri" pitchFamily="34" charset="-122"/>
                <a:cs typeface="Calibri" pitchFamily="34" charset="-120"/>
              </a:rPr>
              <a:t>suivi</a:t>
            </a:r>
            <a:r>
              <a:rPr lang="en-US" sz="1150" dirty="0">
                <a:solidFill>
                  <a:srgbClr val="14213D"/>
                </a:solidFill>
                <a:latin typeface="Calibri" pitchFamily="34" charset="0"/>
                <a:ea typeface="Calibri" pitchFamily="34" charset="-122"/>
                <a:cs typeface="Calibri" pitchFamily="34" charset="-120"/>
              </a:rPr>
              <a:t> des </a:t>
            </a:r>
            <a:r>
              <a:rPr lang="en-US" sz="1150" dirty="0" err="1">
                <a:solidFill>
                  <a:srgbClr val="14213D"/>
                </a:solidFill>
                <a:latin typeface="Calibri" pitchFamily="34" charset="0"/>
                <a:ea typeface="Calibri" pitchFamily="34" charset="-122"/>
                <a:cs typeface="Calibri" pitchFamily="34" charset="-120"/>
              </a:rPr>
              <a:t>écart</a:t>
            </a:r>
            <a:r>
              <a:rPr lang="en-US" sz="1150" dirty="0">
                <a:solidFill>
                  <a:srgbClr val="14213D"/>
                </a:solidFill>
                <a:latin typeface="Calibri" pitchFamily="34" charset="0"/>
                <a:ea typeface="Calibri" pitchFamily="34" charset="-122"/>
                <a:cs typeface="Calibri" pitchFamily="34" charset="-120"/>
              </a:rPr>
              <a:t> sell-in / sell-out; P4P sur le sell-out ; EBM : 156 dépôts à </a:t>
            </a:r>
            <a:r>
              <a:rPr lang="en-US" sz="1150" dirty="0" err="1">
                <a:solidFill>
                  <a:srgbClr val="14213D"/>
                </a:solidFill>
                <a:latin typeface="Calibri" pitchFamily="34" charset="0"/>
                <a:ea typeface="Calibri" pitchFamily="34" charset="-122"/>
                <a:cs typeface="Calibri" pitchFamily="34" charset="-120"/>
              </a:rPr>
              <a:t>intégrer</a:t>
            </a:r>
            <a:r>
              <a:rPr lang="en-US" sz="1150" dirty="0">
                <a:solidFill>
                  <a:srgbClr val="14213D"/>
                </a:solidFill>
                <a:latin typeface="Calibri" pitchFamily="34" charset="0"/>
                <a:ea typeface="Calibri" pitchFamily="34" charset="-122"/>
                <a:cs typeface="Calibri" pitchFamily="34" charset="-120"/>
              </a:rPr>
              <a:t> sur 2027</a:t>
            </a:r>
            <a:endParaRPr lang="en-US" sz="1150" dirty="0"/>
          </a:p>
        </p:txBody>
      </p:sp>
      <p:sp>
        <p:nvSpPr>
          <p:cNvPr id="55" name="s3-c4"/>
          <p:cNvSpPr/>
          <p:nvPr/>
        </p:nvSpPr>
        <p:spPr>
          <a:xfrm>
            <a:off x="6309360" y="397764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56" name="s3-cbar4"/>
          <p:cNvSpPr/>
          <p:nvPr/>
        </p:nvSpPr>
        <p:spPr>
          <a:xfrm>
            <a:off x="6309360" y="3977640"/>
            <a:ext cx="109728" cy="804672"/>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57" name="Text 50"/>
          <p:cNvSpPr txBox="1"/>
          <p:nvPr/>
        </p:nvSpPr>
        <p:spPr>
          <a:xfrm>
            <a:off x="6510528" y="400507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4 · NOS MANAGERS</a:t>
            </a:r>
            <a:endParaRPr lang="en-US" sz="1150" dirty="0"/>
          </a:p>
        </p:txBody>
      </p:sp>
      <p:sp>
        <p:nvSpPr>
          <p:cNvPr id="58" name="Text 51"/>
          <p:cNvSpPr txBox="1"/>
          <p:nvPr/>
        </p:nvSpPr>
        <p:spPr>
          <a:xfrm>
            <a:off x="6510528" y="423367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Prise</a:t>
            </a:r>
            <a:r>
              <a:rPr lang="en-US" sz="1150" dirty="0">
                <a:solidFill>
                  <a:srgbClr val="14213D"/>
                </a:solidFill>
                <a:latin typeface="Calibri" pitchFamily="34" charset="0"/>
                <a:ea typeface="Calibri" pitchFamily="34" charset="-122"/>
                <a:cs typeface="Calibri" pitchFamily="34" charset="-120"/>
              </a:rPr>
              <a:t> de conscience / Formations sur 3 axes : finance commerciale, prévision des ventes, décision par la donnée. Objectif : piloter chaque </a:t>
            </a:r>
            <a:r>
              <a:rPr lang="en-US" sz="1150" dirty="0" err="1">
                <a:solidFill>
                  <a:srgbClr val="14213D"/>
                </a:solidFill>
                <a:latin typeface="Calibri" pitchFamily="34" charset="0"/>
                <a:ea typeface="Calibri" pitchFamily="34" charset="-122"/>
                <a:cs typeface="Calibri" pitchFamily="34" charset="-120"/>
              </a:rPr>
              <a:t>territoire</a:t>
            </a:r>
            <a:r>
              <a:rPr lang="en-US" sz="1150" dirty="0">
                <a:solidFill>
                  <a:srgbClr val="14213D"/>
                </a:solidFill>
                <a:latin typeface="Calibri" pitchFamily="34" charset="0"/>
                <a:ea typeface="Calibri" pitchFamily="34" charset="-122"/>
                <a:cs typeface="Calibri" pitchFamily="34" charset="-120"/>
              </a:rPr>
              <a:t> et </a:t>
            </a:r>
            <a:r>
              <a:rPr lang="en-US" sz="1150" dirty="0" err="1">
                <a:solidFill>
                  <a:srgbClr val="14213D"/>
                </a:solidFill>
                <a:latin typeface="Calibri" pitchFamily="34" charset="0"/>
                <a:ea typeface="Calibri" pitchFamily="34" charset="-122"/>
                <a:cs typeface="Calibri" pitchFamily="34" charset="-120"/>
              </a:rPr>
              <a:t>chaque</a:t>
            </a:r>
            <a:r>
              <a:rPr lang="en-US" sz="1150" dirty="0">
                <a:solidFill>
                  <a:srgbClr val="14213D"/>
                </a:solidFill>
                <a:latin typeface="Calibri" pitchFamily="34" charset="0"/>
                <a:ea typeface="Calibri" pitchFamily="34" charset="-122"/>
                <a:cs typeface="Calibri" pitchFamily="34" charset="-120"/>
              </a:rPr>
              <a:t> service </a:t>
            </a:r>
            <a:r>
              <a:rPr lang="en-US" sz="1150" dirty="0" err="1">
                <a:solidFill>
                  <a:srgbClr val="14213D"/>
                </a:solidFill>
                <a:latin typeface="Calibri" pitchFamily="34" charset="0"/>
                <a:ea typeface="Calibri" pitchFamily="34" charset="-122"/>
                <a:cs typeface="Calibri" pitchFamily="34" charset="-120"/>
              </a:rPr>
              <a:t>comme</a:t>
            </a:r>
            <a:r>
              <a:rPr lang="en-US" sz="1150" dirty="0">
                <a:solidFill>
                  <a:srgbClr val="14213D"/>
                </a:solidFill>
                <a:latin typeface="Calibri" pitchFamily="34" charset="0"/>
                <a:ea typeface="Calibri" pitchFamily="34" charset="-122"/>
                <a:cs typeface="Calibri" pitchFamily="34" charset="-120"/>
              </a:rPr>
              <a:t> une business unit. </a:t>
            </a:r>
            <a:r>
              <a:rPr lang="en-US" sz="1150" dirty="0" err="1">
                <a:solidFill>
                  <a:srgbClr val="14213D"/>
                </a:solidFill>
                <a:latin typeface="Calibri" pitchFamily="34" charset="0"/>
                <a:ea typeface="Calibri" pitchFamily="34" charset="-122"/>
                <a:cs typeface="Calibri" pitchFamily="34" charset="-120"/>
              </a:rPr>
              <a:t>Devenir</a:t>
            </a:r>
            <a:r>
              <a:rPr lang="en-US" sz="1150" dirty="0">
                <a:solidFill>
                  <a:srgbClr val="14213D"/>
                </a:solidFill>
                <a:latin typeface="Calibri" pitchFamily="34" charset="0"/>
                <a:ea typeface="Calibri" pitchFamily="34" charset="-122"/>
                <a:cs typeface="Calibri" pitchFamily="34" charset="-120"/>
              </a:rPr>
              <a:t> </a:t>
            </a:r>
            <a:r>
              <a:rPr lang="en-US" sz="1150" dirty="0" err="1">
                <a:solidFill>
                  <a:srgbClr val="14213D"/>
                </a:solidFill>
                <a:latin typeface="Calibri" pitchFamily="34" charset="0"/>
                <a:ea typeface="Calibri" pitchFamily="34" charset="-122"/>
                <a:cs typeface="Calibri" pitchFamily="34" charset="-120"/>
              </a:rPr>
              <a:t>acteur</a:t>
            </a:r>
            <a:r>
              <a:rPr lang="en-US" sz="1150" dirty="0">
                <a:solidFill>
                  <a:srgbClr val="14213D"/>
                </a:solidFill>
                <a:latin typeface="Calibri" pitchFamily="34" charset="0"/>
                <a:ea typeface="Calibri" pitchFamily="34" charset="-122"/>
                <a:cs typeface="Calibri" pitchFamily="34" charset="-120"/>
              </a:rPr>
              <a:t>.</a:t>
            </a:r>
            <a:endParaRPr lang="en-US" sz="1150" dirty="0"/>
          </a:p>
        </p:txBody>
      </p:sp>
      <p:sp>
        <p:nvSpPr>
          <p:cNvPr id="59" name="s3-lead"/>
          <p:cNvSpPr/>
          <p:nvPr/>
        </p:nvSpPr>
        <p:spPr>
          <a:xfrm>
            <a:off x="411480" y="4937760"/>
            <a:ext cx="1783080" cy="457200"/>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60" name="Text 53"/>
          <p:cNvSpPr txBox="1"/>
          <p:nvPr/>
        </p:nvSpPr>
        <p:spPr>
          <a:xfrm>
            <a:off x="411480" y="4937760"/>
            <a:ext cx="17830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2026 FONDATIONS → 2027 CONSOLIDATION</a:t>
            </a:r>
            <a:endParaRPr lang="en-US" sz="1100" dirty="0"/>
          </a:p>
        </p:txBody>
      </p:sp>
      <p:sp>
        <p:nvSpPr>
          <p:cNvPr id="61" name="s3-prio1"/>
          <p:cNvSpPr/>
          <p:nvPr/>
        </p:nvSpPr>
        <p:spPr>
          <a:xfrm>
            <a:off x="2258568"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62" name="Text 55"/>
          <p:cNvSpPr txBox="1"/>
          <p:nvPr/>
        </p:nvSpPr>
        <p:spPr>
          <a:xfrm>
            <a:off x="2258568"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CRÉATION DE VALEUR</a:t>
            </a:r>
            <a:endParaRPr lang="en-US" sz="900" dirty="0"/>
          </a:p>
        </p:txBody>
      </p:sp>
      <p:sp>
        <p:nvSpPr>
          <p:cNvPr id="63" name="s3-prio2"/>
          <p:cNvSpPr/>
          <p:nvPr/>
        </p:nvSpPr>
        <p:spPr>
          <a:xfrm>
            <a:off x="3572691" y="4937760"/>
            <a:ext cx="1634163"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64" name="Text 57"/>
          <p:cNvSpPr txBox="1"/>
          <p:nvPr/>
        </p:nvSpPr>
        <p:spPr>
          <a:xfrm>
            <a:off x="3572691" y="4937760"/>
            <a:ext cx="1634163"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DISPONIBILITÉ / PRODUCTION · NOUVELLE LIGNE</a:t>
            </a:r>
            <a:endParaRPr lang="en-US" sz="900" dirty="0"/>
          </a:p>
        </p:txBody>
      </p:sp>
      <p:sp>
        <p:nvSpPr>
          <p:cNvPr id="65" name="s3-prio3"/>
          <p:cNvSpPr/>
          <p:nvPr/>
        </p:nvSpPr>
        <p:spPr>
          <a:xfrm>
            <a:off x="5270863"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66" name="Text 59"/>
          <p:cNvSpPr txBox="1"/>
          <p:nvPr/>
        </p:nvSpPr>
        <p:spPr>
          <a:xfrm>
            <a:off x="5270863"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DISTRIBUTION / RTM</a:t>
            </a:r>
            <a:endParaRPr lang="en-US" sz="900" dirty="0"/>
          </a:p>
        </p:txBody>
      </p:sp>
      <p:sp>
        <p:nvSpPr>
          <p:cNvPr id="67" name="s3-prio4"/>
          <p:cNvSpPr/>
          <p:nvPr/>
        </p:nvSpPr>
        <p:spPr>
          <a:xfrm>
            <a:off x="6584986" y="4937760"/>
            <a:ext cx="1250115" cy="457200"/>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68" name="Text 61"/>
          <p:cNvSpPr txBox="1"/>
          <p:nvPr/>
        </p:nvSpPr>
        <p:spPr>
          <a:xfrm>
            <a:off x="6584986" y="4937760"/>
            <a:ext cx="1250115" cy="457200"/>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PRIORITÉS MARQUES</a:t>
            </a:r>
            <a:endParaRPr lang="en-US" sz="900" dirty="0"/>
          </a:p>
        </p:txBody>
      </p:sp>
      <p:sp>
        <p:nvSpPr>
          <p:cNvPr id="69" name="s3-prio5"/>
          <p:cNvSpPr/>
          <p:nvPr/>
        </p:nvSpPr>
        <p:spPr>
          <a:xfrm>
            <a:off x="7899110" y="4937760"/>
            <a:ext cx="1250115"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70" name="Text 63"/>
          <p:cNvSpPr txBox="1"/>
          <p:nvPr/>
        </p:nvSpPr>
        <p:spPr>
          <a:xfrm>
            <a:off x="7899110"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RPL / ACTIVATIONS MARQUES</a:t>
            </a:r>
            <a:endParaRPr lang="en-US" sz="900" dirty="0"/>
          </a:p>
        </p:txBody>
      </p:sp>
      <p:sp>
        <p:nvSpPr>
          <p:cNvPr id="71" name="s3-prio6"/>
          <p:cNvSpPr/>
          <p:nvPr/>
        </p:nvSpPr>
        <p:spPr>
          <a:xfrm>
            <a:off x="9213233"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72" name="Text 65"/>
          <p:cNvSpPr txBox="1"/>
          <p:nvPr/>
        </p:nvSpPr>
        <p:spPr>
          <a:xfrm>
            <a:off x="9213233"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DIGITALISATION / ODOO</a:t>
            </a:r>
            <a:endParaRPr lang="en-US" sz="900" dirty="0"/>
          </a:p>
        </p:txBody>
      </p:sp>
      <p:sp>
        <p:nvSpPr>
          <p:cNvPr id="73" name="s3-prio7"/>
          <p:cNvSpPr/>
          <p:nvPr/>
        </p:nvSpPr>
        <p:spPr>
          <a:xfrm>
            <a:off x="10527357" y="4937760"/>
            <a:ext cx="1250115"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74" name="Text 67"/>
          <p:cNvSpPr txBox="1"/>
          <p:nvPr/>
        </p:nvSpPr>
        <p:spPr>
          <a:xfrm>
            <a:off x="10527357"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FORMATION / RESPONSABILISATION</a:t>
            </a:r>
            <a:endParaRPr lang="en-US" sz="900" dirty="0"/>
          </a:p>
        </p:txBody>
      </p:sp>
      <p:sp>
        <p:nvSpPr>
          <p:cNvPr id="75" name="banner"/>
          <p:cNvSpPr/>
          <p:nvPr/>
        </p:nvSpPr>
        <p:spPr>
          <a:xfrm>
            <a:off x="411480" y="5513832"/>
            <a:ext cx="11365992" cy="768096"/>
          </a:xfrm>
          <a:prstGeom prst="roundRect">
            <a:avLst>
              <a:gd name="adj" fmla="val 9524"/>
            </a:avLst>
          </a:prstGeom>
          <a:solidFill>
            <a:srgbClr val="0B1F4B"/>
          </a:solidFill>
          <a:ln w="12700">
            <a:solidFill>
              <a:srgbClr val="0B1F4B"/>
            </a:solidFill>
            <a:prstDash val="solid"/>
          </a:ln>
        </p:spPr>
        <p:txBody>
          <a:bodyPr/>
          <a:lstStyle/>
          <a:p>
            <a:endParaRPr lang="fr-FR"/>
          </a:p>
        </p:txBody>
      </p:sp>
      <p:sp>
        <p:nvSpPr>
          <p:cNvPr id="76" name="banner-bar"/>
          <p:cNvSpPr/>
          <p:nvPr/>
        </p:nvSpPr>
        <p:spPr>
          <a:xfrm>
            <a:off x="411480" y="5513832"/>
            <a:ext cx="128016" cy="768096"/>
          </a:xfrm>
          <a:prstGeom prst="rect">
            <a:avLst/>
          </a:prstGeom>
          <a:solidFill>
            <a:srgbClr val="FFC20E"/>
          </a:solidFill>
          <a:ln w="12700">
            <a:solidFill>
              <a:srgbClr val="FFC20E"/>
            </a:solidFill>
            <a:prstDash val="solid"/>
          </a:ln>
        </p:spPr>
        <p:txBody>
          <a:bodyPr/>
          <a:lstStyle/>
          <a:p>
            <a:endParaRPr lang="fr-FR"/>
          </a:p>
        </p:txBody>
      </p:sp>
      <p:sp>
        <p:nvSpPr>
          <p:cNvPr id="77" name="Text 70"/>
          <p:cNvSpPr txBox="1"/>
          <p:nvPr/>
        </p:nvSpPr>
        <p:spPr>
          <a:xfrm>
            <a:off x="731520" y="5513832"/>
            <a:ext cx="10927080" cy="768096"/>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 Notre ambition ne peut dépasser durablement notre capacité d'exécution. »</a:t>
            </a:r>
            <a:endParaRPr lang="en-US" sz="1700" dirty="0"/>
          </a:p>
          <a:p>
            <a:pPr marL="0" indent="0">
              <a:buNone/>
            </a:pPr>
            <a:r>
              <a:rPr lang="en-US" sz="1450" b="1" dirty="0">
                <a:solidFill>
                  <a:srgbClr val="FFFFFF"/>
                </a:solidFill>
                <a:latin typeface="Calibri" pitchFamily="34" charset="0"/>
                <a:ea typeface="Calibri" pitchFamily="34" charset="-122"/>
                <a:cs typeface="Calibri" pitchFamily="34" charset="-120"/>
              </a:rPr>
              <a:t>Objectifs sous contrainte de production…</a:t>
            </a:r>
            <a:endParaRPr lang="en-US" sz="17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480560" cy="256032"/>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3" name="Text 1"/>
          <p:cNvSpPr txBox="1"/>
          <p:nvPr/>
        </p:nvSpPr>
        <p:spPr>
          <a:xfrm>
            <a:off x="411480" y="256032"/>
            <a:ext cx="4480560"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5 · 2027 : LE BUDGET MOIS PAR MOIS — LOCAL D'ABORD</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 </a:t>
            </a:r>
            <a:r>
              <a:rPr lang="en-US" dirty="0"/>
              <a:t>B</a:t>
            </a:r>
            <a:r>
              <a:rPr lang="en-US" sz="2800" b="1" dirty="0">
                <a:solidFill>
                  <a:srgbClr val="0B1F4B"/>
                </a:solidFill>
                <a:latin typeface="Calibri" pitchFamily="34" charset="0"/>
                <a:ea typeface="Calibri" pitchFamily="34" charset="-122"/>
                <a:cs typeface="Calibri" pitchFamily="34" charset="-120"/>
              </a:rPr>
              <a:t>udget borné par la production</a:t>
            </a:r>
            <a:endParaRPr lang="en-US" sz="2800" dirty="0"/>
          </a:p>
        </p:txBody>
      </p:sp>
      <p:graphicFrame>
        <p:nvGraphicFramePr>
          <p:cNvPr id="6" name="s3b-table"/>
          <p:cNvGraphicFramePr>
            <a:graphicFrameLocks noGrp="1"/>
          </p:cNvGraphicFramePr>
          <p:nvPr/>
        </p:nvGraphicFramePr>
        <p:xfrm>
          <a:off x="411480" y="1325880"/>
          <a:ext cx="11365992" cy="3115056"/>
        </p:xfrm>
        <a:graphic>
          <a:graphicData uri="http://schemas.openxmlformats.org/drawingml/2006/table">
            <a:tbl>
              <a:tblPr/>
              <a:tblGrid>
                <a:gridCol w="1920240">
                  <a:extLst>
                    <a:ext uri="{9D8B030D-6E8A-4147-A177-3AD203B41FA5}">
                      <a16:colId xmlns:a16="http://schemas.microsoft.com/office/drawing/2014/main" val="20000"/>
                    </a:ext>
                  </a:extLst>
                </a:gridCol>
                <a:gridCol w="630936">
                  <a:extLst>
                    <a:ext uri="{9D8B030D-6E8A-4147-A177-3AD203B41FA5}">
                      <a16:colId xmlns:a16="http://schemas.microsoft.com/office/drawing/2014/main" val="20001"/>
                    </a:ext>
                  </a:extLst>
                </a:gridCol>
                <a:gridCol w="630936">
                  <a:extLst>
                    <a:ext uri="{9D8B030D-6E8A-4147-A177-3AD203B41FA5}">
                      <a16:colId xmlns:a16="http://schemas.microsoft.com/office/drawing/2014/main" val="20002"/>
                    </a:ext>
                  </a:extLst>
                </a:gridCol>
                <a:gridCol w="630936">
                  <a:extLst>
                    <a:ext uri="{9D8B030D-6E8A-4147-A177-3AD203B41FA5}">
                      <a16:colId xmlns:a16="http://schemas.microsoft.com/office/drawing/2014/main" val="20003"/>
                    </a:ext>
                  </a:extLst>
                </a:gridCol>
                <a:gridCol w="630936">
                  <a:extLst>
                    <a:ext uri="{9D8B030D-6E8A-4147-A177-3AD203B41FA5}">
                      <a16:colId xmlns:a16="http://schemas.microsoft.com/office/drawing/2014/main" val="20004"/>
                    </a:ext>
                  </a:extLst>
                </a:gridCol>
                <a:gridCol w="630936">
                  <a:extLst>
                    <a:ext uri="{9D8B030D-6E8A-4147-A177-3AD203B41FA5}">
                      <a16:colId xmlns:a16="http://schemas.microsoft.com/office/drawing/2014/main" val="20005"/>
                    </a:ext>
                  </a:extLst>
                </a:gridCol>
                <a:gridCol w="630936">
                  <a:extLst>
                    <a:ext uri="{9D8B030D-6E8A-4147-A177-3AD203B41FA5}">
                      <a16:colId xmlns:a16="http://schemas.microsoft.com/office/drawing/2014/main" val="20006"/>
                    </a:ext>
                  </a:extLst>
                </a:gridCol>
                <a:gridCol w="630936">
                  <a:extLst>
                    <a:ext uri="{9D8B030D-6E8A-4147-A177-3AD203B41FA5}">
                      <a16:colId xmlns:a16="http://schemas.microsoft.com/office/drawing/2014/main" val="20007"/>
                    </a:ext>
                  </a:extLst>
                </a:gridCol>
                <a:gridCol w="630936">
                  <a:extLst>
                    <a:ext uri="{9D8B030D-6E8A-4147-A177-3AD203B41FA5}">
                      <a16:colId xmlns:a16="http://schemas.microsoft.com/office/drawing/2014/main" val="20008"/>
                    </a:ext>
                  </a:extLst>
                </a:gridCol>
                <a:gridCol w="630936">
                  <a:extLst>
                    <a:ext uri="{9D8B030D-6E8A-4147-A177-3AD203B41FA5}">
                      <a16:colId xmlns:a16="http://schemas.microsoft.com/office/drawing/2014/main" val="20009"/>
                    </a:ext>
                  </a:extLst>
                </a:gridCol>
                <a:gridCol w="630936">
                  <a:extLst>
                    <a:ext uri="{9D8B030D-6E8A-4147-A177-3AD203B41FA5}">
                      <a16:colId xmlns:a16="http://schemas.microsoft.com/office/drawing/2014/main" val="20010"/>
                    </a:ext>
                  </a:extLst>
                </a:gridCol>
                <a:gridCol w="630936">
                  <a:extLst>
                    <a:ext uri="{9D8B030D-6E8A-4147-A177-3AD203B41FA5}">
                      <a16:colId xmlns:a16="http://schemas.microsoft.com/office/drawing/2014/main" val="20011"/>
                    </a:ext>
                  </a:extLst>
                </a:gridCol>
                <a:gridCol w="630936">
                  <a:extLst>
                    <a:ext uri="{9D8B030D-6E8A-4147-A177-3AD203B41FA5}">
                      <a16:colId xmlns:a16="http://schemas.microsoft.com/office/drawing/2014/main" val="20012"/>
                    </a:ext>
                  </a:extLst>
                </a:gridCol>
                <a:gridCol w="914400">
                  <a:extLst>
                    <a:ext uri="{9D8B030D-6E8A-4147-A177-3AD203B41FA5}">
                      <a16:colId xmlns:a16="http://schemas.microsoft.com/office/drawing/2014/main" val="20013"/>
                    </a:ext>
                  </a:extLst>
                </a:gridCol>
                <a:gridCol w="960120">
                  <a:extLst>
                    <a:ext uri="{9D8B030D-6E8A-4147-A177-3AD203B41FA5}">
                      <a16:colId xmlns:a16="http://schemas.microsoft.com/office/drawing/2014/main" val="20014"/>
                    </a:ext>
                  </a:extLst>
                </a:gridCol>
              </a:tblGrid>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hL</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janv.</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févr.</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mars</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avr.</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mai</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juin</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juil.</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août</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sept.</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oct.</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nov.</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déc.</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2027</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vs atterr. 2026</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Skol Malt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18 899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17 549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15 659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21 599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21 599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242 716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+2,8 %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Gatanu</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20 510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19 045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16 994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23 440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23 440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263 407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+9,5 %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Virunga</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11 760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10 920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9 744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151 032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+39,6 %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Panaché</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7 653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7 106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6 341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8 746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8 746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9 500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11 500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102 229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−3,8 %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14213D"/>
                          </a:solidFill>
                          <a:latin typeface="Calibri" pitchFamily="34" charset="0"/>
                          <a:ea typeface="Calibri" pitchFamily="34" charset="-122"/>
                          <a:cs typeface="Calibri" pitchFamily="34" charset="-120"/>
                        </a:rPr>
                        <a:t>LOCAL (DOMESTIQUE)</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58 872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54 670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48 788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67 275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67 275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65 644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66 617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68 617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760 583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+9,7 %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5B6478"/>
                          </a:solidFill>
                          <a:latin typeface="Calibri" pitchFamily="34" charset="0"/>
                          <a:ea typeface="Calibri" pitchFamily="34" charset="-122"/>
                          <a:cs typeface="Calibri" pitchFamily="34" charset="-120"/>
                        </a:rPr>
                        <a:t>Export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15 024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14 539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13 870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12 934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15 876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15 876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16 329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18 290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b="1" dirty="0">
                          <a:solidFill>
                            <a:srgbClr val="5B6478"/>
                          </a:solidFill>
                          <a:latin typeface="Calibri" pitchFamily="34" charset="0"/>
                          <a:ea typeface="Calibri" pitchFamily="34" charset="-122"/>
                          <a:cs typeface="Calibri" pitchFamily="34" charset="-120"/>
                        </a:rPr>
                        <a:t>185 173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b="1" dirty="0">
                          <a:solidFill>
                            <a:srgbClr val="5B6478"/>
                          </a:solidFill>
                          <a:latin typeface="Calibri" pitchFamily="34" charset="0"/>
                          <a:ea typeface="Calibri" pitchFamily="34" charset="-122"/>
                          <a:cs typeface="Calibri" pitchFamily="34" charset="-120"/>
                        </a:rPr>
                        <a:t>−1,0 %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extLst>
                  <a:ext uri="{0D108BD9-81ED-4DB2-BD59-A6C34878D82A}">
                    <a16:rowId xmlns:a16="http://schemas.microsoft.com/office/drawing/2014/main" val="10006"/>
                  </a:ext>
                </a:extLst>
              </a:tr>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LOCAL + EXPORT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80 618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73 410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68 540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61 722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81 203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81 203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83 151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83 151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81 203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81 253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82 946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86 907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945 756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+7,4 %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extLst>
                  <a:ext uri="{0D108BD9-81ED-4DB2-BD59-A6C34878D82A}">
                    <a16:rowId xmlns:a16="http://schemas.microsoft.com/office/drawing/2014/main" val="10007"/>
                  </a:ext>
                </a:extLst>
              </a:tr>
            </a:tbl>
          </a:graphicData>
        </a:graphic>
      </p:graphicFrame>
      <p:graphicFrame>
        <p:nvGraphicFramePr>
          <p:cNvPr id="7" name="Chart 0"/>
          <p:cNvGraphicFramePr/>
          <p:nvPr/>
        </p:nvGraphicFramePr>
        <p:xfrm>
          <a:off x="411480" y="4544568"/>
          <a:ext cx="667512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8" name="s3b-c1"/>
          <p:cNvSpPr/>
          <p:nvPr/>
        </p:nvSpPr>
        <p:spPr>
          <a:xfrm>
            <a:off x="7269480" y="4544568"/>
            <a:ext cx="4507992" cy="822960"/>
          </a:xfrm>
          <a:prstGeom prst="roundRect">
            <a:avLst>
              <a:gd name="adj" fmla="val 11765"/>
            </a:avLst>
          </a:prstGeom>
          <a:solidFill>
            <a:srgbClr val="F2F5FB"/>
          </a:solidFill>
          <a:ln w="12700">
            <a:solidFill>
              <a:srgbClr val="F2F5FB"/>
            </a:solidFill>
            <a:prstDash val="solid"/>
          </a:ln>
        </p:spPr>
        <p:txBody>
          <a:bodyPr/>
          <a:lstStyle/>
          <a:p>
            <a:endParaRPr lang="fr-FR"/>
          </a:p>
        </p:txBody>
      </p:sp>
      <p:sp>
        <p:nvSpPr>
          <p:cNvPr id="9" name="s3b-cbar1"/>
          <p:cNvSpPr/>
          <p:nvPr/>
        </p:nvSpPr>
        <p:spPr>
          <a:xfrm>
            <a:off x="7269480" y="4544568"/>
            <a:ext cx="109728" cy="82296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10" name="Text 5"/>
          <p:cNvSpPr txBox="1"/>
          <p:nvPr/>
        </p:nvSpPr>
        <p:spPr>
          <a:xfrm>
            <a:off x="7479792" y="4599431"/>
            <a:ext cx="4206240" cy="237744"/>
          </a:xfrm>
          <a:prstGeom prst="rect">
            <a:avLst/>
          </a:prstGeom>
          <a:noFill/>
          <a:ln/>
        </p:spPr>
        <p:txBody>
          <a:bodyPr wrap="square" lIns="0" tIns="0" rIns="0" bIns="0" rtlCol="0" anchor="t"/>
          <a:lstStyle/>
          <a:p>
            <a:pPr marL="0" indent="0">
              <a:buNone/>
            </a:pPr>
            <a:r>
              <a:rPr lang="en-US" sz="1250" b="1" dirty="0">
                <a:solidFill>
                  <a:srgbClr val="0B1F4B"/>
                </a:solidFill>
                <a:latin typeface="Calibri" pitchFamily="34" charset="0"/>
                <a:ea typeface="Calibri" pitchFamily="34" charset="-122"/>
                <a:cs typeface="Calibri" pitchFamily="34" charset="-120"/>
              </a:rPr>
              <a:t>2 LIGNES SOUS TENSION</a:t>
            </a:r>
            <a:endParaRPr lang="en-US" sz="1150" dirty="0"/>
          </a:p>
        </p:txBody>
      </p:sp>
      <p:sp>
        <p:nvSpPr>
          <p:cNvPr id="11" name="Text 6"/>
          <p:cNvSpPr txBox="1"/>
          <p:nvPr/>
        </p:nvSpPr>
        <p:spPr>
          <a:xfrm>
            <a:off x="7479792" y="4864607"/>
            <a:ext cx="4206240" cy="457200"/>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Maintenances et overhauls obligatoires réduisent la capacité : on </a:t>
            </a:r>
            <a:r>
              <a:rPr lang="en-US" sz="1150" dirty="0" err="1">
                <a:solidFill>
                  <a:srgbClr val="14213D"/>
                </a:solidFill>
                <a:latin typeface="Calibri" pitchFamily="34" charset="0"/>
                <a:ea typeface="Calibri" pitchFamily="34" charset="-122"/>
                <a:cs typeface="Calibri" pitchFamily="34" charset="-120"/>
              </a:rPr>
              <a:t>consolide</a:t>
            </a:r>
            <a:r>
              <a:rPr lang="en-US" sz="1150" dirty="0">
                <a:solidFill>
                  <a:srgbClr val="14213D"/>
                </a:solidFill>
                <a:latin typeface="Calibri" pitchFamily="34" charset="0"/>
                <a:ea typeface="Calibri" pitchFamily="34" charset="-122"/>
                <a:cs typeface="Calibri" pitchFamily="34" charset="-120"/>
              </a:rPr>
              <a:t> en attendant la nouvelle ligne.</a:t>
            </a:r>
            <a:endParaRPr lang="en-US" sz="1100" dirty="0"/>
          </a:p>
        </p:txBody>
      </p:sp>
      <p:sp>
        <p:nvSpPr>
          <p:cNvPr id="16" name="s3b-c3"/>
          <p:cNvSpPr/>
          <p:nvPr/>
        </p:nvSpPr>
        <p:spPr>
          <a:xfrm>
            <a:off x="7269480" y="5458968"/>
            <a:ext cx="4507992" cy="822960"/>
          </a:xfrm>
          <a:prstGeom prst="roundRect">
            <a:avLst>
              <a:gd name="adj" fmla="val 11765"/>
            </a:avLst>
          </a:prstGeom>
          <a:solidFill>
            <a:srgbClr val="F2F5FB"/>
          </a:solidFill>
          <a:ln w="12700">
            <a:solidFill>
              <a:srgbClr val="F2F5FB"/>
            </a:solidFill>
            <a:prstDash val="solid"/>
          </a:ln>
        </p:spPr>
        <p:txBody>
          <a:bodyPr/>
          <a:lstStyle/>
          <a:p>
            <a:endParaRPr lang="fr-FR"/>
          </a:p>
        </p:txBody>
      </p:sp>
      <p:sp>
        <p:nvSpPr>
          <p:cNvPr id="17" name="s3b-cbar3"/>
          <p:cNvSpPr/>
          <p:nvPr/>
        </p:nvSpPr>
        <p:spPr>
          <a:xfrm>
            <a:off x="7269480" y="5458968"/>
            <a:ext cx="109728" cy="82296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18" name="Text 13"/>
          <p:cNvSpPr txBox="1"/>
          <p:nvPr/>
        </p:nvSpPr>
        <p:spPr>
          <a:xfrm>
            <a:off x="7479792" y="5513831"/>
            <a:ext cx="4206240" cy="237744"/>
          </a:xfrm>
          <a:prstGeom prst="rect">
            <a:avLst/>
          </a:prstGeom>
          <a:noFill/>
          <a:ln/>
        </p:spPr>
        <p:txBody>
          <a:bodyPr wrap="square" lIns="0" tIns="0" rIns="0" bIns="0" rtlCol="0" anchor="t"/>
          <a:lstStyle/>
          <a:p>
            <a:pPr marL="0" indent="0">
              <a:buNone/>
            </a:pPr>
            <a:r>
              <a:rPr lang="en-US" sz="1250" b="1" dirty="0">
                <a:solidFill>
                  <a:srgbClr val="0B1F4B"/>
                </a:solidFill>
                <a:latin typeface="Calibri" pitchFamily="34" charset="0"/>
                <a:ea typeface="Calibri" pitchFamily="34" charset="-122"/>
                <a:cs typeface="Calibri" pitchFamily="34" charset="-120"/>
              </a:rPr>
              <a:t>RÉGLEMENTATION : NOUS ATTENDONS LES AUTORITÉS</a:t>
            </a:r>
            <a:endParaRPr lang="en-US" sz="1150" dirty="0"/>
          </a:p>
        </p:txBody>
      </p:sp>
      <p:sp>
        <p:nvSpPr>
          <p:cNvPr id="19" name="Text 14"/>
          <p:cNvSpPr txBox="1"/>
          <p:nvPr/>
        </p:nvSpPr>
        <p:spPr>
          <a:xfrm>
            <a:off x="7479792" y="5779007"/>
            <a:ext cx="4206240" cy="457200"/>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Alcools locaux et bières de banane probablement réautorisés après la nouvelle réglementation ; nous l'attendons pour decider invest.</a:t>
            </a:r>
            <a:endParaRPr lang="en-US" sz="11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802429" cy="256032"/>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3" name="Text 1"/>
          <p:cNvSpPr txBox="1"/>
          <p:nvPr/>
        </p:nvSpPr>
        <p:spPr>
          <a:xfrm>
            <a:off x="411480" y="256032"/>
            <a:ext cx="4802429"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6 · 2027 : INVESTIR, EXÉCUTER, GAGNER — GRAIN À MOUDRE</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 4 arbitrages pour </a:t>
            </a:r>
            <a:r>
              <a:rPr lang="en-US" dirty="0" err="1"/>
              <a:t>consolider</a:t>
            </a:r>
            <a:r>
              <a:rPr lang="en-US" sz="2800" b="1" dirty="0">
                <a:solidFill>
                  <a:srgbClr val="0B1F4B"/>
                </a:solidFill>
                <a:latin typeface="Calibri" pitchFamily="34" charset="0"/>
                <a:ea typeface="Calibri" pitchFamily="34" charset="-122"/>
                <a:cs typeface="Calibri" pitchFamily="34" charset="-120"/>
              </a:rPr>
              <a:t>, exécuter et gagner</a:t>
            </a:r>
            <a:endParaRPr lang="en-US" sz="2800" dirty="0"/>
          </a:p>
        </p:txBody>
      </p:sp>
      <p:sp>
        <p:nvSpPr>
          <p:cNvPr id="6" name="s4-e1"/>
          <p:cNvSpPr/>
          <p:nvPr/>
        </p:nvSpPr>
        <p:spPr>
          <a:xfrm>
            <a:off x="411480"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7" name="s4-ebar1"/>
          <p:cNvSpPr/>
          <p:nvPr/>
        </p:nvSpPr>
        <p:spPr>
          <a:xfrm>
            <a:off x="411480" y="1371600"/>
            <a:ext cx="109728" cy="100584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8" name="Text 5"/>
          <p:cNvSpPr txBox="1"/>
          <p:nvPr/>
        </p:nvSpPr>
        <p:spPr>
          <a:xfrm>
            <a:off x="640080"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OPEX TM &amp; EVENTS</a:t>
            </a:r>
            <a:endParaRPr lang="en-US" sz="1100" dirty="0"/>
          </a:p>
        </p:txBody>
      </p:sp>
      <p:sp>
        <p:nvSpPr>
          <p:cNvPr id="9" name="Text 6"/>
          <p:cNvSpPr txBox="1"/>
          <p:nvPr/>
        </p:nvSpPr>
        <p:spPr>
          <a:xfrm>
            <a:off x="640080"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2 757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10" name="Text 7"/>
          <p:cNvSpPr txBox="1"/>
          <p:nvPr/>
        </p:nvSpPr>
        <p:spPr>
          <a:xfrm>
            <a:off x="640080"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+4,8 % vs LE T3 · +24 % vs budget 2026</a:t>
            </a:r>
            <a:endParaRPr lang="en-US" sz="1100" dirty="0"/>
          </a:p>
        </p:txBody>
      </p:sp>
      <p:sp>
        <p:nvSpPr>
          <p:cNvPr id="11" name="s4-e2"/>
          <p:cNvSpPr/>
          <p:nvPr/>
        </p:nvSpPr>
        <p:spPr>
          <a:xfrm>
            <a:off x="3285439"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12" name="s4-ebar2"/>
          <p:cNvSpPr/>
          <p:nvPr/>
        </p:nvSpPr>
        <p:spPr>
          <a:xfrm>
            <a:off x="3285439" y="1371600"/>
            <a:ext cx="109728" cy="1005840"/>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13" name="Text 10"/>
          <p:cNvSpPr txBox="1"/>
          <p:nvPr/>
        </p:nvSpPr>
        <p:spPr>
          <a:xfrm>
            <a:off x="3514039"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CAPEX TM &amp; EVENTS</a:t>
            </a:r>
            <a:endParaRPr lang="en-US" sz="1100" dirty="0"/>
          </a:p>
        </p:txBody>
      </p:sp>
      <p:sp>
        <p:nvSpPr>
          <p:cNvPr id="14" name="Text 11"/>
          <p:cNvSpPr txBox="1"/>
          <p:nvPr/>
        </p:nvSpPr>
        <p:spPr>
          <a:xfrm>
            <a:off x="3514039"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1 412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15" name="Text 12"/>
          <p:cNvSpPr txBox="1"/>
          <p:nvPr/>
        </p:nvSpPr>
        <p:spPr>
          <a:xfrm>
            <a:off x="3514039"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−17,5 % vs LE T3 · −16 % vs budget 2026</a:t>
            </a:r>
            <a:endParaRPr lang="en-US" sz="1100" dirty="0"/>
          </a:p>
        </p:txBody>
      </p:sp>
      <p:sp>
        <p:nvSpPr>
          <p:cNvPr id="16" name="s4-e3"/>
          <p:cNvSpPr/>
          <p:nvPr/>
        </p:nvSpPr>
        <p:spPr>
          <a:xfrm>
            <a:off x="6159398"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17" name="s4-ebar3"/>
          <p:cNvSpPr/>
          <p:nvPr/>
        </p:nvSpPr>
        <p:spPr>
          <a:xfrm>
            <a:off x="6159398" y="1371600"/>
            <a:ext cx="109728" cy="1005840"/>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18" name="Text 15"/>
          <p:cNvSpPr txBox="1"/>
          <p:nvPr/>
        </p:nvSpPr>
        <p:spPr>
          <a:xfrm>
            <a:off x="6387998"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FREE GOODS</a:t>
            </a:r>
            <a:endParaRPr lang="en-US" sz="1100" dirty="0"/>
          </a:p>
        </p:txBody>
      </p:sp>
      <p:sp>
        <p:nvSpPr>
          <p:cNvPr id="19" name="Text 16"/>
          <p:cNvSpPr txBox="1"/>
          <p:nvPr/>
        </p:nvSpPr>
        <p:spPr>
          <a:xfrm>
            <a:off x="6387998"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1 250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20" name="Text 17"/>
          <p:cNvSpPr txBox="1"/>
          <p:nvPr/>
        </p:nvSpPr>
        <p:spPr>
          <a:xfrm>
            <a:off x="6387998"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+13,6 % vs LE T3 · dont P4P 814 M</a:t>
            </a:r>
            <a:endParaRPr lang="en-US" sz="1100" dirty="0"/>
          </a:p>
        </p:txBody>
      </p:sp>
      <p:sp>
        <p:nvSpPr>
          <p:cNvPr id="21" name="s4-e4"/>
          <p:cNvSpPr/>
          <p:nvPr/>
        </p:nvSpPr>
        <p:spPr>
          <a:xfrm>
            <a:off x="9033358"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22" name="s4-ebar4"/>
          <p:cNvSpPr/>
          <p:nvPr/>
        </p:nvSpPr>
        <p:spPr>
          <a:xfrm>
            <a:off x="9033358" y="1371600"/>
            <a:ext cx="109728" cy="1005840"/>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23" name="Text 20"/>
          <p:cNvSpPr txBox="1"/>
          <p:nvPr/>
        </p:nvSpPr>
        <p:spPr>
          <a:xfrm>
            <a:off x="9261958"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BI · ODOO · EBM</a:t>
            </a:r>
            <a:endParaRPr lang="en-US" sz="1100" dirty="0"/>
          </a:p>
        </p:txBody>
      </p:sp>
      <p:sp>
        <p:nvSpPr>
          <p:cNvPr id="24" name="Text 21"/>
          <p:cNvSpPr txBox="1"/>
          <p:nvPr/>
        </p:nvSpPr>
        <p:spPr>
          <a:xfrm>
            <a:off x="9261958"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168,5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25" name="Text 22"/>
          <p:cNvSpPr txBox="1"/>
          <p:nvPr/>
        </p:nvSpPr>
        <p:spPr>
          <a:xfrm>
            <a:off x="9261958"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vs 109,7 M budget 2026</a:t>
            </a:r>
            <a:endParaRPr lang="en-US" sz="1100" dirty="0"/>
          </a:p>
        </p:txBody>
      </p:sp>
      <p:graphicFrame>
        <p:nvGraphicFramePr>
          <p:cNvPr id="26" name="Chart 0"/>
          <p:cNvGraphicFramePr/>
          <p:nvPr/>
        </p:nvGraphicFramePr>
        <p:xfrm>
          <a:off x="411480" y="2468880"/>
          <a:ext cx="557784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27" name="s4-prio"/>
          <p:cNvSpPr/>
          <p:nvPr/>
        </p:nvSpPr>
        <p:spPr>
          <a:xfrm>
            <a:off x="6126480" y="2468880"/>
            <a:ext cx="5650992" cy="2331720"/>
          </a:xfrm>
          <a:prstGeom prst="roundRect">
            <a:avLst>
              <a:gd name="adj" fmla="val 3137"/>
            </a:avLst>
          </a:prstGeom>
          <a:solidFill>
            <a:srgbClr val="E3EAF7"/>
          </a:solidFill>
          <a:ln w="12700">
            <a:solidFill>
              <a:srgbClr val="E3EAF7"/>
            </a:solidFill>
            <a:prstDash val="solid"/>
          </a:ln>
        </p:spPr>
        <p:txBody>
          <a:bodyPr/>
          <a:lstStyle/>
          <a:p>
            <a:endParaRPr lang="fr-FR"/>
          </a:p>
        </p:txBody>
      </p:sp>
      <p:sp>
        <p:nvSpPr>
          <p:cNvPr id="28" name="Text 24"/>
          <p:cNvSpPr txBox="1"/>
          <p:nvPr/>
        </p:nvSpPr>
        <p:spPr>
          <a:xfrm>
            <a:off x="6263640" y="2505456"/>
            <a:ext cx="5394960" cy="237744"/>
          </a:xfrm>
          <a:prstGeom prst="rect">
            <a:avLst/>
          </a:prstGeom>
          <a:noFill/>
          <a:ln/>
        </p:spPr>
        <p:txBody>
          <a:bodyPr wrap="square" lIns="0" tIns="0" rIns="0" bIns="0" rtlCol="0" anchor="t"/>
          <a:lstStyle/>
          <a:p>
            <a:pPr marL="0" indent="0">
              <a:buNone/>
            </a:pPr>
            <a:r>
              <a:rPr lang="en-US" sz="1300" b="1" dirty="0">
                <a:solidFill>
                  <a:srgbClr val="0B1F4B"/>
                </a:solidFill>
                <a:latin typeface="Calibri" pitchFamily="34" charset="0"/>
                <a:ea typeface="Calibri" pitchFamily="34" charset="-122"/>
                <a:cs typeface="Calibri" pitchFamily="34" charset="-120"/>
              </a:rPr>
              <a:t>NOS RÈGLES DE DÉCISION 2027</a:t>
            </a:r>
            <a:endParaRPr lang="en-US" sz="1300" dirty="0"/>
          </a:p>
        </p:txBody>
      </p:sp>
      <p:sp>
        <p:nvSpPr>
          <p:cNvPr id="29" name="Text 25"/>
          <p:cNvSpPr txBox="1"/>
          <p:nvPr/>
        </p:nvSpPr>
        <p:spPr>
          <a:xfrm>
            <a:off x="6263640" y="276148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SELL-OUT</a:t>
            </a:r>
            <a:r>
              <a:rPr lang="en-US" sz="1300" b="1" dirty="0">
                <a:solidFill>
                  <a:srgbClr val="0B1F4B"/>
                </a:solidFill>
                <a:latin typeface="Calibri" pitchFamily="34" charset="0"/>
                <a:ea typeface="Calibri" pitchFamily="34" charset="-122"/>
                <a:cs typeface="Calibri" pitchFamily="34" charset="-120"/>
              </a:rPr>
              <a:t> before sell-in</a:t>
            </a:r>
            <a:endParaRPr lang="en-US" sz="1300" dirty="0"/>
          </a:p>
        </p:txBody>
      </p:sp>
      <p:sp>
        <p:nvSpPr>
          <p:cNvPr id="30" name="Text 26"/>
          <p:cNvSpPr txBox="1"/>
          <p:nvPr/>
        </p:nvSpPr>
        <p:spPr>
          <a:xfrm>
            <a:off x="8961120" y="276148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PERFORMANCE</a:t>
            </a:r>
            <a:r>
              <a:rPr lang="en-US" sz="1300" b="1" dirty="0">
                <a:solidFill>
                  <a:srgbClr val="0B1F4B"/>
                </a:solidFill>
                <a:latin typeface="Calibri" pitchFamily="34" charset="0"/>
                <a:ea typeface="Calibri" pitchFamily="34" charset="-122"/>
                <a:cs typeface="Calibri" pitchFamily="34" charset="-120"/>
              </a:rPr>
              <a:t> before exclusivity</a:t>
            </a:r>
            <a:endParaRPr lang="en-US" sz="1300" dirty="0"/>
          </a:p>
        </p:txBody>
      </p:sp>
      <p:sp>
        <p:nvSpPr>
          <p:cNvPr id="31" name="Text 27"/>
          <p:cNvSpPr txBox="1"/>
          <p:nvPr/>
        </p:nvSpPr>
        <p:spPr>
          <a:xfrm>
            <a:off x="6263640" y="303580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ROI</a:t>
            </a:r>
            <a:r>
              <a:rPr lang="en-US" sz="1300" b="1" dirty="0">
                <a:solidFill>
                  <a:srgbClr val="0B1F4B"/>
                </a:solidFill>
                <a:latin typeface="Calibri" pitchFamily="34" charset="0"/>
                <a:ea typeface="Calibri" pitchFamily="34" charset="-122"/>
                <a:cs typeface="Calibri" pitchFamily="34" charset="-120"/>
              </a:rPr>
              <a:t> before investment</a:t>
            </a:r>
            <a:endParaRPr lang="en-US" sz="1300" dirty="0"/>
          </a:p>
        </p:txBody>
      </p:sp>
      <p:sp>
        <p:nvSpPr>
          <p:cNvPr id="32" name="Text 28"/>
          <p:cNvSpPr txBox="1"/>
          <p:nvPr/>
        </p:nvSpPr>
        <p:spPr>
          <a:xfrm>
            <a:off x="8961120" y="303580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SIMPLIFY</a:t>
            </a:r>
            <a:r>
              <a:rPr lang="en-US" sz="1300" b="1" dirty="0">
                <a:solidFill>
                  <a:srgbClr val="0B1F4B"/>
                </a:solidFill>
                <a:latin typeface="Calibri" pitchFamily="34" charset="0"/>
                <a:ea typeface="Calibri" pitchFamily="34" charset="-122"/>
                <a:cs typeface="Calibri" pitchFamily="34" charset="-120"/>
              </a:rPr>
              <a:t> before adding</a:t>
            </a:r>
            <a:endParaRPr lang="en-US" sz="1300" dirty="0"/>
          </a:p>
        </p:txBody>
      </p:sp>
      <p:sp>
        <p:nvSpPr>
          <p:cNvPr id="33" name="Text 29"/>
          <p:cNvSpPr txBox="1"/>
          <p:nvPr/>
        </p:nvSpPr>
        <p:spPr>
          <a:xfrm>
            <a:off x="6263640" y="331012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DATA</a:t>
            </a:r>
            <a:r>
              <a:rPr lang="en-US" sz="1300" b="1" dirty="0">
                <a:solidFill>
                  <a:srgbClr val="0B1F4B"/>
                </a:solidFill>
                <a:latin typeface="Calibri" pitchFamily="34" charset="0"/>
                <a:ea typeface="Calibri" pitchFamily="34" charset="-122"/>
                <a:cs typeface="Calibri" pitchFamily="34" charset="-120"/>
              </a:rPr>
              <a:t> before opinion</a:t>
            </a:r>
            <a:endParaRPr lang="en-US" sz="1300" dirty="0"/>
          </a:p>
        </p:txBody>
      </p:sp>
      <p:sp>
        <p:nvSpPr>
          <p:cNvPr id="34" name="Text 30"/>
          <p:cNvSpPr txBox="1"/>
          <p:nvPr/>
        </p:nvSpPr>
        <p:spPr>
          <a:xfrm>
            <a:off x="8961120" y="331012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EXECUTION</a:t>
            </a:r>
            <a:r>
              <a:rPr lang="en-US" sz="1300" b="1" dirty="0">
                <a:solidFill>
                  <a:srgbClr val="0B1F4B"/>
                </a:solidFill>
                <a:latin typeface="Calibri" pitchFamily="34" charset="0"/>
                <a:ea typeface="Calibri" pitchFamily="34" charset="-122"/>
                <a:cs typeface="Calibri" pitchFamily="34" charset="-120"/>
              </a:rPr>
              <a:t> before more budget</a:t>
            </a:r>
            <a:endParaRPr lang="en-US" sz="1300" dirty="0"/>
          </a:p>
        </p:txBody>
      </p:sp>
      <p:sp>
        <p:nvSpPr>
          <p:cNvPr id="35" name="Text 31"/>
          <p:cNvSpPr txBox="1"/>
          <p:nvPr/>
        </p:nvSpPr>
        <p:spPr>
          <a:xfrm>
            <a:off x="6263640" y="3611880"/>
            <a:ext cx="5394960" cy="117043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Équipes 2027 (budget FTE) : 76 permanents (+3), 13 temporaires (−2), 1 368 M RWF/an</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RPL : partenariat de sponsoring sur 3 ans, d'où un budget Trade Marketing et Events significatif ; retour suivi événement par événement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OPEX +24 % vs budget 2026, mais +4,8 % vs LE T3 : le budget 2026 a été dépassé de 18 %</a:t>
            </a:r>
            <a:endParaRPr lang="en-US" sz="1100" dirty="0"/>
          </a:p>
        </p:txBody>
      </p:sp>
      <p:sp>
        <p:nvSpPr>
          <p:cNvPr id="36" name="s4-d1"/>
          <p:cNvSpPr/>
          <p:nvPr/>
        </p:nvSpPr>
        <p:spPr>
          <a:xfrm>
            <a:off x="411480"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37" name="Text 33"/>
          <p:cNvSpPr txBox="1"/>
          <p:nvPr/>
        </p:nvSpPr>
        <p:spPr>
          <a:xfrm>
            <a:off x="521208"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CAPACITÉ</a:t>
            </a:r>
            <a:endParaRPr lang="en-US" sz="1150" dirty="0"/>
          </a:p>
        </p:txBody>
      </p:sp>
      <p:sp>
        <p:nvSpPr>
          <p:cNvPr id="38" name="Text 34"/>
          <p:cNvSpPr txBox="1"/>
          <p:nvPr/>
        </p:nvSpPr>
        <p:spPr>
          <a:xfrm>
            <a:off x="521208"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Lignes sous tension : Arbitrage, quotas, allocations … Mist 50 cl, Malt 65 cl, </a:t>
            </a:r>
            <a:r>
              <a:rPr lang="en-US" sz="1250" b="1" dirty="0" err="1">
                <a:solidFill>
                  <a:srgbClr val="14213D"/>
                </a:solidFill>
                <a:latin typeface="Calibri" pitchFamily="34" charset="0"/>
                <a:ea typeface="Calibri" pitchFamily="34" charset="-122"/>
                <a:cs typeface="Calibri" pitchFamily="34" charset="-120"/>
              </a:rPr>
              <a:t>Gatanu</a:t>
            </a:r>
            <a:r>
              <a:rPr lang="en-US" sz="1250" b="1" dirty="0">
                <a:solidFill>
                  <a:srgbClr val="14213D"/>
                </a:solidFill>
                <a:latin typeface="Calibri" pitchFamily="34" charset="0"/>
                <a:ea typeface="Calibri" pitchFamily="34" charset="-122"/>
                <a:cs typeface="Calibri" pitchFamily="34" charset="-120"/>
              </a:rPr>
              <a:t> </a:t>
            </a:r>
            <a:r>
              <a:rPr lang="en-US" sz="1250" b="1" dirty="0" err="1">
                <a:solidFill>
                  <a:srgbClr val="14213D"/>
                </a:solidFill>
                <a:latin typeface="Calibri" pitchFamily="34" charset="0"/>
                <a:ea typeface="Calibri" pitchFamily="34" charset="-122"/>
                <a:cs typeface="Calibri" pitchFamily="34" charset="-120"/>
              </a:rPr>
              <a:t>ou</a:t>
            </a:r>
            <a:r>
              <a:rPr lang="en-US" sz="1250" b="1" dirty="0">
                <a:solidFill>
                  <a:srgbClr val="14213D"/>
                </a:solidFill>
                <a:latin typeface="Calibri" pitchFamily="34" charset="0"/>
                <a:ea typeface="Calibri" pitchFamily="34" charset="-122"/>
                <a:cs typeface="Calibri" pitchFamily="34" charset="-120"/>
              </a:rPr>
              <a:t> export (19,6 %) ?</a:t>
            </a:r>
            <a:endParaRPr lang="en-US" sz="1250" dirty="0"/>
          </a:p>
        </p:txBody>
      </p:sp>
      <p:sp>
        <p:nvSpPr>
          <p:cNvPr id="39" name="s4-d2"/>
          <p:cNvSpPr/>
          <p:nvPr/>
        </p:nvSpPr>
        <p:spPr>
          <a:xfrm>
            <a:off x="3285439"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0" name="Text 36"/>
          <p:cNvSpPr txBox="1"/>
          <p:nvPr/>
        </p:nvSpPr>
        <p:spPr>
          <a:xfrm>
            <a:off x="3395167"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EMBALLAGES</a:t>
            </a:r>
            <a:endParaRPr lang="en-US" sz="1150" dirty="0"/>
          </a:p>
        </p:txBody>
      </p:sp>
      <p:sp>
        <p:nvSpPr>
          <p:cNvPr id="41" name="Text 37"/>
          <p:cNvSpPr txBox="1"/>
          <p:nvPr/>
        </p:nvSpPr>
        <p:spPr>
          <a:xfrm>
            <a:off x="3395167"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Investir en casiers et </a:t>
            </a:r>
            <a:r>
              <a:rPr lang="en-US" sz="1250" b="1" dirty="0" err="1">
                <a:solidFill>
                  <a:srgbClr val="14213D"/>
                </a:solidFill>
                <a:latin typeface="Calibri" pitchFamily="34" charset="0"/>
                <a:ea typeface="Calibri" pitchFamily="34" charset="-122"/>
                <a:cs typeface="Calibri" pitchFamily="34" charset="-120"/>
              </a:rPr>
              <a:t>bouteilles</a:t>
            </a:r>
            <a:r>
              <a:rPr lang="en-US" sz="1250" b="1" dirty="0">
                <a:solidFill>
                  <a:srgbClr val="14213D"/>
                </a:solidFill>
                <a:latin typeface="Calibri" pitchFamily="34" charset="0"/>
                <a:ea typeface="Calibri" pitchFamily="34" charset="-122"/>
                <a:cs typeface="Calibri" pitchFamily="34" charset="-120"/>
              </a:rPr>
              <a:t>, et arbitrer le mix Prix / Produit</a:t>
            </a:r>
            <a:endParaRPr lang="en-US" sz="1250" dirty="0"/>
          </a:p>
        </p:txBody>
      </p:sp>
      <p:sp>
        <p:nvSpPr>
          <p:cNvPr id="42" name="s4-d3"/>
          <p:cNvSpPr/>
          <p:nvPr/>
        </p:nvSpPr>
        <p:spPr>
          <a:xfrm>
            <a:off x="6159398"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3" name="Text 39"/>
          <p:cNvSpPr txBox="1"/>
          <p:nvPr/>
        </p:nvSpPr>
        <p:spPr>
          <a:xfrm>
            <a:off x="6269126"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P4P</a:t>
            </a:r>
            <a:endParaRPr lang="en-US" sz="1150" dirty="0"/>
          </a:p>
        </p:txBody>
      </p:sp>
      <p:sp>
        <p:nvSpPr>
          <p:cNvPr id="44" name="Text 40"/>
          <p:cNvSpPr txBox="1"/>
          <p:nvPr/>
        </p:nvSpPr>
        <p:spPr>
          <a:xfrm>
            <a:off x="6269126"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Payer le sell-out, </a:t>
            </a:r>
            <a:r>
              <a:rPr lang="en-US" sz="1250" b="1" dirty="0" err="1">
                <a:solidFill>
                  <a:srgbClr val="14213D"/>
                </a:solidFill>
                <a:latin typeface="Calibri" pitchFamily="34" charset="0"/>
                <a:ea typeface="Calibri" pitchFamily="34" charset="-122"/>
                <a:cs typeface="Calibri" pitchFamily="34" charset="-120"/>
              </a:rPr>
              <a:t>redistribuer</a:t>
            </a:r>
            <a:r>
              <a:rPr lang="en-US" sz="1250" b="1" dirty="0">
                <a:solidFill>
                  <a:srgbClr val="14213D"/>
                </a:solidFill>
                <a:latin typeface="Calibri" pitchFamily="34" charset="0"/>
                <a:ea typeface="Calibri" pitchFamily="34" charset="-122"/>
                <a:cs typeface="Calibri" pitchFamily="34" charset="-120"/>
              </a:rPr>
              <a:t> </a:t>
            </a:r>
            <a:r>
              <a:rPr lang="en-US" sz="1250" b="1" dirty="0" err="1">
                <a:solidFill>
                  <a:srgbClr val="14213D"/>
                </a:solidFill>
                <a:latin typeface="Calibri" pitchFamily="34" charset="0"/>
                <a:ea typeface="Calibri" pitchFamily="34" charset="-122"/>
                <a:cs typeface="Calibri" pitchFamily="34" charset="-120"/>
              </a:rPr>
              <a:t>mieux</a:t>
            </a:r>
            <a:r>
              <a:rPr lang="en-US" sz="1250" b="1" dirty="0">
                <a:solidFill>
                  <a:srgbClr val="14213D"/>
                </a:solidFill>
                <a:latin typeface="Calibri" pitchFamily="34" charset="0"/>
                <a:ea typeface="Calibri" pitchFamily="34" charset="-122"/>
                <a:cs typeface="Calibri" pitchFamily="34" charset="-120"/>
              </a:rPr>
              <a:t>. Mars 2027 </a:t>
            </a:r>
            <a:r>
              <a:rPr lang="en-US" sz="1250" b="1" dirty="0" err="1">
                <a:solidFill>
                  <a:srgbClr val="14213D"/>
                </a:solidFill>
                <a:latin typeface="Calibri" pitchFamily="34" charset="0"/>
                <a:ea typeface="Calibri" pitchFamily="34" charset="-122"/>
                <a:cs typeface="Calibri" pitchFamily="34" charset="-120"/>
              </a:rPr>
              <a:t>Contrats</a:t>
            </a:r>
            <a:r>
              <a:rPr lang="en-US" sz="1250" b="1" dirty="0">
                <a:solidFill>
                  <a:srgbClr val="14213D"/>
                </a:solidFill>
                <a:latin typeface="Calibri" pitchFamily="34" charset="0"/>
                <a:ea typeface="Calibri" pitchFamily="34" charset="-122"/>
                <a:cs typeface="Calibri" pitchFamily="34" charset="-120"/>
              </a:rPr>
              <a:t> Distribution…</a:t>
            </a:r>
            <a:endParaRPr lang="en-US" sz="1250" dirty="0"/>
          </a:p>
        </p:txBody>
      </p:sp>
      <p:sp>
        <p:nvSpPr>
          <p:cNvPr id="45" name="s4-d4"/>
          <p:cNvSpPr/>
          <p:nvPr/>
        </p:nvSpPr>
        <p:spPr>
          <a:xfrm>
            <a:off x="9033358"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6" name="Text 42"/>
          <p:cNvSpPr txBox="1"/>
          <p:nvPr/>
        </p:nvSpPr>
        <p:spPr>
          <a:xfrm>
            <a:off x="9143086"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OPEX ET RPL</a:t>
            </a:r>
            <a:endParaRPr lang="en-US" sz="1150" dirty="0"/>
          </a:p>
        </p:txBody>
      </p:sp>
      <p:sp>
        <p:nvSpPr>
          <p:cNvPr id="47" name="Text 43"/>
          <p:cNvSpPr txBox="1"/>
          <p:nvPr/>
        </p:nvSpPr>
        <p:spPr>
          <a:xfrm>
            <a:off x="9143086"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RPL sur 3 </a:t>
            </a:r>
            <a:r>
              <a:rPr lang="en-US" sz="1250" b="1" dirty="0" err="1">
                <a:solidFill>
                  <a:srgbClr val="14213D"/>
                </a:solidFill>
                <a:latin typeface="Calibri" pitchFamily="34" charset="0"/>
                <a:ea typeface="Calibri" pitchFamily="34" charset="-122"/>
                <a:cs typeface="Calibri" pitchFamily="34" charset="-120"/>
              </a:rPr>
              <a:t>ans</a:t>
            </a:r>
            <a:r>
              <a:rPr lang="en-US" sz="1250" b="1" dirty="0">
                <a:solidFill>
                  <a:srgbClr val="14213D"/>
                </a:solidFill>
                <a:latin typeface="Calibri" pitchFamily="34" charset="0"/>
                <a:ea typeface="Calibri" pitchFamily="34" charset="-122"/>
                <a:cs typeface="Calibri" pitchFamily="34" charset="-120"/>
              </a:rPr>
              <a:t> et </a:t>
            </a:r>
            <a:r>
              <a:rPr lang="en-US" sz="1250" b="1" dirty="0" err="1">
                <a:solidFill>
                  <a:srgbClr val="14213D"/>
                </a:solidFill>
                <a:latin typeface="Calibri" pitchFamily="34" charset="0"/>
                <a:ea typeface="Calibri" pitchFamily="34" charset="-122"/>
                <a:cs typeface="Calibri" pitchFamily="34" charset="-120"/>
              </a:rPr>
              <a:t>maintien</a:t>
            </a:r>
            <a:r>
              <a:rPr lang="en-US" sz="1250" b="1" dirty="0">
                <a:solidFill>
                  <a:srgbClr val="14213D"/>
                </a:solidFill>
                <a:latin typeface="Calibri" pitchFamily="34" charset="0"/>
                <a:ea typeface="Calibri" pitchFamily="34" charset="-122"/>
                <a:cs typeface="Calibri" pitchFamily="34" charset="-120"/>
              </a:rPr>
              <a:t> des acquis, de </a:t>
            </a:r>
            <a:r>
              <a:rPr lang="en-US" sz="1250" b="1" dirty="0" err="1">
                <a:solidFill>
                  <a:srgbClr val="14213D"/>
                </a:solidFill>
                <a:latin typeface="Calibri" pitchFamily="34" charset="0"/>
                <a:ea typeface="Calibri" pitchFamily="34" charset="-122"/>
                <a:cs typeface="Calibri" pitchFamily="34" charset="-120"/>
              </a:rPr>
              <a:t>ce</a:t>
            </a:r>
            <a:r>
              <a:rPr lang="en-US" sz="1250" b="1" dirty="0">
                <a:solidFill>
                  <a:srgbClr val="14213D"/>
                </a:solidFill>
                <a:latin typeface="Calibri" pitchFamily="34" charset="0"/>
                <a:ea typeface="Calibri" pitchFamily="34" charset="-122"/>
                <a:cs typeface="Calibri" pitchFamily="34" charset="-120"/>
              </a:rPr>
              <a:t> qui </a:t>
            </a:r>
            <a:r>
              <a:rPr lang="en-US" sz="1250" b="1" dirty="0" err="1">
                <a:solidFill>
                  <a:srgbClr val="14213D"/>
                </a:solidFill>
                <a:latin typeface="Calibri" pitchFamily="34" charset="0"/>
                <a:ea typeface="Calibri" pitchFamily="34" charset="-122"/>
                <a:cs typeface="Calibri" pitchFamily="34" charset="-120"/>
              </a:rPr>
              <a:t>fonctionne</a:t>
            </a:r>
            <a:r>
              <a:rPr lang="en-US" sz="1250" b="1" dirty="0">
                <a:solidFill>
                  <a:srgbClr val="14213D"/>
                </a:solidFill>
                <a:latin typeface="Calibri" pitchFamily="34" charset="0"/>
                <a:ea typeface="Calibri" pitchFamily="34" charset="-122"/>
                <a:cs typeface="Calibri" pitchFamily="34" charset="-120"/>
              </a:rPr>
              <a:t> (B2B, B2C, …)</a:t>
            </a:r>
            <a:endParaRPr lang="en-US" sz="1250" dirty="0"/>
          </a:p>
        </p:txBody>
      </p:sp>
      <p:sp>
        <p:nvSpPr>
          <p:cNvPr id="48" name="banner"/>
          <p:cNvSpPr/>
          <p:nvPr/>
        </p:nvSpPr>
        <p:spPr>
          <a:xfrm>
            <a:off x="411480" y="5815584"/>
            <a:ext cx="11365992" cy="493776"/>
          </a:xfrm>
          <a:prstGeom prst="roundRect">
            <a:avLst>
              <a:gd name="adj" fmla="val 14815"/>
            </a:avLst>
          </a:prstGeom>
          <a:solidFill>
            <a:srgbClr val="0B1F4B"/>
          </a:solidFill>
          <a:ln w="12700">
            <a:solidFill>
              <a:srgbClr val="0B1F4B"/>
            </a:solidFill>
            <a:prstDash val="solid"/>
          </a:ln>
        </p:spPr>
        <p:txBody>
          <a:bodyPr/>
          <a:lstStyle/>
          <a:p>
            <a:endParaRPr lang="fr-FR"/>
          </a:p>
        </p:txBody>
      </p:sp>
      <p:sp>
        <p:nvSpPr>
          <p:cNvPr id="49" name="banner-bar"/>
          <p:cNvSpPr/>
          <p:nvPr/>
        </p:nvSpPr>
        <p:spPr>
          <a:xfrm>
            <a:off x="411480" y="5815584"/>
            <a:ext cx="128016" cy="493776"/>
          </a:xfrm>
          <a:prstGeom prst="rect">
            <a:avLst/>
          </a:prstGeom>
          <a:solidFill>
            <a:srgbClr val="FFC20E"/>
          </a:solidFill>
          <a:ln w="12700">
            <a:solidFill>
              <a:srgbClr val="FFC20E"/>
            </a:solidFill>
            <a:prstDash val="solid"/>
          </a:ln>
        </p:spPr>
        <p:txBody>
          <a:bodyPr/>
          <a:lstStyle/>
          <a:p>
            <a:endParaRPr lang="fr-FR"/>
          </a:p>
        </p:txBody>
      </p:sp>
      <p:sp>
        <p:nvSpPr>
          <p:cNvPr id="50" name="Text 46"/>
          <p:cNvSpPr txBox="1"/>
          <p:nvPr/>
        </p:nvSpPr>
        <p:spPr>
          <a:xfrm>
            <a:off x="731520" y="5815584"/>
            <a:ext cx="10927080" cy="493776"/>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Nous financerons ce qui aide à vendre, distribuer et </a:t>
            </a:r>
            <a:r>
              <a:rPr lang="en-US" sz="1700" b="1" dirty="0" err="1">
                <a:solidFill>
                  <a:srgbClr val="FFC20E"/>
                </a:solidFill>
                <a:latin typeface="Calibri" pitchFamily="34" charset="0"/>
                <a:ea typeface="Calibri" pitchFamily="34" charset="-122"/>
                <a:cs typeface="Calibri" pitchFamily="34" charset="-120"/>
              </a:rPr>
              <a:t>fidéliser</a:t>
            </a:r>
            <a:r>
              <a:rPr lang="en-US" sz="1700" b="1" dirty="0">
                <a:solidFill>
                  <a:srgbClr val="FFC20E"/>
                </a:solidFill>
                <a:latin typeface="Calibri" pitchFamily="34" charset="0"/>
                <a:ea typeface="Calibri" pitchFamily="34" charset="-122"/>
                <a:cs typeface="Calibri" pitchFamily="34" charset="-120"/>
              </a:rPr>
              <a:t>.</a:t>
            </a:r>
            <a:endParaRPr lang="en-US" sz="17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36576"/>
            <a:ext cx="12191695" cy="6858000"/>
          </a:xfrm>
          <a:prstGeom prst="rect">
            <a:avLst/>
          </a:prstGeom>
          <a:solidFill>
            <a:srgbClr val="14355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p:cNvSpPr/>
          <p:nvPr/>
        </p:nvSpPr>
        <p:spPr>
          <a:xfrm>
            <a:off x="0" y="6784848"/>
            <a:ext cx="12191695" cy="73152"/>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868680" y="6053328"/>
            <a:ext cx="987552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C9B46A"/>
                </a:solidFill>
                <a:effectLst/>
                <a:uLnTx/>
                <a:uFillTx/>
                <a:latin typeface="Arial"/>
                <a:ea typeface="+mn-ea"/>
                <a:cs typeface="+mn-cs"/>
              </a:rPr>
              <a:t>SBL Commercial  ·  20-10-26</a:t>
            </a:r>
          </a:p>
        </p:txBody>
      </p:sp>
      <p:pic>
        <p:nvPicPr>
          <p:cNvPr id="11" name="Picture 10" descr="sbl_logo_t.png"/>
          <p:cNvPicPr>
            <a:picLocks noChangeAspect="1"/>
          </p:cNvPicPr>
          <p:nvPr/>
        </p:nvPicPr>
        <p:blipFill>
          <a:blip r:embed="rId3"/>
          <a:stretch>
            <a:fillRect/>
          </a:stretch>
        </p:blipFill>
        <p:spPr>
          <a:xfrm>
            <a:off x="862149" y="897835"/>
            <a:ext cx="1997915" cy="731520"/>
          </a:xfrm>
          <a:prstGeom prst="rect">
            <a:avLst/>
          </a:prstGeom>
        </p:spPr>
      </p:pic>
      <p:sp>
        <p:nvSpPr>
          <p:cNvPr id="12" name="TextBox 11"/>
          <p:cNvSpPr txBox="1"/>
          <p:nvPr/>
        </p:nvSpPr>
        <p:spPr>
          <a:xfrm>
            <a:off x="868680" y="2304288"/>
            <a:ext cx="7315200" cy="256032"/>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200" normalizeH="0" baseline="0" noProof="0">
                <a:ln>
                  <a:noFill/>
                </a:ln>
                <a:solidFill>
                  <a:srgbClr val="C9B46A"/>
                </a:solidFill>
                <a:effectLst/>
                <a:uLnTx/>
                <a:uFillTx/>
                <a:latin typeface="Arial"/>
                <a:ea typeface="+mn-ea"/>
                <a:cs typeface="+mn-cs"/>
              </a:rPr>
              <a:t>MANAGEMENT REVIEW · Q3 2026</a:t>
            </a:r>
          </a:p>
        </p:txBody>
      </p:sp>
      <p:sp>
        <p:nvSpPr>
          <p:cNvPr id="13" name="TextBox 12"/>
          <p:cNvSpPr txBox="1"/>
          <p:nvPr/>
        </p:nvSpPr>
        <p:spPr>
          <a:xfrm>
            <a:off x="868680" y="2651760"/>
            <a:ext cx="10241280" cy="118872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4000" b="1" i="0" u="none" strike="noStrike" kern="1200" cap="none" spc="0" normalizeH="0" baseline="0" noProof="0">
                <a:ln>
                  <a:noFill/>
                </a:ln>
                <a:solidFill>
                  <a:srgbClr val="FFFFFF"/>
                </a:solidFill>
                <a:effectLst/>
                <a:uLnTx/>
                <a:uFillTx/>
                <a:latin typeface="Arial"/>
                <a:ea typeface="+mn-ea"/>
                <a:cs typeface="+mn-cs"/>
              </a:rPr>
              <a:t>From changing how we work  →</a:t>
            </a:r>
          </a:p>
          <a:p>
            <a:pPr marL="0" marR="0" lvl="0" indent="0" algn="l" defTabSz="457200" rtl="0" eaLnBrk="1" fontAlgn="auto" latinLnBrk="0" hangingPunct="1">
              <a:lnSpc>
                <a:spcPct val="105000"/>
              </a:lnSpc>
              <a:spcBef>
                <a:spcPts val="0"/>
              </a:spcBef>
              <a:spcAft>
                <a:spcPts val="0"/>
              </a:spcAft>
              <a:buClrTx/>
              <a:buSzTx/>
              <a:buFontTx/>
              <a:buNone/>
              <a:tabLst/>
              <a:defRPr/>
            </a:pPr>
            <a:r>
              <a:rPr kumimoji="0" sz="4000" b="1" i="0" u="none" strike="noStrike" kern="1200" cap="none" spc="0" normalizeH="0" baseline="0" noProof="0">
                <a:ln>
                  <a:noFill/>
                </a:ln>
                <a:solidFill>
                  <a:srgbClr val="FFFFFF"/>
                </a:solidFill>
                <a:effectLst/>
                <a:uLnTx/>
                <a:uFillTx/>
                <a:latin typeface="Arial"/>
                <a:ea typeface="+mn-ea"/>
                <a:cs typeface="+mn-cs"/>
              </a:rPr>
              <a:t>to changing the results.</a:t>
            </a:r>
          </a:p>
        </p:txBody>
      </p:sp>
      <p:sp>
        <p:nvSpPr>
          <p:cNvPr id="15" name="TextBox 14"/>
          <p:cNvSpPr txBox="1"/>
          <p:nvPr/>
        </p:nvSpPr>
        <p:spPr>
          <a:xfrm>
            <a:off x="868680" y="4133087"/>
            <a:ext cx="10241280" cy="31089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D13F"/>
                </a:solidFill>
                <a:effectLst/>
                <a:uLnTx/>
                <a:uFillTx/>
                <a:latin typeface="Arial"/>
                <a:ea typeface="+mn-ea"/>
                <a:cs typeface="+mn-cs"/>
              </a:rPr>
              <a:t>A model that repeats  ·  a plan for 2027</a:t>
            </a:r>
          </a:p>
        </p:txBody>
      </p:sp>
      <p:pic>
        <p:nvPicPr>
          <p:cNvPr id="5" name="Picture 4">
            <a:extLst>
              <a:ext uri="{FF2B5EF4-FFF2-40B4-BE49-F238E27FC236}">
                <a16:creationId xmlns:a16="http://schemas.microsoft.com/office/drawing/2014/main" id="{4D7E5072-4FCC-3542-25A8-AC93CFBE24B2}"/>
              </a:ext>
            </a:extLst>
          </p:cNvPr>
          <p:cNvPicPr>
            <a:picLocks noChangeAspect="1"/>
          </p:cNvPicPr>
          <p:nvPr/>
        </p:nvPicPr>
        <p:blipFill>
          <a:blip r:embed="rId4"/>
          <a:stretch>
            <a:fillRect/>
          </a:stretch>
        </p:blipFill>
        <p:spPr>
          <a:xfrm>
            <a:off x="9672124" y="4201785"/>
            <a:ext cx="2144151" cy="21441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 y="0"/>
            <a:ext cx="5669280" cy="6858000"/>
          </a:xfrm>
          <a:prstGeom prst="rect">
            <a:avLst/>
          </a:prstGeom>
          <a:solidFill>
            <a:srgbClr val="14355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4" name="Picture 3" descr="sbl_logo.png"/>
          <p:cNvPicPr>
            <a:picLocks noChangeAspect="1"/>
          </p:cNvPicPr>
          <p:nvPr/>
        </p:nvPicPr>
        <p:blipFill>
          <a:blip r:embed="rId3"/>
          <a:stretch>
            <a:fillRect/>
          </a:stretch>
        </p:blipFill>
        <p:spPr>
          <a:xfrm>
            <a:off x="502920" y="438912"/>
            <a:ext cx="1848071" cy="676656"/>
          </a:xfrm>
          <a:prstGeom prst="rect">
            <a:avLst/>
          </a:prstGeom>
        </p:spPr>
      </p:pic>
      <p:sp>
        <p:nvSpPr>
          <p:cNvPr id="5" name="Rectangle 4"/>
          <p:cNvSpPr/>
          <p:nvPr/>
        </p:nvSpPr>
        <p:spPr>
          <a:xfrm>
            <a:off x="502920" y="1444752"/>
            <a:ext cx="1325880" cy="45720"/>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p:cNvSpPr txBox="1"/>
          <p:nvPr/>
        </p:nvSpPr>
        <p:spPr>
          <a:xfrm>
            <a:off x="502920" y="2103120"/>
            <a:ext cx="47548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D13F"/>
                </a:solidFill>
                <a:effectLst/>
                <a:uLnTx/>
                <a:uFillTx/>
                <a:latin typeface="Arial"/>
                <a:ea typeface="+mn-ea"/>
                <a:cs typeface="+mn-cs"/>
              </a:rPr>
              <a:t>THE STORY IN THREE LINES</a:t>
            </a:r>
          </a:p>
        </p:txBody>
      </p:sp>
      <p:sp>
        <p:nvSpPr>
          <p:cNvPr id="7" name="TextBox 6"/>
          <p:cNvSpPr txBox="1"/>
          <p:nvPr/>
        </p:nvSpPr>
        <p:spPr>
          <a:xfrm>
            <a:off x="502920" y="2651760"/>
            <a:ext cx="484632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D13F"/>
                </a:solidFill>
                <a:effectLst/>
                <a:uLnTx/>
                <a:uFillTx/>
                <a:latin typeface="Arial"/>
                <a:ea typeface="+mn-ea"/>
                <a:cs typeface="+mn-cs"/>
              </a:rPr>
              <a:t>Q</a:t>
            </a:r>
            <a:r>
              <a:rPr kumimoji="0" lang="en-US" sz="1400" b="1" i="0" u="none" strike="noStrike" kern="1200" cap="none" spc="0" normalizeH="0" baseline="0" noProof="0" dirty="0">
                <a:ln>
                  <a:noFill/>
                </a:ln>
                <a:solidFill>
                  <a:srgbClr val="FFD13F"/>
                </a:solidFill>
                <a:effectLst/>
                <a:uLnTx/>
                <a:uFillTx/>
                <a:latin typeface="Arial"/>
                <a:ea typeface="+mn-ea"/>
                <a:cs typeface="+mn-cs"/>
              </a:rPr>
              <a:t>1 – Q3</a:t>
            </a:r>
            <a:endParaRPr kumimoji="0" sz="1400" b="1" i="0" u="none" strike="noStrike" kern="1200" cap="none" spc="0" normalizeH="0" baseline="0" noProof="0" dirty="0">
              <a:ln>
                <a:noFill/>
              </a:ln>
              <a:solidFill>
                <a:srgbClr val="FFD13F"/>
              </a:solidFill>
              <a:effectLst/>
              <a:uLnTx/>
              <a:uFillTx/>
              <a:latin typeface="Arial"/>
              <a:ea typeface="+mn-ea"/>
              <a:cs typeface="+mn-cs"/>
            </a:endParaRPr>
          </a:p>
        </p:txBody>
      </p:sp>
      <p:sp>
        <p:nvSpPr>
          <p:cNvPr id="8" name="TextBox 7"/>
          <p:cNvSpPr txBox="1"/>
          <p:nvPr/>
        </p:nvSpPr>
        <p:spPr>
          <a:xfrm>
            <a:off x="502920" y="3017520"/>
            <a:ext cx="48463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FFFFFF"/>
                </a:solidFill>
                <a:effectLst/>
                <a:uLnTx/>
                <a:uFillTx/>
                <a:latin typeface="Arial"/>
                <a:ea typeface="+mn-ea"/>
                <a:cs typeface="+mn-cs"/>
              </a:rPr>
              <a:t>We changed the way we execute.</a:t>
            </a:r>
          </a:p>
        </p:txBody>
      </p:sp>
      <p:sp>
        <p:nvSpPr>
          <p:cNvPr id="9" name="Rectangle 8"/>
          <p:cNvSpPr/>
          <p:nvPr/>
        </p:nvSpPr>
        <p:spPr>
          <a:xfrm>
            <a:off x="502920" y="3621024"/>
            <a:ext cx="822960" cy="22860"/>
          </a:xfrm>
          <a:prstGeom prst="rect">
            <a:avLst/>
          </a:prstGeom>
          <a:solidFill>
            <a:srgbClr val="3E6A9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502920" y="3767328"/>
            <a:ext cx="4846320"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D13F"/>
                </a:solidFill>
                <a:effectLst/>
                <a:uLnTx/>
                <a:uFillTx/>
                <a:latin typeface="Arial"/>
                <a:ea typeface="+mn-ea"/>
                <a:cs typeface="+mn-cs"/>
              </a:rPr>
              <a:t>Q4</a:t>
            </a:r>
          </a:p>
        </p:txBody>
      </p:sp>
      <p:sp>
        <p:nvSpPr>
          <p:cNvPr id="11" name="TextBox 10"/>
          <p:cNvSpPr txBox="1"/>
          <p:nvPr/>
        </p:nvSpPr>
        <p:spPr>
          <a:xfrm>
            <a:off x="502920" y="4133088"/>
            <a:ext cx="48463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FFFFFF"/>
                </a:solidFill>
                <a:effectLst/>
                <a:uLnTx/>
                <a:uFillTx/>
                <a:latin typeface="Arial"/>
                <a:ea typeface="+mn-ea"/>
                <a:cs typeface="+mn-cs"/>
              </a:rPr>
              <a:t>We consolidate and correct the gaps.</a:t>
            </a:r>
          </a:p>
        </p:txBody>
      </p:sp>
      <p:sp>
        <p:nvSpPr>
          <p:cNvPr id="12" name="Rectangle 11"/>
          <p:cNvSpPr/>
          <p:nvPr/>
        </p:nvSpPr>
        <p:spPr>
          <a:xfrm>
            <a:off x="502920" y="4736592"/>
            <a:ext cx="822960" cy="22860"/>
          </a:xfrm>
          <a:prstGeom prst="rect">
            <a:avLst/>
          </a:prstGeom>
          <a:solidFill>
            <a:srgbClr val="3E6A9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p:cNvSpPr txBox="1"/>
          <p:nvPr/>
        </p:nvSpPr>
        <p:spPr>
          <a:xfrm>
            <a:off x="502920" y="4882896"/>
            <a:ext cx="4846320"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D13F"/>
                </a:solidFill>
                <a:effectLst/>
                <a:uLnTx/>
                <a:uFillTx/>
                <a:latin typeface="Arial"/>
                <a:ea typeface="+mn-ea"/>
                <a:cs typeface="+mn-cs"/>
              </a:rPr>
              <a:t>2027</a:t>
            </a:r>
          </a:p>
        </p:txBody>
      </p:sp>
      <p:sp>
        <p:nvSpPr>
          <p:cNvPr id="14" name="TextBox 13"/>
          <p:cNvSpPr txBox="1"/>
          <p:nvPr/>
        </p:nvSpPr>
        <p:spPr>
          <a:xfrm>
            <a:off x="502920" y="5248656"/>
            <a:ext cx="48463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FFFFFF"/>
                </a:solidFill>
                <a:effectLst/>
                <a:uLnTx/>
                <a:uFillTx/>
                <a:latin typeface="Arial"/>
                <a:ea typeface="+mn-ea"/>
                <a:cs typeface="+mn-cs"/>
              </a:rPr>
              <a:t>We scale what works.</a:t>
            </a:r>
          </a:p>
        </p:txBody>
      </p:sp>
      <p:sp>
        <p:nvSpPr>
          <p:cNvPr id="15" name="TextBox 14"/>
          <p:cNvSpPr txBox="1"/>
          <p:nvPr/>
        </p:nvSpPr>
        <p:spPr>
          <a:xfrm>
            <a:off x="502920" y="5760720"/>
            <a:ext cx="4892040" cy="777240"/>
          </a:xfrm>
          <a:prstGeom prst="rect">
            <a:avLst/>
          </a:prstGeom>
          <a:noFill/>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50" b="0" i="0" u="none" strike="noStrike" kern="1200" cap="none" spc="0" normalizeH="0" baseline="0" noProof="0">
                <a:ln>
                  <a:noFill/>
                </a:ln>
                <a:solidFill>
                  <a:srgbClr val="D8E3EE"/>
                </a:solidFill>
                <a:effectLst/>
                <a:uLnTx/>
                <a:uFillTx/>
                <a:latin typeface="Arial"/>
                <a:ea typeface="+mn-ea"/>
                <a:cs typeface="+mn-cs"/>
              </a:rPr>
              <a:t>Accountability → better data → better availability → stronger sell-out → faster reaction → sustainable volume growth</a:t>
            </a:r>
          </a:p>
        </p:txBody>
      </p:sp>
      <p:sp>
        <p:nvSpPr>
          <p:cNvPr id="16" name="Rectangle 15"/>
          <p:cNvSpPr/>
          <p:nvPr/>
        </p:nvSpPr>
        <p:spPr>
          <a:xfrm>
            <a:off x="5669280" y="0"/>
            <a:ext cx="6519672" cy="6858000"/>
          </a:xfrm>
          <a:prstGeom prst="rect">
            <a:avLst/>
          </a:prstGeom>
          <a:solidFill>
            <a:srgbClr val="0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5650992" y="0"/>
            <a:ext cx="32004" cy="685800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6181344" y="1005840"/>
            <a:ext cx="5394960" cy="32918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D13F"/>
                </a:solidFill>
                <a:effectLst/>
                <a:uLnTx/>
                <a:uFillTx/>
                <a:latin typeface="Arial"/>
                <a:ea typeface="+mn-ea"/>
                <a:cs typeface="+mn-cs"/>
              </a:rPr>
              <a:t>SCALING UP</a:t>
            </a:r>
          </a:p>
        </p:txBody>
      </p:sp>
      <p:sp>
        <p:nvSpPr>
          <p:cNvPr id="19" name="TextBox 18"/>
          <p:cNvSpPr txBox="1"/>
          <p:nvPr/>
        </p:nvSpPr>
        <p:spPr>
          <a:xfrm>
            <a:off x="6181344" y="1408176"/>
            <a:ext cx="5394960"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E8EEF4"/>
                </a:solidFill>
                <a:effectLst/>
                <a:uLnTx/>
                <a:uFillTx/>
                <a:latin typeface="Arial"/>
                <a:ea typeface="+mn-ea"/>
                <a:cs typeface="+mn-cs"/>
              </a:rPr>
              <a:t>Nine months of building the rhythm — now scaling it.</a:t>
            </a:r>
          </a:p>
        </p:txBody>
      </p:sp>
      <p:sp>
        <p:nvSpPr>
          <p:cNvPr id="20" name="Rectangle 19"/>
          <p:cNvSpPr/>
          <p:nvPr/>
        </p:nvSpPr>
        <p:spPr>
          <a:xfrm>
            <a:off x="6181344" y="4892040"/>
            <a:ext cx="960120" cy="1005840"/>
          </a:xfrm>
          <a:prstGeom prst="rect">
            <a:avLst/>
          </a:prstGeom>
          <a:solidFill>
            <a:srgbClr val="2E5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6181344" y="5020055"/>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a:ea typeface="+mn-ea"/>
                <a:cs typeface="+mn-cs"/>
              </a:rPr>
              <a:t>Q1 2026</a:t>
            </a:r>
          </a:p>
        </p:txBody>
      </p:sp>
      <p:sp>
        <p:nvSpPr>
          <p:cNvPr id="22" name="TextBox 21"/>
          <p:cNvSpPr txBox="1"/>
          <p:nvPr/>
        </p:nvSpPr>
        <p:spPr>
          <a:xfrm>
            <a:off x="6181344"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FOUNDATIONS</a:t>
            </a:r>
          </a:p>
        </p:txBody>
      </p:sp>
      <p:sp>
        <p:nvSpPr>
          <p:cNvPr id="23" name="Rectangle 22"/>
          <p:cNvSpPr/>
          <p:nvPr/>
        </p:nvSpPr>
        <p:spPr>
          <a:xfrm>
            <a:off x="7315200" y="4389120"/>
            <a:ext cx="960120" cy="1508760"/>
          </a:xfrm>
          <a:prstGeom prst="rect">
            <a:avLst/>
          </a:prstGeom>
          <a:solidFill>
            <a:srgbClr val="3E6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7315200" y="4517136"/>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a:ea typeface="+mn-ea"/>
                <a:cs typeface="+mn-cs"/>
              </a:rPr>
              <a:t>Q2 2026</a:t>
            </a:r>
          </a:p>
        </p:txBody>
      </p:sp>
      <p:sp>
        <p:nvSpPr>
          <p:cNvPr id="25" name="TextBox 24"/>
          <p:cNvSpPr txBox="1"/>
          <p:nvPr/>
        </p:nvSpPr>
        <p:spPr>
          <a:xfrm>
            <a:off x="7315200"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DISCIPLINE</a:t>
            </a:r>
          </a:p>
        </p:txBody>
      </p:sp>
      <p:sp>
        <p:nvSpPr>
          <p:cNvPr id="26" name="Rectangle 25"/>
          <p:cNvSpPr/>
          <p:nvPr/>
        </p:nvSpPr>
        <p:spPr>
          <a:xfrm>
            <a:off x="8449056" y="3886200"/>
            <a:ext cx="960120" cy="2011680"/>
          </a:xfrm>
          <a:prstGeom prst="rect">
            <a:avLst/>
          </a:prstGeom>
          <a:solidFill>
            <a:srgbClr val="5B9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8449056" y="4014215"/>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a:ea typeface="+mn-ea"/>
                <a:cs typeface="+mn-cs"/>
              </a:rPr>
              <a:t>Q3 2026</a:t>
            </a:r>
          </a:p>
        </p:txBody>
      </p:sp>
      <p:sp>
        <p:nvSpPr>
          <p:cNvPr id="28" name="TextBox 27"/>
          <p:cNvSpPr txBox="1"/>
          <p:nvPr/>
        </p:nvSpPr>
        <p:spPr>
          <a:xfrm>
            <a:off x="8449056"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DELIVERED</a:t>
            </a:r>
          </a:p>
        </p:txBody>
      </p:sp>
      <p:sp>
        <p:nvSpPr>
          <p:cNvPr id="29" name="Rectangle 28"/>
          <p:cNvSpPr/>
          <p:nvPr/>
        </p:nvSpPr>
        <p:spPr>
          <a:xfrm>
            <a:off x="9582912" y="3383280"/>
            <a:ext cx="960120" cy="251460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9582912" y="3511296"/>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F2A40"/>
                </a:solidFill>
                <a:effectLst/>
                <a:uLnTx/>
                <a:uFillTx/>
                <a:latin typeface="Arial"/>
                <a:ea typeface="+mn-ea"/>
                <a:cs typeface="+mn-cs"/>
              </a:rPr>
              <a:t>Q4 2026</a:t>
            </a:r>
          </a:p>
        </p:txBody>
      </p:sp>
      <p:sp>
        <p:nvSpPr>
          <p:cNvPr id="31" name="TextBox 30"/>
          <p:cNvSpPr txBox="1"/>
          <p:nvPr/>
        </p:nvSpPr>
        <p:spPr>
          <a:xfrm>
            <a:off x="9582912"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CONSOLIDATE</a:t>
            </a:r>
          </a:p>
        </p:txBody>
      </p:sp>
      <p:sp>
        <p:nvSpPr>
          <p:cNvPr id="32" name="Rectangle 31"/>
          <p:cNvSpPr/>
          <p:nvPr/>
        </p:nvSpPr>
        <p:spPr>
          <a:xfrm>
            <a:off x="10716767" y="2880360"/>
            <a:ext cx="960120" cy="301752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10716767" y="3008376"/>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F2A40"/>
                </a:solidFill>
                <a:effectLst/>
                <a:uLnTx/>
                <a:uFillTx/>
                <a:latin typeface="Arial"/>
                <a:ea typeface="+mn-ea"/>
                <a:cs typeface="+mn-cs"/>
              </a:rPr>
              <a:t>2027</a:t>
            </a:r>
          </a:p>
        </p:txBody>
      </p:sp>
      <p:sp>
        <p:nvSpPr>
          <p:cNvPr id="34" name="TextBox 33"/>
          <p:cNvSpPr txBox="1"/>
          <p:nvPr/>
        </p:nvSpPr>
        <p:spPr>
          <a:xfrm>
            <a:off x="10716767"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SCALE</a:t>
            </a:r>
          </a:p>
        </p:txBody>
      </p:sp>
      <p:sp>
        <p:nvSpPr>
          <p:cNvPr id="35" name="Up Arrow 34"/>
          <p:cNvSpPr/>
          <p:nvPr/>
        </p:nvSpPr>
        <p:spPr>
          <a:xfrm>
            <a:off x="11576304" y="2103120"/>
            <a:ext cx="411480" cy="685800"/>
          </a:xfrm>
          <a:prstGeom prst="upArrow">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286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sbl_logo.png"/>
          <p:cNvPicPr>
            <a:picLocks noChangeAspect="1"/>
          </p:cNvPicPr>
          <p:nvPr/>
        </p:nvPicPr>
        <p:blipFill>
          <a:blip r:embed="rId3"/>
          <a:stretch>
            <a:fillRect/>
          </a:stretch>
        </p:blipFill>
        <p:spPr>
          <a:xfrm>
            <a:off x="274320" y="109728"/>
            <a:ext cx="1698228"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a:t>
            </a:r>
          </a:p>
        </p:txBody>
      </p:sp>
      <p:sp>
        <p:nvSpPr>
          <p:cNvPr id="6" name="TextBox 5"/>
          <p:cNvSpPr txBox="1"/>
          <p:nvPr/>
        </p:nvSpPr>
        <p:spPr>
          <a:xfrm>
            <a:off x="502920" y="841248"/>
            <a:ext cx="11155680"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Ten initiatives became one operating model.</a:t>
            </a:r>
          </a:p>
        </p:txBody>
      </p:sp>
      <p:sp>
        <p:nvSpPr>
          <p:cNvPr id="8" name="TextBox 7"/>
          <p:cNvSpPr txBox="1"/>
          <p:nvPr/>
        </p:nvSpPr>
        <p:spPr>
          <a:xfrm>
            <a:off x="502920" y="1444752"/>
            <a:ext cx="1115568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Four pillars, run every week.</a:t>
            </a:r>
          </a:p>
        </p:txBody>
      </p:sp>
      <p:sp>
        <p:nvSpPr>
          <p:cNvPr id="9" name="Rounded Rectangle 8"/>
          <p:cNvSpPr/>
          <p:nvPr/>
        </p:nvSpPr>
        <p:spPr>
          <a:xfrm>
            <a:off x="502920" y="1773936"/>
            <a:ext cx="2606040" cy="3310128"/>
          </a:xfrm>
          <a:prstGeom prst="roundRect">
            <a:avLst>
              <a:gd name="adj" fmla="val 5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val 10"/>
          <p:cNvSpPr/>
          <p:nvPr/>
        </p:nvSpPr>
        <p:spPr>
          <a:xfrm>
            <a:off x="704088" y="3182112"/>
            <a:ext cx="402336" cy="402336"/>
          </a:xfrm>
          <a:prstGeom prst="ellipse">
            <a:avLst/>
          </a:prstGeom>
          <a:solidFill>
            <a:srgbClr val="1F4E79"/>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1"/>
          <p:cNvSpPr txBox="1"/>
          <p:nvPr/>
        </p:nvSpPr>
        <p:spPr>
          <a:xfrm>
            <a:off x="722376" y="3264408"/>
            <a:ext cx="365760"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01</a:t>
            </a:r>
          </a:p>
        </p:txBody>
      </p:sp>
      <p:sp>
        <p:nvSpPr>
          <p:cNvPr id="13" name="TextBox 12"/>
          <p:cNvSpPr txBox="1"/>
          <p:nvPr/>
        </p:nvSpPr>
        <p:spPr>
          <a:xfrm>
            <a:off x="1216152" y="3145536"/>
            <a:ext cx="17830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EXECUTION</a:t>
            </a:r>
          </a:p>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DISCIPLINE</a:t>
            </a:r>
          </a:p>
        </p:txBody>
      </p:sp>
      <p:sp>
        <p:nvSpPr>
          <p:cNvPr id="14" name="Rectangle 13"/>
          <p:cNvSpPr/>
          <p:nvPr/>
        </p:nvSpPr>
        <p:spPr>
          <a:xfrm>
            <a:off x="722376" y="3803904"/>
            <a:ext cx="777240" cy="32004"/>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4"/>
          <p:cNvSpPr txBox="1"/>
          <p:nvPr/>
        </p:nvSpPr>
        <p:spPr>
          <a:xfrm>
            <a:off x="722376" y="3931920"/>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Target &amp; bonus</a:t>
            </a:r>
          </a:p>
        </p:txBody>
      </p:sp>
      <p:sp>
        <p:nvSpPr>
          <p:cNvPr id="16" name="TextBox 15"/>
          <p:cNvSpPr txBox="1"/>
          <p:nvPr/>
        </p:nvSpPr>
        <p:spPr>
          <a:xfrm>
            <a:off x="722376" y="4197096"/>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Weekly routines</a:t>
            </a:r>
          </a:p>
        </p:txBody>
      </p:sp>
      <p:sp>
        <p:nvSpPr>
          <p:cNvPr id="17" name="TextBox 16"/>
          <p:cNvSpPr txBox="1"/>
          <p:nvPr/>
        </p:nvSpPr>
        <p:spPr>
          <a:xfrm>
            <a:off x="722376" y="4462272"/>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Recovery actions</a:t>
            </a:r>
          </a:p>
        </p:txBody>
      </p:sp>
      <p:sp>
        <p:nvSpPr>
          <p:cNvPr id="18" name="TextBox 17"/>
          <p:cNvSpPr txBox="1"/>
          <p:nvPr/>
        </p:nvSpPr>
        <p:spPr>
          <a:xfrm>
            <a:off x="722376" y="4727448"/>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87C00"/>
                </a:solidFill>
                <a:effectLst/>
                <a:uLnTx/>
                <a:uFillTx/>
                <a:latin typeface="Arial"/>
                <a:ea typeface="+mn-ea"/>
                <a:cs typeface="+mn-cs"/>
              </a:rPr>
              <a:t>PROOF · 87% at max bonus</a:t>
            </a:r>
          </a:p>
        </p:txBody>
      </p:sp>
      <p:sp>
        <p:nvSpPr>
          <p:cNvPr id="19" name="Rounded Rectangle 18"/>
          <p:cNvSpPr/>
          <p:nvPr/>
        </p:nvSpPr>
        <p:spPr>
          <a:xfrm>
            <a:off x="3364991" y="1773936"/>
            <a:ext cx="2606040" cy="3310128"/>
          </a:xfrm>
          <a:prstGeom prst="roundRect">
            <a:avLst>
              <a:gd name="adj" fmla="val 5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val 20"/>
          <p:cNvSpPr/>
          <p:nvPr/>
        </p:nvSpPr>
        <p:spPr>
          <a:xfrm>
            <a:off x="3566160" y="3182112"/>
            <a:ext cx="402336" cy="402336"/>
          </a:xfrm>
          <a:prstGeom prst="ellipse">
            <a:avLst/>
          </a:prstGeom>
          <a:solidFill>
            <a:srgbClr val="1F4E79"/>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1"/>
          <p:cNvSpPr txBox="1"/>
          <p:nvPr/>
        </p:nvSpPr>
        <p:spPr>
          <a:xfrm>
            <a:off x="3584448" y="3264408"/>
            <a:ext cx="365760"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02</a:t>
            </a:r>
          </a:p>
        </p:txBody>
      </p:sp>
      <p:sp>
        <p:nvSpPr>
          <p:cNvPr id="23" name="TextBox 22"/>
          <p:cNvSpPr txBox="1"/>
          <p:nvPr/>
        </p:nvSpPr>
        <p:spPr>
          <a:xfrm>
            <a:off x="4078224" y="3145536"/>
            <a:ext cx="17830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RTM &amp;</a:t>
            </a:r>
          </a:p>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AVAILABILITY</a:t>
            </a:r>
          </a:p>
        </p:txBody>
      </p:sp>
      <p:sp>
        <p:nvSpPr>
          <p:cNvPr id="24" name="Rectangle 23"/>
          <p:cNvSpPr/>
          <p:nvPr/>
        </p:nvSpPr>
        <p:spPr>
          <a:xfrm>
            <a:off x="3584448" y="3803904"/>
            <a:ext cx="777240" cy="32004"/>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4"/>
          <p:cNvSpPr txBox="1"/>
          <p:nvPr/>
        </p:nvSpPr>
        <p:spPr>
          <a:xfrm>
            <a:off x="3584448" y="3931920"/>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Interchangeability</a:t>
            </a:r>
          </a:p>
        </p:txBody>
      </p:sp>
      <p:sp>
        <p:nvSpPr>
          <p:cNvPr id="26" name="TextBox 25"/>
          <p:cNvSpPr txBox="1"/>
          <p:nvPr/>
        </p:nvSpPr>
        <p:spPr>
          <a:xfrm>
            <a:off x="3584448" y="4197096"/>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27,172 crates injected</a:t>
            </a:r>
          </a:p>
        </p:txBody>
      </p:sp>
      <p:sp>
        <p:nvSpPr>
          <p:cNvPr id="27" name="TextBox 26"/>
          <p:cNvSpPr txBox="1"/>
          <p:nvPr/>
        </p:nvSpPr>
        <p:spPr>
          <a:xfrm>
            <a:off x="3584448" y="4462272"/>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87C00"/>
                </a:solidFill>
                <a:effectLst/>
                <a:uLnTx/>
                <a:uFillTx/>
                <a:latin typeface="Arial"/>
                <a:ea typeface="+mn-ea"/>
                <a:cs typeface="+mn-cs"/>
              </a:rPr>
              <a:t>Undelivered 1,622 → 89</a:t>
            </a:r>
          </a:p>
        </p:txBody>
      </p:sp>
      <p:sp>
        <p:nvSpPr>
          <p:cNvPr id="28" name="TextBox 27"/>
          <p:cNvSpPr txBox="1"/>
          <p:nvPr/>
        </p:nvSpPr>
        <p:spPr>
          <a:xfrm>
            <a:off x="3584448" y="4727448"/>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87C00"/>
                </a:solidFill>
                <a:effectLst/>
                <a:uLnTx/>
                <a:uFillTx/>
                <a:latin typeface="Arial"/>
                <a:ea typeface="+mn-ea"/>
                <a:cs typeface="+mn-cs"/>
              </a:rPr>
              <a:t>PROOF · 12.8 → 4.3 days stock</a:t>
            </a:r>
          </a:p>
        </p:txBody>
      </p:sp>
      <p:sp>
        <p:nvSpPr>
          <p:cNvPr id="29" name="Rounded Rectangle 28"/>
          <p:cNvSpPr/>
          <p:nvPr/>
        </p:nvSpPr>
        <p:spPr>
          <a:xfrm>
            <a:off x="6227064" y="1773936"/>
            <a:ext cx="2606040" cy="3310128"/>
          </a:xfrm>
          <a:prstGeom prst="roundRect">
            <a:avLst>
              <a:gd name="adj" fmla="val 5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30" name="Picture 29" descr="pil_3.png"/>
          <p:cNvPicPr>
            <a:picLocks noChangeAspect="1"/>
          </p:cNvPicPr>
          <p:nvPr/>
        </p:nvPicPr>
        <p:blipFill>
          <a:blip r:embed="rId4"/>
          <a:stretch>
            <a:fillRect/>
          </a:stretch>
        </p:blipFill>
        <p:spPr>
          <a:xfrm>
            <a:off x="6263640" y="1810512"/>
            <a:ext cx="2532888" cy="1207008"/>
          </a:xfrm>
          <a:prstGeom prst="rect">
            <a:avLst/>
          </a:prstGeom>
          <a:effectLst/>
        </p:spPr>
      </p:pic>
      <p:sp>
        <p:nvSpPr>
          <p:cNvPr id="31" name="Oval 30"/>
          <p:cNvSpPr/>
          <p:nvPr/>
        </p:nvSpPr>
        <p:spPr>
          <a:xfrm>
            <a:off x="6428232" y="3182112"/>
            <a:ext cx="402336" cy="402336"/>
          </a:xfrm>
          <a:prstGeom prst="ellipse">
            <a:avLst/>
          </a:prstGeom>
          <a:solidFill>
            <a:srgbClr val="1F4E79"/>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1"/>
          <p:cNvSpPr txBox="1"/>
          <p:nvPr/>
        </p:nvSpPr>
        <p:spPr>
          <a:xfrm>
            <a:off x="6446520" y="3264408"/>
            <a:ext cx="365760"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03</a:t>
            </a:r>
          </a:p>
        </p:txBody>
      </p:sp>
      <p:sp>
        <p:nvSpPr>
          <p:cNvPr id="33" name="TextBox 32"/>
          <p:cNvSpPr txBox="1"/>
          <p:nvPr/>
        </p:nvSpPr>
        <p:spPr>
          <a:xfrm>
            <a:off x="6940296" y="3145536"/>
            <a:ext cx="17830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DATA &amp;</a:t>
            </a:r>
          </a:p>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ACCOUNTABILITY</a:t>
            </a:r>
          </a:p>
        </p:txBody>
      </p:sp>
      <p:sp>
        <p:nvSpPr>
          <p:cNvPr id="34" name="Rectangle 33"/>
          <p:cNvSpPr/>
          <p:nvPr/>
        </p:nvSpPr>
        <p:spPr>
          <a:xfrm>
            <a:off x="6446520" y="3803904"/>
            <a:ext cx="777240" cy="32004"/>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Box 34"/>
          <p:cNvSpPr txBox="1"/>
          <p:nvPr/>
        </p:nvSpPr>
        <p:spPr>
          <a:xfrm>
            <a:off x="6446520" y="3931920"/>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Odoo across 105 depots</a:t>
            </a:r>
          </a:p>
        </p:txBody>
      </p:sp>
      <p:sp>
        <p:nvSpPr>
          <p:cNvPr id="36" name="TextBox 35"/>
          <p:cNvSpPr txBox="1"/>
          <p:nvPr/>
        </p:nvSpPr>
        <p:spPr>
          <a:xfrm>
            <a:off x="6446520" y="4197096"/>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99% usage</a:t>
            </a:r>
          </a:p>
        </p:txBody>
      </p:sp>
      <p:sp>
        <p:nvSpPr>
          <p:cNvPr id="37" name="TextBox 36"/>
          <p:cNvSpPr txBox="1"/>
          <p:nvPr/>
        </p:nvSpPr>
        <p:spPr>
          <a:xfrm>
            <a:off x="6446520" y="4462272"/>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Accuracy 21% → 78%</a:t>
            </a:r>
          </a:p>
        </p:txBody>
      </p:sp>
      <p:sp>
        <p:nvSpPr>
          <p:cNvPr id="38" name="TextBox 37"/>
          <p:cNvSpPr txBox="1"/>
          <p:nvPr/>
        </p:nvSpPr>
        <p:spPr>
          <a:xfrm>
            <a:off x="6446520" y="4727448"/>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87C00"/>
                </a:solidFill>
                <a:effectLst/>
                <a:uLnTx/>
                <a:uFillTx/>
                <a:latin typeface="Arial"/>
                <a:ea typeface="+mn-ea"/>
                <a:cs typeface="+mn-cs"/>
              </a:rPr>
              <a:t>PROOF · reviews every Tuesday</a:t>
            </a:r>
          </a:p>
        </p:txBody>
      </p:sp>
      <p:sp>
        <p:nvSpPr>
          <p:cNvPr id="39" name="Rounded Rectangle 38"/>
          <p:cNvSpPr/>
          <p:nvPr/>
        </p:nvSpPr>
        <p:spPr>
          <a:xfrm>
            <a:off x="9089136" y="1773936"/>
            <a:ext cx="2606040" cy="3310128"/>
          </a:xfrm>
          <a:prstGeom prst="roundRect">
            <a:avLst>
              <a:gd name="adj" fmla="val 5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Oval 40"/>
          <p:cNvSpPr/>
          <p:nvPr/>
        </p:nvSpPr>
        <p:spPr>
          <a:xfrm>
            <a:off x="9290304" y="3182112"/>
            <a:ext cx="402336" cy="402336"/>
          </a:xfrm>
          <a:prstGeom prst="ellipse">
            <a:avLst/>
          </a:prstGeom>
          <a:solidFill>
            <a:srgbClr val="1F4E79"/>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Box 41"/>
          <p:cNvSpPr txBox="1"/>
          <p:nvPr/>
        </p:nvSpPr>
        <p:spPr>
          <a:xfrm>
            <a:off x="9308592" y="3264408"/>
            <a:ext cx="365760"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04</a:t>
            </a:r>
          </a:p>
        </p:txBody>
      </p:sp>
      <p:sp>
        <p:nvSpPr>
          <p:cNvPr id="43" name="TextBox 42"/>
          <p:cNvSpPr txBox="1"/>
          <p:nvPr/>
        </p:nvSpPr>
        <p:spPr>
          <a:xfrm>
            <a:off x="9802368" y="3145536"/>
            <a:ext cx="17830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SELL-OUT &amp;</a:t>
            </a:r>
          </a:p>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COVERAGE</a:t>
            </a:r>
          </a:p>
        </p:txBody>
      </p:sp>
      <p:sp>
        <p:nvSpPr>
          <p:cNvPr id="44" name="Rectangle 43"/>
          <p:cNvSpPr/>
          <p:nvPr/>
        </p:nvSpPr>
        <p:spPr>
          <a:xfrm>
            <a:off x="9308592" y="3803904"/>
            <a:ext cx="777240" cy="32004"/>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Box 44"/>
          <p:cNvSpPr txBox="1"/>
          <p:nvPr/>
        </p:nvSpPr>
        <p:spPr>
          <a:xfrm>
            <a:off x="9308592" y="3931920"/>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Outlet coverage</a:t>
            </a:r>
          </a:p>
        </p:txBody>
      </p:sp>
      <p:sp>
        <p:nvSpPr>
          <p:cNvPr id="46" name="TextBox 45"/>
          <p:cNvSpPr txBox="1"/>
          <p:nvPr/>
        </p:nvSpPr>
        <p:spPr>
          <a:xfrm>
            <a:off x="9308592" y="4197096"/>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Sell-out ambition</a:t>
            </a:r>
          </a:p>
        </p:txBody>
      </p:sp>
      <p:sp>
        <p:nvSpPr>
          <p:cNvPr id="47" name="TextBox 46"/>
          <p:cNvSpPr txBox="1"/>
          <p:nvPr/>
        </p:nvSpPr>
        <p:spPr>
          <a:xfrm>
            <a:off x="9308592" y="4462272"/>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Price discipline</a:t>
            </a:r>
          </a:p>
        </p:txBody>
      </p:sp>
      <p:sp>
        <p:nvSpPr>
          <p:cNvPr id="48" name="TextBox 47"/>
          <p:cNvSpPr txBox="1"/>
          <p:nvPr/>
        </p:nvSpPr>
        <p:spPr>
          <a:xfrm>
            <a:off x="9308592" y="4727448"/>
            <a:ext cx="2212848" cy="1538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A87C00"/>
                </a:solidFill>
                <a:effectLst/>
                <a:uLnTx/>
                <a:uFillTx/>
                <a:latin typeface="Arial"/>
                <a:ea typeface="+mn-ea"/>
                <a:cs typeface="+mn-cs"/>
              </a:rPr>
              <a:t>PROOF · +</a:t>
            </a:r>
            <a:r>
              <a:rPr kumimoji="0" lang="en-US" sz="1000" b="1" i="0" u="none" strike="noStrike" kern="1200" cap="none" spc="0" normalizeH="0" baseline="0" noProof="0" dirty="0">
                <a:ln>
                  <a:noFill/>
                </a:ln>
                <a:solidFill>
                  <a:srgbClr val="A87C00"/>
                </a:solidFill>
                <a:effectLst/>
                <a:uLnTx/>
                <a:uFillTx/>
                <a:latin typeface="Arial"/>
                <a:ea typeface="+mn-ea"/>
                <a:cs typeface="+mn-cs"/>
              </a:rPr>
              <a:t>8,921</a:t>
            </a:r>
            <a:r>
              <a:rPr kumimoji="0" sz="1000" b="1" i="0" u="none" strike="noStrike" kern="1200" cap="none" spc="0" normalizeH="0" baseline="0" noProof="0" dirty="0">
                <a:ln>
                  <a:noFill/>
                </a:ln>
                <a:solidFill>
                  <a:srgbClr val="A87C00"/>
                </a:solidFill>
                <a:effectLst/>
                <a:uLnTx/>
                <a:uFillTx/>
                <a:latin typeface="Arial"/>
                <a:ea typeface="+mn-ea"/>
                <a:cs typeface="+mn-cs"/>
              </a:rPr>
              <a:t> </a:t>
            </a:r>
            <a:r>
              <a:rPr kumimoji="0" sz="1000" b="1" i="0" u="none" strike="noStrike" kern="1200" cap="none" spc="0" normalizeH="0" baseline="0" noProof="0" dirty="0" err="1">
                <a:ln>
                  <a:noFill/>
                </a:ln>
                <a:solidFill>
                  <a:srgbClr val="A87C00"/>
                </a:solidFill>
                <a:effectLst/>
                <a:uLnTx/>
                <a:uFillTx/>
                <a:latin typeface="Arial"/>
                <a:ea typeface="+mn-ea"/>
                <a:cs typeface="+mn-cs"/>
              </a:rPr>
              <a:t>hL</a:t>
            </a:r>
            <a:r>
              <a:rPr kumimoji="0" sz="1000" b="1" i="0" u="none" strike="noStrike" kern="1200" cap="none" spc="0" normalizeH="0" baseline="0" noProof="0" dirty="0">
                <a:ln>
                  <a:noFill/>
                </a:ln>
                <a:solidFill>
                  <a:srgbClr val="A87C00"/>
                </a:solidFill>
                <a:effectLst/>
                <a:uLnTx/>
                <a:uFillTx/>
                <a:latin typeface="Arial"/>
                <a:ea typeface="+mn-ea"/>
                <a:cs typeface="+mn-cs"/>
              </a:rPr>
              <a:t> in </a:t>
            </a:r>
            <a:r>
              <a:rPr kumimoji="0" lang="en-US" sz="1000" b="1" i="0" u="none" strike="noStrike" kern="1200" cap="none" spc="0" normalizeH="0" baseline="0" noProof="0" dirty="0">
                <a:ln>
                  <a:noFill/>
                </a:ln>
                <a:solidFill>
                  <a:srgbClr val="A87C00"/>
                </a:solidFill>
                <a:effectLst/>
                <a:uLnTx/>
                <a:uFillTx/>
                <a:latin typeface="Arial"/>
                <a:ea typeface="+mn-ea"/>
                <a:cs typeface="+mn-cs"/>
              </a:rPr>
              <a:t>49</a:t>
            </a:r>
            <a:r>
              <a:rPr kumimoji="0" sz="1000" b="1" i="0" u="none" strike="noStrike" kern="1200" cap="none" spc="0" normalizeH="0" baseline="0" noProof="0" dirty="0">
                <a:ln>
                  <a:noFill/>
                </a:ln>
                <a:solidFill>
                  <a:srgbClr val="A87C00"/>
                </a:solidFill>
                <a:effectLst/>
                <a:uLnTx/>
                <a:uFillTx/>
                <a:latin typeface="Arial"/>
                <a:ea typeface="+mn-ea"/>
                <a:cs typeface="+mn-cs"/>
              </a:rPr>
              <a:t> days</a:t>
            </a:r>
          </a:p>
        </p:txBody>
      </p:sp>
      <p:sp>
        <p:nvSpPr>
          <p:cNvPr id="49" name="Rounded Rectangle 48"/>
          <p:cNvSpPr/>
          <p:nvPr/>
        </p:nvSpPr>
        <p:spPr>
          <a:xfrm>
            <a:off x="502920" y="5285232"/>
            <a:ext cx="11183112" cy="566928"/>
          </a:xfrm>
          <a:prstGeom prst="roundRect">
            <a:avLst>
              <a:gd name="adj" fmla="val 5000"/>
            </a:avLst>
          </a:prstGeom>
          <a:solidFill>
            <a:srgbClr val="FFD13F"/>
          </a:solidFill>
          <a:ln>
            <a:noFill/>
          </a:ln>
          <a:effectLst/>
        </p:spPr>
        <p:txBody>
          <a:bodyPr wrap="square" tIns="27432" bIns="27432" rtlCol="0" anchor="ctr"/>
          <a:lstStyle/>
          <a:p>
            <a:pPr marL="0" marR="0" lvl="0" indent="0" algn="ctr" defTabSz="457200" rtl="0" eaLnBrk="1" fontAlgn="auto" latinLnBrk="0" hangingPunct="1">
              <a:lnSpc>
                <a:spcPct val="95000"/>
              </a:lnSpc>
              <a:spcBef>
                <a:spcPts val="0"/>
              </a:spcBef>
              <a:spcAft>
                <a:spcPts val="0"/>
              </a:spcAft>
              <a:buClrTx/>
              <a:buSzTx/>
              <a:buFontTx/>
              <a:buNone/>
              <a:tabLst/>
              <a:defRPr/>
            </a:pPr>
            <a:r>
              <a:rPr kumimoji="0" sz="1300" b="1" i="0" u="none" strike="noStrike" kern="1200" cap="none" spc="0" normalizeH="0" baseline="0" noProof="0">
                <a:ln>
                  <a:noFill/>
                </a:ln>
                <a:solidFill>
                  <a:srgbClr val="1F4E79"/>
                </a:solidFill>
                <a:effectLst/>
                <a:uLnTx/>
                <a:uFillTx/>
                <a:latin typeface="Arial"/>
                <a:ea typeface="+mn-ea"/>
                <a:cs typeface="+mn-cs"/>
              </a:rPr>
              <a:t>ONE FIELD FORCE   ·   ONE WAY OF WORKING   ·   ONE EXECUTION RHYTHM</a:t>
            </a:r>
          </a:p>
        </p:txBody>
      </p:sp>
      <p:pic>
        <p:nvPicPr>
          <p:cNvPr id="50" name="Picture 49" descr="pil1n.png"/>
          <p:cNvPicPr>
            <a:picLocks noChangeAspect="1"/>
          </p:cNvPicPr>
          <p:nvPr/>
        </p:nvPicPr>
        <p:blipFill>
          <a:blip r:embed="rId5"/>
          <a:stretch>
            <a:fillRect/>
          </a:stretch>
        </p:blipFill>
        <p:spPr>
          <a:xfrm>
            <a:off x="539496" y="1810512"/>
            <a:ext cx="2532888" cy="1207008"/>
          </a:xfrm>
          <a:prstGeom prst="rect">
            <a:avLst/>
          </a:prstGeom>
          <a:effectLst/>
        </p:spPr>
      </p:pic>
      <p:pic>
        <p:nvPicPr>
          <p:cNvPr id="51" name="Picture 50" descr="pil2n.png"/>
          <p:cNvPicPr>
            <a:picLocks noChangeAspect="1"/>
          </p:cNvPicPr>
          <p:nvPr/>
        </p:nvPicPr>
        <p:blipFill>
          <a:blip r:embed="rId6"/>
          <a:stretch>
            <a:fillRect/>
          </a:stretch>
        </p:blipFill>
        <p:spPr>
          <a:xfrm>
            <a:off x="3401568" y="1810512"/>
            <a:ext cx="2532888" cy="1207008"/>
          </a:xfrm>
          <a:prstGeom prst="rect">
            <a:avLst/>
          </a:prstGeom>
          <a:effectLst/>
        </p:spPr>
      </p:pic>
      <p:pic>
        <p:nvPicPr>
          <p:cNvPr id="52" name="Picture 51" descr="pil4n.png"/>
          <p:cNvPicPr>
            <a:picLocks noChangeAspect="1"/>
          </p:cNvPicPr>
          <p:nvPr/>
        </p:nvPicPr>
        <p:blipFill>
          <a:blip r:embed="rId7"/>
          <a:stretch>
            <a:fillRect/>
          </a:stretch>
        </p:blipFill>
        <p:spPr>
          <a:xfrm>
            <a:off x="9125712" y="1810512"/>
            <a:ext cx="2532888" cy="1207008"/>
          </a:xfrm>
          <a:prstGeom prst="rect">
            <a:avLst/>
          </a:prstGeom>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3</a:t>
            </a:r>
          </a:p>
        </p:txBody>
      </p:sp>
      <p:sp>
        <p:nvSpPr>
          <p:cNvPr id="6" name="TextBox 5"/>
          <p:cNvSpPr txBox="1"/>
          <p:nvPr/>
        </p:nvSpPr>
        <p:spPr>
          <a:xfrm>
            <a:off x="502920" y="841248"/>
            <a:ext cx="11155680"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The model that produces it — and what we scale in 2027</a:t>
            </a:r>
          </a:p>
        </p:txBody>
      </p:sp>
      <p:sp>
        <p:nvSpPr>
          <p:cNvPr id="8" name="TextBox 7"/>
          <p:cNvSpPr txBox="1"/>
          <p:nvPr/>
        </p:nvSpPr>
        <p:spPr>
          <a:xfrm>
            <a:off x="502920" y="1444752"/>
            <a:ext cx="1115568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Sell-in ends at the distributor's gate; sell-out ends in the consumer's hand. Six steps close that gap — and the last mile makes it pay.</a:t>
            </a:r>
          </a:p>
        </p:txBody>
      </p:sp>
      <p:sp>
        <p:nvSpPr>
          <p:cNvPr id="9" name="Oval 8"/>
          <p:cNvSpPr/>
          <p:nvPr/>
        </p:nvSpPr>
        <p:spPr>
          <a:xfrm>
            <a:off x="1325880" y="2788920"/>
            <a:ext cx="3383280" cy="2377440"/>
          </a:xfrm>
          <a:prstGeom prst="ellipse">
            <a:avLst/>
          </a:prstGeom>
          <a:noFill/>
          <a:ln w="12700">
            <a:solidFill>
              <a:srgbClr val="DDE3EA"/>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2331720" y="3291840"/>
            <a:ext cx="1371600" cy="13716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2331720" y="3639312"/>
            <a:ext cx="1371600" cy="731520"/>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SELL-OUT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D13F"/>
                </a:solidFill>
                <a:effectLst/>
                <a:uLnTx/>
                <a:uFillTx/>
                <a:latin typeface="Arial"/>
                <a:ea typeface="+mn-ea"/>
                <a:cs typeface="+mn-cs"/>
              </a:rPr>
              <a:t>LOOP</a:t>
            </a:r>
          </a:p>
        </p:txBody>
      </p:sp>
      <p:sp>
        <p:nvSpPr>
          <p:cNvPr id="12" name="Rounded Rectangle 11"/>
          <p:cNvSpPr/>
          <p:nvPr/>
        </p:nvSpPr>
        <p:spPr>
          <a:xfrm>
            <a:off x="2263140" y="250545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2354580" y="257860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01  </a:t>
            </a:r>
            <a:r>
              <a:rPr kumimoji="0" sz="800" b="1" i="0" u="none" strike="noStrike" kern="1200" cap="none" spc="0" normalizeH="0" baseline="0" noProof="0">
                <a:ln>
                  <a:noFill/>
                </a:ln>
                <a:solidFill>
                  <a:srgbClr val="1F4E79"/>
                </a:solidFill>
                <a:effectLst/>
                <a:uLnTx/>
                <a:uFillTx/>
                <a:latin typeface="Arial"/>
                <a:ea typeface="+mn-ea"/>
                <a:cs typeface="+mn-cs"/>
              </a:rPr>
              <a:t>ORDER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10-crate minimum</a:t>
            </a:r>
          </a:p>
        </p:txBody>
      </p:sp>
      <p:sp>
        <p:nvSpPr>
          <p:cNvPr id="14" name="Rounded Rectangle 13"/>
          <p:cNvSpPr/>
          <p:nvPr/>
        </p:nvSpPr>
        <p:spPr>
          <a:xfrm>
            <a:off x="3728008" y="309981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3819448" y="317296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02  </a:t>
            </a:r>
            <a:r>
              <a:rPr kumimoji="0" sz="800" b="1" i="0" u="none" strike="noStrike" kern="1200" cap="none" spc="0" normalizeH="0" baseline="0" noProof="0">
                <a:ln>
                  <a:noFill/>
                </a:ln>
                <a:solidFill>
                  <a:srgbClr val="1F4E79"/>
                </a:solidFill>
                <a:effectLst/>
                <a:uLnTx/>
                <a:uFillTx/>
                <a:latin typeface="Arial"/>
                <a:ea typeface="+mn-ea"/>
                <a:cs typeface="+mn-cs"/>
              </a:rPr>
              <a:t>DELIVER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under 6 hours</a:t>
            </a:r>
          </a:p>
        </p:txBody>
      </p:sp>
      <p:sp>
        <p:nvSpPr>
          <p:cNvPr id="16" name="Rounded Rectangle 15"/>
          <p:cNvSpPr/>
          <p:nvPr/>
        </p:nvSpPr>
        <p:spPr>
          <a:xfrm>
            <a:off x="3728008" y="428853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3819448" y="436168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03  </a:t>
            </a:r>
            <a:r>
              <a:rPr kumimoji="0" sz="800" b="1" i="0" u="none" strike="noStrike" kern="1200" cap="none" spc="0" normalizeH="0" baseline="0" noProof="0">
                <a:ln>
                  <a:noFill/>
                </a:ln>
                <a:solidFill>
                  <a:srgbClr val="1F4E79"/>
                </a:solidFill>
                <a:effectLst/>
                <a:uLnTx/>
                <a:uFillTx/>
                <a:latin typeface="Arial"/>
                <a:ea typeface="+mn-ea"/>
                <a:cs typeface="+mn-cs"/>
              </a:rPr>
              <a:t>SELL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open until 23:00</a:t>
            </a:r>
          </a:p>
        </p:txBody>
      </p:sp>
      <p:sp>
        <p:nvSpPr>
          <p:cNvPr id="18" name="Rounded Rectangle 17"/>
          <p:cNvSpPr/>
          <p:nvPr/>
        </p:nvSpPr>
        <p:spPr>
          <a:xfrm>
            <a:off x="2263140" y="488289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2354580" y="495604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04  </a:t>
            </a:r>
            <a:r>
              <a:rPr kumimoji="0" sz="800" b="1" i="0" u="none" strike="noStrike" kern="1200" cap="none" spc="0" normalizeH="0" baseline="0" noProof="0">
                <a:ln>
                  <a:noFill/>
                </a:ln>
                <a:solidFill>
                  <a:srgbClr val="1F4E79"/>
                </a:solidFill>
                <a:effectLst/>
                <a:uLnTx/>
                <a:uFillTx/>
                <a:latin typeface="Arial"/>
                <a:ea typeface="+mn-ea"/>
                <a:cs typeface="+mn-cs"/>
              </a:rPr>
              <a:t>REPLENISH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caller reorders</a:t>
            </a:r>
          </a:p>
        </p:txBody>
      </p:sp>
      <p:sp>
        <p:nvSpPr>
          <p:cNvPr id="20" name="Rounded Rectangle 19"/>
          <p:cNvSpPr/>
          <p:nvPr/>
        </p:nvSpPr>
        <p:spPr>
          <a:xfrm>
            <a:off x="798271" y="428853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889711" y="436168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05  </a:t>
            </a:r>
            <a:r>
              <a:rPr kumimoji="0" sz="800" b="1" i="0" u="none" strike="noStrike" kern="1200" cap="none" spc="0" normalizeH="0" baseline="0" noProof="0">
                <a:ln>
                  <a:noFill/>
                </a:ln>
                <a:solidFill>
                  <a:srgbClr val="1F4E79"/>
                </a:solidFill>
                <a:effectLst/>
                <a:uLnTx/>
                <a:uFillTx/>
                <a:latin typeface="Arial"/>
                <a:ea typeface="+mn-ea"/>
                <a:cs typeface="+mn-cs"/>
              </a:rPr>
              <a:t>SHARE SHIFTS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wallet moves to us</a:t>
            </a:r>
          </a:p>
        </p:txBody>
      </p:sp>
      <p:sp>
        <p:nvSpPr>
          <p:cNvPr id="22" name="Rounded Rectangle 21"/>
          <p:cNvSpPr/>
          <p:nvPr/>
        </p:nvSpPr>
        <p:spPr>
          <a:xfrm>
            <a:off x="798271" y="309981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889711" y="317296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06  </a:t>
            </a:r>
            <a:r>
              <a:rPr kumimoji="0" sz="800" b="1" i="0" u="none" strike="noStrike" kern="1200" cap="none" spc="0" normalizeH="0" baseline="0" noProof="0">
                <a:ln>
                  <a:noFill/>
                </a:ln>
                <a:solidFill>
                  <a:srgbClr val="1F4E79"/>
                </a:solidFill>
                <a:effectLst/>
                <a:uLnTx/>
                <a:uFillTx/>
                <a:latin typeface="Arial"/>
                <a:ea typeface="+mn-ea"/>
                <a:cs typeface="+mn-cs"/>
              </a:rPr>
              <a:t>REINVEST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tuk-tuk, people</a:t>
            </a:r>
          </a:p>
        </p:txBody>
      </p:sp>
      <p:sp>
        <p:nvSpPr>
          <p:cNvPr id="24" name="Rectangle 23"/>
          <p:cNvSpPr/>
          <p:nvPr/>
        </p:nvSpPr>
        <p:spPr>
          <a:xfrm>
            <a:off x="5989320" y="1810512"/>
            <a:ext cx="5760720"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6217920" y="1920240"/>
            <a:ext cx="27432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FFFFF"/>
                </a:solidFill>
                <a:effectLst/>
                <a:uLnTx/>
                <a:uFillTx/>
                <a:latin typeface="Arial"/>
                <a:ea typeface="+mn-ea"/>
                <a:cs typeface="+mn-cs"/>
              </a:rPr>
              <a:t>+124%</a:t>
            </a:r>
          </a:p>
        </p:txBody>
      </p:sp>
      <p:sp>
        <p:nvSpPr>
          <p:cNvPr id="26" name="TextBox 25"/>
          <p:cNvSpPr txBox="1"/>
          <p:nvPr/>
        </p:nvSpPr>
        <p:spPr>
          <a:xfrm>
            <a:off x="6217920" y="2487168"/>
            <a:ext cx="5303520" cy="4114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19" b="0" i="0" u="none" strike="noStrike" kern="1200" cap="none" spc="0" normalizeH="0" baseline="0" noProof="0">
                <a:ln>
                  <a:noFill/>
                </a:ln>
                <a:solidFill>
                  <a:srgbClr val="D8E3EE"/>
                </a:solidFill>
                <a:effectLst/>
                <a:uLnTx/>
                <a:uFillTx/>
                <a:latin typeface="Arial"/>
                <a:ea typeface="+mn-ea"/>
                <a:cs typeface="+mn-cs"/>
              </a:rPr>
              <a:t>MORE ORDERS GENERATED BY SALES REPS — same territory, same team, a different job description.</a:t>
            </a:r>
          </a:p>
        </p:txBody>
      </p:sp>
      <p:sp>
        <p:nvSpPr>
          <p:cNvPr id="27" name="TextBox 26"/>
          <p:cNvSpPr txBox="1"/>
          <p:nvPr/>
        </p:nvSpPr>
        <p:spPr>
          <a:xfrm>
            <a:off x="5989320" y="3200400"/>
            <a:ext cx="576072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150" normalizeH="0" baseline="0" noProof="0">
                <a:ln>
                  <a:noFill/>
                </a:ln>
                <a:solidFill>
                  <a:srgbClr val="A87C00"/>
                </a:solidFill>
                <a:effectLst/>
                <a:uLnTx/>
                <a:uFillTx/>
                <a:latin typeface="Arial"/>
                <a:ea typeface="+mn-ea"/>
                <a:cs typeface="+mn-cs"/>
              </a:rPr>
              <a:t>THE LAST MILE, REBUILT</a:t>
            </a:r>
          </a:p>
        </p:txBody>
      </p:sp>
      <p:sp>
        <p:nvSpPr>
          <p:cNvPr id="28" name="TextBox 27"/>
          <p:cNvSpPr txBox="1"/>
          <p:nvPr/>
        </p:nvSpPr>
        <p:spPr>
          <a:xfrm>
            <a:off x="5989320" y="3474720"/>
            <a:ext cx="5760720" cy="1417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919" b="0" i="0" u="none" strike="noStrike" kern="1200" cap="none" spc="0" normalizeH="0" baseline="0" noProof="0">
                <a:ln>
                  <a:noFill/>
                </a:ln>
                <a:solidFill>
                  <a:srgbClr val="1F2937"/>
                </a:solidFill>
                <a:effectLst/>
                <a:uLnTx/>
                <a:uFillTx/>
                <a:latin typeface="Arial"/>
                <a:ea typeface="+mn-ea"/>
                <a:cs typeface="+mn-cs"/>
              </a:rPr>
              <a:t>—  10 crates minimum, ordered by tuk-tuk, delivered in under 6 hours.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919" b="0" i="0" u="none" strike="noStrike" kern="1200" cap="none" spc="0" normalizeH="0" baseline="0" noProof="0">
                <a:ln>
                  <a:noFill/>
                </a:ln>
                <a:solidFill>
                  <a:srgbClr val="1F2937"/>
                </a:solidFill>
                <a:effectLst/>
                <a:uLnTx/>
                <a:uFillTx/>
                <a:latin typeface="Arial"/>
                <a:ea typeface="+mn-ea"/>
                <a:cs typeface="+mn-cs"/>
              </a:rPr>
              <a:t>—  Distributor open until 23:00, so the evening trade is ours.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919" b="0" i="0" u="none" strike="noStrike" kern="1200" cap="none" spc="0" normalizeH="0" baseline="0" noProof="0">
                <a:ln>
                  <a:noFill/>
                </a:ln>
                <a:solidFill>
                  <a:srgbClr val="1F2937"/>
                </a:solidFill>
                <a:effectLst/>
                <a:uLnTx/>
                <a:uFillTx/>
                <a:latin typeface="Arial"/>
                <a:ea typeface="+mn-ea"/>
                <a:cs typeface="+mn-cs"/>
              </a:rPr>
              <a:t>—  A dedicated caller reorders every outlet, every cycle.</a:t>
            </a:r>
          </a:p>
        </p:txBody>
      </p:sp>
      <p:sp>
        <p:nvSpPr>
          <p:cNvPr id="29" name="Rectangle 28"/>
          <p:cNvSpPr/>
          <p:nvPr/>
        </p:nvSpPr>
        <p:spPr>
          <a:xfrm>
            <a:off x="5989320" y="5074920"/>
            <a:ext cx="5760720" cy="749808"/>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6172200" y="5193792"/>
            <a:ext cx="54406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Small orders are not small business — 10 crates, every day, at every outlet, is how a zone grows 71%.</a:t>
            </a:r>
          </a:p>
        </p:txBody>
      </p:sp>
      <p:sp>
        <p:nvSpPr>
          <p:cNvPr id="31" name="TextBox 30"/>
          <p:cNvSpPr txBox="1"/>
          <p:nvPr/>
        </p:nvSpPr>
        <p:spPr>
          <a:xfrm>
            <a:off x="502920" y="6089904"/>
            <a:ext cx="512064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6B7A88"/>
                </a:solidFill>
                <a:effectLst/>
                <a:uLnTx/>
                <a:uFillTx/>
                <a:latin typeface="Arial"/>
                <a:ea typeface="+mn-ea"/>
                <a:cs typeface="+mn-cs"/>
              </a:rPr>
              <a:t>Sell-out loop operated weekly since Q2 2026; order generation measured on rep-generated Odoo orders, 2026 vs 2025.</a:t>
            </a:r>
          </a:p>
        </p:txBody>
      </p:sp>
      <p:sp>
        <p:nvSpPr>
          <p:cNvPr id="32" name="TextBox 31"/>
          <p:cNvSpPr txBox="1"/>
          <p:nvPr/>
        </p:nvSpPr>
        <p:spPr>
          <a:xfrm>
            <a:off x="7406640" y="6473952"/>
            <a:ext cx="2651760" cy="256032"/>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180" normalizeH="0" baseline="0" noProof="0">
                <a:ln>
                  <a:noFill/>
                </a:ln>
                <a:solidFill>
                  <a:srgbClr val="A87C00"/>
                </a:solidFill>
                <a:effectLst/>
                <a:uLnTx/>
                <a:uFillTx/>
                <a:latin typeface="Arial"/>
                <a:ea typeface="+mn-ea"/>
                <a:cs typeface="+mn-cs"/>
              </a:rPr>
              <a:t>WHY IT WORKS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286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sbl_logo.png"/>
          <p:cNvPicPr>
            <a:picLocks noChangeAspect="1"/>
          </p:cNvPicPr>
          <p:nvPr/>
        </p:nvPicPr>
        <p:blipFill>
          <a:blip r:embed="rId3"/>
          <a:stretch>
            <a:fillRect/>
          </a:stretch>
        </p:blipFill>
        <p:spPr>
          <a:xfrm>
            <a:off x="274320" y="109728"/>
            <a:ext cx="1698228"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4</a:t>
            </a:r>
          </a:p>
        </p:txBody>
      </p:sp>
      <p:sp>
        <p:nvSpPr>
          <p:cNvPr id="6" name="TextBox 5"/>
          <p:cNvSpPr txBox="1"/>
          <p:nvPr/>
        </p:nvSpPr>
        <p:spPr>
          <a:xfrm>
            <a:off x="502920" y="841248"/>
            <a:ext cx="11155680"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Availability and coverage moved first — and fast.</a:t>
            </a:r>
          </a:p>
        </p:txBody>
      </p:sp>
      <p:sp>
        <p:nvSpPr>
          <p:cNvPr id="8" name="TextBox 7"/>
          <p:cNvSpPr txBox="1"/>
          <p:nvPr/>
        </p:nvSpPr>
        <p:spPr>
          <a:xfrm>
            <a:off x="502920" y="1444752"/>
            <a:ext cx="11155680" cy="192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dirty="0">
                <a:ln>
                  <a:noFill/>
                </a:ln>
                <a:solidFill>
                  <a:srgbClr val="595959"/>
                </a:solidFill>
                <a:effectLst/>
                <a:uLnTx/>
                <a:uFillTx/>
                <a:latin typeface="Arial"/>
                <a:ea typeface="+mn-ea"/>
                <a:cs typeface="+mn-cs"/>
              </a:rPr>
              <a:t>June → September 2026   ·   territory opening unlocked +</a:t>
            </a:r>
            <a:r>
              <a:rPr kumimoji="0" lang="en-US" sz="1150" b="0" i="0" u="none" strike="noStrike" kern="1200" cap="none" spc="0" normalizeH="0" baseline="0" noProof="0" dirty="0">
                <a:ln>
                  <a:noFill/>
                </a:ln>
                <a:solidFill>
                  <a:srgbClr val="595959"/>
                </a:solidFill>
                <a:effectLst/>
                <a:uLnTx/>
                <a:uFillTx/>
                <a:latin typeface="Arial"/>
                <a:ea typeface="+mn-ea"/>
                <a:cs typeface="+mn-cs"/>
              </a:rPr>
              <a:t>8</a:t>
            </a:r>
            <a:r>
              <a:rPr kumimoji="0" sz="1150" b="0" i="0" u="none" strike="noStrike" kern="1200" cap="none" spc="0" normalizeH="0" baseline="0" noProof="0" dirty="0">
                <a:ln>
                  <a:noFill/>
                </a:ln>
                <a:solidFill>
                  <a:srgbClr val="595959"/>
                </a:solidFill>
                <a:effectLst/>
                <a:uLnTx/>
                <a:uFillTx/>
                <a:latin typeface="Arial"/>
                <a:ea typeface="+mn-ea"/>
                <a:cs typeface="+mn-cs"/>
              </a:rPr>
              <a:t>,</a:t>
            </a:r>
            <a:r>
              <a:rPr kumimoji="0" lang="en-US" sz="1150" b="0" i="0" u="none" strike="noStrike" kern="1200" cap="none" spc="0" normalizeH="0" baseline="0" noProof="0" dirty="0">
                <a:ln>
                  <a:noFill/>
                </a:ln>
                <a:solidFill>
                  <a:srgbClr val="595959"/>
                </a:solidFill>
                <a:effectLst/>
                <a:uLnTx/>
                <a:uFillTx/>
                <a:latin typeface="Arial"/>
                <a:ea typeface="+mn-ea"/>
                <a:cs typeface="+mn-cs"/>
              </a:rPr>
              <a:t>921</a:t>
            </a:r>
            <a:r>
              <a:rPr kumimoji="0" sz="1150" b="0" i="0" u="none" strike="noStrike" kern="1200" cap="none" spc="0" normalizeH="0" baseline="0" noProof="0" dirty="0">
                <a:ln>
                  <a:noFill/>
                </a:ln>
                <a:solidFill>
                  <a:srgbClr val="595959"/>
                </a:solidFill>
                <a:effectLst/>
                <a:uLnTx/>
                <a:uFillTx/>
                <a:latin typeface="Arial"/>
                <a:ea typeface="+mn-ea"/>
                <a:cs typeface="+mn-cs"/>
              </a:rPr>
              <a:t> </a:t>
            </a:r>
            <a:r>
              <a:rPr kumimoji="0" sz="1150" b="0" i="0" u="none" strike="noStrike" kern="1200" cap="none" spc="0" normalizeH="0" baseline="0" noProof="0" dirty="0" err="1">
                <a:ln>
                  <a:noFill/>
                </a:ln>
                <a:solidFill>
                  <a:srgbClr val="595959"/>
                </a:solidFill>
                <a:effectLst/>
                <a:uLnTx/>
                <a:uFillTx/>
                <a:latin typeface="Arial"/>
                <a:ea typeface="+mn-ea"/>
                <a:cs typeface="+mn-cs"/>
              </a:rPr>
              <a:t>hL</a:t>
            </a:r>
            <a:r>
              <a:rPr kumimoji="0" sz="1150" b="0" i="0" u="none" strike="noStrike" kern="1200" cap="none" spc="0" normalizeH="0" baseline="0" noProof="0" dirty="0">
                <a:ln>
                  <a:noFill/>
                </a:ln>
                <a:solidFill>
                  <a:srgbClr val="595959"/>
                </a:solidFill>
                <a:effectLst/>
                <a:uLnTx/>
                <a:uFillTx/>
                <a:latin typeface="Arial"/>
                <a:ea typeface="+mn-ea"/>
                <a:cs typeface="+mn-cs"/>
              </a:rPr>
              <a:t> in </a:t>
            </a:r>
            <a:r>
              <a:rPr kumimoji="0" lang="en-US" sz="1150" b="0" i="0" u="none" strike="noStrike" kern="1200" cap="none" spc="0" normalizeH="0" baseline="0" noProof="0" dirty="0">
                <a:ln>
                  <a:noFill/>
                </a:ln>
                <a:solidFill>
                  <a:srgbClr val="595959"/>
                </a:solidFill>
                <a:effectLst/>
                <a:uLnTx/>
                <a:uFillTx/>
                <a:latin typeface="Arial"/>
                <a:ea typeface="+mn-ea"/>
                <a:cs typeface="+mn-cs"/>
              </a:rPr>
              <a:t>49</a:t>
            </a:r>
            <a:r>
              <a:rPr kumimoji="0" sz="1150" b="0" i="0" u="none" strike="noStrike" kern="1200" cap="none" spc="0" normalizeH="0" baseline="0" noProof="0" dirty="0">
                <a:ln>
                  <a:noFill/>
                </a:ln>
                <a:solidFill>
                  <a:srgbClr val="595959"/>
                </a:solidFill>
                <a:effectLst/>
                <a:uLnTx/>
                <a:uFillTx/>
                <a:latin typeface="Arial"/>
                <a:ea typeface="+mn-ea"/>
                <a:cs typeface="+mn-cs"/>
              </a:rPr>
              <a:t> days, +5,68</a:t>
            </a:r>
            <a:r>
              <a:rPr kumimoji="0" lang="en-US" sz="1150" b="0" i="0" u="none" strike="noStrike" kern="1200" cap="none" spc="0" normalizeH="0" baseline="0" noProof="0" dirty="0">
                <a:ln>
                  <a:noFill/>
                </a:ln>
                <a:solidFill>
                  <a:srgbClr val="595959"/>
                </a:solidFill>
                <a:effectLst/>
                <a:uLnTx/>
                <a:uFillTx/>
                <a:latin typeface="Arial"/>
                <a:ea typeface="+mn-ea"/>
                <a:cs typeface="+mn-cs"/>
              </a:rPr>
              <a:t>9</a:t>
            </a:r>
            <a:r>
              <a:rPr kumimoji="0" sz="1150" b="0" i="0" u="none" strike="noStrike" kern="1200" cap="none" spc="0" normalizeH="0" baseline="0" noProof="0" dirty="0">
                <a:ln>
                  <a:noFill/>
                </a:ln>
                <a:solidFill>
                  <a:srgbClr val="595959"/>
                </a:solidFill>
                <a:effectLst/>
                <a:uLnTx/>
                <a:uFillTx/>
                <a:latin typeface="Arial"/>
                <a:ea typeface="+mn-ea"/>
                <a:cs typeface="+mn-cs"/>
              </a:rPr>
              <a:t> </a:t>
            </a:r>
            <a:r>
              <a:rPr kumimoji="0" sz="1150" b="0" i="0" u="none" strike="noStrike" kern="1200" cap="none" spc="0" normalizeH="0" baseline="0" noProof="0" dirty="0" err="1">
                <a:ln>
                  <a:noFill/>
                </a:ln>
                <a:solidFill>
                  <a:srgbClr val="595959"/>
                </a:solidFill>
                <a:effectLst/>
                <a:uLnTx/>
                <a:uFillTx/>
                <a:latin typeface="Arial"/>
                <a:ea typeface="+mn-ea"/>
                <a:cs typeface="+mn-cs"/>
              </a:rPr>
              <a:t>hL</a:t>
            </a:r>
            <a:r>
              <a:rPr kumimoji="0" sz="1150" b="0" i="0" u="none" strike="noStrike" kern="1200" cap="none" spc="0" normalizeH="0" baseline="0" noProof="0" dirty="0">
                <a:ln>
                  <a:noFill/>
                </a:ln>
                <a:solidFill>
                  <a:srgbClr val="595959"/>
                </a:solidFill>
                <a:effectLst/>
                <a:uLnTx/>
                <a:uFillTx/>
                <a:latin typeface="Arial"/>
                <a:ea typeface="+mn-ea"/>
                <a:cs typeface="+mn-cs"/>
              </a:rPr>
              <a:t> in September.</a:t>
            </a:r>
          </a:p>
        </p:txBody>
      </p:sp>
      <p:sp>
        <p:nvSpPr>
          <p:cNvPr id="9" name="Rounded Rectangle 8"/>
          <p:cNvSpPr/>
          <p:nvPr/>
        </p:nvSpPr>
        <p:spPr>
          <a:xfrm>
            <a:off x="502920" y="1773936"/>
            <a:ext cx="3611880" cy="221284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40664" y="1956816"/>
            <a:ext cx="31546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1F4E79"/>
                </a:solidFill>
                <a:effectLst/>
                <a:uLnTx/>
                <a:uFillTx/>
                <a:latin typeface="Arial"/>
                <a:ea typeface="+mn-ea"/>
                <a:cs typeface="+mn-cs"/>
              </a:rPr>
              <a:t>21% → 78%</a:t>
            </a:r>
          </a:p>
        </p:txBody>
      </p:sp>
      <p:sp>
        <p:nvSpPr>
          <p:cNvPr id="11" name="TextBox 10"/>
          <p:cNvSpPr txBox="1"/>
          <p:nvPr/>
        </p:nvSpPr>
        <p:spPr>
          <a:xfrm>
            <a:off x="740664" y="2468880"/>
            <a:ext cx="315468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595959"/>
                </a:solidFill>
                <a:effectLst/>
                <a:uLnTx/>
                <a:uFillTx/>
                <a:latin typeface="Arial"/>
                <a:ea typeface="+mn-ea"/>
                <a:cs typeface="+mn-cs"/>
              </a:rPr>
              <a:t>DATA ACCURACY · Q1 → SEPTEMBER</a:t>
            </a:r>
          </a:p>
        </p:txBody>
      </p:sp>
      <p:sp>
        <p:nvSpPr>
          <p:cNvPr id="13" name="Rounded Rectangle 12"/>
          <p:cNvSpPr/>
          <p:nvPr/>
        </p:nvSpPr>
        <p:spPr>
          <a:xfrm>
            <a:off x="4288536" y="1773936"/>
            <a:ext cx="3611880" cy="221284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3"/>
          <p:cNvSpPr txBox="1"/>
          <p:nvPr/>
        </p:nvSpPr>
        <p:spPr>
          <a:xfrm>
            <a:off x="4526279" y="1956816"/>
            <a:ext cx="31546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1F4E79"/>
                </a:solidFill>
                <a:effectLst/>
                <a:uLnTx/>
                <a:uFillTx/>
                <a:latin typeface="Arial"/>
                <a:ea typeface="+mn-ea"/>
                <a:cs typeface="+mn-cs"/>
              </a:rPr>
              <a:t>12.8 → 4.3 days</a:t>
            </a:r>
          </a:p>
        </p:txBody>
      </p:sp>
      <p:sp>
        <p:nvSpPr>
          <p:cNvPr id="15" name="TextBox 14"/>
          <p:cNvSpPr txBox="1"/>
          <p:nvPr/>
        </p:nvSpPr>
        <p:spPr>
          <a:xfrm>
            <a:off x="4526279" y="2468880"/>
            <a:ext cx="315468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595959"/>
                </a:solidFill>
                <a:effectLst/>
                <a:uLnTx/>
                <a:uFillTx/>
                <a:latin typeface="Arial"/>
                <a:ea typeface="+mn-ea"/>
                <a:cs typeface="+mn-cs"/>
              </a:rPr>
              <a:t>AVERAGE STOCK COVER (DAYS) · −66%</a:t>
            </a:r>
          </a:p>
        </p:txBody>
      </p:sp>
      <p:sp>
        <p:nvSpPr>
          <p:cNvPr id="17" name="Rounded Rectangle 16"/>
          <p:cNvSpPr/>
          <p:nvPr/>
        </p:nvSpPr>
        <p:spPr>
          <a:xfrm>
            <a:off x="8074152" y="1773936"/>
            <a:ext cx="3611880" cy="221284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7"/>
          <p:cNvSpPr txBox="1"/>
          <p:nvPr/>
        </p:nvSpPr>
        <p:spPr>
          <a:xfrm>
            <a:off x="8311896" y="1956816"/>
            <a:ext cx="3154680" cy="384721"/>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1F4E79"/>
                </a:solidFill>
                <a:effectLst/>
                <a:uLnTx/>
                <a:uFillTx/>
                <a:latin typeface="Arial"/>
                <a:ea typeface="+mn-ea"/>
                <a:cs typeface="+mn-cs"/>
              </a:rPr>
              <a:t>+</a:t>
            </a:r>
            <a:r>
              <a:rPr kumimoji="0" lang="en-US" sz="2500" b="1" i="0" u="none" strike="noStrike" kern="1200" cap="none" spc="0" normalizeH="0" baseline="0" noProof="0" dirty="0">
                <a:ln>
                  <a:noFill/>
                </a:ln>
                <a:solidFill>
                  <a:srgbClr val="1F4E79"/>
                </a:solidFill>
                <a:effectLst/>
                <a:uLnTx/>
                <a:uFillTx/>
                <a:latin typeface="Arial"/>
                <a:ea typeface="+mn-ea"/>
                <a:cs typeface="+mn-cs"/>
              </a:rPr>
              <a:t>97</a:t>
            </a:r>
            <a:r>
              <a:rPr kumimoji="0" sz="2500" b="1" i="0" u="none" strike="noStrike" kern="1200" cap="none" spc="0" normalizeH="0" baseline="0" noProof="0" dirty="0">
                <a:ln>
                  <a:noFill/>
                </a:ln>
                <a:solidFill>
                  <a:srgbClr val="1F4E79"/>
                </a:solidFill>
                <a:effectLst/>
                <a:uLnTx/>
                <a:uFillTx/>
                <a:latin typeface="Arial"/>
                <a:ea typeface="+mn-ea"/>
                <a:cs typeface="+mn-cs"/>
              </a:rPr>
              <a:t>%</a:t>
            </a:r>
          </a:p>
        </p:txBody>
      </p:sp>
      <p:sp>
        <p:nvSpPr>
          <p:cNvPr id="19" name="TextBox 18"/>
          <p:cNvSpPr txBox="1"/>
          <p:nvPr/>
        </p:nvSpPr>
        <p:spPr>
          <a:xfrm>
            <a:off x="8311896" y="2468880"/>
            <a:ext cx="3154680" cy="1538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595959"/>
                </a:solidFill>
                <a:effectLst/>
                <a:uLnTx/>
                <a:uFillTx/>
                <a:latin typeface="Arial"/>
                <a:ea typeface="+mn-ea"/>
                <a:cs typeface="+mn-cs"/>
              </a:rPr>
              <a:t>OPENED TERRITORIES · 49 DAYS</a:t>
            </a:r>
          </a:p>
        </p:txBody>
      </p:sp>
      <p:sp>
        <p:nvSpPr>
          <p:cNvPr id="21" name="Rounded Rectangle 20"/>
          <p:cNvSpPr/>
          <p:nvPr/>
        </p:nvSpPr>
        <p:spPr>
          <a:xfrm>
            <a:off x="502920" y="4169663"/>
            <a:ext cx="3611880" cy="157276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1"/>
          <p:cNvSpPr txBox="1"/>
          <p:nvPr/>
        </p:nvSpPr>
        <p:spPr>
          <a:xfrm>
            <a:off x="740664" y="4315968"/>
            <a:ext cx="310896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a:ln>
                  <a:noFill/>
                </a:ln>
                <a:solidFill>
                  <a:srgbClr val="1F4E79"/>
                </a:solidFill>
                <a:effectLst/>
                <a:uLnTx/>
                <a:uFillTx/>
                <a:latin typeface="Arial"/>
                <a:ea typeface="+mn-ea"/>
                <a:cs typeface="+mn-cs"/>
              </a:rPr>
              <a:t>27,172</a:t>
            </a:r>
          </a:p>
        </p:txBody>
      </p:sp>
      <p:sp>
        <p:nvSpPr>
          <p:cNvPr id="23" name="TextBox 22"/>
          <p:cNvSpPr txBox="1"/>
          <p:nvPr/>
        </p:nvSpPr>
        <p:spPr>
          <a:xfrm>
            <a:off x="740664" y="4754880"/>
            <a:ext cx="310896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595959"/>
                </a:solidFill>
                <a:effectLst/>
                <a:uLnTx/>
                <a:uFillTx/>
                <a:latin typeface="Arial"/>
                <a:ea typeface="+mn-ea"/>
                <a:cs typeface="+mn-cs"/>
              </a:rPr>
              <a:t>CRATES INJECTED · Q2 + Q3</a:t>
            </a:r>
          </a:p>
        </p:txBody>
      </p:sp>
      <p:sp>
        <p:nvSpPr>
          <p:cNvPr id="25" name="TextBox 24"/>
          <p:cNvSpPr txBox="1"/>
          <p:nvPr/>
        </p:nvSpPr>
        <p:spPr>
          <a:xfrm>
            <a:off x="740664" y="5468112"/>
            <a:ext cx="320040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595959"/>
                </a:solidFill>
                <a:effectLst/>
                <a:uLnTx/>
                <a:uFillTx/>
                <a:latin typeface="Arial"/>
                <a:ea typeface="+mn-ea"/>
                <a:cs typeface="+mn-cs"/>
              </a:rPr>
              <a:t>70% Kigali  ·  30% top-volume distributors</a:t>
            </a:r>
          </a:p>
        </p:txBody>
      </p:sp>
      <p:sp>
        <p:nvSpPr>
          <p:cNvPr id="26" name="Rounded Rectangle 25"/>
          <p:cNvSpPr/>
          <p:nvPr/>
        </p:nvSpPr>
        <p:spPr>
          <a:xfrm>
            <a:off x="4288536" y="4169663"/>
            <a:ext cx="3611880" cy="157276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Box 26"/>
          <p:cNvSpPr txBox="1"/>
          <p:nvPr/>
        </p:nvSpPr>
        <p:spPr>
          <a:xfrm>
            <a:off x="4526279" y="4352544"/>
            <a:ext cx="31546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a:ln>
                  <a:noFill/>
                </a:ln>
                <a:solidFill>
                  <a:srgbClr val="1F4E79"/>
                </a:solidFill>
                <a:effectLst/>
                <a:uLnTx/>
                <a:uFillTx/>
                <a:latin typeface="Arial"/>
                <a:ea typeface="+mn-ea"/>
                <a:cs typeface="+mn-cs"/>
              </a:rPr>
              <a:t>99%</a:t>
            </a:r>
          </a:p>
        </p:txBody>
      </p:sp>
      <p:sp>
        <p:nvSpPr>
          <p:cNvPr id="28" name="TextBox 27"/>
          <p:cNvSpPr txBox="1"/>
          <p:nvPr/>
        </p:nvSpPr>
        <p:spPr>
          <a:xfrm>
            <a:off x="4526279" y="4864607"/>
            <a:ext cx="315468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595959"/>
                </a:solidFill>
                <a:effectLst/>
                <a:uLnTx/>
                <a:uFillTx/>
                <a:latin typeface="Arial"/>
                <a:ea typeface="+mn-ea"/>
                <a:cs typeface="+mn-cs"/>
              </a:rPr>
              <a:t>ODOO USAGE</a:t>
            </a:r>
          </a:p>
        </p:txBody>
      </p:sp>
      <p:sp>
        <p:nvSpPr>
          <p:cNvPr id="29" name="TextBox 28"/>
          <p:cNvSpPr txBox="1"/>
          <p:nvPr/>
        </p:nvSpPr>
        <p:spPr>
          <a:xfrm>
            <a:off x="6391656" y="4846320"/>
            <a:ext cx="137160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00" b="1" i="0" u="none" strike="noStrike" kern="1200" cap="none" spc="0" normalizeH="0" baseline="0" noProof="0">
                <a:ln>
                  <a:noFill/>
                </a:ln>
                <a:solidFill>
                  <a:srgbClr val="1F4E79"/>
                </a:solidFill>
                <a:effectLst/>
                <a:uLnTx/>
                <a:uFillTx/>
                <a:latin typeface="Arial"/>
                <a:ea typeface="+mn-ea"/>
                <a:cs typeface="+mn-cs"/>
              </a:rPr>
              <a:t>105 depots</a:t>
            </a:r>
          </a:p>
          <a:p>
            <a:pPr marL="0" marR="0" lvl="0" indent="0" algn="l" defTabSz="457200" rtl="0" eaLnBrk="1" fontAlgn="auto" latinLnBrk="0" hangingPunct="1">
              <a:lnSpc>
                <a:spcPct val="105000"/>
              </a:lnSpc>
              <a:spcBef>
                <a:spcPts val="0"/>
              </a:spcBef>
              <a:spcAft>
                <a:spcPts val="0"/>
              </a:spcAft>
              <a:buClrTx/>
              <a:buSzTx/>
              <a:buFontTx/>
              <a:buNone/>
              <a:tabLst/>
              <a:defRPr/>
            </a:pPr>
            <a:r>
              <a:rPr kumimoji="0" sz="1000" b="1" i="0" u="none" strike="noStrike" kern="1200" cap="none" spc="0" normalizeH="0" baseline="0" noProof="0">
                <a:ln>
                  <a:noFill/>
                </a:ln>
                <a:solidFill>
                  <a:srgbClr val="1F4E79"/>
                </a:solidFill>
                <a:effectLst/>
                <a:uLnTx/>
                <a:uFillTx/>
                <a:latin typeface="Arial"/>
                <a:ea typeface="+mn-ea"/>
                <a:cs typeface="+mn-cs"/>
              </a:rPr>
              <a:t>connected to Odoo</a:t>
            </a:r>
          </a:p>
        </p:txBody>
      </p:sp>
      <p:sp>
        <p:nvSpPr>
          <p:cNvPr id="30" name="Rounded Rectangle 29"/>
          <p:cNvSpPr/>
          <p:nvPr/>
        </p:nvSpPr>
        <p:spPr>
          <a:xfrm>
            <a:off x="8074152" y="4169663"/>
            <a:ext cx="3611880" cy="157276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1"/>
          <p:cNvSpPr txBox="1"/>
          <p:nvPr/>
        </p:nvSpPr>
        <p:spPr>
          <a:xfrm>
            <a:off x="8311896" y="5193792"/>
            <a:ext cx="3108960"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1F4E79"/>
                </a:solidFill>
                <a:effectLst/>
                <a:uLnTx/>
                <a:uFillTx/>
                <a:latin typeface="Arial"/>
                <a:ea typeface="+mn-ea"/>
                <a:cs typeface="+mn-cs"/>
              </a:rPr>
              <a:t>16.5% → 87%</a:t>
            </a:r>
          </a:p>
        </p:txBody>
      </p:sp>
      <p:sp>
        <p:nvSpPr>
          <p:cNvPr id="33" name="TextBox 32"/>
          <p:cNvSpPr txBox="1"/>
          <p:nvPr/>
        </p:nvSpPr>
        <p:spPr>
          <a:xfrm>
            <a:off x="8311896" y="5541264"/>
            <a:ext cx="3200400"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595959"/>
                </a:solidFill>
                <a:effectLst/>
                <a:uLnTx/>
                <a:uFillTx/>
                <a:latin typeface="Arial"/>
                <a:ea typeface="+mn-ea"/>
                <a:cs typeface="+mn-cs"/>
              </a:rPr>
              <a:t>BONUS ACHIEVEMENT · JULY → SEPTEMBER</a:t>
            </a:r>
          </a:p>
        </p:txBody>
      </p:sp>
      <p:graphicFrame>
        <p:nvGraphicFramePr>
          <p:cNvPr id="34" name="Chart 33"/>
          <p:cNvGraphicFramePr>
            <a:graphicFrameLocks noGrp="1"/>
          </p:cNvGraphicFramePr>
          <p:nvPr/>
        </p:nvGraphicFramePr>
        <p:xfrm>
          <a:off x="960120" y="2798064"/>
          <a:ext cx="2697480" cy="10607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5" name="Chart 34"/>
          <p:cNvGraphicFramePr>
            <a:graphicFrameLocks noGrp="1"/>
          </p:cNvGraphicFramePr>
          <p:nvPr/>
        </p:nvGraphicFramePr>
        <p:xfrm>
          <a:off x="4745736" y="2798064"/>
          <a:ext cx="2697480" cy="106070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6" name="Chart 35"/>
          <p:cNvGraphicFramePr>
            <a:graphicFrameLocks noGrp="1"/>
          </p:cNvGraphicFramePr>
          <p:nvPr/>
        </p:nvGraphicFramePr>
        <p:xfrm>
          <a:off x="8531352" y="2798064"/>
          <a:ext cx="2697480" cy="1060704"/>
        </p:xfrm>
        <a:graphic>
          <a:graphicData uri="http://schemas.openxmlformats.org/drawingml/2006/chart">
            <c:chart xmlns:c="http://schemas.openxmlformats.org/drawingml/2006/chart" xmlns:r="http://schemas.openxmlformats.org/officeDocument/2006/relationships" r:id="rId6"/>
          </a:graphicData>
        </a:graphic>
      </p:graphicFrame>
      <p:sp>
        <p:nvSpPr>
          <p:cNvPr id="37" name="Rectangle 36"/>
          <p:cNvSpPr/>
          <p:nvPr/>
        </p:nvSpPr>
        <p:spPr>
          <a:xfrm>
            <a:off x="886968" y="5029200"/>
            <a:ext cx="1984248" cy="384048"/>
          </a:xfrm>
          <a:prstGeom prst="rect">
            <a:avLst/>
          </a:prstGeom>
          <a:solidFill>
            <a:srgbClr val="1F4E79"/>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70% KIGALI</a:t>
            </a:r>
          </a:p>
        </p:txBody>
      </p:sp>
      <p:sp>
        <p:nvSpPr>
          <p:cNvPr id="38" name="Rectangle 37"/>
          <p:cNvSpPr/>
          <p:nvPr/>
        </p:nvSpPr>
        <p:spPr>
          <a:xfrm>
            <a:off x="2871215" y="5029200"/>
            <a:ext cx="850392" cy="384048"/>
          </a:xfrm>
          <a:prstGeom prst="rect">
            <a:avLst/>
          </a:prstGeom>
          <a:solidFill>
            <a:srgbClr val="FFD13F"/>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F4E79"/>
                </a:solidFill>
                <a:effectLst/>
                <a:uLnTx/>
                <a:uFillTx/>
                <a:latin typeface="Arial"/>
                <a:ea typeface="+mn-ea"/>
                <a:cs typeface="+mn-cs"/>
              </a:rPr>
              <a:t>30%</a:t>
            </a:r>
          </a:p>
        </p:txBody>
      </p:sp>
      <p:pic>
        <p:nvPicPr>
          <p:cNvPr id="39" name="Picture 38" descr="card_meeting.png"/>
          <p:cNvPicPr>
            <a:picLocks noChangeAspect="1"/>
          </p:cNvPicPr>
          <p:nvPr/>
        </p:nvPicPr>
        <p:blipFill>
          <a:blip r:embed="rId7"/>
          <a:stretch>
            <a:fillRect/>
          </a:stretch>
        </p:blipFill>
        <p:spPr>
          <a:xfrm>
            <a:off x="8110727" y="4206240"/>
            <a:ext cx="3538728" cy="932688"/>
          </a:xfrm>
          <a:prstGeom prst="rect">
            <a:avLst/>
          </a:prstGeom>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5</a:t>
            </a:r>
          </a:p>
        </p:txBody>
      </p:sp>
      <p:sp>
        <p:nvSpPr>
          <p:cNvPr id="6" name="TextBox 5"/>
          <p:cNvSpPr txBox="1"/>
          <p:nvPr/>
        </p:nvSpPr>
        <p:spPr>
          <a:xfrm>
            <a:off x="502920" y="841248"/>
            <a:ext cx="109728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Q3 delivered the volume — and left five gaps</a:t>
            </a:r>
          </a:p>
        </p:txBody>
      </p:sp>
      <p:sp>
        <p:nvSpPr>
          <p:cNvPr id="8" name="TextBox 7"/>
          <p:cNvSpPr txBox="1"/>
          <p:nvPr/>
        </p:nvSpPr>
        <p:spPr>
          <a:xfrm>
            <a:off x="502920" y="1444752"/>
            <a:ext cx="1088136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Territories and interchangeability moved the numbers. The five gaps are now the work.</a:t>
            </a:r>
          </a:p>
        </p:txBody>
      </p:sp>
      <p:sp>
        <p:nvSpPr>
          <p:cNvPr id="9" name="Rectangle 8"/>
          <p:cNvSpPr/>
          <p:nvPr/>
        </p:nvSpPr>
        <p:spPr>
          <a:xfrm>
            <a:off x="502920" y="1847088"/>
            <a:ext cx="3657600" cy="1627632"/>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502920" y="1847088"/>
            <a:ext cx="3657600" cy="5029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704088" y="2011680"/>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7A88"/>
                </a:solidFill>
                <a:effectLst/>
                <a:uLnTx/>
                <a:uFillTx/>
                <a:latin typeface="Arial"/>
                <a:ea typeface="+mn-ea"/>
                <a:cs typeface="+mn-cs"/>
              </a:rPr>
              <a:t>TERRITORIES · 49 DAYS</a:t>
            </a:r>
          </a:p>
        </p:txBody>
      </p:sp>
      <p:sp>
        <p:nvSpPr>
          <p:cNvPr id="12" name="TextBox 11"/>
          <p:cNvSpPr txBox="1"/>
          <p:nvPr/>
        </p:nvSpPr>
        <p:spPr>
          <a:xfrm>
            <a:off x="704088" y="2249424"/>
            <a:ext cx="3255264"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a:ln>
                  <a:noFill/>
                </a:ln>
                <a:solidFill>
                  <a:srgbClr val="1F4E79"/>
                </a:solidFill>
                <a:effectLst/>
                <a:uLnTx/>
                <a:uFillTx/>
                <a:latin typeface="Arial"/>
                <a:ea typeface="+mn-ea"/>
                <a:cs typeface="+mn-cs"/>
              </a:rPr>
              <a:t>+8,921 hL</a:t>
            </a:r>
          </a:p>
        </p:txBody>
      </p:sp>
      <p:sp>
        <p:nvSpPr>
          <p:cNvPr id="13" name="TextBox 12"/>
          <p:cNvSpPr txBox="1"/>
          <p:nvPr/>
        </p:nvSpPr>
        <p:spPr>
          <a:xfrm>
            <a:off x="704088" y="2724912"/>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A87C00"/>
                </a:solidFill>
                <a:effectLst/>
                <a:uLnTx/>
                <a:uFillTx/>
                <a:latin typeface="Arial"/>
                <a:ea typeface="+mn-ea"/>
                <a:cs typeface="+mn-cs"/>
              </a:rPr>
              <a:t>+97% in opened territories</a:t>
            </a:r>
          </a:p>
        </p:txBody>
      </p:sp>
      <p:sp>
        <p:nvSpPr>
          <p:cNvPr id="14" name="TextBox 13"/>
          <p:cNvSpPr txBox="1"/>
          <p:nvPr/>
        </p:nvSpPr>
        <p:spPr>
          <a:xfrm>
            <a:off x="704088" y="2944368"/>
            <a:ext cx="3255264"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Arial"/>
                <a:ea typeface="+mn-ea"/>
                <a:cs typeface="+mn-cs"/>
              </a:rPr>
              <a:t>+106% targeted in 30 days · +5,689 hL added in September</a:t>
            </a:r>
          </a:p>
        </p:txBody>
      </p:sp>
      <p:sp>
        <p:nvSpPr>
          <p:cNvPr id="15" name="Rectangle 14"/>
          <p:cNvSpPr/>
          <p:nvPr/>
        </p:nvSpPr>
        <p:spPr>
          <a:xfrm>
            <a:off x="4315968" y="1847088"/>
            <a:ext cx="3657600" cy="1627632"/>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4315968" y="1847088"/>
            <a:ext cx="3657600" cy="5029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4517136" y="2011680"/>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7A88"/>
                </a:solidFill>
                <a:effectLst/>
                <a:uLnTx/>
                <a:uFillTx/>
                <a:latin typeface="Arial"/>
                <a:ea typeface="+mn-ea"/>
                <a:cs typeface="+mn-cs"/>
              </a:rPr>
              <a:t>WHOLESALER UNDELIVERED ORDERS · Q1 → SEP</a:t>
            </a:r>
          </a:p>
        </p:txBody>
      </p:sp>
      <p:sp>
        <p:nvSpPr>
          <p:cNvPr id="18" name="TextBox 17"/>
          <p:cNvSpPr txBox="1"/>
          <p:nvPr/>
        </p:nvSpPr>
        <p:spPr>
          <a:xfrm>
            <a:off x="4517136" y="2249424"/>
            <a:ext cx="3255264"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a:ln>
                  <a:noFill/>
                </a:ln>
                <a:solidFill>
                  <a:srgbClr val="1F4E79"/>
                </a:solidFill>
                <a:effectLst/>
                <a:uLnTx/>
                <a:uFillTx/>
                <a:latin typeface="Arial"/>
                <a:ea typeface="+mn-ea"/>
                <a:cs typeface="+mn-cs"/>
              </a:rPr>
              <a:t>1,622 → 89</a:t>
            </a:r>
          </a:p>
        </p:txBody>
      </p:sp>
      <p:sp>
        <p:nvSpPr>
          <p:cNvPr id="19" name="TextBox 18"/>
          <p:cNvSpPr txBox="1"/>
          <p:nvPr/>
        </p:nvSpPr>
        <p:spPr>
          <a:xfrm>
            <a:off x="4517136" y="2724912"/>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A87C00"/>
                </a:solidFill>
                <a:effectLst/>
                <a:uLnTx/>
                <a:uFillTx/>
                <a:latin typeface="Arial"/>
                <a:ea typeface="+mn-ea"/>
                <a:cs typeface="+mn-cs"/>
              </a:rPr>
              <a:t>−95% after pack interchangeability</a:t>
            </a:r>
          </a:p>
        </p:txBody>
      </p:sp>
      <p:sp>
        <p:nvSpPr>
          <p:cNvPr id="20" name="TextBox 19"/>
          <p:cNvSpPr txBox="1"/>
          <p:nvPr/>
        </p:nvSpPr>
        <p:spPr>
          <a:xfrm>
            <a:off x="4517136" y="2944368"/>
            <a:ext cx="3255264"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Arial"/>
                <a:ea typeface="+mn-ea"/>
                <a:cs typeface="+mn-cs"/>
              </a:rPr>
              <a:t>Fewer unserved orders, on the same stock</a:t>
            </a:r>
          </a:p>
        </p:txBody>
      </p:sp>
      <p:sp>
        <p:nvSpPr>
          <p:cNvPr id="21" name="Rectangle 20"/>
          <p:cNvSpPr/>
          <p:nvPr/>
        </p:nvSpPr>
        <p:spPr>
          <a:xfrm>
            <a:off x="8129016" y="1847088"/>
            <a:ext cx="3657600" cy="1627632"/>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p:nvSpPr>
        <p:spPr>
          <a:xfrm>
            <a:off x="8129016" y="1847088"/>
            <a:ext cx="3657600" cy="5029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8330184" y="2011680"/>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7A88"/>
                </a:solidFill>
                <a:effectLst/>
                <a:uLnTx/>
                <a:uFillTx/>
                <a:latin typeface="Arial"/>
                <a:ea typeface="+mn-ea"/>
                <a:cs typeface="+mn-cs"/>
              </a:rPr>
              <a:t>DISTRIBUTOR STOCKHOLDING · Q1 → SEP</a:t>
            </a:r>
          </a:p>
        </p:txBody>
      </p:sp>
      <p:sp>
        <p:nvSpPr>
          <p:cNvPr id="24" name="TextBox 23"/>
          <p:cNvSpPr txBox="1"/>
          <p:nvPr/>
        </p:nvSpPr>
        <p:spPr>
          <a:xfrm>
            <a:off x="8330184" y="2249424"/>
            <a:ext cx="3255264"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a:ln>
                  <a:noFill/>
                </a:ln>
                <a:solidFill>
                  <a:srgbClr val="1F4E79"/>
                </a:solidFill>
                <a:effectLst/>
                <a:uLnTx/>
                <a:uFillTx/>
                <a:latin typeface="Arial"/>
                <a:ea typeface="+mn-ea"/>
                <a:cs typeface="+mn-cs"/>
              </a:rPr>
              <a:t>12.8 → 4.3 days</a:t>
            </a:r>
          </a:p>
        </p:txBody>
      </p:sp>
      <p:sp>
        <p:nvSpPr>
          <p:cNvPr id="25" name="TextBox 24"/>
          <p:cNvSpPr txBox="1"/>
          <p:nvPr/>
        </p:nvSpPr>
        <p:spPr>
          <a:xfrm>
            <a:off x="8330184" y="2724912"/>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A87C00"/>
                </a:solidFill>
                <a:effectLst/>
                <a:uLnTx/>
                <a:uFillTx/>
                <a:latin typeface="Arial"/>
                <a:ea typeface="+mn-ea"/>
                <a:cs typeface="+mn-cs"/>
              </a:rPr>
              <a:t>−66% stock cover</a:t>
            </a:r>
          </a:p>
        </p:txBody>
      </p:sp>
      <p:sp>
        <p:nvSpPr>
          <p:cNvPr id="26" name="TextBox 25"/>
          <p:cNvSpPr txBox="1"/>
          <p:nvPr/>
        </p:nvSpPr>
        <p:spPr>
          <a:xfrm>
            <a:off x="8330184" y="2944368"/>
            <a:ext cx="3255264"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Arial"/>
                <a:ea typeface="+mn-ea"/>
                <a:cs typeface="+mn-cs"/>
              </a:rPr>
              <a:t>Faster rotation, more orders per day, better empties recovery</a:t>
            </a:r>
          </a:p>
        </p:txBody>
      </p:sp>
      <p:sp>
        <p:nvSpPr>
          <p:cNvPr id="27" name="Rectangle 26"/>
          <p:cNvSpPr/>
          <p:nvPr/>
        </p:nvSpPr>
        <p:spPr>
          <a:xfrm>
            <a:off x="502920" y="3639312"/>
            <a:ext cx="11173968" cy="1920240"/>
          </a:xfrm>
          <a:prstGeom prst="rect">
            <a:avLst/>
          </a:prstGeom>
          <a:solidFill>
            <a:srgbClr val="FDF8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731520" y="3767328"/>
            <a:ext cx="5486400"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A87C00"/>
                </a:solidFill>
                <a:effectLst/>
                <a:uLnTx/>
                <a:uFillTx/>
                <a:latin typeface="Arial"/>
                <a:ea typeface="+mn-ea"/>
                <a:cs typeface="+mn-cs"/>
              </a:rPr>
              <a:t>FIVE GAPS Q4 MUST CLOSE</a:t>
            </a:r>
          </a:p>
        </p:txBody>
      </p:sp>
      <p:sp>
        <p:nvSpPr>
          <p:cNvPr id="30" name="TextBox 29"/>
          <p:cNvSpPr txBox="1"/>
          <p:nvPr/>
        </p:nvSpPr>
        <p:spPr>
          <a:xfrm>
            <a:off x="73152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01</a:t>
            </a:r>
          </a:p>
        </p:txBody>
      </p:sp>
      <p:sp>
        <p:nvSpPr>
          <p:cNvPr id="31" name="TextBox 30"/>
          <p:cNvSpPr txBox="1"/>
          <p:nvPr/>
        </p:nvSpPr>
        <p:spPr>
          <a:xfrm>
            <a:off x="104241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DISTRIBUTOR FRAGILITY</a:t>
            </a:r>
          </a:p>
        </p:txBody>
      </p:sp>
      <p:sp>
        <p:nvSpPr>
          <p:cNvPr id="32" name="TextBox 31"/>
          <p:cNvSpPr txBox="1"/>
          <p:nvPr/>
        </p:nvSpPr>
        <p:spPr>
          <a:xfrm>
            <a:off x="104241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Some distributors remain below their potential.</a:t>
            </a:r>
          </a:p>
        </p:txBody>
      </p:sp>
      <p:sp>
        <p:nvSpPr>
          <p:cNvPr id="33" name="TextBox 32"/>
          <p:cNvSpPr txBox="1"/>
          <p:nvPr/>
        </p:nvSpPr>
        <p:spPr>
          <a:xfrm>
            <a:off x="292608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02</a:t>
            </a:r>
          </a:p>
        </p:txBody>
      </p:sp>
      <p:sp>
        <p:nvSpPr>
          <p:cNvPr id="34" name="TextBox 33"/>
          <p:cNvSpPr txBox="1"/>
          <p:nvPr/>
        </p:nvSpPr>
        <p:spPr>
          <a:xfrm>
            <a:off x="323697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PRICE DISCIPLINE</a:t>
            </a:r>
          </a:p>
        </p:txBody>
      </p:sp>
      <p:sp>
        <p:nvSpPr>
          <p:cNvPr id="35" name="TextBox 34"/>
          <p:cNvSpPr txBox="1"/>
          <p:nvPr/>
        </p:nvSpPr>
        <p:spPr>
          <a:xfrm>
            <a:off x="323697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Below-Brl share 46% → 73%, June → August.</a:t>
            </a:r>
          </a:p>
        </p:txBody>
      </p:sp>
      <p:sp>
        <p:nvSpPr>
          <p:cNvPr id="36" name="TextBox 35"/>
          <p:cNvSpPr txBox="1"/>
          <p:nvPr/>
        </p:nvSpPr>
        <p:spPr>
          <a:xfrm>
            <a:off x="512064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03</a:t>
            </a:r>
          </a:p>
        </p:txBody>
      </p:sp>
      <p:sp>
        <p:nvSpPr>
          <p:cNvPr id="37" name="TextBox 36"/>
          <p:cNvSpPr txBox="1"/>
          <p:nvPr/>
        </p:nvSpPr>
        <p:spPr>
          <a:xfrm>
            <a:off x="543153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AVAILABILITY</a:t>
            </a:r>
          </a:p>
        </p:txBody>
      </p:sp>
      <p:sp>
        <p:nvSpPr>
          <p:cNvPr id="38" name="TextBox 37"/>
          <p:cNvSpPr txBox="1"/>
          <p:nvPr/>
        </p:nvSpPr>
        <p:spPr>
          <a:xfrm>
            <a:off x="543153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Stock-outs still cost us sales.</a:t>
            </a:r>
          </a:p>
        </p:txBody>
      </p:sp>
      <p:sp>
        <p:nvSpPr>
          <p:cNvPr id="39" name="TextBox 38"/>
          <p:cNvSpPr txBox="1"/>
          <p:nvPr/>
        </p:nvSpPr>
        <p:spPr>
          <a:xfrm>
            <a:off x="731520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04</a:t>
            </a:r>
          </a:p>
        </p:txBody>
      </p:sp>
      <p:sp>
        <p:nvSpPr>
          <p:cNvPr id="40" name="TextBox 39"/>
          <p:cNvSpPr txBox="1"/>
          <p:nvPr/>
        </p:nvSpPr>
        <p:spPr>
          <a:xfrm>
            <a:off x="762609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DATA ACCURACY</a:t>
            </a:r>
          </a:p>
        </p:txBody>
      </p:sp>
      <p:sp>
        <p:nvSpPr>
          <p:cNvPr id="41" name="TextBox 40"/>
          <p:cNvSpPr txBox="1"/>
          <p:nvPr/>
        </p:nvSpPr>
        <p:spPr>
          <a:xfrm>
            <a:off x="762609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78% is progress, not the standard.</a:t>
            </a:r>
          </a:p>
        </p:txBody>
      </p:sp>
      <p:sp>
        <p:nvSpPr>
          <p:cNvPr id="42" name="TextBox 41"/>
          <p:cNvSpPr txBox="1"/>
          <p:nvPr/>
        </p:nvSpPr>
        <p:spPr>
          <a:xfrm>
            <a:off x="950976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05</a:t>
            </a:r>
          </a:p>
        </p:txBody>
      </p:sp>
      <p:sp>
        <p:nvSpPr>
          <p:cNvPr id="43" name="TextBox 42"/>
          <p:cNvSpPr txBox="1"/>
          <p:nvPr/>
        </p:nvSpPr>
        <p:spPr>
          <a:xfrm>
            <a:off x="982065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EXECUTION CONSISTENCY</a:t>
            </a:r>
          </a:p>
        </p:txBody>
      </p:sp>
      <p:sp>
        <p:nvSpPr>
          <p:cNvPr id="44" name="TextBox 43"/>
          <p:cNvSpPr txBox="1"/>
          <p:nvPr/>
        </p:nvSpPr>
        <p:spPr>
          <a:xfrm>
            <a:off x="982065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Same rhythm, every territory, every week.</a:t>
            </a:r>
          </a:p>
        </p:txBody>
      </p:sp>
      <p:sp>
        <p:nvSpPr>
          <p:cNvPr id="45" name="TextBox 44"/>
          <p:cNvSpPr txBox="1"/>
          <p:nvPr/>
        </p:nvSpPr>
        <p:spPr>
          <a:xfrm>
            <a:off x="502920" y="5833872"/>
            <a:ext cx="1115568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6B7A88"/>
                </a:solidFill>
                <a:effectLst/>
                <a:uLnTx/>
                <a:uFillTx/>
                <a:latin typeface="Arial"/>
                <a:ea typeface="+mn-ea"/>
                <a:cs typeface="+mn-cs"/>
              </a:rPr>
              <a:t>The next step is not more initiatives — it is more consistent execution.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6</a:t>
            </a:r>
          </a:p>
        </p:txBody>
      </p:sp>
      <p:sp>
        <p:nvSpPr>
          <p:cNvPr id="6" name="TextBox 5"/>
          <p:cNvSpPr txBox="1"/>
          <p:nvPr/>
        </p:nvSpPr>
        <p:spPr>
          <a:xfrm>
            <a:off x="502920" y="841248"/>
            <a:ext cx="1060704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How we win Kigali</a:t>
            </a:r>
          </a:p>
        </p:txBody>
      </p:sp>
      <p:sp>
        <p:nvSpPr>
          <p:cNvPr id="7" name="TextBox 6"/>
          <p:cNvSpPr txBox="1"/>
          <p:nvPr/>
        </p:nvSpPr>
        <p:spPr>
          <a:xfrm>
            <a:off x="502920" y="1371600"/>
            <a:ext cx="10881360" cy="29260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KGL-SALES grew +7.0% to 67,467.76 hL — but all of the growth came from the north. The south gave back 8,030 hL.</a:t>
            </a:r>
          </a:p>
        </p:txBody>
      </p:sp>
      <p:sp>
        <p:nvSpPr>
          <p:cNvPr id="8" name="TextBox 7"/>
          <p:cNvSpPr txBox="1"/>
          <p:nvPr/>
        </p:nvSpPr>
        <p:spPr>
          <a:xfrm>
            <a:off x="502920" y="1901952"/>
            <a:ext cx="475488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120" normalizeH="0" baseline="0" noProof="0">
                <a:ln>
                  <a:noFill/>
                </a:ln>
                <a:solidFill>
                  <a:srgbClr val="A87C00"/>
                </a:solidFill>
                <a:effectLst/>
                <a:uLnTx/>
                <a:uFillTx/>
                <a:latin typeface="Arial"/>
                <a:ea typeface="+mn-ea"/>
                <a:cs typeface="+mn-cs"/>
              </a:rPr>
              <a:t>KIGALI SALES ZONE · HECTOLITRES</a:t>
            </a:r>
          </a:p>
        </p:txBody>
      </p:sp>
      <p:sp>
        <p:nvSpPr>
          <p:cNvPr id="9" name="TextBox 8"/>
          <p:cNvSpPr txBox="1"/>
          <p:nvPr/>
        </p:nvSpPr>
        <p:spPr>
          <a:xfrm>
            <a:off x="502920" y="2121408"/>
            <a:ext cx="3291840" cy="51206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1F4E79"/>
                </a:solidFill>
                <a:effectLst/>
                <a:uLnTx/>
                <a:uFillTx/>
                <a:latin typeface="Arial"/>
                <a:ea typeface="+mn-ea"/>
                <a:cs typeface="+mn-cs"/>
              </a:rPr>
              <a:t>67,467.76</a:t>
            </a:r>
            <a:r>
              <a:rPr kumimoji="0" sz="1200" b="0" i="0" u="none" strike="noStrike" kern="1200" cap="none" spc="0" normalizeH="0" baseline="0" noProof="0">
                <a:ln>
                  <a:noFill/>
                </a:ln>
                <a:solidFill>
                  <a:srgbClr val="595959"/>
                </a:solidFill>
                <a:effectLst/>
                <a:uLnTx/>
                <a:uFillTx/>
                <a:latin typeface="Arial"/>
                <a:ea typeface="+mn-ea"/>
                <a:cs typeface="+mn-cs"/>
              </a:rPr>
              <a:t>  hL</a:t>
            </a:r>
          </a:p>
        </p:txBody>
      </p:sp>
      <p:sp>
        <p:nvSpPr>
          <p:cNvPr id="10" name="TextBox 9"/>
          <p:cNvSpPr txBox="1"/>
          <p:nvPr/>
        </p:nvSpPr>
        <p:spPr>
          <a:xfrm>
            <a:off x="502920" y="2615184"/>
            <a:ext cx="48463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595959"/>
                </a:solidFill>
                <a:effectLst/>
                <a:uLnTx/>
                <a:uFillTx/>
                <a:latin typeface="Arial"/>
                <a:ea typeface="+mn-ea"/>
                <a:cs typeface="+mn-cs"/>
              </a:rPr>
              <a:t>2025: 63,051.64  ·  +7.0%  ·  crates 768,807 → 821,764 (+6.9%)</a:t>
            </a:r>
          </a:p>
        </p:txBody>
      </p:sp>
      <p:sp>
        <p:nvSpPr>
          <p:cNvPr id="11" name="Rectangle 10"/>
          <p:cNvSpPr/>
          <p:nvPr/>
        </p:nvSpPr>
        <p:spPr>
          <a:xfrm>
            <a:off x="502920" y="2907792"/>
            <a:ext cx="484632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502920" y="3017520"/>
            <a:ext cx="109728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NORTH</a:t>
            </a:r>
          </a:p>
        </p:txBody>
      </p:sp>
      <p:sp>
        <p:nvSpPr>
          <p:cNvPr id="13" name="TextBox 12"/>
          <p:cNvSpPr txBox="1"/>
          <p:nvPr/>
        </p:nvSpPr>
        <p:spPr>
          <a:xfrm>
            <a:off x="1645920" y="2999232"/>
            <a:ext cx="237744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2937"/>
                </a:solidFill>
                <a:effectLst/>
                <a:uLnTx/>
                <a:uFillTx/>
                <a:latin typeface="Arial"/>
                <a:ea typeface="+mn-ea"/>
                <a:cs typeface="+mn-cs"/>
              </a:rPr>
              <a:t>23,188 → 35,635</a:t>
            </a:r>
          </a:p>
        </p:txBody>
      </p:sp>
      <p:sp>
        <p:nvSpPr>
          <p:cNvPr id="14" name="TextBox 13"/>
          <p:cNvSpPr txBox="1"/>
          <p:nvPr/>
        </p:nvSpPr>
        <p:spPr>
          <a:xfrm>
            <a:off x="4069080" y="2999232"/>
            <a:ext cx="128016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+54%</a:t>
            </a:r>
          </a:p>
        </p:txBody>
      </p:sp>
      <p:sp>
        <p:nvSpPr>
          <p:cNvPr id="15" name="TextBox 14"/>
          <p:cNvSpPr txBox="1"/>
          <p:nvPr/>
        </p:nvSpPr>
        <p:spPr>
          <a:xfrm>
            <a:off x="502920" y="3474720"/>
            <a:ext cx="109728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SOUTH</a:t>
            </a:r>
          </a:p>
        </p:txBody>
      </p:sp>
      <p:sp>
        <p:nvSpPr>
          <p:cNvPr id="16" name="TextBox 15"/>
          <p:cNvSpPr txBox="1"/>
          <p:nvPr/>
        </p:nvSpPr>
        <p:spPr>
          <a:xfrm>
            <a:off x="1645920" y="3456432"/>
            <a:ext cx="237744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2937"/>
                </a:solidFill>
                <a:effectLst/>
                <a:uLnTx/>
                <a:uFillTx/>
                <a:latin typeface="Arial"/>
                <a:ea typeface="+mn-ea"/>
                <a:cs typeface="+mn-cs"/>
              </a:rPr>
              <a:t>39,863 → 31,833</a:t>
            </a:r>
          </a:p>
        </p:txBody>
      </p:sp>
      <p:sp>
        <p:nvSpPr>
          <p:cNvPr id="17" name="TextBox 16"/>
          <p:cNvSpPr txBox="1"/>
          <p:nvPr/>
        </p:nvSpPr>
        <p:spPr>
          <a:xfrm>
            <a:off x="4069080" y="3456432"/>
            <a:ext cx="128016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5B6B7B"/>
                </a:solidFill>
                <a:effectLst/>
                <a:uLnTx/>
                <a:uFillTx/>
                <a:latin typeface="Arial"/>
                <a:ea typeface="+mn-ea"/>
                <a:cs typeface="+mn-cs"/>
              </a:rPr>
              <a:t>−20%</a:t>
            </a:r>
          </a:p>
        </p:txBody>
      </p:sp>
      <p:sp>
        <p:nvSpPr>
          <p:cNvPr id="18" name="TextBox 17"/>
          <p:cNvSpPr txBox="1"/>
          <p:nvPr/>
        </p:nvSpPr>
        <p:spPr>
          <a:xfrm>
            <a:off x="502920" y="3913632"/>
            <a:ext cx="484632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1" u="none" strike="noStrike" kern="1200" cap="none" spc="0" normalizeH="0" baseline="0" noProof="0">
                <a:ln>
                  <a:noFill/>
                </a:ln>
                <a:solidFill>
                  <a:srgbClr val="5B6B7B"/>
                </a:solidFill>
                <a:effectLst/>
                <a:uLnTx/>
                <a:uFillTx/>
                <a:latin typeface="Arial"/>
                <a:ea typeface="+mn-ea"/>
                <a:cs typeface="+mn-cs"/>
              </a:rPr>
              <a:t>The north added 12,447 hL. The south gave back 65% of it.</a:t>
            </a:r>
          </a:p>
        </p:txBody>
      </p:sp>
      <p:sp>
        <p:nvSpPr>
          <p:cNvPr id="19" name="TextBox 18"/>
          <p:cNvSpPr txBox="1"/>
          <p:nvPr/>
        </p:nvSpPr>
        <p:spPr>
          <a:xfrm>
            <a:off x="5806440" y="1901952"/>
            <a:ext cx="539496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120" normalizeH="0" baseline="0" noProof="0">
                <a:ln>
                  <a:noFill/>
                </a:ln>
                <a:solidFill>
                  <a:srgbClr val="A87C00"/>
                </a:solidFill>
                <a:effectLst/>
                <a:uLnTx/>
                <a:uFillTx/>
                <a:latin typeface="Arial"/>
                <a:ea typeface="+mn-ea"/>
                <a:cs typeface="+mn-cs"/>
              </a:rPr>
              <a:t>TWO MOVES</a:t>
            </a:r>
          </a:p>
        </p:txBody>
      </p:sp>
      <p:sp>
        <p:nvSpPr>
          <p:cNvPr id="20" name="TextBox 19"/>
          <p:cNvSpPr txBox="1"/>
          <p:nvPr/>
        </p:nvSpPr>
        <p:spPr>
          <a:xfrm>
            <a:off x="5806440" y="2286000"/>
            <a:ext cx="32004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01</a:t>
            </a:r>
          </a:p>
        </p:txBody>
      </p:sp>
      <p:sp>
        <p:nvSpPr>
          <p:cNvPr id="21" name="TextBox 20"/>
          <p:cNvSpPr txBox="1"/>
          <p:nvPr/>
        </p:nvSpPr>
        <p:spPr>
          <a:xfrm>
            <a:off x="6126480" y="2267712"/>
            <a:ext cx="512064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1F4E79"/>
                </a:solidFill>
                <a:effectLst/>
                <a:uLnTx/>
                <a:uFillTx/>
                <a:latin typeface="Arial"/>
                <a:ea typeface="+mn-ea"/>
                <a:cs typeface="+mn-cs"/>
              </a:rPr>
              <a:t>STOP THE SOUTH LEAK</a:t>
            </a:r>
          </a:p>
        </p:txBody>
      </p:sp>
      <p:sp>
        <p:nvSpPr>
          <p:cNvPr id="22" name="TextBox 21"/>
          <p:cNvSpPr txBox="1"/>
          <p:nvPr/>
        </p:nvSpPr>
        <p:spPr>
          <a:xfrm>
            <a:off x="6126480" y="2542032"/>
            <a:ext cx="5120640" cy="512064"/>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950" b="0" i="0" u="none" strike="noStrike" kern="1200" cap="none" spc="0" normalizeH="0" baseline="0" noProof="0">
                <a:ln>
                  <a:noFill/>
                </a:ln>
                <a:solidFill>
                  <a:srgbClr val="595959"/>
                </a:solidFill>
                <a:effectLst/>
                <a:uLnTx/>
                <a:uFillTx/>
                <a:latin typeface="Arial"/>
                <a:ea typeface="+mn-ea"/>
                <a:cs typeface="+mn-cs"/>
              </a:rPr>
              <a:t>8,030 hL lost in KGL-SOUTH. Recovering half is +4,000 hL — 91% of Kigali's net gain.</a:t>
            </a:r>
          </a:p>
        </p:txBody>
      </p:sp>
      <p:sp>
        <p:nvSpPr>
          <p:cNvPr id="23" name="TextBox 22"/>
          <p:cNvSpPr txBox="1"/>
          <p:nvPr/>
        </p:nvSpPr>
        <p:spPr>
          <a:xfrm>
            <a:off x="5806440" y="3419856"/>
            <a:ext cx="32004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02</a:t>
            </a:r>
          </a:p>
        </p:txBody>
      </p:sp>
      <p:sp>
        <p:nvSpPr>
          <p:cNvPr id="24" name="TextBox 23"/>
          <p:cNvSpPr txBox="1"/>
          <p:nvPr/>
        </p:nvSpPr>
        <p:spPr>
          <a:xfrm>
            <a:off x="6126480" y="3401568"/>
            <a:ext cx="512064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1F4E79"/>
                </a:solidFill>
                <a:effectLst/>
                <a:uLnTx/>
                <a:uFillTx/>
                <a:latin typeface="Arial"/>
                <a:ea typeface="+mn-ea"/>
                <a:cs typeface="+mn-cs"/>
              </a:rPr>
              <a:t>HOLD THE NORTH</a:t>
            </a:r>
          </a:p>
        </p:txBody>
      </p:sp>
      <p:sp>
        <p:nvSpPr>
          <p:cNvPr id="25" name="TextBox 24"/>
          <p:cNvSpPr txBox="1"/>
          <p:nvPr/>
        </p:nvSpPr>
        <p:spPr>
          <a:xfrm>
            <a:off x="6126480" y="3675887"/>
            <a:ext cx="5120640" cy="512064"/>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950" b="0" i="0" u="none" strike="noStrike" kern="1200" cap="none" spc="0" normalizeH="0" baseline="0" noProof="0">
                <a:ln>
                  <a:noFill/>
                </a:ln>
                <a:solidFill>
                  <a:srgbClr val="595959"/>
                </a:solidFill>
                <a:effectLst/>
                <a:uLnTx/>
                <a:uFillTx/>
                <a:latin typeface="Arial"/>
                <a:ea typeface="+mn-ea"/>
                <a:cs typeface="+mn-cs"/>
              </a:rPr>
              <a:t>+12,447 hL came from here. Keep the 49-day loop and 4.3-day cover; it is working.</a:t>
            </a:r>
          </a:p>
        </p:txBody>
      </p:sp>
      <p:sp>
        <p:nvSpPr>
          <p:cNvPr id="29" name="Rectangle 28"/>
          <p:cNvSpPr/>
          <p:nvPr/>
        </p:nvSpPr>
        <p:spPr>
          <a:xfrm>
            <a:off x="502920" y="4892040"/>
            <a:ext cx="11201400" cy="603504"/>
          </a:xfrm>
          <a:prstGeom prst="rect">
            <a:avLst/>
          </a:prstGeom>
          <a:solidFill>
            <a:srgbClr val="FD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731520" y="5047488"/>
            <a:ext cx="10789920" cy="32918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F4E79"/>
                </a:solidFill>
                <a:effectLst/>
                <a:uLnTx/>
                <a:uFillTx/>
                <a:latin typeface="Arial"/>
                <a:ea typeface="+mn-ea"/>
                <a:cs typeface="+mn-cs"/>
              </a:rPr>
              <a:t>Kigali's next +4,000 hL is already in the south — it is coverage, not demand.</a:t>
            </a:r>
          </a:p>
        </p:txBody>
      </p:sp>
      <p:sp>
        <p:nvSpPr>
          <p:cNvPr id="31" name="TextBox 30"/>
          <p:cNvSpPr txBox="1"/>
          <p:nvPr/>
        </p:nvSpPr>
        <p:spPr>
          <a:xfrm>
            <a:off x="502920" y="5715000"/>
            <a:ext cx="1115568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Arial"/>
                <a:ea typeface="+mn-ea"/>
                <a:cs typeface="+mn-cs"/>
              </a:rPr>
              <a:t>Zone hectolitre report, 2025 vs 2026  ·  KGL-NORTH + KGL-SOUTH = KGL-SALES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p:spPr>
      </p:pic>
      <p:sp>
        <p:nvSpPr>
          <p:cNvPr id="4" name="TextBox 3"/>
          <p:cNvSpPr txBox="1"/>
          <p:nvPr/>
        </p:nvSpPr>
        <p:spPr>
          <a:xfrm>
            <a:off x="914400" y="6473952"/>
            <a:ext cx="182880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6A3"/>
                </a:solidFill>
                <a:effectLst/>
                <a:uLnTx/>
                <a:uFillTx/>
                <a:latin typeface="Arial"/>
                <a:ea typeface="+mn-ea"/>
                <a:cs typeface="+mn-cs"/>
              </a:rPr>
              <a:t>20-10-26</a:t>
            </a:r>
          </a:p>
        </p:txBody>
      </p:sp>
      <p:sp>
        <p:nvSpPr>
          <p:cNvPr id="6" name="TextBox 5"/>
          <p:cNvSpPr txBox="1"/>
          <p:nvPr/>
        </p:nvSpPr>
        <p:spPr>
          <a:xfrm>
            <a:off x="502920" y="841248"/>
            <a:ext cx="1088136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We fought with the right brands — and won.</a:t>
            </a:r>
          </a:p>
        </p:txBody>
      </p:sp>
      <p:sp>
        <p:nvSpPr>
          <p:cNvPr id="7" name="TextBox 6"/>
          <p:cNvSpPr txBox="1"/>
          <p:nvPr/>
        </p:nvSpPr>
        <p:spPr>
          <a:xfrm>
            <a:off x="502920" y="1371600"/>
            <a:ext cx="11064240" cy="4754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95959"/>
                </a:solidFill>
                <a:effectLst/>
                <a:uLnTx/>
                <a:uFillTx/>
                <a:latin typeface="Arial"/>
                <a:ea typeface="+mn-ea"/>
                <a:cs typeface="+mn-cs"/>
              </a:rPr>
              <a:t>Growth came from the brands that can beat Heineken, Amstel and Mutzig head-on at the outlet. Range focus, not range breadth, is what takes share.</a:t>
            </a:r>
          </a:p>
        </p:txBody>
      </p:sp>
      <p:sp>
        <p:nvSpPr>
          <p:cNvPr id="8" name="TextBox 7"/>
          <p:cNvSpPr txBox="1"/>
          <p:nvPr/>
        </p:nvSpPr>
        <p:spPr>
          <a:xfrm>
            <a:off x="502920" y="1883664"/>
            <a:ext cx="548640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8A96A3"/>
                </a:solidFill>
                <a:effectLst/>
                <a:uLnTx/>
                <a:uFillTx/>
                <a:latin typeface="Arial"/>
                <a:ea typeface="+mn-ea"/>
                <a:cs typeface="+mn-cs"/>
              </a:rPr>
              <a:t>BEER HECTOLITRES   ·   2025</a:t>
            </a:r>
            <a:r>
              <a:rPr kumimoji="0" sz="800" b="0" i="0" u="none" strike="noStrike" kern="1200" cap="none" spc="0" normalizeH="0" baseline="0" noProof="0">
                <a:ln>
                  <a:noFill/>
                </a:ln>
                <a:solidFill>
                  <a:prstClr val="black"/>
                </a:solidFill>
                <a:effectLst/>
                <a:uLnTx/>
                <a:uFillTx/>
                <a:latin typeface="Arial"/>
                <a:ea typeface="+mn-ea"/>
                <a:cs typeface="+mn-cs"/>
              </a:rPr>
              <a:t>   </a:t>
            </a:r>
            <a:r>
              <a:rPr kumimoji="0" sz="800" b="1" i="0" u="none" strike="noStrike" kern="1200" cap="none" spc="0" normalizeH="0" baseline="0" noProof="0">
                <a:ln>
                  <a:noFill/>
                </a:ln>
                <a:solidFill>
                  <a:srgbClr val="1F4E79"/>
                </a:solidFill>
                <a:effectLst/>
                <a:uLnTx/>
                <a:uFillTx/>
                <a:latin typeface="Arial"/>
                <a:ea typeface="+mn-ea"/>
                <a:cs typeface="+mn-cs"/>
              </a:rPr>
              <a:t>2026</a:t>
            </a:r>
          </a:p>
        </p:txBody>
      </p:sp>
      <p:sp>
        <p:nvSpPr>
          <p:cNvPr id="9" name="TextBox 8"/>
          <p:cNvSpPr txBox="1"/>
          <p:nvPr/>
        </p:nvSpPr>
        <p:spPr>
          <a:xfrm>
            <a:off x="502920" y="2231136"/>
            <a:ext cx="11887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SKOL MALT</a:t>
            </a:r>
          </a:p>
        </p:txBody>
      </p:sp>
      <p:sp>
        <p:nvSpPr>
          <p:cNvPr id="10" name="Rectangle 9"/>
          <p:cNvSpPr/>
          <p:nvPr/>
        </p:nvSpPr>
        <p:spPr>
          <a:xfrm>
            <a:off x="1755648" y="2157984"/>
            <a:ext cx="2171010" cy="118872"/>
          </a:xfrm>
          <a:prstGeom prst="rect">
            <a:avLst/>
          </a:prstGeom>
          <a:solidFill>
            <a:srgbClr val="E4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755648" y="2331720"/>
            <a:ext cx="3538766" cy="1554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5623560" y="2295144"/>
            <a:ext cx="960120" cy="219456"/>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3,919.03</a:t>
            </a:r>
          </a:p>
        </p:txBody>
      </p:sp>
      <p:sp>
        <p:nvSpPr>
          <p:cNvPr id="13" name="TextBox 12"/>
          <p:cNvSpPr txBox="1"/>
          <p:nvPr/>
        </p:nvSpPr>
        <p:spPr>
          <a:xfrm>
            <a:off x="5623560" y="2468879"/>
            <a:ext cx="960120" cy="18288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A87C00"/>
                </a:solidFill>
                <a:effectLst/>
                <a:uLnTx/>
                <a:uFillTx/>
                <a:latin typeface="Arial"/>
                <a:ea typeface="+mn-ea"/>
                <a:cs typeface="+mn-cs"/>
              </a:rPr>
              <a:t>+63%</a:t>
            </a:r>
          </a:p>
        </p:txBody>
      </p:sp>
      <p:sp>
        <p:nvSpPr>
          <p:cNvPr id="14" name="TextBox 13"/>
          <p:cNvSpPr txBox="1"/>
          <p:nvPr/>
        </p:nvSpPr>
        <p:spPr>
          <a:xfrm>
            <a:off x="502920" y="2962656"/>
            <a:ext cx="11887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VIRUNGA</a:t>
            </a:r>
          </a:p>
        </p:txBody>
      </p:sp>
      <p:sp>
        <p:nvSpPr>
          <p:cNvPr id="15" name="Rectangle 14"/>
          <p:cNvSpPr/>
          <p:nvPr/>
        </p:nvSpPr>
        <p:spPr>
          <a:xfrm>
            <a:off x="1755648" y="2889503"/>
            <a:ext cx="815381" cy="118872"/>
          </a:xfrm>
          <a:prstGeom prst="rect">
            <a:avLst/>
          </a:prstGeom>
          <a:solidFill>
            <a:srgbClr val="E4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755648" y="3063239"/>
            <a:ext cx="3372990" cy="1554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5623560" y="3026663"/>
            <a:ext cx="960120" cy="219456"/>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3,735.44</a:t>
            </a:r>
          </a:p>
        </p:txBody>
      </p:sp>
      <p:sp>
        <p:nvSpPr>
          <p:cNvPr id="18" name="TextBox 17"/>
          <p:cNvSpPr txBox="1"/>
          <p:nvPr/>
        </p:nvSpPr>
        <p:spPr>
          <a:xfrm>
            <a:off x="5623560" y="3200399"/>
            <a:ext cx="960120" cy="18288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A87C00"/>
                </a:solidFill>
                <a:effectLst/>
                <a:uLnTx/>
                <a:uFillTx/>
                <a:latin typeface="Arial"/>
                <a:ea typeface="+mn-ea"/>
                <a:cs typeface="+mn-cs"/>
              </a:rPr>
              <a:t>+314%</a:t>
            </a:r>
          </a:p>
        </p:txBody>
      </p:sp>
      <p:sp>
        <p:nvSpPr>
          <p:cNvPr id="19" name="TextBox 18"/>
          <p:cNvSpPr txBox="1"/>
          <p:nvPr/>
        </p:nvSpPr>
        <p:spPr>
          <a:xfrm>
            <a:off x="502920" y="3694175"/>
            <a:ext cx="11887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GATANU</a:t>
            </a:r>
          </a:p>
        </p:txBody>
      </p:sp>
      <p:sp>
        <p:nvSpPr>
          <p:cNvPr id="20" name="Rectangle 19"/>
          <p:cNvSpPr/>
          <p:nvPr/>
        </p:nvSpPr>
        <p:spPr>
          <a:xfrm>
            <a:off x="1755648" y="3621023"/>
            <a:ext cx="1557442" cy="118872"/>
          </a:xfrm>
          <a:prstGeom prst="rect">
            <a:avLst/>
          </a:prstGeom>
          <a:solidFill>
            <a:srgbClr val="E4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1755648" y="3794759"/>
            <a:ext cx="3037040" cy="1554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5623560" y="3758183"/>
            <a:ext cx="960120" cy="219456"/>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3,363.39</a:t>
            </a:r>
          </a:p>
        </p:txBody>
      </p:sp>
      <p:sp>
        <p:nvSpPr>
          <p:cNvPr id="23" name="TextBox 22"/>
          <p:cNvSpPr txBox="1"/>
          <p:nvPr/>
        </p:nvSpPr>
        <p:spPr>
          <a:xfrm>
            <a:off x="5623560" y="3931920"/>
            <a:ext cx="960120" cy="18288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A87C00"/>
                </a:solidFill>
                <a:effectLst/>
                <a:uLnTx/>
                <a:uFillTx/>
                <a:latin typeface="Arial"/>
                <a:ea typeface="+mn-ea"/>
                <a:cs typeface="+mn-cs"/>
              </a:rPr>
              <a:t>+95%</a:t>
            </a:r>
          </a:p>
        </p:txBody>
      </p:sp>
      <p:sp>
        <p:nvSpPr>
          <p:cNvPr id="24" name="TextBox 23"/>
          <p:cNvSpPr txBox="1"/>
          <p:nvPr/>
        </p:nvSpPr>
        <p:spPr>
          <a:xfrm>
            <a:off x="502920" y="4425695"/>
            <a:ext cx="11887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LONO</a:t>
            </a:r>
          </a:p>
        </p:txBody>
      </p:sp>
      <p:sp>
        <p:nvSpPr>
          <p:cNvPr id="25" name="Rectangle 24"/>
          <p:cNvSpPr/>
          <p:nvPr/>
        </p:nvSpPr>
        <p:spPr>
          <a:xfrm>
            <a:off x="1755648" y="4352543"/>
            <a:ext cx="1351204" cy="118872"/>
          </a:xfrm>
          <a:prstGeom prst="rect">
            <a:avLst/>
          </a:prstGeom>
          <a:solidFill>
            <a:srgbClr val="E4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p:nvSpPr>
        <p:spPr>
          <a:xfrm>
            <a:off x="1755648" y="4526279"/>
            <a:ext cx="986404" cy="155448"/>
          </a:xfrm>
          <a:prstGeom prst="rect">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5623560" y="4489703"/>
            <a:ext cx="960120" cy="219456"/>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1,092.40</a:t>
            </a:r>
          </a:p>
        </p:txBody>
      </p:sp>
      <p:sp>
        <p:nvSpPr>
          <p:cNvPr id="28" name="TextBox 27"/>
          <p:cNvSpPr txBox="1"/>
          <p:nvPr/>
        </p:nvSpPr>
        <p:spPr>
          <a:xfrm>
            <a:off x="5623560" y="4663440"/>
            <a:ext cx="960120" cy="18288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95959"/>
                </a:solidFill>
                <a:effectLst/>
                <a:uLnTx/>
                <a:uFillTx/>
                <a:latin typeface="Arial"/>
                <a:ea typeface="+mn-ea"/>
                <a:cs typeface="+mn-cs"/>
              </a:rPr>
              <a:t>−27%</a:t>
            </a:r>
          </a:p>
        </p:txBody>
      </p:sp>
      <p:sp>
        <p:nvSpPr>
          <p:cNvPr id="29" name="Rectangle 28"/>
          <p:cNvSpPr/>
          <p:nvPr/>
        </p:nvSpPr>
        <p:spPr>
          <a:xfrm>
            <a:off x="7818120" y="1783080"/>
            <a:ext cx="3886200" cy="3703320"/>
          </a:xfrm>
          <a:prstGeom prst="rect">
            <a:avLst/>
          </a:prstGeom>
          <a:solidFill>
            <a:srgbClr val="14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8092440" y="1938528"/>
            <a:ext cx="329184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D13F"/>
                </a:solidFill>
                <a:effectLst/>
                <a:uLnTx/>
                <a:uFillTx/>
                <a:latin typeface="Arial"/>
                <a:ea typeface="+mn-ea"/>
                <a:cs typeface="+mn-cs"/>
              </a:rPr>
              <a:t>THE FIREPOWER EFFECT</a:t>
            </a:r>
          </a:p>
        </p:txBody>
      </p:sp>
      <p:sp>
        <p:nvSpPr>
          <p:cNvPr id="31" name="TextBox 30"/>
          <p:cNvSpPr txBox="1"/>
          <p:nvPr/>
        </p:nvSpPr>
        <p:spPr>
          <a:xfrm>
            <a:off x="8092440" y="2212848"/>
            <a:ext cx="329184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FD13F"/>
                </a:solidFill>
                <a:effectLst/>
                <a:uLnTx/>
                <a:uFillTx/>
                <a:latin typeface="Arial"/>
                <a:ea typeface="+mn-ea"/>
                <a:cs typeface="+mn-cs"/>
              </a:rPr>
              <a:t>4.1x</a:t>
            </a:r>
          </a:p>
        </p:txBody>
      </p:sp>
      <p:sp>
        <p:nvSpPr>
          <p:cNvPr id="32" name="TextBox 31"/>
          <p:cNvSpPr txBox="1"/>
          <p:nvPr/>
        </p:nvSpPr>
        <p:spPr>
          <a:xfrm>
            <a:off x="8092440" y="2724912"/>
            <a:ext cx="3246120" cy="457200"/>
          </a:xfrm>
          <a:prstGeom prst="rect">
            <a:avLst/>
          </a:prstGeom>
          <a:noFill/>
        </p:spPr>
        <p:txBody>
          <a:bodyPr wrap="square" lIns="0" tIns="0" rIns="0" bIns="0">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850" b="0" i="0" u="none" strike="noStrike" kern="1200" cap="none" spc="0" normalizeH="0" baseline="0" noProof="0">
                <a:ln>
                  <a:noFill/>
                </a:ln>
                <a:solidFill>
                  <a:srgbClr val="E9EFF5"/>
                </a:solidFill>
                <a:effectLst/>
                <a:uLnTx/>
                <a:uFillTx/>
                <a:latin typeface="Arial"/>
                <a:ea typeface="+mn-ea"/>
                <a:cs typeface="+mn-cs"/>
              </a:rPr>
              <a:t>VIRUNGA · 903 → 3,735 hL</a:t>
            </a:r>
          </a:p>
        </p:txBody>
      </p:sp>
      <p:sp>
        <p:nvSpPr>
          <p:cNvPr id="33" name="TextBox 32"/>
          <p:cNvSpPr txBox="1"/>
          <p:nvPr/>
        </p:nvSpPr>
        <p:spPr>
          <a:xfrm>
            <a:off x="8092440" y="3090672"/>
            <a:ext cx="329184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FD13F"/>
                </a:solidFill>
                <a:effectLst/>
                <a:uLnTx/>
                <a:uFillTx/>
                <a:latin typeface="Arial"/>
                <a:ea typeface="+mn-ea"/>
                <a:cs typeface="+mn-cs"/>
              </a:rPr>
              <a:t>69.4%</a:t>
            </a:r>
          </a:p>
        </p:txBody>
      </p:sp>
      <p:sp>
        <p:nvSpPr>
          <p:cNvPr id="34" name="TextBox 33"/>
          <p:cNvSpPr txBox="1"/>
          <p:nvPr/>
        </p:nvSpPr>
        <p:spPr>
          <a:xfrm>
            <a:off x="8092440" y="3602736"/>
            <a:ext cx="3246120" cy="457200"/>
          </a:xfrm>
          <a:prstGeom prst="rect">
            <a:avLst/>
          </a:prstGeom>
          <a:noFill/>
        </p:spPr>
        <p:txBody>
          <a:bodyPr wrap="square" lIns="0" tIns="0" rIns="0" bIns="0">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850" b="0" i="0" u="none" strike="noStrike" kern="1200" cap="none" spc="0" normalizeH="0" baseline="0" noProof="0">
                <a:ln>
                  <a:noFill/>
                </a:ln>
                <a:solidFill>
                  <a:srgbClr val="E9EFF5"/>
                </a:solidFill>
                <a:effectLst/>
                <a:uLnTx/>
                <a:uFillTx/>
                <a:latin typeface="Arial"/>
                <a:ea typeface="+mn-ea"/>
                <a:cs typeface="+mn-cs"/>
              </a:rPr>
              <a:t>OF BEER NOW RUNS THROUGH VIRUNGA AND SKOL MALT — WAS 50.3%</a:t>
            </a:r>
          </a:p>
        </p:txBody>
      </p:sp>
      <p:sp>
        <p:nvSpPr>
          <p:cNvPr id="35" name="TextBox 34"/>
          <p:cNvSpPr txBox="1"/>
          <p:nvPr/>
        </p:nvSpPr>
        <p:spPr>
          <a:xfrm>
            <a:off x="8092440" y="4169663"/>
            <a:ext cx="329184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FD13F"/>
                </a:solidFill>
                <a:effectLst/>
                <a:uLnTx/>
                <a:uFillTx/>
                <a:latin typeface="Arial"/>
                <a:ea typeface="+mn-ea"/>
                <a:cs typeface="+mn-cs"/>
              </a:rPr>
              <a:t>+97.8%</a:t>
            </a:r>
          </a:p>
        </p:txBody>
      </p:sp>
      <p:sp>
        <p:nvSpPr>
          <p:cNvPr id="36" name="TextBox 35"/>
          <p:cNvSpPr txBox="1"/>
          <p:nvPr/>
        </p:nvSpPr>
        <p:spPr>
          <a:xfrm>
            <a:off x="8092440" y="4681727"/>
            <a:ext cx="3246120" cy="457200"/>
          </a:xfrm>
          <a:prstGeom prst="rect">
            <a:avLst/>
          </a:prstGeom>
          <a:noFill/>
        </p:spPr>
        <p:txBody>
          <a:bodyPr wrap="square" lIns="0" tIns="0" rIns="0" bIns="0">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850" b="0" i="0" u="none" strike="noStrike" kern="1200" cap="none" spc="0" normalizeH="0" baseline="0" noProof="0">
                <a:ln>
                  <a:noFill/>
                </a:ln>
                <a:solidFill>
                  <a:srgbClr val="E9EFF5"/>
                </a:solidFill>
                <a:effectLst/>
                <a:uLnTx/>
                <a:uFillTx/>
                <a:latin typeface="Arial"/>
                <a:ea typeface="+mn-ea"/>
                <a:cs typeface="+mn-cs"/>
              </a:rPr>
              <a:t>BEER VOLUME, AGAINST +71.4% FOR THE ZONE</a:t>
            </a:r>
          </a:p>
        </p:txBody>
      </p:sp>
      <p:sp>
        <p:nvSpPr>
          <p:cNvPr id="37" name="TextBox 36"/>
          <p:cNvSpPr txBox="1"/>
          <p:nvPr/>
        </p:nvSpPr>
        <p:spPr>
          <a:xfrm>
            <a:off x="502920" y="5138928"/>
            <a:ext cx="6949440" cy="40233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A96A3"/>
                </a:solidFill>
                <a:effectLst/>
                <a:uLnTx/>
                <a:uFillTx/>
                <a:latin typeface="Arial"/>
                <a:ea typeface="+mn-ea"/>
                <a:cs typeface="+mn-cs"/>
              </a:rPr>
              <a:t>Gatanu 65cl doubled (+114%). Lono fell 27% — but beer grew 97.8%: the firepower brands carried the zone.</a:t>
            </a:r>
          </a:p>
        </p:txBody>
      </p:sp>
      <p:sp>
        <p:nvSpPr>
          <p:cNvPr id="38" name="TextBox 37"/>
          <p:cNvSpPr txBox="1"/>
          <p:nvPr/>
        </p:nvSpPr>
        <p:spPr>
          <a:xfrm>
            <a:off x="502920" y="6053328"/>
            <a:ext cx="1088136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8A96A3"/>
                </a:solidFill>
                <a:effectLst/>
                <a:uLnTx/>
                <a:uFillTx/>
                <a:latin typeface="Arial"/>
                <a:ea typeface="+mn-ea"/>
                <a:cs typeface="+mn-cs"/>
              </a:rPr>
              <a:t>Brand hL from the zone brand extract, beer only; Lono reported outside the beer total.</a:t>
            </a:r>
          </a:p>
        </p:txBody>
      </p:sp>
      <p:sp>
        <p:nvSpPr>
          <p:cNvPr id="39" name="TextBox 38"/>
          <p:cNvSpPr txBox="1"/>
          <p:nvPr/>
        </p:nvSpPr>
        <p:spPr>
          <a:xfrm>
            <a:off x="10241280" y="6473952"/>
            <a:ext cx="1444752"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E9EFF5"/>
                </a:solidFill>
                <a:effectLst/>
                <a:uLnTx/>
                <a:uFillTx/>
                <a:latin typeface="Arial"/>
                <a:ea typeface="+mn-ea"/>
                <a:cs typeface="+mn-cs"/>
              </a:rPr>
              <a:t>7</a:t>
            </a:r>
          </a:p>
        </p:txBody>
      </p:sp>
      <p:sp>
        <p:nvSpPr>
          <p:cNvPr id="40" name="Rectangle 39"/>
          <p:cNvSpPr/>
          <p:nvPr/>
        </p:nvSpPr>
        <p:spPr>
          <a:xfrm>
            <a:off x="1719072" y="2103120"/>
            <a:ext cx="10972" cy="2743200"/>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8</a:t>
            </a:r>
          </a:p>
        </p:txBody>
      </p:sp>
      <p:sp>
        <p:nvSpPr>
          <p:cNvPr id="6" name="TextBox 5"/>
          <p:cNvSpPr txBox="1"/>
          <p:nvPr/>
        </p:nvSpPr>
        <p:spPr>
          <a:xfrm>
            <a:off x="502920" y="841248"/>
            <a:ext cx="100584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2027 — where we want to go</a:t>
            </a:r>
          </a:p>
        </p:txBody>
      </p:sp>
      <p:sp>
        <p:nvSpPr>
          <p:cNvPr id="8" name="TextBox 7"/>
          <p:cNvSpPr txBox="1"/>
          <p:nvPr/>
        </p:nvSpPr>
        <p:spPr>
          <a:xfrm>
            <a:off x="502920" y="1444752"/>
            <a:ext cx="1088136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Q4 beds the model in. 2027 is where it scales — the same loop, in more territories, more outlets and deeper share of wallet.</a:t>
            </a:r>
          </a:p>
        </p:txBody>
      </p:sp>
      <p:sp>
        <p:nvSpPr>
          <p:cNvPr id="9" name="Rectangle 8"/>
          <p:cNvSpPr/>
          <p:nvPr/>
        </p:nvSpPr>
        <p:spPr>
          <a:xfrm>
            <a:off x="502920" y="2148840"/>
            <a:ext cx="2697480" cy="2011680"/>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502920" y="2148840"/>
            <a:ext cx="82296" cy="201168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777240" y="2331720"/>
            <a:ext cx="7315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01</a:t>
            </a:r>
          </a:p>
        </p:txBody>
      </p:sp>
      <p:sp>
        <p:nvSpPr>
          <p:cNvPr id="12" name="TextBox 11"/>
          <p:cNvSpPr txBox="1"/>
          <p:nvPr/>
        </p:nvSpPr>
        <p:spPr>
          <a:xfrm>
            <a:off x="777240" y="2670048"/>
            <a:ext cx="224028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TERRITORIES</a:t>
            </a:r>
          </a:p>
        </p:txBody>
      </p:sp>
      <p:sp>
        <p:nvSpPr>
          <p:cNvPr id="13" name="TextBox 12"/>
          <p:cNvSpPr txBox="1"/>
          <p:nvPr/>
        </p:nvSpPr>
        <p:spPr>
          <a:xfrm>
            <a:off x="777240" y="3145536"/>
            <a:ext cx="2240280" cy="11887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Open, challenge, hold — replicate the models that delivered +97% and +8,921 hL in 49 days.</a:t>
            </a:r>
          </a:p>
        </p:txBody>
      </p:sp>
      <p:sp>
        <p:nvSpPr>
          <p:cNvPr id="14" name="Rectangle 13"/>
          <p:cNvSpPr/>
          <p:nvPr/>
        </p:nvSpPr>
        <p:spPr>
          <a:xfrm>
            <a:off x="3337560" y="2148840"/>
            <a:ext cx="2697480" cy="2011680"/>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3337560" y="2148840"/>
            <a:ext cx="82296" cy="201168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3611880" y="2331720"/>
            <a:ext cx="7315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02</a:t>
            </a:r>
          </a:p>
        </p:txBody>
      </p:sp>
      <p:sp>
        <p:nvSpPr>
          <p:cNvPr id="17" name="TextBox 16"/>
          <p:cNvSpPr txBox="1"/>
          <p:nvPr/>
        </p:nvSpPr>
        <p:spPr>
          <a:xfrm>
            <a:off x="3611880" y="2670048"/>
            <a:ext cx="224028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OUTLETS</a:t>
            </a:r>
          </a:p>
        </p:txBody>
      </p:sp>
      <p:sp>
        <p:nvSpPr>
          <p:cNvPr id="18" name="TextBox 17"/>
          <p:cNvSpPr txBox="1"/>
          <p:nvPr/>
        </p:nvSpPr>
        <p:spPr>
          <a:xfrm>
            <a:off x="3611880" y="3145536"/>
            <a:ext cx="2240280" cy="11887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Take the last mile country-wide: 10 crates, under 6 hours, open until 23:00, in every zone.</a:t>
            </a:r>
          </a:p>
        </p:txBody>
      </p:sp>
      <p:sp>
        <p:nvSpPr>
          <p:cNvPr id="19" name="Rectangle 18"/>
          <p:cNvSpPr/>
          <p:nvPr/>
        </p:nvSpPr>
        <p:spPr>
          <a:xfrm>
            <a:off x="6172200" y="2148840"/>
            <a:ext cx="2697480" cy="2011680"/>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angle 19"/>
          <p:cNvSpPr/>
          <p:nvPr/>
        </p:nvSpPr>
        <p:spPr>
          <a:xfrm>
            <a:off x="6172200" y="2148840"/>
            <a:ext cx="82296" cy="201168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6446520" y="2331720"/>
            <a:ext cx="7315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03</a:t>
            </a:r>
          </a:p>
        </p:txBody>
      </p:sp>
      <p:sp>
        <p:nvSpPr>
          <p:cNvPr id="22" name="TextBox 21"/>
          <p:cNvSpPr txBox="1"/>
          <p:nvPr/>
        </p:nvSpPr>
        <p:spPr>
          <a:xfrm>
            <a:off x="6446520" y="2670048"/>
            <a:ext cx="224028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SHARE OF WALLET</a:t>
            </a:r>
          </a:p>
        </p:txBody>
      </p:sp>
      <p:sp>
        <p:nvSpPr>
          <p:cNvPr id="23" name="TextBox 22"/>
          <p:cNvSpPr txBox="1"/>
          <p:nvPr/>
        </p:nvSpPr>
        <p:spPr>
          <a:xfrm>
            <a:off x="6446520" y="3145536"/>
            <a:ext cx="2240280" cy="11887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Move wholesaler cash and shelf to us; hold parity through service, not discount.</a:t>
            </a:r>
          </a:p>
        </p:txBody>
      </p:sp>
      <p:sp>
        <p:nvSpPr>
          <p:cNvPr id="24" name="Rectangle 23"/>
          <p:cNvSpPr/>
          <p:nvPr/>
        </p:nvSpPr>
        <p:spPr>
          <a:xfrm>
            <a:off x="9006840" y="2148840"/>
            <a:ext cx="2697480" cy="2011680"/>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9006840" y="2148840"/>
            <a:ext cx="82296" cy="201168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p:cNvSpPr txBox="1"/>
          <p:nvPr/>
        </p:nvSpPr>
        <p:spPr>
          <a:xfrm>
            <a:off x="9281160" y="2331720"/>
            <a:ext cx="7315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04</a:t>
            </a:r>
          </a:p>
        </p:txBody>
      </p:sp>
      <p:sp>
        <p:nvSpPr>
          <p:cNvPr id="27" name="TextBox 26"/>
          <p:cNvSpPr txBox="1"/>
          <p:nvPr/>
        </p:nvSpPr>
        <p:spPr>
          <a:xfrm>
            <a:off x="9281160" y="2670048"/>
            <a:ext cx="224028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MONEY</a:t>
            </a:r>
          </a:p>
        </p:txBody>
      </p:sp>
      <p:sp>
        <p:nvSpPr>
          <p:cNvPr id="28" name="TextBox 27"/>
          <p:cNvSpPr txBox="1"/>
          <p:nvPr/>
        </p:nvSpPr>
        <p:spPr>
          <a:xfrm>
            <a:off x="9281160" y="3145536"/>
            <a:ext cx="2240280" cy="11887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Invest only where execution creates real market value: availability, sell-out, coverage.</a:t>
            </a:r>
          </a:p>
        </p:txBody>
      </p:sp>
      <p:sp>
        <p:nvSpPr>
          <p:cNvPr id="29" name="Rectangle 28"/>
          <p:cNvSpPr/>
          <p:nvPr/>
        </p:nvSpPr>
        <p:spPr>
          <a:xfrm>
            <a:off x="502920" y="4572000"/>
            <a:ext cx="11201400" cy="841248"/>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777240" y="4700016"/>
            <a:ext cx="10698480" cy="6400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250" b="1" i="0" u="none" strike="noStrike" kern="1200" cap="none" spc="0" normalizeH="0" baseline="0" noProof="0">
                <a:ln>
                  <a:noFill/>
                </a:ln>
                <a:solidFill>
                  <a:srgbClr val="1F4E79"/>
                </a:solidFill>
                <a:effectLst/>
                <a:uLnTx/>
                <a:uFillTx/>
                <a:latin typeface="Arial"/>
                <a:ea typeface="+mn-ea"/>
                <a:cs typeface="+mn-cs"/>
              </a:rPr>
              <a:t>Q4 consolidates the model. 2027 is where it scales.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950" b="0" i="0" u="none" strike="noStrike" kern="1200" cap="none" spc="0" normalizeH="0" baseline="0" noProof="0">
                <a:ln>
                  <a:noFill/>
                </a:ln>
                <a:solidFill>
                  <a:srgbClr val="595959"/>
                </a:solidFill>
                <a:effectLst/>
                <a:uLnTx/>
                <a:uFillTx/>
                <a:latin typeface="Arial"/>
                <a:ea typeface="+mn-ea"/>
                <a:cs typeface="+mn-cs"/>
              </a:rPr>
              <a:t>Four Q4 moves: consolidate  ·  correct  ·  scale  ·  protect.</a:t>
            </a:r>
          </a:p>
        </p:txBody>
      </p:sp>
      <p:sp>
        <p:nvSpPr>
          <p:cNvPr id="31" name="TextBox 30"/>
          <p:cNvSpPr txBox="1"/>
          <p:nvPr/>
        </p:nvSpPr>
        <p:spPr>
          <a:xfrm>
            <a:off x="502920" y="6053328"/>
            <a:ext cx="877824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1" u="none" strike="noStrike" kern="1200" cap="none" spc="0" normalizeH="0" baseline="0" noProof="0">
                <a:ln>
                  <a:noFill/>
                </a:ln>
                <a:solidFill>
                  <a:srgbClr val="6B7A88"/>
                </a:solidFill>
                <a:effectLst/>
                <a:uLnTx/>
                <a:uFillTx/>
                <a:latin typeface="Arial"/>
                <a:ea typeface="+mn-ea"/>
                <a:cs typeface="+mn-cs"/>
              </a:rPr>
              <a:t>Ambition restated from the 2027 plan; Q4 moves are the bridge, not the destination.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5701" y="2588585"/>
            <a:ext cx="9445752" cy="914400"/>
          </a:xfrm>
          <a:prstGeom prst="rect">
            <a:avLst/>
          </a:prstGeom>
          <a:noFill/>
          <a:ln/>
        </p:spPr>
        <p:txBody>
          <a:bodyPr wrap="square" lIns="0" tIns="0" rIns="0" bIns="0" rtlCol="0" anchor="ctr"/>
          <a:lstStyle/>
          <a:p>
            <a:pPr marL="0" indent="0" algn="ctr">
              <a:buNone/>
            </a:pPr>
            <a:r>
              <a:rPr lang="en-US" sz="4000" b="1" dirty="0">
                <a:solidFill>
                  <a:srgbClr val="002060"/>
                </a:solidFill>
                <a:latin typeface="Arial" pitchFamily="34" charset="0"/>
                <a:ea typeface="Arial" pitchFamily="34" charset="-122"/>
                <a:cs typeface="Arial" pitchFamily="34" charset="-120"/>
              </a:rPr>
              <a:t>RTM Q3 2026</a:t>
            </a:r>
            <a:endParaRPr lang="en-US" sz="4000" dirty="0"/>
          </a:p>
        </p:txBody>
      </p:sp>
      <p:sp>
        <p:nvSpPr>
          <p:cNvPr id="3" name="Text 0"/>
          <p:cNvSpPr>
            <a:spLocks noGrp="1"/>
          </p:cNvSpPr>
          <p:nvPr>
            <p:ph type="body" idx="101" hasCustomPrompt="1"/>
          </p:nvPr>
        </p:nvSpPr>
        <p:spPr>
          <a:xfrm>
            <a:off x="1371600" y="3520440"/>
            <a:ext cx="9445752" cy="548640"/>
          </a:xfrm>
          <a:prstGeom prst="rect">
            <a:avLst/>
          </a:prstGeom>
          <a:noFill/>
          <a:ln/>
        </p:spPr>
        <p:txBody>
          <a:bodyPr wrap="square" lIns="0" tIns="0" rIns="0" bIns="0" rtlCol="0" anchor="ctr"/>
          <a:lstStyle/>
          <a:p>
            <a:pPr marL="0" indent="0" algn="ctr">
              <a:buNone/>
            </a:pPr>
            <a:r>
              <a:rPr lang="en-US" sz="2000" dirty="0">
                <a:solidFill>
                  <a:srgbClr val="002060"/>
                </a:solidFill>
                <a:latin typeface="Arial" pitchFamily="34" charset="0"/>
                <a:ea typeface="Arial" pitchFamily="34" charset="-122"/>
                <a:cs typeface="Arial" pitchFamily="34" charset="-120"/>
              </a:rPr>
              <a:t>Market coverage · Price compliance · Sell-out mindset</a:t>
            </a:r>
            <a:endParaRPr lang="en-US" sz="2000" dirty="0"/>
          </a:p>
        </p:txBody>
      </p:sp>
      <p:sp>
        <p:nvSpPr>
          <p:cNvPr id="4" name="Text 0"/>
          <p:cNvSpPr>
            <a:spLocks noGrp="1"/>
          </p:cNvSpPr>
          <p:nvPr>
            <p:ph type="body" idx="102" hasCustomPrompt="1"/>
          </p:nvPr>
        </p:nvSpPr>
        <p:spPr>
          <a:xfrm>
            <a:off x="1371600" y="5715000"/>
            <a:ext cx="9445752" cy="457200"/>
          </a:xfrm>
          <a:prstGeom prst="rect">
            <a:avLst/>
          </a:prstGeom>
          <a:noFill/>
          <a:ln/>
        </p:spPr>
        <p:txBody>
          <a:bodyPr wrap="square" lIns="0" tIns="0" rIns="0" bIns="0" rtlCol="0" anchor="ctr"/>
          <a:lstStyle/>
          <a:p>
            <a:pPr marL="0" indent="0" algn="ctr">
              <a:buNone/>
            </a:pPr>
            <a:r>
              <a:rPr lang="en-US" sz="2000" b="1">
                <a:solidFill>
                  <a:srgbClr val="002060"/>
                </a:solidFill>
                <a:latin typeface="Arial" pitchFamily="34" charset="0"/>
                <a:ea typeface="Arial" pitchFamily="34" charset="-122"/>
                <a:cs typeface="Arial" pitchFamily="34" charset="-120"/>
              </a:rPr>
              <a:t> </a:t>
            </a:r>
            <a:r>
              <a:rPr lang="en-US" sz="2000" b="1" dirty="0">
                <a:solidFill>
                  <a:srgbClr val="002060"/>
                </a:solidFill>
                <a:latin typeface="Arial" pitchFamily="34" charset="0"/>
                <a:ea typeface="Arial" pitchFamily="34" charset="-122"/>
                <a:cs typeface="Arial" pitchFamily="34" charset="-120"/>
              </a:rPr>
              <a:t>October 2026</a:t>
            </a:r>
            <a:endParaRPr lang="en-US" sz="2000" dirty="0"/>
          </a:p>
        </p:txBody>
      </p:sp>
      <p:pic>
        <p:nvPicPr>
          <p:cNvPr id="10" name="Picture 9">
            <a:extLst>
              <a:ext uri="{FF2B5EF4-FFF2-40B4-BE49-F238E27FC236}">
                <a16:creationId xmlns:a16="http://schemas.microsoft.com/office/drawing/2014/main" id="{76F2E9DB-0032-62CC-6077-C429FC95E6B9}"/>
              </a:ext>
            </a:extLst>
          </p:cNvPr>
          <p:cNvPicPr>
            <a:picLocks noChangeAspect="1"/>
          </p:cNvPicPr>
          <p:nvPr/>
        </p:nvPicPr>
        <p:blipFill>
          <a:blip r:embed="rId3"/>
          <a:stretch>
            <a:fillRect/>
          </a:stretch>
        </p:blipFill>
        <p:spPr>
          <a:xfrm>
            <a:off x="6949440" y="2662570"/>
            <a:ext cx="1941342" cy="7664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Q3 2026: three rules driving our Route to Market</a:t>
            </a:r>
            <a:endParaRPr lang="en-US" sz="2200" dirty="0"/>
          </a:p>
        </p:txBody>
      </p:sp>
      <p:sp>
        <p:nvSpPr>
          <p:cNvPr id="3" name="Key message"/>
          <p:cNvSpPr txBox="1"/>
          <p:nvPr/>
        </p:nvSpPr>
        <p:spPr>
          <a:xfrm>
            <a:off x="548640" y="91440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Cover the market, respect the price, think sell-out. In Q3 we acted on all three, and sales grew 36%.</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 name="Sales card"/>
          <p:cNvSpPr/>
          <p:nvPr/>
        </p:nvSpPr>
        <p:spPr>
          <a:xfrm>
            <a:off x="548640" y="1463040"/>
            <a:ext cx="5486400" cy="4251960"/>
          </a:xfrm>
          <a:prstGeom prst="roundRect">
            <a:avLst>
              <a:gd name="adj" fmla="val 1290"/>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 name="Sales headline"/>
          <p:cNvSpPr txBox="1"/>
          <p:nvPr/>
        </p:nvSpPr>
        <p:spPr>
          <a:xfrm>
            <a:off x="777240" y="1554480"/>
            <a:ext cx="5120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2E7D32"/>
                </a:solidFill>
                <a:effectLst/>
                <a:uLnTx/>
                <a:uFillTx/>
                <a:latin typeface="Calibri"/>
                <a:ea typeface="+mn-ea"/>
                <a:cs typeface="+mn-cs"/>
              </a:rPr>
              <a:t>+36%</a:t>
            </a:r>
            <a:r>
              <a:rPr kumimoji="0" lang="en-US" sz="1400" b="0" i="0" u="none" strike="noStrike" kern="1200" cap="none" spc="0" normalizeH="0" baseline="0" noProof="0" dirty="0">
                <a:ln>
                  <a:noFill/>
                </a:ln>
                <a:solidFill>
                  <a:srgbClr val="222222"/>
                </a:solidFill>
                <a:effectLst/>
                <a:uLnTx/>
                <a:uFillTx/>
                <a:latin typeface="Calibri"/>
                <a:ea typeface="+mn-ea"/>
                <a:cs typeface="+mn-cs"/>
              </a:rPr>
              <a:t>  sales, Aug–Sep vs May–Jun 2026</a:t>
            </a:r>
            <a:endParaRPr kumimoji="0" lang="en-US" sz="3000" b="0" i="0" u="none" strike="noStrike" kern="1200" cap="none" spc="0" normalizeH="0" baseline="0" noProof="0" dirty="0">
              <a:ln>
                <a:noFill/>
              </a:ln>
              <a:solidFill>
                <a:srgbClr val="222222"/>
              </a:solidFill>
              <a:effectLst/>
              <a:uLnTx/>
              <a:uFillTx/>
              <a:latin typeface="Calibri"/>
              <a:ea typeface="+mn-ea"/>
              <a:cs typeface="+mn-cs"/>
            </a:endParaRPr>
          </a:p>
        </p:txBody>
      </p:sp>
      <p:graphicFrame>
        <p:nvGraphicFramePr>
          <p:cNvPr id="6" name="Monthly sales chart"/>
          <p:cNvGraphicFramePr/>
          <p:nvPr/>
        </p:nvGraphicFramePr>
        <p:xfrm>
          <a:off x="685800" y="2148840"/>
          <a:ext cx="52120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7" name="Chart source"/>
          <p:cNvSpPr txBox="1"/>
          <p:nvPr/>
        </p:nvSpPr>
        <p:spPr>
          <a:xfrm>
            <a:off x="777240" y="5285232"/>
            <a:ext cx="1737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A94A6"/>
                </a:solidFill>
                <a:effectLst/>
                <a:uLnTx/>
                <a:uFillTx/>
                <a:latin typeface="Calibri"/>
                <a:ea typeface="+mn-ea"/>
                <a:cs typeface="+mn-cs"/>
              </a:rPr>
              <a:t>Monthly sales 2026 (HL)</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8" name="Action markers"/>
          <p:cNvSpPr txBox="1"/>
          <p:nvPr/>
        </p:nvSpPr>
        <p:spPr>
          <a:xfrm>
            <a:off x="2651760" y="5285232"/>
            <a:ext cx="3200400" cy="2743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0A800"/>
                </a:solidFill>
                <a:effectLst/>
                <a:uLnTx/>
                <a:uFillTx/>
                <a:latin typeface="Calibri"/>
                <a:ea typeface="+mn-ea"/>
                <a:cs typeface="+mn-cs"/>
              </a:rPr>
              <a:t>▲ Q3 actions: end of July to mid-August</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Pillar card 1"/>
          <p:cNvSpPr/>
          <p:nvPr/>
        </p:nvSpPr>
        <p:spPr>
          <a:xfrm>
            <a:off x="6263640" y="1463040"/>
            <a:ext cx="5394960" cy="1325880"/>
          </a:xfrm>
          <a:prstGeom prst="roundRect">
            <a:avLst>
              <a:gd name="adj" fmla="val 4138"/>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0" name="Pillar accent 1"/>
          <p:cNvSpPr/>
          <p:nvPr/>
        </p:nvSpPr>
        <p:spPr>
          <a:xfrm>
            <a:off x="6263640" y="1572768"/>
            <a:ext cx="73152" cy="1106424"/>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1" name="Pillar num 1"/>
          <p:cNvSpPr txBox="1"/>
          <p:nvPr/>
        </p:nvSpPr>
        <p:spPr>
          <a:xfrm>
            <a:off x="6492240" y="1600200"/>
            <a:ext cx="365760" cy="365760"/>
          </a:xfrm>
          <a:prstGeom prst="rect">
            <a:avLst/>
          </a:prstGeom>
          <a:solidFill>
            <a:schemeClr val="tx2"/>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a:ea typeface="+mn-ea"/>
                <a:cs typeface="+mn-cs"/>
              </a:rPr>
              <a:t>1</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2" name="Pillar head 1"/>
          <p:cNvSpPr txBox="1"/>
          <p:nvPr/>
        </p:nvSpPr>
        <p:spPr>
          <a:xfrm>
            <a:off x="6949440" y="1600200"/>
            <a:ext cx="23774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3864"/>
                </a:solidFill>
                <a:effectLst/>
                <a:uLnTx/>
                <a:uFillTx/>
                <a:latin typeface="Calibri"/>
                <a:ea typeface="+mn-ea"/>
                <a:cs typeface="+mn-cs"/>
              </a:rPr>
              <a:t>Market coverage</a:t>
            </a:r>
            <a:endParaRPr kumimoji="0" lang="en-US" sz="15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3" name="Pillar text 1"/>
          <p:cNvSpPr txBox="1"/>
          <p:nvPr/>
        </p:nvSpPr>
        <p:spPr>
          <a:xfrm>
            <a:off x="6492240" y="2011680"/>
            <a:ext cx="3200400" cy="7132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4444"/>
                </a:solidFill>
                <a:effectLst/>
                <a:uLnTx/>
                <a:uFillTx/>
                <a:latin typeface="Calibri"/>
                <a:ea typeface="+mn-ea"/>
                <a:cs typeface="+mn-cs"/>
              </a:rPr>
              <a:t>Codimad exited, Kigali remapped across 7 distributors. All 20 distributors visited in the market.</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4" name="Pillar value 1"/>
          <p:cNvSpPr txBox="1"/>
          <p:nvPr/>
        </p:nvSpPr>
        <p:spPr>
          <a:xfrm>
            <a:off x="9829800" y="1645920"/>
            <a:ext cx="1691640"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E7D32"/>
                </a:solidFill>
                <a:effectLst/>
                <a:uLnTx/>
                <a:uFillTx/>
                <a:latin typeface="Calibri"/>
                <a:ea typeface="+mn-ea"/>
                <a:cs typeface="+mn-cs"/>
              </a:rPr>
              <a:t>35/35</a:t>
            </a:r>
            <a:endParaRPr kumimoji="0" lang="en-US" sz="24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4444"/>
                </a:solidFill>
                <a:effectLst/>
                <a:uLnTx/>
                <a:uFillTx/>
                <a:latin typeface="Calibri"/>
                <a:ea typeface="+mn-ea"/>
                <a:cs typeface="+mn-cs"/>
              </a:rPr>
              <a:t>Kigali sectors</a:t>
            </a:r>
            <a:endParaRPr kumimoji="0" lang="en-US" sz="2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5" name="Pillar card 2"/>
          <p:cNvSpPr/>
          <p:nvPr/>
        </p:nvSpPr>
        <p:spPr>
          <a:xfrm>
            <a:off x="6263640" y="2907792"/>
            <a:ext cx="5394960" cy="1325880"/>
          </a:xfrm>
          <a:prstGeom prst="roundRect">
            <a:avLst>
              <a:gd name="adj" fmla="val 4138"/>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6" name="Pillar accent 2"/>
          <p:cNvSpPr/>
          <p:nvPr/>
        </p:nvSpPr>
        <p:spPr>
          <a:xfrm>
            <a:off x="6263640" y="3017520"/>
            <a:ext cx="73152" cy="1106424"/>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7" name="Pillar num 2"/>
          <p:cNvSpPr txBox="1"/>
          <p:nvPr/>
        </p:nvSpPr>
        <p:spPr>
          <a:xfrm>
            <a:off x="6492240" y="3044952"/>
            <a:ext cx="365760" cy="365760"/>
          </a:xfrm>
          <a:prstGeom prst="rect">
            <a:avLst/>
          </a:prstGeom>
          <a:solidFill>
            <a:schemeClr val="tx2"/>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a:ea typeface="+mn-ea"/>
                <a:cs typeface="+mn-cs"/>
              </a:rPr>
              <a:t>2</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8" name="Pillar head 2"/>
          <p:cNvSpPr txBox="1"/>
          <p:nvPr/>
        </p:nvSpPr>
        <p:spPr>
          <a:xfrm>
            <a:off x="6949440" y="3044952"/>
            <a:ext cx="23774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3864"/>
                </a:solidFill>
                <a:effectLst/>
                <a:uLnTx/>
                <a:uFillTx/>
                <a:latin typeface="Calibri"/>
                <a:ea typeface="+mn-ea"/>
                <a:cs typeface="+mn-cs"/>
              </a:rPr>
              <a:t>Price compliance</a:t>
            </a:r>
            <a:endParaRPr kumimoji="0" lang="en-US" sz="15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9" name="Pillar text 2"/>
          <p:cNvSpPr txBox="1"/>
          <p:nvPr/>
        </p:nvSpPr>
        <p:spPr>
          <a:xfrm>
            <a:off x="6492240" y="3456432"/>
            <a:ext cx="3200400" cy="7132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4444"/>
                </a:solidFill>
                <a:effectLst/>
                <a:uLnTx/>
                <a:uFillTx/>
                <a:latin typeface="Calibri"/>
                <a:ea typeface="+mn-ea"/>
                <a:cs typeface="+mn-cs"/>
              </a:rPr>
              <a:t>Transport support came with price discipline. The 2 who broke it lost exclusivity; their zones grew 75%.</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Pillar value 2"/>
          <p:cNvSpPr txBox="1"/>
          <p:nvPr/>
        </p:nvSpPr>
        <p:spPr>
          <a:xfrm>
            <a:off x="9829800" y="3090672"/>
            <a:ext cx="1691640"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E7D32"/>
                </a:solidFill>
                <a:effectLst/>
                <a:uLnTx/>
                <a:uFillTx/>
                <a:latin typeface="Calibri"/>
                <a:ea typeface="+mn-ea"/>
                <a:cs typeface="+mn-cs"/>
              </a:rPr>
              <a:t>20/20</a:t>
            </a:r>
            <a:endParaRPr kumimoji="0" lang="en-US" sz="24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4444"/>
                </a:solidFill>
                <a:effectLst/>
                <a:uLnTx/>
                <a:uFillTx/>
                <a:latin typeface="Calibri"/>
                <a:ea typeface="+mn-ea"/>
                <a:cs typeface="+mn-cs"/>
              </a:rPr>
              <a:t>on price</a:t>
            </a:r>
            <a:endParaRPr kumimoji="0" lang="en-US" sz="2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1" name="Pillar card 3"/>
          <p:cNvSpPr/>
          <p:nvPr/>
        </p:nvSpPr>
        <p:spPr>
          <a:xfrm>
            <a:off x="6263640" y="4352544"/>
            <a:ext cx="5394960" cy="1325880"/>
          </a:xfrm>
          <a:prstGeom prst="roundRect">
            <a:avLst>
              <a:gd name="adj" fmla="val 4138"/>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2" name="Pillar accent 3"/>
          <p:cNvSpPr/>
          <p:nvPr/>
        </p:nvSpPr>
        <p:spPr>
          <a:xfrm>
            <a:off x="6263640" y="4462272"/>
            <a:ext cx="73152" cy="1106424"/>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3" name="Pillar num 3"/>
          <p:cNvSpPr txBox="1"/>
          <p:nvPr/>
        </p:nvSpPr>
        <p:spPr>
          <a:xfrm>
            <a:off x="6492240" y="4489704"/>
            <a:ext cx="365760" cy="365760"/>
          </a:xfrm>
          <a:prstGeom prst="rect">
            <a:avLst/>
          </a:prstGeom>
          <a:solidFill>
            <a:schemeClr val="tx2"/>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a:ea typeface="+mn-ea"/>
                <a:cs typeface="+mn-cs"/>
              </a:rPr>
              <a:t>3</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4" name="Pillar head 3"/>
          <p:cNvSpPr txBox="1"/>
          <p:nvPr/>
        </p:nvSpPr>
        <p:spPr>
          <a:xfrm>
            <a:off x="6949440" y="4489704"/>
            <a:ext cx="23774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3864"/>
                </a:solidFill>
                <a:effectLst/>
                <a:uLnTx/>
                <a:uFillTx/>
                <a:latin typeface="Calibri"/>
                <a:ea typeface="+mn-ea"/>
                <a:cs typeface="+mn-cs"/>
              </a:rPr>
              <a:t>Sell-out mindset</a:t>
            </a:r>
            <a:endParaRPr kumimoji="0" lang="en-US" sz="15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5" name="Pillar text 3"/>
          <p:cNvSpPr txBox="1"/>
          <p:nvPr/>
        </p:nvSpPr>
        <p:spPr>
          <a:xfrm>
            <a:off x="6492240" y="4901184"/>
            <a:ext cx="3200400" cy="7132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4444"/>
                </a:solidFill>
                <a:effectLst/>
                <a:uLnTx/>
                <a:uFillTx/>
                <a:latin typeface="Calibri"/>
                <a:ea typeface="+mn-ea"/>
                <a:cs typeface="+mn-cs"/>
              </a:rPr>
              <a:t>Interchangeability halved distributor stock. Odoo and EBM will show real sell-out; P4P moves to sell-out.</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6" name="Pillar value 3"/>
          <p:cNvSpPr txBox="1"/>
          <p:nvPr/>
        </p:nvSpPr>
        <p:spPr>
          <a:xfrm>
            <a:off x="9829800" y="4535424"/>
            <a:ext cx="1691640"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E7D32"/>
                </a:solidFill>
                <a:effectLst/>
                <a:uLnTx/>
                <a:uFillTx/>
                <a:latin typeface="Calibri"/>
                <a:ea typeface="+mn-ea"/>
                <a:cs typeface="+mn-cs"/>
              </a:rPr>
              <a:t>8 → 4</a:t>
            </a:r>
            <a:endParaRPr kumimoji="0" lang="en-US" sz="24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4444"/>
                </a:solidFill>
                <a:effectLst/>
                <a:uLnTx/>
                <a:uFillTx/>
                <a:latin typeface="Calibri"/>
                <a:ea typeface="+mn-ea"/>
                <a:cs typeface="+mn-cs"/>
              </a:rPr>
              <a:t>days of stock</a:t>
            </a:r>
            <a:endParaRPr kumimoji="0" lang="en-US" sz="2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7" name="Bottom bar"/>
          <p:cNvSpPr/>
          <p:nvPr/>
        </p:nvSpPr>
        <p:spPr>
          <a:xfrm>
            <a:off x="548640" y="5897880"/>
            <a:ext cx="11109960" cy="457200"/>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8"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Cover every outlet, respect the price, sell out, not in: the three rules of our RTM.</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9"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Market coverage: every territory assigned and visited</a:t>
            </a:r>
            <a:endParaRPr lang="en-US" sz="2200" dirty="0"/>
          </a:p>
        </p:txBody>
      </p:sp>
      <p:sp>
        <p:nvSpPr>
          <p:cNvPr id="3" name="Pillar chip 1"/>
          <p:cNvSpPr/>
          <p:nvPr/>
        </p:nvSpPr>
        <p:spPr>
          <a:xfrm>
            <a:off x="548640" y="896112"/>
            <a:ext cx="2011680" cy="329184"/>
          </a:xfrm>
          <a:prstGeom prst="roundRect">
            <a:avLst>
              <a:gd name="adj" fmla="val 13889"/>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 name="Pillar label 1"/>
          <p:cNvSpPr txBox="1"/>
          <p:nvPr/>
        </p:nvSpPr>
        <p:spPr>
          <a:xfrm>
            <a:off x="54864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a:ea typeface="+mn-ea"/>
                <a:cs typeface="+mn-cs"/>
              </a:rPr>
              <a:t>1  Market coverage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5" name="Pillar chip 2"/>
          <p:cNvSpPr/>
          <p:nvPr/>
        </p:nvSpPr>
        <p:spPr>
          <a:xfrm>
            <a:off x="269748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 name="Pillar label 2"/>
          <p:cNvSpPr txBox="1"/>
          <p:nvPr/>
        </p:nvSpPr>
        <p:spPr>
          <a:xfrm>
            <a:off x="269748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2  Price compliance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7" name="Pillar chip 3"/>
          <p:cNvSpPr/>
          <p:nvPr/>
        </p:nvSpPr>
        <p:spPr>
          <a:xfrm>
            <a:off x="484632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8" name="Pillar label 3"/>
          <p:cNvSpPr txBox="1"/>
          <p:nvPr/>
        </p:nvSpPr>
        <p:spPr>
          <a:xfrm>
            <a:off x="484632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3  Sell-out mindset</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Key message"/>
          <p:cNvSpPr txBox="1"/>
          <p:nvPr/>
        </p:nvSpPr>
        <p:spPr>
          <a:xfrm>
            <a:off x="548640" y="132588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Every district and Kigali sector has one accountable distributor. The visits now check how deep each one really goes.</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0" name="Map card"/>
          <p:cNvSpPr/>
          <p:nvPr/>
        </p:nvSpPr>
        <p:spPr>
          <a:xfrm>
            <a:off x="548640" y="1783080"/>
            <a:ext cx="4846320" cy="3931920"/>
          </a:xfrm>
          <a:prstGeom prst="roundRect">
            <a:avLst>
              <a:gd name="adj" fmla="val 1395"/>
            </a:avLst>
          </a:prstGeom>
          <a:solidFill>
            <a:srgbClr val="F3F4EF"/>
          </a:solidFill>
          <a:ln w="12700">
            <a:solidFill>
              <a:srgbClr val="F3F4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pic>
        <p:nvPicPr>
          <p:cNvPr id="11" name="Rwanda coverage map" descr="Rwanda distributor coverage map, September 2026: 20 distributors, 27 upcountry districts and 35 Kigali sectors, no white spots"/>
          <p:cNvPicPr>
            <a:picLocks noChangeAspect="1"/>
          </p:cNvPicPr>
          <p:nvPr/>
        </p:nvPicPr>
        <p:blipFill>
          <a:blip r:embed="rId3"/>
          <a:stretch>
            <a:fillRect/>
          </a:stretch>
        </p:blipFill>
        <p:spPr>
          <a:xfrm>
            <a:off x="868680" y="1828800"/>
            <a:ext cx="4290365" cy="3776730"/>
          </a:xfrm>
          <a:prstGeom prst="rect">
            <a:avLst/>
          </a:prstGeom>
        </p:spPr>
      </p:pic>
      <p:sp>
        <p:nvSpPr>
          <p:cNvPr id="12" name="Map caption"/>
          <p:cNvSpPr txBox="1"/>
          <p:nvPr/>
        </p:nvSpPr>
        <p:spPr>
          <a:xfrm>
            <a:off x="685800" y="1856232"/>
            <a:ext cx="27432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6"/>
                </a:solidFill>
                <a:effectLst/>
                <a:uLnTx/>
                <a:uFillTx/>
                <a:latin typeface="Calibri"/>
                <a:ea typeface="+mn-ea"/>
                <a:cs typeface="+mn-cs"/>
              </a:rPr>
              <a:t>Distributor map, 29 Sep 2026</a:t>
            </a:r>
            <a:endParaRPr kumimoji="0" lang="en-US" sz="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3" name="Stat tile 1"/>
          <p:cNvSpPr/>
          <p:nvPr/>
        </p:nvSpPr>
        <p:spPr>
          <a:xfrm>
            <a:off x="5669280" y="1783080"/>
            <a:ext cx="1389888"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4" name="Stat value 1"/>
          <p:cNvSpPr txBox="1"/>
          <p:nvPr/>
        </p:nvSpPr>
        <p:spPr>
          <a:xfrm>
            <a:off x="5742432" y="1819656"/>
            <a:ext cx="1243584" cy="4114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E7D32"/>
                </a:solidFill>
                <a:effectLst/>
                <a:uLnTx/>
                <a:uFillTx/>
                <a:latin typeface="Calibri"/>
                <a:ea typeface="+mn-ea"/>
                <a:cs typeface="+mn-cs"/>
              </a:rPr>
              <a:t>20 / 20</a:t>
            </a:r>
            <a:endParaRPr kumimoji="0" lang="en-US" sz="2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5" name="Stat label 1"/>
          <p:cNvSpPr txBox="1"/>
          <p:nvPr/>
        </p:nvSpPr>
        <p:spPr>
          <a:xfrm>
            <a:off x="5742432" y="2240280"/>
            <a:ext cx="1243584"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4444"/>
                </a:solidFill>
                <a:effectLst/>
                <a:uLnTx/>
                <a:uFillTx/>
                <a:latin typeface="Calibri"/>
                <a:ea typeface="+mn-ea"/>
                <a:cs typeface="+mn-cs"/>
              </a:rPr>
              <a:t>distributors visited</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6" name="Stat tile 2"/>
          <p:cNvSpPr/>
          <p:nvPr/>
        </p:nvSpPr>
        <p:spPr>
          <a:xfrm>
            <a:off x="7187184" y="1783080"/>
            <a:ext cx="1389888"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7" name="Stat value 2"/>
          <p:cNvSpPr txBox="1"/>
          <p:nvPr/>
        </p:nvSpPr>
        <p:spPr>
          <a:xfrm>
            <a:off x="7260336" y="1819656"/>
            <a:ext cx="1243584" cy="4114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3864"/>
                </a:solidFill>
                <a:effectLst/>
                <a:uLnTx/>
                <a:uFillTx/>
                <a:latin typeface="Calibri"/>
                <a:ea typeface="+mn-ea"/>
                <a:cs typeface="+mn-cs"/>
              </a:rPr>
              <a:t>27 / 27</a:t>
            </a:r>
            <a:endParaRPr kumimoji="0" lang="en-US" sz="2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8" name="Stat label 2"/>
          <p:cNvSpPr txBox="1"/>
          <p:nvPr/>
        </p:nvSpPr>
        <p:spPr>
          <a:xfrm>
            <a:off x="7260336" y="2240280"/>
            <a:ext cx="1243584"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4444"/>
                </a:solidFill>
                <a:effectLst/>
                <a:uLnTx/>
                <a:uFillTx/>
                <a:latin typeface="Calibri"/>
                <a:ea typeface="+mn-ea"/>
                <a:cs typeface="+mn-cs"/>
              </a:rPr>
              <a:t>upcountry districts</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9" name="Stat tile 3"/>
          <p:cNvSpPr/>
          <p:nvPr/>
        </p:nvSpPr>
        <p:spPr>
          <a:xfrm>
            <a:off x="8705088" y="1783080"/>
            <a:ext cx="1389888"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0" name="Stat value 3"/>
          <p:cNvSpPr txBox="1"/>
          <p:nvPr/>
        </p:nvSpPr>
        <p:spPr>
          <a:xfrm>
            <a:off x="8778240" y="1819656"/>
            <a:ext cx="1243584" cy="4114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3864"/>
                </a:solidFill>
                <a:effectLst/>
                <a:uLnTx/>
                <a:uFillTx/>
                <a:latin typeface="Calibri"/>
                <a:ea typeface="+mn-ea"/>
                <a:cs typeface="+mn-cs"/>
              </a:rPr>
              <a:t>35 / 35</a:t>
            </a:r>
            <a:endParaRPr kumimoji="0" lang="en-US" sz="2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1" name="Stat label 3"/>
          <p:cNvSpPr txBox="1"/>
          <p:nvPr/>
        </p:nvSpPr>
        <p:spPr>
          <a:xfrm>
            <a:off x="8778240" y="2240280"/>
            <a:ext cx="1243584"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4444"/>
                </a:solidFill>
                <a:effectLst/>
                <a:uLnTx/>
                <a:uFillTx/>
                <a:latin typeface="Calibri"/>
                <a:ea typeface="+mn-ea"/>
                <a:cs typeface="+mn-cs"/>
              </a:rPr>
              <a:t>Kigali sectors</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2" name="Stat tile 4"/>
          <p:cNvSpPr/>
          <p:nvPr/>
        </p:nvSpPr>
        <p:spPr>
          <a:xfrm>
            <a:off x="10222992" y="1783080"/>
            <a:ext cx="1389888"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3" name="Stat value 4"/>
          <p:cNvSpPr txBox="1"/>
          <p:nvPr/>
        </p:nvSpPr>
        <p:spPr>
          <a:xfrm>
            <a:off x="10296144" y="1819656"/>
            <a:ext cx="1243584" cy="4114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3864"/>
                </a:solidFill>
                <a:effectLst/>
                <a:uLnTx/>
                <a:uFillTx/>
                <a:latin typeface="Calibri"/>
                <a:ea typeface="+mn-ea"/>
                <a:cs typeface="+mn-cs"/>
              </a:rPr>
              <a:t>0</a:t>
            </a:r>
            <a:endParaRPr kumimoji="0" lang="en-US" sz="2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4" name="Stat label 4"/>
          <p:cNvSpPr txBox="1"/>
          <p:nvPr/>
        </p:nvSpPr>
        <p:spPr>
          <a:xfrm>
            <a:off x="10296144" y="2240280"/>
            <a:ext cx="1243584"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4444"/>
                </a:solidFill>
                <a:effectLst/>
                <a:uLnTx/>
                <a:uFillTx/>
                <a:latin typeface="Calibri"/>
                <a:ea typeface="+mn-ea"/>
                <a:cs typeface="+mn-cs"/>
              </a:rPr>
              <a:t>white spots or overlaps</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5" name="Kigali card"/>
          <p:cNvSpPr/>
          <p:nvPr/>
        </p:nvSpPr>
        <p:spPr>
          <a:xfrm>
            <a:off x="5669280" y="2834640"/>
            <a:ext cx="5989320" cy="1325880"/>
          </a:xfrm>
          <a:prstGeom prst="roundRect">
            <a:avLst>
              <a:gd name="adj" fmla="val 4138"/>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6" name="Kigali accent"/>
          <p:cNvSpPr/>
          <p:nvPr/>
        </p:nvSpPr>
        <p:spPr>
          <a:xfrm>
            <a:off x="5669280" y="2944368"/>
            <a:ext cx="73152" cy="1106424"/>
          </a:xfrm>
          <a:prstGeom prst="rect">
            <a:avLst/>
          </a:prstGeom>
          <a:solidFill>
            <a:schemeClr val="accent3"/>
          </a:solidFill>
          <a:ln w="1270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7" name="Kigali head"/>
          <p:cNvSpPr txBox="1"/>
          <p:nvPr/>
        </p:nvSpPr>
        <p:spPr>
          <a:xfrm>
            <a:off x="5897880" y="2898648"/>
            <a:ext cx="55778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Kigali: Codimad exit (early August)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8" name="Kigali list"/>
          <p:cNvSpPr txBox="1"/>
          <p:nvPr/>
        </p:nvSpPr>
        <p:spPr>
          <a:xfrm>
            <a:off x="5897880" y="3273552"/>
            <a:ext cx="5623560" cy="82296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6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Only distributor “under expectation” in June, bank guarantee expired: contract terminated</a:t>
            </a:r>
          </a:p>
          <a:p>
            <a:pPr marL="177800" marR="0" lvl="0" indent="-177800" algn="l" defTabSz="914400" rtl="0" eaLnBrk="1" fontAlgn="auto" latinLnBrk="0" hangingPunct="1">
              <a:lnSpc>
                <a:spcPct val="100000"/>
              </a:lnSpc>
              <a:spcBef>
                <a:spcPts val="0"/>
              </a:spcBef>
              <a:spcAft>
                <a:spcPts val="6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Kigali remapped across 7 distributors; strong lift in Kigali sales</a:t>
            </a:r>
          </a:p>
        </p:txBody>
      </p:sp>
      <p:sp>
        <p:nvSpPr>
          <p:cNvPr id="29" name="Visits card"/>
          <p:cNvSpPr/>
          <p:nvPr/>
        </p:nvSpPr>
        <p:spPr>
          <a:xfrm>
            <a:off x="5669280" y="4297680"/>
            <a:ext cx="5989320" cy="1417320"/>
          </a:xfrm>
          <a:prstGeom prst="roundRect">
            <a:avLst>
              <a:gd name="adj" fmla="val 3871"/>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0" name="Visits accent"/>
          <p:cNvSpPr/>
          <p:nvPr/>
        </p:nvSpPr>
        <p:spPr>
          <a:xfrm>
            <a:off x="5669280" y="4407408"/>
            <a:ext cx="73152" cy="1197864"/>
          </a:xfrm>
          <a:prstGeom prst="rect">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1" name="Visits head"/>
          <p:cNvSpPr txBox="1"/>
          <p:nvPr/>
        </p:nvSpPr>
        <p:spPr>
          <a:xfrm>
            <a:off x="5897880" y="4361688"/>
            <a:ext cx="55778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Market visits: all 20 done, and continuing</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2" name="Visits list"/>
          <p:cNvSpPr txBox="1"/>
          <p:nvPr/>
        </p:nvSpPr>
        <p:spPr>
          <a:xfrm>
            <a:off x="5897880" y="4736592"/>
            <a:ext cx="5623560" cy="91440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4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Check outlet penetration, availability, execution and distributor capacity</a:t>
            </a:r>
          </a:p>
          <a:p>
            <a:pPr marL="177800" marR="0" lvl="0" indent="-177800" algn="l" defTabSz="914400" rtl="0" eaLnBrk="1" fontAlgn="auto" latinLnBrk="0" hangingPunct="1">
              <a:lnSpc>
                <a:spcPct val="100000"/>
              </a:lnSpc>
              <a:spcBef>
                <a:spcPts val="0"/>
              </a:spcBef>
              <a:spcAft>
                <a:spcPts val="4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Findings consolidated per territory to size each distributor’s full potential</a:t>
            </a:r>
          </a:p>
          <a:p>
            <a:pPr marL="177800" marR="0" lvl="0" indent="-177800" algn="l" defTabSz="914400" rtl="0" eaLnBrk="1" fontAlgn="auto" latinLnBrk="0" hangingPunct="1">
              <a:lnSpc>
                <a:spcPct val="100000"/>
              </a:lnSpc>
              <a:spcBef>
                <a:spcPts val="0"/>
              </a:spcBef>
              <a:spcAft>
                <a:spcPts val="4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Results feed the 2027 mapping and targets</a:t>
            </a:r>
          </a:p>
        </p:txBody>
      </p:sp>
      <p:sp>
        <p:nvSpPr>
          <p:cNvPr id="33" name="Bottom bar"/>
          <p:cNvSpPr/>
          <p:nvPr/>
        </p:nvSpPr>
        <p:spPr>
          <a:xfrm>
            <a:off x="548640" y="5897880"/>
            <a:ext cx="11109960" cy="457200"/>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4"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Full coverage on the map is the starting point; the next step is real depth in every territory.</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Price compliance: support given, discipline enforced</a:t>
            </a:r>
            <a:endParaRPr lang="en-US" sz="2200" dirty="0"/>
          </a:p>
        </p:txBody>
      </p:sp>
      <p:sp>
        <p:nvSpPr>
          <p:cNvPr id="3" name="Pillar chip 1"/>
          <p:cNvSpPr/>
          <p:nvPr/>
        </p:nvSpPr>
        <p:spPr>
          <a:xfrm>
            <a:off x="54864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 name="Pillar label 1"/>
          <p:cNvSpPr txBox="1"/>
          <p:nvPr/>
        </p:nvSpPr>
        <p:spPr>
          <a:xfrm>
            <a:off x="54864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1  Market coverage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5" name="Pillar chip 2"/>
          <p:cNvSpPr/>
          <p:nvPr/>
        </p:nvSpPr>
        <p:spPr>
          <a:xfrm>
            <a:off x="2697480" y="896112"/>
            <a:ext cx="2011680" cy="329184"/>
          </a:xfrm>
          <a:prstGeom prst="roundRect">
            <a:avLst>
              <a:gd name="adj" fmla="val 13889"/>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 name="Pillar label 2"/>
          <p:cNvSpPr txBox="1"/>
          <p:nvPr/>
        </p:nvSpPr>
        <p:spPr>
          <a:xfrm>
            <a:off x="269748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a:ea typeface="+mn-ea"/>
                <a:cs typeface="+mn-cs"/>
              </a:rPr>
              <a:t>2  Price compliance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7" name="Pillar chip 3"/>
          <p:cNvSpPr/>
          <p:nvPr/>
        </p:nvSpPr>
        <p:spPr>
          <a:xfrm>
            <a:off x="484632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8" name="Pillar label 3"/>
          <p:cNvSpPr txBox="1"/>
          <p:nvPr/>
        </p:nvSpPr>
        <p:spPr>
          <a:xfrm>
            <a:off x="484632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3  Sell-out mindset</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Key message"/>
          <p:cNvSpPr txBox="1"/>
          <p:nvPr/>
        </p:nvSpPr>
        <p:spPr>
          <a:xfrm>
            <a:off x="548640" y="132588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The transport support came with one condition: respect the price. The 2 who did not lost exclusivity, and a wholesaler now serves each of their zones.</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0" name="Map card"/>
          <p:cNvSpPr/>
          <p:nvPr/>
        </p:nvSpPr>
        <p:spPr>
          <a:xfrm>
            <a:off x="548640" y="1783080"/>
            <a:ext cx="4114800" cy="3931920"/>
          </a:xfrm>
          <a:prstGeom prst="roundRect">
            <a:avLst>
              <a:gd name="adj" fmla="val 1395"/>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pic>
        <p:nvPicPr>
          <p:cNvPr id="11" name="South map" descr="Southern Rwanda: Pacis zone (Nyamagabe, Ruhango, Nyanza) and Mumufaco zone (Nyaruguru, Huye, Gisagara)"/>
          <p:cNvPicPr>
            <a:picLocks noChangeAspect="1"/>
          </p:cNvPicPr>
          <p:nvPr/>
        </p:nvPicPr>
        <p:blipFill>
          <a:blip r:embed="rId3"/>
          <a:stretch>
            <a:fillRect/>
          </a:stretch>
        </p:blipFill>
        <p:spPr>
          <a:xfrm>
            <a:off x="672084" y="1783080"/>
            <a:ext cx="3867912" cy="3581400"/>
          </a:xfrm>
          <a:prstGeom prst="rect">
            <a:avLst/>
          </a:prstGeom>
        </p:spPr>
      </p:pic>
      <p:sp>
        <p:nvSpPr>
          <p:cNvPr id="12" name="Pin leader 1"/>
          <p:cNvSpPr/>
          <p:nvPr/>
        </p:nvSpPr>
        <p:spPr>
          <a:xfrm>
            <a:off x="2811039" y="3172663"/>
            <a:ext cx="104434" cy="494843"/>
          </a:xfrm>
          <a:prstGeom prst="line">
            <a:avLst/>
          </a:prstGeom>
          <a:noFill/>
          <a:ln w="15875">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3" name="Pin 1"/>
          <p:cNvSpPr/>
          <p:nvPr/>
        </p:nvSpPr>
        <p:spPr>
          <a:xfrm>
            <a:off x="2701311" y="3062935"/>
            <a:ext cx="219456" cy="219456"/>
          </a:xfrm>
          <a:prstGeom prst="ellipse">
            <a:avLst/>
          </a:prstGeom>
          <a:solidFill>
            <a:schemeClr val="accent6"/>
          </a:solidFill>
          <a:ln w="254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4" name="Pin label box 1"/>
          <p:cNvSpPr/>
          <p:nvPr/>
        </p:nvSpPr>
        <p:spPr>
          <a:xfrm>
            <a:off x="2915473" y="3466338"/>
            <a:ext cx="1508760" cy="457200"/>
          </a:xfrm>
          <a:prstGeom prst="roundRect">
            <a:avLst>
              <a:gd name="adj" fmla="val 10000"/>
            </a:avLst>
          </a:prstGeom>
          <a:solidFill>
            <a:srgbClr val="FFFFFF"/>
          </a:solidFill>
          <a:ln w="15875">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5" name="Pin label 1"/>
          <p:cNvSpPr txBox="1"/>
          <p:nvPr/>
        </p:nvSpPr>
        <p:spPr>
          <a:xfrm>
            <a:off x="2970337" y="3466338"/>
            <a:ext cx="14173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3864"/>
                </a:solidFill>
                <a:effectLst/>
                <a:uLnTx/>
                <a:uFillTx/>
                <a:latin typeface="Calibri"/>
                <a:ea typeface="+mn-ea"/>
                <a:cs typeface="+mn-cs"/>
              </a:rPr>
              <a:t>N&amp;A Beverages</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44444"/>
                </a:solidFill>
                <a:effectLst/>
                <a:uLnTx/>
                <a:uFillTx/>
                <a:latin typeface="Calibri"/>
                <a:ea typeface="+mn-ea"/>
                <a:cs typeface="+mn-cs"/>
              </a:rPr>
              <a:t>Nyanza · Pacis zone</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6" name="Pin leader 2"/>
          <p:cNvSpPr/>
          <p:nvPr/>
        </p:nvSpPr>
        <p:spPr>
          <a:xfrm>
            <a:off x="2103211" y="3799408"/>
            <a:ext cx="812262" cy="763448"/>
          </a:xfrm>
          <a:prstGeom prst="line">
            <a:avLst/>
          </a:prstGeom>
          <a:noFill/>
          <a:ln w="15875">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7" name="Pin 2"/>
          <p:cNvSpPr/>
          <p:nvPr/>
        </p:nvSpPr>
        <p:spPr>
          <a:xfrm>
            <a:off x="1993483" y="3689680"/>
            <a:ext cx="219456" cy="219456"/>
          </a:xfrm>
          <a:prstGeom prst="ellipse">
            <a:avLst/>
          </a:prstGeom>
          <a:solidFill>
            <a:schemeClr val="accent6"/>
          </a:solidFill>
          <a:ln w="254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8" name="Pin label box 2"/>
          <p:cNvSpPr/>
          <p:nvPr/>
        </p:nvSpPr>
        <p:spPr>
          <a:xfrm>
            <a:off x="2915473" y="4361688"/>
            <a:ext cx="1508760" cy="457200"/>
          </a:xfrm>
          <a:prstGeom prst="roundRect">
            <a:avLst>
              <a:gd name="adj" fmla="val 10000"/>
            </a:avLst>
          </a:prstGeom>
          <a:solidFill>
            <a:srgbClr val="FFFFFF"/>
          </a:solidFill>
          <a:ln w="15875">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9" name="Pin label 2"/>
          <p:cNvSpPr txBox="1"/>
          <p:nvPr/>
        </p:nvSpPr>
        <p:spPr>
          <a:xfrm>
            <a:off x="2970337" y="4361688"/>
            <a:ext cx="14173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3864"/>
                </a:solidFill>
                <a:effectLst/>
                <a:uLnTx/>
                <a:uFillTx/>
                <a:latin typeface="Calibri"/>
                <a:ea typeface="+mn-ea"/>
                <a:cs typeface="+mn-cs"/>
              </a:rPr>
              <a:t>HITRAB LTD</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44444"/>
                </a:solidFill>
                <a:effectLst/>
                <a:uLnTx/>
                <a:uFillTx/>
                <a:latin typeface="Calibri"/>
                <a:ea typeface="+mn-ea"/>
                <a:cs typeface="+mn-cs"/>
              </a:rPr>
              <a:t>Huye · Mumufaco zone</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Start date note"/>
          <p:cNvSpPr txBox="1"/>
          <p:nvPr/>
        </p:nvSpPr>
        <p:spPr>
          <a:xfrm>
            <a:off x="685800" y="5410200"/>
            <a:ext cx="38404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0A800"/>
                </a:solidFill>
                <a:effectLst/>
                <a:uLnTx/>
                <a:uFillTx/>
                <a:latin typeface="Calibri"/>
                <a:ea typeface="+mn-ea"/>
                <a:cs typeface="+mn-cs"/>
              </a:rPr>
              <a:t>13 Aug 2026  </a:t>
            </a:r>
            <a:r>
              <a:rPr kumimoji="0" lang="en-US" sz="1150" b="0" i="0" u="none" strike="noStrike" kern="1200" cap="none" spc="0" normalizeH="0" baseline="0" noProof="0" dirty="0">
                <a:ln>
                  <a:noFill/>
                </a:ln>
                <a:solidFill>
                  <a:srgbClr val="222222"/>
                </a:solidFill>
                <a:effectLst/>
                <a:uLnTx/>
                <a:uFillTx/>
                <a:latin typeface="Calibri"/>
                <a:ea typeface="+mn-ea"/>
                <a:cs typeface="+mn-cs"/>
              </a:rPr>
              <a:t>Exclusivity removed, wholesalers start</a:t>
            </a:r>
          </a:p>
        </p:txBody>
      </p:sp>
      <p:sp>
        <p:nvSpPr>
          <p:cNvPr id="21" name="Chart card 1"/>
          <p:cNvSpPr/>
          <p:nvPr/>
        </p:nvSpPr>
        <p:spPr>
          <a:xfrm>
            <a:off x="4937760" y="1783080"/>
            <a:ext cx="3246120" cy="2743200"/>
          </a:xfrm>
          <a:prstGeom prst="roundRect">
            <a:avLst>
              <a:gd name="adj" fmla="val 2000"/>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2" name="Chart title 1"/>
          <p:cNvSpPr txBox="1"/>
          <p:nvPr/>
        </p:nvSpPr>
        <p:spPr>
          <a:xfrm>
            <a:off x="5074920" y="1828800"/>
            <a:ext cx="3017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Calibri"/>
                <a:ea typeface="+mn-ea"/>
                <a:cs typeface="+mn-cs"/>
              </a:rPr>
              <a:t>Pacis zone (HL)</a:t>
            </a:r>
            <a:r>
              <a:rPr kumimoji="0" lang="en-US" sz="1600" b="1" i="0" u="none" strike="noStrike" kern="1200" cap="none" spc="0" normalizeH="0" baseline="0" noProof="0" dirty="0">
                <a:ln>
                  <a:noFill/>
                </a:ln>
                <a:solidFill>
                  <a:srgbClr val="2E7D32"/>
                </a:solidFill>
                <a:effectLst/>
                <a:uLnTx/>
                <a:uFillTx/>
                <a:latin typeface="Calibri"/>
                <a:ea typeface="+mn-ea"/>
                <a:cs typeface="+mn-cs"/>
              </a:rPr>
              <a:t>   +80%</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graphicFrame>
        <p:nvGraphicFramePr>
          <p:cNvPr id="23" name="Pacis zone (HL) chart"/>
          <p:cNvGraphicFramePr/>
          <p:nvPr/>
        </p:nvGraphicFramePr>
        <p:xfrm>
          <a:off x="4983480" y="2194560"/>
          <a:ext cx="315468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24" name="Chart card 2"/>
          <p:cNvSpPr/>
          <p:nvPr/>
        </p:nvSpPr>
        <p:spPr>
          <a:xfrm>
            <a:off x="8321040" y="1783080"/>
            <a:ext cx="3246120" cy="2743200"/>
          </a:xfrm>
          <a:prstGeom prst="roundRect">
            <a:avLst>
              <a:gd name="adj" fmla="val 2000"/>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5" name="Chart title 2"/>
          <p:cNvSpPr txBox="1"/>
          <p:nvPr/>
        </p:nvSpPr>
        <p:spPr>
          <a:xfrm>
            <a:off x="8458200" y="1828800"/>
            <a:ext cx="3017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Calibri"/>
                <a:ea typeface="+mn-ea"/>
                <a:cs typeface="+mn-cs"/>
              </a:rPr>
              <a:t>Mumufaco zone (HL)</a:t>
            </a:r>
            <a:r>
              <a:rPr kumimoji="0" lang="en-US" sz="1600" b="1" i="0" u="none" strike="noStrike" kern="1200" cap="none" spc="0" normalizeH="0" baseline="0" noProof="0" dirty="0">
                <a:ln>
                  <a:noFill/>
                </a:ln>
                <a:solidFill>
                  <a:srgbClr val="2E7D32"/>
                </a:solidFill>
                <a:effectLst/>
                <a:uLnTx/>
                <a:uFillTx/>
                <a:latin typeface="Calibri"/>
                <a:ea typeface="+mn-ea"/>
                <a:cs typeface="+mn-cs"/>
              </a:rPr>
              <a:t>   +69%</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graphicFrame>
        <p:nvGraphicFramePr>
          <p:cNvPr id="26" name="Mumufaco zone (HL) chart"/>
          <p:cNvGraphicFramePr/>
          <p:nvPr/>
        </p:nvGraphicFramePr>
        <p:xfrm>
          <a:off x="8366760" y="2194560"/>
          <a:ext cx="3154680"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27" name="Chart footnote"/>
          <p:cNvSpPr txBox="1"/>
          <p:nvPr/>
        </p:nvSpPr>
        <p:spPr>
          <a:xfrm>
            <a:off x="4937760" y="4572000"/>
            <a:ext cx="66294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6"/>
                </a:solidFill>
                <a:effectLst/>
                <a:uLnTx/>
                <a:uFillTx/>
                <a:latin typeface="Calibri"/>
                <a:ea typeface="+mn-ea"/>
                <a:cs typeface="+mn-cs"/>
              </a:rPr>
              <a:t>% = Aug–Sep vs May–Jun 2026, total zone sales. August is a part month for the wholesalers (from 13 Aug).</a:t>
            </a:r>
            <a:endParaRPr kumimoji="0" lang="en-US" sz="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8" name="Tile 1"/>
          <p:cNvSpPr/>
          <p:nvPr/>
        </p:nvSpPr>
        <p:spPr>
          <a:xfrm>
            <a:off x="4937760" y="4846320"/>
            <a:ext cx="2130552"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9" name="Tile value 1"/>
          <p:cNvSpPr txBox="1"/>
          <p:nvPr/>
        </p:nvSpPr>
        <p:spPr>
          <a:xfrm>
            <a:off x="5047488" y="4873752"/>
            <a:ext cx="1920240" cy="36576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2E7D32"/>
                </a:solidFill>
                <a:effectLst/>
                <a:uLnTx/>
                <a:uFillTx/>
                <a:latin typeface="Calibri"/>
                <a:ea typeface="+mn-ea"/>
                <a:cs typeface="+mn-cs"/>
              </a:rPr>
              <a:t>+33%</a:t>
            </a:r>
            <a:endParaRPr kumimoji="0" lang="en-US" sz="1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0" name="Tile text 1"/>
          <p:cNvSpPr txBox="1"/>
          <p:nvPr/>
        </p:nvSpPr>
        <p:spPr>
          <a:xfrm>
            <a:off x="5047488" y="5239512"/>
            <a:ext cx="1965960"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Calibri"/>
                <a:ea typeface="+mn-ea"/>
                <a:cs typeface="+mn-cs"/>
              </a:rPr>
              <a:t>Transport support</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given in 2026, against price discipline</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1" name="Tile 2"/>
          <p:cNvSpPr/>
          <p:nvPr/>
        </p:nvSpPr>
        <p:spPr>
          <a:xfrm>
            <a:off x="7196328" y="4846320"/>
            <a:ext cx="2130552"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2" name="Tile value 2"/>
          <p:cNvSpPr txBox="1"/>
          <p:nvPr/>
        </p:nvSpPr>
        <p:spPr>
          <a:xfrm>
            <a:off x="7306056" y="4873752"/>
            <a:ext cx="1920240" cy="36576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2E7D32"/>
                </a:solidFill>
                <a:effectLst/>
                <a:uLnTx/>
                <a:uFillTx/>
                <a:latin typeface="Calibri"/>
                <a:ea typeface="+mn-ea"/>
                <a:cs typeface="+mn-cs"/>
              </a:rPr>
              <a:t>18 → 20</a:t>
            </a:r>
            <a:endParaRPr kumimoji="0" lang="en-US" sz="1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3" name="Tile text 2"/>
          <p:cNvSpPr txBox="1"/>
          <p:nvPr/>
        </p:nvSpPr>
        <p:spPr>
          <a:xfrm>
            <a:off x="7306056" y="5239512"/>
            <a:ext cx="1965960"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Calibri"/>
                <a:ea typeface="+mn-ea"/>
                <a:cs typeface="+mn-cs"/>
              </a:rPr>
              <a:t>Distributors on price</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August → today: all 20 comply</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4" name="Tile 3"/>
          <p:cNvSpPr/>
          <p:nvPr/>
        </p:nvSpPr>
        <p:spPr>
          <a:xfrm>
            <a:off x="9454896" y="4846320"/>
            <a:ext cx="2130552"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5" name="Tile value 3"/>
          <p:cNvSpPr txBox="1"/>
          <p:nvPr/>
        </p:nvSpPr>
        <p:spPr>
          <a:xfrm>
            <a:off x="9564624" y="4873752"/>
            <a:ext cx="1920240" cy="36576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2E7D32"/>
                </a:solidFill>
                <a:effectLst/>
                <a:uLnTx/>
                <a:uFillTx/>
                <a:latin typeface="Calibri"/>
                <a:ea typeface="+mn-ea"/>
                <a:cs typeface="+mn-cs"/>
              </a:rPr>
              <a:t>+75%</a:t>
            </a:r>
            <a:endParaRPr kumimoji="0" lang="en-US" sz="1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6" name="Tile text 3"/>
          <p:cNvSpPr txBox="1"/>
          <p:nvPr/>
        </p:nvSpPr>
        <p:spPr>
          <a:xfrm>
            <a:off x="9564624" y="5239512"/>
            <a:ext cx="1965960"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Calibri"/>
                <a:ea typeface="+mn-ea"/>
                <a:cs typeface="+mn-cs"/>
              </a:rPr>
              <a:t>Sales in the 2 zones</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distributors alone: +42% / +21%</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7" name="Bottom bar"/>
          <p:cNvSpPr/>
          <p:nvPr/>
        </p:nvSpPr>
        <p:spPr>
          <a:xfrm>
            <a:off x="548640" y="5897880"/>
            <a:ext cx="11109960" cy="457200"/>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8"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Exclusivity is earned: a distributor who does not respect the price loses it.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9"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Sell-out mindset: what the market buys, not what we load</a:t>
            </a:r>
            <a:endParaRPr lang="en-US" sz="2200" dirty="0"/>
          </a:p>
        </p:txBody>
      </p:sp>
      <p:sp>
        <p:nvSpPr>
          <p:cNvPr id="3" name="Pillar chip 1"/>
          <p:cNvSpPr/>
          <p:nvPr/>
        </p:nvSpPr>
        <p:spPr>
          <a:xfrm>
            <a:off x="54864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 name="Pillar label 1"/>
          <p:cNvSpPr txBox="1"/>
          <p:nvPr/>
        </p:nvSpPr>
        <p:spPr>
          <a:xfrm>
            <a:off x="54864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1  Market coverage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5" name="Pillar chip 2"/>
          <p:cNvSpPr/>
          <p:nvPr/>
        </p:nvSpPr>
        <p:spPr>
          <a:xfrm>
            <a:off x="269748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 name="Pillar label 2"/>
          <p:cNvSpPr txBox="1"/>
          <p:nvPr/>
        </p:nvSpPr>
        <p:spPr>
          <a:xfrm>
            <a:off x="269748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2  Price compliance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7" name="Pillar chip 3"/>
          <p:cNvSpPr/>
          <p:nvPr/>
        </p:nvSpPr>
        <p:spPr>
          <a:xfrm>
            <a:off x="4846320" y="896112"/>
            <a:ext cx="2011680" cy="329184"/>
          </a:xfrm>
          <a:prstGeom prst="roundRect">
            <a:avLst>
              <a:gd name="adj" fmla="val 13889"/>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8" name="Pillar label 3"/>
          <p:cNvSpPr txBox="1"/>
          <p:nvPr/>
        </p:nvSpPr>
        <p:spPr>
          <a:xfrm>
            <a:off x="484632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a:ea typeface="+mn-ea"/>
                <a:cs typeface="+mn-cs"/>
              </a:rPr>
              <a:t>3  Sell-out mindset</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Key message"/>
          <p:cNvSpPr txBox="1"/>
          <p:nvPr/>
        </p:nvSpPr>
        <p:spPr>
          <a:xfrm>
            <a:off x="548640" y="132588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Success is what distributors sell to outlets, not what they stock. Interchangeability started it; EBM data will let us measure, pay and renew on sell-out.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0" name="Step card 1"/>
          <p:cNvSpPr/>
          <p:nvPr/>
        </p:nvSpPr>
        <p:spPr>
          <a:xfrm>
            <a:off x="548640" y="1828800"/>
            <a:ext cx="2514600" cy="1828800"/>
          </a:xfrm>
          <a:prstGeom prst="roundRect">
            <a:avLst>
              <a:gd name="adj" fmla="val 3000"/>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1" name="Step tag box 1"/>
          <p:cNvSpPr/>
          <p:nvPr/>
        </p:nvSpPr>
        <p:spPr>
          <a:xfrm>
            <a:off x="713232" y="1993392"/>
            <a:ext cx="1600200" cy="274320"/>
          </a:xfrm>
          <a:prstGeom prst="roundRect">
            <a:avLst>
              <a:gd name="adj" fmla="val 16667"/>
            </a:avLst>
          </a:prstGeom>
          <a:solidFill>
            <a:schemeClr val="accent3"/>
          </a:solidFill>
          <a:ln w="1270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2" name="Step tag 1"/>
          <p:cNvSpPr txBox="1"/>
          <p:nvPr/>
        </p:nvSpPr>
        <p:spPr>
          <a:xfrm>
            <a:off x="713232" y="1993392"/>
            <a:ext cx="16002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FFFFFF"/>
                </a:solidFill>
                <a:effectLst/>
                <a:uLnTx/>
                <a:uFillTx/>
                <a:latin typeface="Calibri"/>
                <a:ea typeface="+mn-ea"/>
                <a:cs typeface="+mn-cs"/>
              </a:rPr>
              <a:t>DONE</a:t>
            </a:r>
            <a:endParaRPr kumimoji="0" lang="en-US" sz="9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3" name="Step head 1"/>
          <p:cNvSpPr txBox="1"/>
          <p:nvPr/>
        </p:nvSpPr>
        <p:spPr>
          <a:xfrm>
            <a:off x="713232" y="2359152"/>
            <a:ext cx="2185416"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Calibri"/>
                <a:ea typeface="+mn-ea"/>
                <a:cs typeface="+mn-cs"/>
              </a:rPr>
              <a:t>Interchangeability</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4" name="Step text 1"/>
          <p:cNvSpPr txBox="1"/>
          <p:nvPr/>
        </p:nvSpPr>
        <p:spPr>
          <a:xfrm>
            <a:off x="713232" y="2788920"/>
            <a:ext cx="2185416" cy="8046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4"/>
                </a:solidFill>
                <a:effectLst/>
                <a:uLnTx/>
                <a:uFillTx/>
                <a:latin typeface="Calibri"/>
                <a:ea typeface="+mn-ea"/>
                <a:cs typeface="+mn-cs"/>
              </a:rPr>
              <a:t>Distributor stock 8 → 4 days; dormant empties reduced, faster rotation.</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5" name="Step arrow 1"/>
          <p:cNvSpPr/>
          <p:nvPr/>
        </p:nvSpPr>
        <p:spPr>
          <a:xfrm>
            <a:off x="3145536" y="2578608"/>
            <a:ext cx="182880" cy="320040"/>
          </a:xfrm>
          <a:prstGeom prst="chevron">
            <a:avLst/>
          </a:prstGeom>
          <a:solidFill>
            <a:schemeClr val="accent6"/>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6" name="Step card 2"/>
          <p:cNvSpPr/>
          <p:nvPr/>
        </p:nvSpPr>
        <p:spPr>
          <a:xfrm>
            <a:off x="3410712" y="1828800"/>
            <a:ext cx="2514600" cy="1828800"/>
          </a:xfrm>
          <a:prstGeom prst="roundRect">
            <a:avLst>
              <a:gd name="adj" fmla="val 3000"/>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7" name="Step tag box 2"/>
          <p:cNvSpPr/>
          <p:nvPr/>
        </p:nvSpPr>
        <p:spPr>
          <a:xfrm>
            <a:off x="3575304" y="1993392"/>
            <a:ext cx="1600200" cy="274320"/>
          </a:xfrm>
          <a:prstGeom prst="roundRect">
            <a:avLst>
              <a:gd name="adj" fmla="val 16667"/>
            </a:avLst>
          </a:prstGeom>
          <a:solidFill>
            <a:schemeClr val="accent3"/>
          </a:solidFill>
          <a:ln w="1270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8" name="Step tag 2"/>
          <p:cNvSpPr txBox="1"/>
          <p:nvPr/>
        </p:nvSpPr>
        <p:spPr>
          <a:xfrm>
            <a:off x="3575304" y="1993392"/>
            <a:ext cx="16002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FFFFFF"/>
                </a:solidFill>
                <a:effectLst/>
                <a:uLnTx/>
                <a:uFillTx/>
                <a:latin typeface="Calibri"/>
                <a:ea typeface="+mn-ea"/>
                <a:cs typeface="+mn-cs"/>
              </a:rPr>
              <a:t>DONE</a:t>
            </a:r>
            <a:endParaRPr kumimoji="0" lang="en-US" sz="9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9" name="Step head 2"/>
          <p:cNvSpPr txBox="1"/>
          <p:nvPr/>
        </p:nvSpPr>
        <p:spPr>
          <a:xfrm>
            <a:off x="3575304" y="2359152"/>
            <a:ext cx="2185416"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Calibri"/>
                <a:ea typeface="+mn-ea"/>
                <a:cs typeface="+mn-cs"/>
              </a:rPr>
              <a:t>Odoo in place</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Step text 2"/>
          <p:cNvSpPr txBox="1"/>
          <p:nvPr/>
        </p:nvSpPr>
        <p:spPr>
          <a:xfrm>
            <a:off x="3575304" y="2788920"/>
            <a:ext cx="2185416" cy="8046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4"/>
                </a:solidFill>
                <a:effectLst/>
                <a:uLnTx/>
                <a:uFillTx/>
                <a:latin typeface="Calibri"/>
                <a:ea typeface="+mn-ea"/>
                <a:cs typeface="+mn-cs"/>
              </a:rPr>
              <a:t>System live and ready for distributor integration.</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1" name="Step arrow 2"/>
          <p:cNvSpPr/>
          <p:nvPr/>
        </p:nvSpPr>
        <p:spPr>
          <a:xfrm>
            <a:off x="6007608" y="2578608"/>
            <a:ext cx="182880" cy="320040"/>
          </a:xfrm>
          <a:prstGeom prst="chevron">
            <a:avLst/>
          </a:prstGeom>
          <a:solidFill>
            <a:schemeClr val="accent6"/>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2" name="Step card 3"/>
          <p:cNvSpPr/>
          <p:nvPr/>
        </p:nvSpPr>
        <p:spPr>
          <a:xfrm>
            <a:off x="6272784" y="1828800"/>
            <a:ext cx="2514600" cy="1828800"/>
          </a:xfrm>
          <a:prstGeom prst="roundRect">
            <a:avLst>
              <a:gd name="adj" fmla="val 3000"/>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3" name="Step tag box 3"/>
          <p:cNvSpPr/>
          <p:nvPr/>
        </p:nvSpPr>
        <p:spPr>
          <a:xfrm>
            <a:off x="6437376" y="1993392"/>
            <a:ext cx="1600200" cy="274320"/>
          </a:xfrm>
          <a:prstGeom prst="roundRect">
            <a:avLst>
              <a:gd name="adj" fmla="val 16667"/>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4" name="Step tag 3"/>
          <p:cNvSpPr txBox="1"/>
          <p:nvPr/>
        </p:nvSpPr>
        <p:spPr>
          <a:xfrm>
            <a:off x="6437376" y="1993392"/>
            <a:ext cx="16002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FFFFFF"/>
                </a:solidFill>
                <a:effectLst/>
                <a:uLnTx/>
                <a:uFillTx/>
                <a:latin typeface="Calibri"/>
                <a:ea typeface="+mn-ea"/>
                <a:cs typeface="+mn-cs"/>
              </a:rPr>
              <a:t>STARTING SOON</a:t>
            </a:r>
            <a:endParaRPr kumimoji="0" lang="en-US" sz="9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5" name="Step head 3"/>
          <p:cNvSpPr txBox="1"/>
          <p:nvPr/>
        </p:nvSpPr>
        <p:spPr>
          <a:xfrm>
            <a:off x="6437376" y="2359152"/>
            <a:ext cx="2185416"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Calibri"/>
                <a:ea typeface="+mn-ea"/>
                <a:cs typeface="+mn-cs"/>
              </a:rPr>
              <a:t>EBM integration</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6" name="Step text 3"/>
          <p:cNvSpPr txBox="1"/>
          <p:nvPr/>
        </p:nvSpPr>
        <p:spPr>
          <a:xfrm>
            <a:off x="6437376" y="2788920"/>
            <a:ext cx="2185416" cy="8046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4"/>
                </a:solidFill>
                <a:effectLst/>
                <a:uLnTx/>
                <a:uFillTx/>
                <a:latin typeface="Calibri"/>
                <a:ea typeface="+mn-ea"/>
                <a:cs typeface="+mn-cs"/>
              </a:rPr>
              <a:t>Every distributor sale captured: full sell-out by distributor and zone.</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7" name="Step arrow 3"/>
          <p:cNvSpPr/>
          <p:nvPr/>
        </p:nvSpPr>
        <p:spPr>
          <a:xfrm>
            <a:off x="8869680" y="2578608"/>
            <a:ext cx="182880" cy="320040"/>
          </a:xfrm>
          <a:prstGeom prst="chevron">
            <a:avLst/>
          </a:prstGeom>
          <a:solidFill>
            <a:schemeClr val="accent6"/>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8" name="Step card 4"/>
          <p:cNvSpPr/>
          <p:nvPr/>
        </p:nvSpPr>
        <p:spPr>
          <a:xfrm>
            <a:off x="9134856" y="1828800"/>
            <a:ext cx="2514600" cy="1828800"/>
          </a:xfrm>
          <a:prstGeom prst="roundRect">
            <a:avLst>
              <a:gd name="adj" fmla="val 3000"/>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9" name="Step tag box 4"/>
          <p:cNvSpPr/>
          <p:nvPr/>
        </p:nvSpPr>
        <p:spPr>
          <a:xfrm>
            <a:off x="9299448" y="1993392"/>
            <a:ext cx="1600200" cy="274320"/>
          </a:xfrm>
          <a:prstGeom prst="roundRect">
            <a:avLst>
              <a:gd name="adj" fmla="val 16667"/>
            </a:avLst>
          </a:prstGeom>
          <a:solidFill>
            <a:srgbClr val="FFFFFF"/>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0" name="Step tag 4"/>
          <p:cNvSpPr txBox="1"/>
          <p:nvPr/>
        </p:nvSpPr>
        <p:spPr>
          <a:xfrm>
            <a:off x="9299448" y="1993392"/>
            <a:ext cx="16002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1F3864"/>
                </a:solidFill>
                <a:effectLst/>
                <a:uLnTx/>
                <a:uFillTx/>
                <a:latin typeface="Calibri"/>
                <a:ea typeface="+mn-ea"/>
                <a:cs typeface="+mn-cs"/>
              </a:rPr>
              <a:t>WITH 2027 BUDGET</a:t>
            </a:r>
            <a:endParaRPr kumimoji="0" lang="en-US" sz="9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1" name="Step head 4"/>
          <p:cNvSpPr txBox="1"/>
          <p:nvPr/>
        </p:nvSpPr>
        <p:spPr>
          <a:xfrm>
            <a:off x="9299448" y="2359152"/>
            <a:ext cx="2185416"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P4P on sell-out</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2" name="Step text 4"/>
          <p:cNvSpPr txBox="1"/>
          <p:nvPr/>
        </p:nvSpPr>
        <p:spPr>
          <a:xfrm>
            <a:off x="9299448" y="2788920"/>
            <a:ext cx="2185416" cy="8046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Calibri"/>
                <a:ea typeface="+mn-ea"/>
                <a:cs typeface="+mn-cs"/>
              </a:rPr>
              <a:t>Incentive moves from SBL sell-in to distributor sell-out.</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3" name="Info card 1"/>
          <p:cNvSpPr/>
          <p:nvPr/>
        </p:nvSpPr>
        <p:spPr>
          <a:xfrm>
            <a:off x="548640" y="3840480"/>
            <a:ext cx="6537960" cy="1874520"/>
          </a:xfrm>
          <a:prstGeom prst="roundRect">
            <a:avLst>
              <a:gd name="adj" fmla="val 2927"/>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4" name="Info accent 1"/>
          <p:cNvSpPr/>
          <p:nvPr/>
        </p:nvSpPr>
        <p:spPr>
          <a:xfrm>
            <a:off x="548640" y="3950208"/>
            <a:ext cx="73152" cy="1655064"/>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5" name="Info head 1"/>
          <p:cNvSpPr txBox="1"/>
          <p:nvPr/>
        </p:nvSpPr>
        <p:spPr>
          <a:xfrm>
            <a:off x="777240" y="3913632"/>
            <a:ext cx="61722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F3864"/>
                </a:solidFill>
                <a:effectLst/>
                <a:uLnTx/>
                <a:uFillTx/>
                <a:latin typeface="Calibri"/>
                <a:ea typeface="+mn-ea"/>
                <a:cs typeface="+mn-cs"/>
              </a:rPr>
              <a:t>Contracts: all expire 31 March 2027</a:t>
            </a:r>
            <a:endParaRPr kumimoji="0" lang="en-US" sz="14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6" name="Info list 1"/>
          <p:cNvSpPr txBox="1"/>
          <p:nvPr/>
        </p:nvSpPr>
        <p:spPr>
          <a:xfrm>
            <a:off x="777240" y="4352544"/>
            <a:ext cx="6126480" cy="128016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Renewal based on performance: sell-out, coverage, price compliance and empties</a:t>
            </a:r>
          </a:p>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Exclusivity is earned: who does not do the job loses it</a:t>
            </a:r>
          </a:p>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Sell-out data and coverage visits feed the 2027 mapping and targets</a:t>
            </a:r>
          </a:p>
        </p:txBody>
      </p:sp>
      <p:sp>
        <p:nvSpPr>
          <p:cNvPr id="37" name="Info card 2"/>
          <p:cNvSpPr/>
          <p:nvPr/>
        </p:nvSpPr>
        <p:spPr>
          <a:xfrm>
            <a:off x="7315200" y="3840480"/>
            <a:ext cx="4343400" cy="1874520"/>
          </a:xfrm>
          <a:prstGeom prst="roundRect">
            <a:avLst>
              <a:gd name="adj" fmla="val 2927"/>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8" name="Info accent 2"/>
          <p:cNvSpPr/>
          <p:nvPr/>
        </p:nvSpPr>
        <p:spPr>
          <a:xfrm>
            <a:off x="7315200" y="3950208"/>
            <a:ext cx="73152" cy="1655064"/>
          </a:xfrm>
          <a:prstGeom prst="rect">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9" name="Info head 2"/>
          <p:cNvSpPr txBox="1"/>
          <p:nvPr/>
        </p:nvSpPr>
        <p:spPr>
          <a:xfrm>
            <a:off x="7543800" y="3913632"/>
            <a:ext cx="3977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F3864"/>
                </a:solidFill>
                <a:effectLst/>
                <a:uLnTx/>
                <a:uFillTx/>
                <a:latin typeface="Calibri"/>
                <a:ea typeface="+mn-ea"/>
                <a:cs typeface="+mn-cs"/>
              </a:rPr>
              <a:t>Bank guarantees: 18 of 20 valid</a:t>
            </a:r>
            <a:endParaRPr kumimoji="0" lang="en-US" sz="1450" b="0" i="0" u="none" strike="noStrike" kern="1200" cap="none" spc="0" normalizeH="0" baseline="0" noProof="0" dirty="0">
              <a:ln>
                <a:noFill/>
              </a:ln>
              <a:solidFill>
                <a:srgbClr val="222222"/>
              </a:solidFill>
              <a:effectLst/>
              <a:uLnTx/>
              <a:uFillTx/>
              <a:latin typeface="Calibri"/>
              <a:ea typeface="+mn-ea"/>
              <a:cs typeface="+mn-cs"/>
            </a:endParaRPr>
          </a:p>
        </p:txBody>
      </p:sp>
      <p:sp>
        <p:nvSpPr>
          <p:cNvPr id="40" name="Info list 2"/>
          <p:cNvSpPr txBox="1"/>
          <p:nvPr/>
        </p:nvSpPr>
        <p:spPr>
          <a:xfrm>
            <a:off x="7543800" y="4352544"/>
            <a:ext cx="3931920" cy="128016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Mumufaco and T&amp;U: new guarantees requested, expected soon</a:t>
            </a:r>
          </a:p>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Valid guarantee required before any 2027 renewal</a:t>
            </a:r>
          </a:p>
        </p:txBody>
      </p:sp>
      <p:sp>
        <p:nvSpPr>
          <p:cNvPr id="41" name="Bottom bar"/>
          <p:cNvSpPr/>
          <p:nvPr/>
        </p:nvSpPr>
        <p:spPr>
          <a:xfrm>
            <a:off x="548640" y="5897880"/>
            <a:ext cx="11109960" cy="457200"/>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2"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From sell-in to sell-out: 2027 will be measured, paid and renewed on what the market buys.</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3"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P4P 2027: from sell-in to a full sell-out mindset</a:t>
            </a:r>
            <a:endParaRPr lang="en-US" sz="2200" dirty="0"/>
          </a:p>
        </p:txBody>
      </p:sp>
      <p:sp>
        <p:nvSpPr>
          <p:cNvPr id="3" name="Key message"/>
          <p:cNvSpPr txBox="1"/>
          <p:nvPr/>
        </p:nvSpPr>
        <p:spPr>
          <a:xfrm>
            <a:off x="548640" y="868680"/>
            <a:ext cx="11109960" cy="4114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We propose to pay distributors on what they sell to the market: sell-out vs sell-in becomes the biggest KPI (30%), and Odoo use becomes a paid KPI.</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 name="Header bg"/>
          <p:cNvSpPr/>
          <p:nvPr/>
        </p:nvSpPr>
        <p:spPr>
          <a:xfrm>
            <a:off x="548640" y="1371600"/>
            <a:ext cx="11109960" cy="411480"/>
          </a:xfrm>
          <a:prstGeom prst="rect">
            <a:avLst/>
          </a:prstGeom>
          <a:solidFill>
            <a:srgbClr val="F3F5F9"/>
          </a:solidFill>
          <a:ln w="12700">
            <a:solidFill>
              <a:srgbClr val="F3F5F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 name="Today head bg"/>
          <p:cNvSpPr/>
          <p:nvPr/>
        </p:nvSpPr>
        <p:spPr>
          <a:xfrm>
            <a:off x="3886200" y="1371600"/>
            <a:ext cx="2103120" cy="411480"/>
          </a:xfrm>
          <a:prstGeom prst="rect">
            <a:avLst/>
          </a:prstGeom>
          <a:solidFill>
            <a:srgbClr val="FFD966"/>
          </a:solidFill>
          <a:ln w="12700">
            <a:solidFill>
              <a:srgbClr val="FFD9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 name="Prop head bg"/>
          <p:cNvSpPr/>
          <p:nvPr/>
        </p:nvSpPr>
        <p:spPr>
          <a:xfrm>
            <a:off x="6446520" y="1371600"/>
            <a:ext cx="2103120" cy="411480"/>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7" name="H kpi"/>
          <p:cNvSpPr txBox="1"/>
          <p:nvPr/>
        </p:nvSpPr>
        <p:spPr>
          <a:xfrm>
            <a:off x="731520" y="1371600"/>
            <a:ext cx="30175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F3864"/>
                </a:solidFill>
                <a:effectLst/>
                <a:uLnTx/>
                <a:uFillTx/>
                <a:latin typeface="Calibri"/>
                <a:ea typeface="+mn-ea"/>
                <a:cs typeface="+mn-cs"/>
              </a:rPr>
              <a:t>KPI</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8" name="H today"/>
          <p:cNvSpPr txBox="1"/>
          <p:nvPr/>
        </p:nvSpPr>
        <p:spPr>
          <a:xfrm>
            <a:off x="3977640" y="1371600"/>
            <a:ext cx="19202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F3864"/>
                </a:solidFill>
                <a:effectLst/>
                <a:uLnTx/>
                <a:uFillTx/>
                <a:latin typeface="Calibri"/>
                <a:ea typeface="+mn-ea"/>
                <a:cs typeface="+mn-cs"/>
              </a:rPr>
              <a:t>TODAY (sell-in)</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H prop"/>
          <p:cNvSpPr txBox="1"/>
          <p:nvPr/>
        </p:nvSpPr>
        <p:spPr>
          <a:xfrm>
            <a:off x="6537960" y="1371600"/>
            <a:ext cx="19202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a:ea typeface="+mn-ea"/>
                <a:cs typeface="+mn-cs"/>
              </a:rPr>
              <a:t>PROPOSED 2027</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0" name="H chg"/>
          <p:cNvSpPr txBox="1"/>
          <p:nvPr/>
        </p:nvSpPr>
        <p:spPr>
          <a:xfrm>
            <a:off x="9601200" y="1371600"/>
            <a:ext cx="2377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F3864"/>
                </a:solidFill>
                <a:effectLst/>
                <a:uLnTx/>
                <a:uFillTx/>
                <a:latin typeface="Calibri"/>
                <a:ea typeface="+mn-ea"/>
                <a:cs typeface="+mn-cs"/>
              </a:rPr>
              <a:t>Change</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1" name="New bg 0"/>
          <p:cNvSpPr/>
          <p:nvPr/>
        </p:nvSpPr>
        <p:spPr>
          <a:xfrm>
            <a:off x="548640" y="1828800"/>
            <a:ext cx="11109960" cy="384048"/>
          </a:xfrm>
          <a:prstGeom prst="rect">
            <a:avLst/>
          </a:prstGeom>
          <a:solidFill>
            <a:srgbClr val="EAF4EA"/>
          </a:solidFill>
          <a:ln w="12700">
            <a:solidFill>
              <a:srgbClr val="EAF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2" name="KPI 0"/>
          <p:cNvSpPr txBox="1"/>
          <p:nvPr/>
        </p:nvSpPr>
        <p:spPr>
          <a:xfrm>
            <a:off x="731520" y="1828800"/>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Sell-out vs sell-in</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what the market buys vs what the distributor buys</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3" name="T val 0"/>
          <p:cNvSpPr txBox="1"/>
          <p:nvPr/>
        </p:nvSpPr>
        <p:spPr>
          <a:xfrm>
            <a:off x="3977640" y="1828800"/>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4A6"/>
                </a:solidFill>
                <a:effectLst/>
                <a:uLnTx/>
                <a:uFillTx/>
                <a:latin typeface="Calibri"/>
                <a:ea typeface="+mn-ea"/>
                <a:cs typeface="+mn-cs"/>
              </a:rPr>
              <a: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4" name="Arr 0"/>
          <p:cNvSpPr txBox="1"/>
          <p:nvPr/>
        </p:nvSpPr>
        <p:spPr>
          <a:xfrm>
            <a:off x="6172200" y="1828800"/>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5" name="P bar 0"/>
          <p:cNvSpPr/>
          <p:nvPr/>
        </p:nvSpPr>
        <p:spPr>
          <a:xfrm>
            <a:off x="6537960" y="1947672"/>
            <a:ext cx="1371600" cy="201168"/>
          </a:xfrm>
          <a:prstGeom prst="rect">
            <a:avLst/>
          </a:prstGeom>
          <a:solidFill>
            <a:srgbClr val="2E7D32"/>
          </a:solidFill>
          <a:ln w="12700">
            <a:solidFill>
              <a:srgbClr val="2E7D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6" name="P val 0"/>
          <p:cNvSpPr txBox="1"/>
          <p:nvPr/>
        </p:nvSpPr>
        <p:spPr>
          <a:xfrm>
            <a:off x="7964424" y="1828800"/>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30%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7" name="Chg 0"/>
          <p:cNvSpPr txBox="1"/>
          <p:nvPr/>
        </p:nvSpPr>
        <p:spPr>
          <a:xfrm>
            <a:off x="9601200" y="1828800"/>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E7D32"/>
                </a:solidFill>
                <a:effectLst/>
                <a:uLnTx/>
                <a:uFillTx/>
                <a:latin typeface="Calibri"/>
                <a:ea typeface="+mn-ea"/>
                <a:cs typeface="+mn-cs"/>
              </a:rPr>
              <a:t>NEW · biggest KPI</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8" name="Sep 1"/>
          <p:cNvSpPr/>
          <p:nvPr/>
        </p:nvSpPr>
        <p:spPr>
          <a:xfrm>
            <a:off x="548640" y="2651760"/>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9" name="KPI 1"/>
          <p:cNvSpPr txBox="1"/>
          <p:nvPr/>
        </p:nvSpPr>
        <p:spPr>
          <a:xfrm>
            <a:off x="731520" y="2249424"/>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94A6"/>
                </a:solidFill>
                <a:effectLst/>
                <a:uLnTx/>
                <a:uFillTx/>
                <a:latin typeface="Calibri"/>
                <a:ea typeface="+mn-ea"/>
                <a:cs typeface="+mn-cs"/>
              </a:rPr>
              <a:t>Total volume target (HL)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T bar 1"/>
          <p:cNvSpPr/>
          <p:nvPr/>
        </p:nvSpPr>
        <p:spPr>
          <a:xfrm>
            <a:off x="3977640" y="2368296"/>
            <a:ext cx="4572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1" name="T val 1"/>
          <p:cNvSpPr txBox="1"/>
          <p:nvPr/>
        </p:nvSpPr>
        <p:spPr>
          <a:xfrm>
            <a:off x="4489704" y="2249424"/>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2" name="Arr 1"/>
          <p:cNvSpPr txBox="1"/>
          <p:nvPr/>
        </p:nvSpPr>
        <p:spPr>
          <a:xfrm>
            <a:off x="6172200" y="2249424"/>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3" name="P val 1"/>
          <p:cNvSpPr txBox="1"/>
          <p:nvPr/>
        </p:nvSpPr>
        <p:spPr>
          <a:xfrm>
            <a:off x="6537960" y="2249424"/>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4A6"/>
                </a:solidFill>
                <a:effectLst/>
                <a:uLnTx/>
                <a:uFillTx/>
                <a:latin typeface="Calibri"/>
                <a:ea typeface="+mn-ea"/>
                <a:cs typeface="+mn-cs"/>
              </a:rPr>
              <a: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4" name="Chg 1"/>
          <p:cNvSpPr txBox="1"/>
          <p:nvPr/>
        </p:nvSpPr>
        <p:spPr>
          <a:xfrm>
            <a:off x="9601200" y="2249424"/>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C62828"/>
                </a:solidFill>
                <a:effectLst/>
                <a:uLnTx/>
                <a:uFillTx/>
                <a:latin typeface="Calibri"/>
                <a:ea typeface="+mn-ea"/>
                <a:cs typeface="+mn-cs"/>
              </a:rPr>
              <a:t>Removed: replaced by sell-out</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5" name="Sep 2"/>
          <p:cNvSpPr/>
          <p:nvPr/>
        </p:nvSpPr>
        <p:spPr>
          <a:xfrm>
            <a:off x="548640" y="3072384"/>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6" name="KPI 2"/>
          <p:cNvSpPr txBox="1"/>
          <p:nvPr/>
        </p:nvSpPr>
        <p:spPr>
          <a:xfrm>
            <a:off x="731520" y="2670048"/>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Total Beer target (HL)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7" name="T bar 2"/>
          <p:cNvSpPr/>
          <p:nvPr/>
        </p:nvSpPr>
        <p:spPr>
          <a:xfrm>
            <a:off x="3977640" y="2788920"/>
            <a:ext cx="13716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8" name="T val 2"/>
          <p:cNvSpPr txBox="1"/>
          <p:nvPr/>
        </p:nvSpPr>
        <p:spPr>
          <a:xfrm>
            <a:off x="5404104" y="2670048"/>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30%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9" name="Arr 2"/>
          <p:cNvSpPr txBox="1"/>
          <p:nvPr/>
        </p:nvSpPr>
        <p:spPr>
          <a:xfrm>
            <a:off x="6172200" y="2670048"/>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0" name="P bar 2"/>
          <p:cNvSpPr/>
          <p:nvPr/>
        </p:nvSpPr>
        <p:spPr>
          <a:xfrm>
            <a:off x="6537960" y="2788920"/>
            <a:ext cx="914400" cy="201168"/>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1" name="P val 2"/>
          <p:cNvSpPr txBox="1"/>
          <p:nvPr/>
        </p:nvSpPr>
        <p:spPr>
          <a:xfrm>
            <a:off x="7507224" y="2670048"/>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20%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2" name="Chg 2"/>
          <p:cNvSpPr txBox="1"/>
          <p:nvPr/>
        </p:nvSpPr>
        <p:spPr>
          <a:xfrm>
            <a:off x="9601200" y="2670048"/>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4444"/>
                </a:solidFill>
                <a:effectLst/>
                <a:uLnTx/>
                <a:uFillTx/>
                <a:latin typeface="Calibri"/>
                <a:ea typeface="+mn-ea"/>
                <a:cs typeface="+mn-cs"/>
              </a:rPr>
              <a:t>−10 pts</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3" name="Sep 3"/>
          <p:cNvSpPr/>
          <p:nvPr/>
        </p:nvSpPr>
        <p:spPr>
          <a:xfrm>
            <a:off x="548640" y="3493008"/>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4" name="KPI 3"/>
          <p:cNvSpPr txBox="1"/>
          <p:nvPr/>
        </p:nvSpPr>
        <p:spPr>
          <a:xfrm>
            <a:off x="731520" y="3090672"/>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Total Skol Malt target (HL)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5" name="T bar 3"/>
          <p:cNvSpPr/>
          <p:nvPr/>
        </p:nvSpPr>
        <p:spPr>
          <a:xfrm>
            <a:off x="3977640" y="3209544"/>
            <a:ext cx="9144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6" name="T val 3"/>
          <p:cNvSpPr txBox="1"/>
          <p:nvPr/>
        </p:nvSpPr>
        <p:spPr>
          <a:xfrm>
            <a:off x="4946904" y="3090672"/>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20%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7" name="Arr 3"/>
          <p:cNvSpPr txBox="1"/>
          <p:nvPr/>
        </p:nvSpPr>
        <p:spPr>
          <a:xfrm>
            <a:off x="6172200" y="3090672"/>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8" name="P bar 3"/>
          <p:cNvSpPr/>
          <p:nvPr/>
        </p:nvSpPr>
        <p:spPr>
          <a:xfrm>
            <a:off x="6537960" y="3209544"/>
            <a:ext cx="685800" cy="201168"/>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9" name="P val 3"/>
          <p:cNvSpPr txBox="1"/>
          <p:nvPr/>
        </p:nvSpPr>
        <p:spPr>
          <a:xfrm>
            <a:off x="7278624" y="3090672"/>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15%</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0" name="Chg 3"/>
          <p:cNvSpPr txBox="1"/>
          <p:nvPr/>
        </p:nvSpPr>
        <p:spPr>
          <a:xfrm>
            <a:off x="9601200" y="3090672"/>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4444"/>
                </a:solidFill>
                <a:effectLst/>
                <a:uLnTx/>
                <a:uFillTx/>
                <a:latin typeface="Calibri"/>
                <a:ea typeface="+mn-ea"/>
                <a:cs typeface="+mn-cs"/>
              </a:rPr>
              <a:t>−5 pts</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1" name="Sep 4"/>
          <p:cNvSpPr/>
          <p:nvPr/>
        </p:nvSpPr>
        <p:spPr>
          <a:xfrm>
            <a:off x="548640" y="3913632"/>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2" name="KPI 4"/>
          <p:cNvSpPr txBox="1"/>
          <p:nvPr/>
        </p:nvSpPr>
        <p:spPr>
          <a:xfrm>
            <a:off x="731520" y="3511296"/>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Total Virunga beer target (HL)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3" name="T bar 4"/>
          <p:cNvSpPr/>
          <p:nvPr/>
        </p:nvSpPr>
        <p:spPr>
          <a:xfrm>
            <a:off x="3977640" y="3630168"/>
            <a:ext cx="9144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4" name="T val 4"/>
          <p:cNvSpPr txBox="1"/>
          <p:nvPr/>
        </p:nvSpPr>
        <p:spPr>
          <a:xfrm>
            <a:off x="4946904" y="3511296"/>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20%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5" name="Arr 4"/>
          <p:cNvSpPr txBox="1"/>
          <p:nvPr/>
        </p:nvSpPr>
        <p:spPr>
          <a:xfrm>
            <a:off x="6172200" y="3511296"/>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6" name="P bar 4"/>
          <p:cNvSpPr/>
          <p:nvPr/>
        </p:nvSpPr>
        <p:spPr>
          <a:xfrm>
            <a:off x="6537960" y="3630168"/>
            <a:ext cx="822960" cy="201168"/>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7" name="P val 4"/>
          <p:cNvSpPr txBox="1"/>
          <p:nvPr/>
        </p:nvSpPr>
        <p:spPr>
          <a:xfrm>
            <a:off x="7415784" y="3511296"/>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18%</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8" name="Chg 4"/>
          <p:cNvSpPr txBox="1"/>
          <p:nvPr/>
        </p:nvSpPr>
        <p:spPr>
          <a:xfrm>
            <a:off x="9601200" y="3511296"/>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4444"/>
                </a:solidFill>
                <a:effectLst/>
                <a:uLnTx/>
                <a:uFillTx/>
                <a:latin typeface="Calibri"/>
                <a:ea typeface="+mn-ea"/>
                <a:cs typeface="+mn-cs"/>
              </a:rPr>
              <a:t>−2 pts</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9" name="Sep 5"/>
          <p:cNvSpPr/>
          <p:nvPr/>
        </p:nvSpPr>
        <p:spPr>
          <a:xfrm>
            <a:off x="548640" y="4334256"/>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0" name="KPI 5"/>
          <p:cNvSpPr txBox="1"/>
          <p:nvPr/>
        </p:nvSpPr>
        <p:spPr>
          <a:xfrm>
            <a:off x="731520" y="3931920"/>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Service to outlets (OTIF)</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min. 90% of POS delivered</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1" name="T bar 5"/>
          <p:cNvSpPr/>
          <p:nvPr/>
        </p:nvSpPr>
        <p:spPr>
          <a:xfrm>
            <a:off x="3977640" y="4050792"/>
            <a:ext cx="9144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2" name="T val 5"/>
          <p:cNvSpPr txBox="1"/>
          <p:nvPr/>
        </p:nvSpPr>
        <p:spPr>
          <a:xfrm>
            <a:off x="4946904" y="3931920"/>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20%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3" name="Arr 5"/>
          <p:cNvSpPr txBox="1"/>
          <p:nvPr/>
        </p:nvSpPr>
        <p:spPr>
          <a:xfrm>
            <a:off x="6172200" y="3931920"/>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4" name="P bar 5"/>
          <p:cNvSpPr/>
          <p:nvPr/>
        </p:nvSpPr>
        <p:spPr>
          <a:xfrm>
            <a:off x="6537960" y="4050792"/>
            <a:ext cx="457200" cy="201168"/>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5" name="P val 5"/>
          <p:cNvSpPr txBox="1"/>
          <p:nvPr/>
        </p:nvSpPr>
        <p:spPr>
          <a:xfrm>
            <a:off x="7050024" y="3931920"/>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6" name="Chg 5"/>
          <p:cNvSpPr txBox="1"/>
          <p:nvPr/>
        </p:nvSpPr>
        <p:spPr>
          <a:xfrm>
            <a:off x="9601200" y="3931920"/>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4444"/>
                </a:solidFill>
                <a:effectLst/>
                <a:uLnTx/>
                <a:uFillTx/>
                <a:latin typeface="Calibri"/>
                <a:ea typeface="+mn-ea"/>
                <a:cs typeface="+mn-cs"/>
              </a:rPr>
              <a:t>−10 pts</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7" name="New bg 6"/>
          <p:cNvSpPr/>
          <p:nvPr/>
        </p:nvSpPr>
        <p:spPr>
          <a:xfrm>
            <a:off x="548640" y="4352544"/>
            <a:ext cx="11109960" cy="384048"/>
          </a:xfrm>
          <a:prstGeom prst="rect">
            <a:avLst/>
          </a:prstGeom>
          <a:solidFill>
            <a:srgbClr val="EAF4EA"/>
          </a:solidFill>
          <a:ln w="12700">
            <a:solidFill>
              <a:srgbClr val="EAF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8" name="KPI 6"/>
          <p:cNvSpPr txBox="1"/>
          <p:nvPr/>
        </p:nvSpPr>
        <p:spPr>
          <a:xfrm>
            <a:off x="731520" y="4352544"/>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Odoo usage &amp; accuracy</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distributor data complete and correct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9" name="T val 6"/>
          <p:cNvSpPr txBox="1"/>
          <p:nvPr/>
        </p:nvSpPr>
        <p:spPr>
          <a:xfrm>
            <a:off x="3977640" y="4352544"/>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4A6"/>
                </a:solidFill>
                <a:effectLst/>
                <a:uLnTx/>
                <a:uFillTx/>
                <a:latin typeface="Calibri"/>
                <a:ea typeface="+mn-ea"/>
                <a:cs typeface="+mn-cs"/>
              </a:rPr>
              <a: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0" name="Arr 6"/>
          <p:cNvSpPr txBox="1"/>
          <p:nvPr/>
        </p:nvSpPr>
        <p:spPr>
          <a:xfrm>
            <a:off x="6172200" y="4352544"/>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1" name="P bar 6"/>
          <p:cNvSpPr/>
          <p:nvPr/>
        </p:nvSpPr>
        <p:spPr>
          <a:xfrm>
            <a:off x="6537960" y="4471416"/>
            <a:ext cx="320040" cy="201168"/>
          </a:xfrm>
          <a:prstGeom prst="rect">
            <a:avLst/>
          </a:prstGeom>
          <a:solidFill>
            <a:srgbClr val="2E7D32"/>
          </a:solidFill>
          <a:ln w="12700">
            <a:solidFill>
              <a:srgbClr val="2E7D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2" name="P val 6"/>
          <p:cNvSpPr txBox="1"/>
          <p:nvPr/>
        </p:nvSpPr>
        <p:spPr>
          <a:xfrm>
            <a:off x="6912864" y="4352544"/>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7%</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3" name="Chg 6"/>
          <p:cNvSpPr txBox="1"/>
          <p:nvPr/>
        </p:nvSpPr>
        <p:spPr>
          <a:xfrm>
            <a:off x="9601200" y="4352544"/>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E7D32"/>
                </a:solidFill>
                <a:effectLst/>
                <a:uLnTx/>
                <a:uFillTx/>
                <a:latin typeface="Calibri"/>
                <a:ea typeface="+mn-ea"/>
                <a:cs typeface="+mn-cs"/>
              </a:rPr>
              <a:t>NEW</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4" name="Total line"/>
          <p:cNvSpPr/>
          <p:nvPr/>
        </p:nvSpPr>
        <p:spPr>
          <a:xfrm>
            <a:off x="548640" y="4791456"/>
            <a:ext cx="11109960" cy="0"/>
          </a:xfrm>
          <a:prstGeom prst="line">
            <a:avLst/>
          </a:prstGeom>
          <a:noFill/>
          <a:ln w="15875">
            <a:solidFill>
              <a:srgbClr val="1F386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5" name="Tot label"/>
          <p:cNvSpPr txBox="1"/>
          <p:nvPr/>
        </p:nvSpPr>
        <p:spPr>
          <a:xfrm>
            <a:off x="731520" y="4818888"/>
            <a:ext cx="182880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Total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6" name="Tot today"/>
          <p:cNvSpPr txBox="1"/>
          <p:nvPr/>
        </p:nvSpPr>
        <p:spPr>
          <a:xfrm>
            <a:off x="3977640" y="4818888"/>
            <a:ext cx="237744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22222"/>
                </a:solidFill>
                <a:effectLst/>
                <a:uLnTx/>
                <a:uFillTx/>
                <a:latin typeface="Calibri"/>
                <a:ea typeface="+mn-ea"/>
                <a:cs typeface="+mn-cs"/>
              </a:rPr>
              <a:t>100%  (volume 80%, service 20%)</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7" name="Tot prop"/>
          <p:cNvSpPr txBox="1"/>
          <p:nvPr/>
        </p:nvSpPr>
        <p:spPr>
          <a:xfrm>
            <a:off x="6537960" y="4818888"/>
            <a:ext cx="493776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22222"/>
                </a:solidFill>
                <a:effectLst/>
                <a:uLnTx/>
                <a:uFillTx/>
                <a:latin typeface="Calibri"/>
                <a:ea typeface="+mn-ea"/>
                <a:cs typeface="+mn-cs"/>
              </a:rPr>
              <a:t>100%  (sell-out 30%, brands 53%, service 10%, Odoo 7%)</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8" name="Gate bg"/>
          <p:cNvSpPr/>
          <p:nvPr/>
        </p:nvSpPr>
        <p:spPr>
          <a:xfrm>
            <a:off x="548640" y="5202936"/>
            <a:ext cx="11109960" cy="365760"/>
          </a:xfrm>
          <a:prstGeom prst="rect">
            <a:avLst/>
          </a:prstGeom>
          <a:solidFill>
            <a:srgbClr val="F4B183"/>
          </a:solidFill>
          <a:ln w="12700">
            <a:solidFill>
              <a:srgbClr val="F4B18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9" name="Gate"/>
          <p:cNvSpPr txBox="1"/>
          <p:nvPr/>
        </p:nvSpPr>
        <p:spPr>
          <a:xfrm>
            <a:off x="731520" y="5202936"/>
            <a:ext cx="10744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Calibri"/>
                <a:ea typeface="+mn-ea"/>
                <a:cs typeface="+mn-cs"/>
              </a:rPr>
              <a:t>Stays in both models: </a:t>
            </a:r>
            <a:r>
              <a:rPr kumimoji="0" lang="en-US" sz="1250" b="0" i="0" u="none" strike="noStrike" kern="1200" cap="none" spc="0" normalizeH="0" baseline="0" noProof="0" dirty="0">
                <a:ln>
                  <a:noFill/>
                </a:ln>
                <a:solidFill>
                  <a:srgbClr val="222222"/>
                </a:solidFill>
                <a:effectLst/>
                <a:uLnTx/>
                <a:uFillTx/>
                <a:latin typeface="Calibri"/>
                <a:ea typeface="+mn-ea"/>
                <a:cs typeface="+mn-cs"/>
              </a:rPr>
              <a:t>price respect is an MSOP (liquid &amp; deposit). No bonus if recommended prices are not respected.</a:t>
            </a:r>
          </a:p>
        </p:txBody>
      </p:sp>
      <p:sp>
        <p:nvSpPr>
          <p:cNvPr id="70" name="Curves"/>
          <p:cNvSpPr txBox="1"/>
          <p:nvPr/>
        </p:nvSpPr>
        <p:spPr>
          <a:xfrm>
            <a:off x="548640" y="5641848"/>
            <a:ext cx="11109960" cy="32918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3864"/>
                </a:solidFill>
                <a:effectLst/>
                <a:uLnTx/>
                <a:uFillTx/>
                <a:latin typeface="Calibri"/>
                <a:ea typeface="+mn-ea"/>
                <a:cs typeface="+mn-cs"/>
              </a:rPr>
              <a:t>Payout curves: </a:t>
            </a:r>
            <a:r>
              <a:rPr kumimoji="0" lang="en-US" sz="1150" b="1" i="0" u="none" strike="noStrike" kern="1200" cap="none" spc="0" normalizeH="0" baseline="0" noProof="0" dirty="0">
                <a:ln>
                  <a:noFill/>
                </a:ln>
                <a:solidFill>
                  <a:srgbClr val="444444"/>
                </a:solidFill>
                <a:effectLst/>
                <a:uLnTx/>
                <a:uFillTx/>
                <a:latin typeface="Calibri"/>
                <a:ea typeface="+mn-ea"/>
                <a:cs typeface="+mn-cs"/>
              </a:rPr>
              <a:t>Volume &amp; Odoo  </a:t>
            </a:r>
            <a:r>
              <a:rPr kumimoji="0" lang="en-US" sz="1150" b="0" i="0" u="none" strike="noStrike" kern="1200" cap="none" spc="0" normalizeH="0" baseline="0" noProof="0" dirty="0">
                <a:ln>
                  <a:noFill/>
                </a:ln>
                <a:solidFill>
                  <a:srgbClr val="222222"/>
                </a:solidFill>
                <a:effectLst/>
                <a:uLnTx/>
                <a:uFillTx/>
                <a:latin typeface="Calibri"/>
                <a:ea typeface="+mn-ea"/>
                <a:cs typeface="+mn-cs"/>
              </a:rPr>
              <a:t>90%→30% · 95%→75% · 100%→100% · 110%→120%</a:t>
            </a:r>
            <a:r>
              <a:rPr kumimoji="0" lang="en-US" sz="1150" b="1" i="0" u="none" strike="noStrike" kern="1200" cap="none" spc="0" normalizeH="0" baseline="0" noProof="0" dirty="0">
                <a:ln>
                  <a:noFill/>
                </a:ln>
                <a:solidFill>
                  <a:srgbClr val="444444"/>
                </a:solidFill>
                <a:effectLst/>
                <a:uLnTx/>
                <a:uFillTx/>
                <a:latin typeface="Calibri"/>
                <a:ea typeface="+mn-ea"/>
                <a:cs typeface="+mn-cs"/>
              </a:rPr>
              <a:t>     Service  </a:t>
            </a:r>
            <a:r>
              <a:rPr kumimoji="0" lang="en-US" sz="1150" b="0" i="0" u="none" strike="noStrike" kern="1200" cap="none" spc="0" normalizeH="0" baseline="0" noProof="0" dirty="0">
                <a:ln>
                  <a:noFill/>
                </a:ln>
                <a:solidFill>
                  <a:srgbClr val="222222"/>
                </a:solidFill>
                <a:effectLst/>
                <a:uLnTx/>
                <a:uFillTx/>
                <a:latin typeface="Calibri"/>
                <a:ea typeface="+mn-ea"/>
                <a:cs typeface="+mn-cs"/>
              </a:rPr>
              <a:t>85%→75% · 90%→100% · 95%→110% · 100%→120%</a:t>
            </a:r>
          </a:p>
        </p:txBody>
      </p:sp>
      <p:sp>
        <p:nvSpPr>
          <p:cNvPr id="71" name="Bottom bar"/>
          <p:cNvSpPr/>
          <p:nvPr/>
        </p:nvSpPr>
        <p:spPr>
          <a:xfrm>
            <a:off x="548640" y="5989320"/>
            <a:ext cx="11109960" cy="384048"/>
          </a:xfrm>
          <a:prstGeom prst="rect">
            <a:avLst/>
          </a:prstGeom>
          <a:solidFill>
            <a:srgbClr val="1F3864"/>
          </a:solidFill>
          <a:ln w="12700">
            <a:solidFill>
              <a:srgbClr val="1F386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72" name="Bottom line"/>
          <p:cNvSpPr txBox="1"/>
          <p:nvPr/>
        </p:nvSpPr>
        <p:spPr>
          <a:xfrm>
            <a:off x="731520" y="5989320"/>
            <a:ext cx="1078992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a:ea typeface="+mn-ea"/>
                <a:cs typeface="+mn-cs"/>
              </a:rPr>
              <a:t>Paid on what the market buys, not on what distributors load. Measured with EBM data in Odoo.</a:t>
            </a:r>
            <a:endParaRPr kumimoji="0" lang="en-US" sz="1350" b="0" i="0" u="none" strike="noStrike" kern="1200" cap="none" spc="0" normalizeH="0" baseline="0" noProof="0" dirty="0">
              <a:ln>
                <a:noFill/>
              </a:ln>
              <a:solidFill>
                <a:srgbClr val="222222"/>
              </a:solidFill>
              <a:effectLst/>
              <a:uLnTx/>
              <a:uFillTx/>
              <a:latin typeface="Calibri"/>
              <a:ea typeface="+mn-ea"/>
              <a:cs typeface="+mn-cs"/>
            </a:endParaRPr>
          </a:p>
        </p:txBody>
      </p:sp>
      <p:sp>
        <p:nvSpPr>
          <p:cNvPr id="73"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Next steps and board decisions</a:t>
            </a:r>
            <a:endParaRPr lang="en-US" sz="2200" dirty="0"/>
          </a:p>
        </p:txBody>
      </p:sp>
      <p:sp>
        <p:nvSpPr>
          <p:cNvPr id="3" name="Key message"/>
          <p:cNvSpPr txBox="1"/>
          <p:nvPr/>
        </p:nvSpPr>
        <p:spPr>
          <a:xfrm>
            <a:off x="548640" y="91440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The next six months turn the three rules into the 2027 Route to Market, starting 1 April 2027.</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 name="Steps card"/>
          <p:cNvSpPr/>
          <p:nvPr/>
        </p:nvSpPr>
        <p:spPr>
          <a:xfrm>
            <a:off x="548640" y="1463040"/>
            <a:ext cx="6355080" cy="4251960"/>
          </a:xfrm>
          <a:prstGeom prst="roundRect">
            <a:avLst>
              <a:gd name="adj" fmla="val 1290"/>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 name="Steps title"/>
          <p:cNvSpPr txBox="1"/>
          <p:nvPr/>
        </p:nvSpPr>
        <p:spPr>
          <a:xfrm>
            <a:off x="777240" y="1554480"/>
            <a:ext cx="58521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Calibri"/>
                <a:ea typeface="+mn-ea"/>
                <a:cs typeface="+mn-cs"/>
              </a:rPr>
              <a:t>Next steps</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 name="Pillar chip 1"/>
          <p:cNvSpPr/>
          <p:nvPr/>
        </p:nvSpPr>
        <p:spPr>
          <a:xfrm>
            <a:off x="777240" y="2130552"/>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7" name="Pillar tag 1"/>
          <p:cNvSpPr txBox="1"/>
          <p:nvPr/>
        </p:nvSpPr>
        <p:spPr>
          <a:xfrm>
            <a:off x="777240" y="2130552"/>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Market coverage</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8" name="Step 1"/>
          <p:cNvSpPr txBox="1"/>
          <p:nvPr/>
        </p:nvSpPr>
        <p:spPr>
          <a:xfrm>
            <a:off x="2560320" y="2057400"/>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Coverage visits continue; findings consolidated per territory</a:t>
            </a:r>
          </a:p>
        </p:txBody>
      </p:sp>
      <p:sp>
        <p:nvSpPr>
          <p:cNvPr id="9" name="Pillar chip 2"/>
          <p:cNvSpPr/>
          <p:nvPr/>
        </p:nvSpPr>
        <p:spPr>
          <a:xfrm>
            <a:off x="777240" y="2715768"/>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0" name="Pillar tag 2"/>
          <p:cNvSpPr txBox="1"/>
          <p:nvPr/>
        </p:nvSpPr>
        <p:spPr>
          <a:xfrm>
            <a:off x="777240" y="2715768"/>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Price compliance</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1" name="Step 2"/>
          <p:cNvSpPr txBox="1"/>
          <p:nvPr/>
        </p:nvSpPr>
        <p:spPr>
          <a:xfrm>
            <a:off x="2560320" y="2642616"/>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Price compliance kept under monitoring; exclusivity earned</a:t>
            </a:r>
          </a:p>
        </p:txBody>
      </p:sp>
      <p:sp>
        <p:nvSpPr>
          <p:cNvPr id="12" name="Pillar chip 3"/>
          <p:cNvSpPr/>
          <p:nvPr/>
        </p:nvSpPr>
        <p:spPr>
          <a:xfrm>
            <a:off x="777240" y="3300984"/>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3" name="Pillar tag 3"/>
          <p:cNvSpPr txBox="1"/>
          <p:nvPr/>
        </p:nvSpPr>
        <p:spPr>
          <a:xfrm>
            <a:off x="777240" y="3300984"/>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Contracts</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4" name="Step 3"/>
          <p:cNvSpPr txBox="1"/>
          <p:nvPr/>
        </p:nvSpPr>
        <p:spPr>
          <a:xfrm>
            <a:off x="2560320" y="3227832"/>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Mumufaco and T&amp;U bank guarantees renewed</a:t>
            </a:r>
          </a:p>
        </p:txBody>
      </p:sp>
      <p:sp>
        <p:nvSpPr>
          <p:cNvPr id="15" name="Pillar chip 4"/>
          <p:cNvSpPr/>
          <p:nvPr/>
        </p:nvSpPr>
        <p:spPr>
          <a:xfrm>
            <a:off x="777240" y="3886200"/>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6" name="Pillar tag 4"/>
          <p:cNvSpPr txBox="1"/>
          <p:nvPr/>
        </p:nvSpPr>
        <p:spPr>
          <a:xfrm>
            <a:off x="777240" y="3886200"/>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Sell-out mindset</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7" name="Step 4"/>
          <p:cNvSpPr txBox="1"/>
          <p:nvPr/>
        </p:nvSpPr>
        <p:spPr>
          <a:xfrm>
            <a:off x="2560320" y="3813048"/>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EBM integration in Odoo: full sell-out per distributor</a:t>
            </a:r>
          </a:p>
        </p:txBody>
      </p:sp>
      <p:sp>
        <p:nvSpPr>
          <p:cNvPr id="18" name="Pillar chip 5"/>
          <p:cNvSpPr/>
          <p:nvPr/>
        </p:nvSpPr>
        <p:spPr>
          <a:xfrm>
            <a:off x="777240" y="4471416"/>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9" name="Pillar tag 5"/>
          <p:cNvSpPr txBox="1"/>
          <p:nvPr/>
        </p:nvSpPr>
        <p:spPr>
          <a:xfrm>
            <a:off x="777240" y="4471416"/>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Sell-out mindset</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Step 5"/>
          <p:cNvSpPr txBox="1"/>
          <p:nvPr/>
        </p:nvSpPr>
        <p:spPr>
          <a:xfrm>
            <a:off x="2560320" y="4398264"/>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P4P on sell-out proposed with the 2027 budget</a:t>
            </a:r>
          </a:p>
        </p:txBody>
      </p:sp>
      <p:sp>
        <p:nvSpPr>
          <p:cNvPr id="21" name="Pillar chip 6"/>
          <p:cNvSpPr/>
          <p:nvPr/>
        </p:nvSpPr>
        <p:spPr>
          <a:xfrm>
            <a:off x="777240" y="5056632"/>
            <a:ext cx="1600200" cy="347472"/>
          </a:xfrm>
          <a:prstGeom prst="roundRect">
            <a:avLst>
              <a:gd name="adj" fmla="val 13158"/>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2" name="Pillar tag 6"/>
          <p:cNvSpPr txBox="1"/>
          <p:nvPr/>
        </p:nvSpPr>
        <p:spPr>
          <a:xfrm>
            <a:off x="777240" y="5056632"/>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a:ea typeface="+mn-ea"/>
                <a:cs typeface="+mn-cs"/>
              </a:rPr>
              <a:t>2027 RTM</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3" name="Step 6"/>
          <p:cNvSpPr txBox="1"/>
          <p:nvPr/>
        </p:nvSpPr>
        <p:spPr>
          <a:xfrm>
            <a:off x="2560320" y="4983480"/>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 April 2027: contracts renewed on performance</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4" name="Board card"/>
          <p:cNvSpPr/>
          <p:nvPr/>
        </p:nvSpPr>
        <p:spPr>
          <a:xfrm>
            <a:off x="7132320" y="1463040"/>
            <a:ext cx="4526280" cy="4251960"/>
          </a:xfrm>
          <a:prstGeom prst="roundRect">
            <a:avLst>
              <a:gd name="adj" fmla="val 1290"/>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5" name="Board title"/>
          <p:cNvSpPr txBox="1"/>
          <p:nvPr/>
        </p:nvSpPr>
        <p:spPr>
          <a:xfrm>
            <a:off x="7360920" y="1554480"/>
            <a:ext cx="41148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D13F"/>
                </a:solidFill>
                <a:effectLst/>
                <a:uLnTx/>
                <a:uFillTx/>
                <a:latin typeface="Calibri"/>
                <a:ea typeface="+mn-ea"/>
                <a:cs typeface="+mn-cs"/>
              </a:rPr>
              <a:t>We ask the board to</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6" name="Ask num bg 1"/>
          <p:cNvSpPr/>
          <p:nvPr/>
        </p:nvSpPr>
        <p:spPr>
          <a:xfrm>
            <a:off x="7360920" y="2103120"/>
            <a:ext cx="384048" cy="384048"/>
          </a:xfrm>
          <a:prstGeom prst="ellipse">
            <a:avLst/>
          </a:prstGeom>
          <a:solidFill>
            <a:srgbClr val="FFD13F"/>
          </a:solidFill>
          <a:ln w="12700">
            <a:solidFill>
              <a:srgbClr val="FFD13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7" name="Ask num 1"/>
          <p:cNvSpPr txBox="1"/>
          <p:nvPr/>
        </p:nvSpPr>
        <p:spPr>
          <a:xfrm>
            <a:off x="7360920" y="210312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1</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8" name="Ask 1"/>
          <p:cNvSpPr txBox="1"/>
          <p:nvPr/>
        </p:nvSpPr>
        <p:spPr>
          <a:xfrm>
            <a:off x="7909560" y="1965960"/>
            <a:ext cx="3566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3F"/>
                </a:solidFill>
                <a:effectLst/>
                <a:uLnTx/>
                <a:uFillTx/>
                <a:latin typeface="Calibri"/>
                <a:ea typeface="+mn-ea"/>
                <a:cs typeface="+mn-cs"/>
              </a:rPr>
              <a:t>Note </a:t>
            </a:r>
            <a:r>
              <a:rPr kumimoji="0" lang="en-US" sz="1300" b="0" i="0" u="none" strike="noStrike" kern="1200" cap="none" spc="0" normalizeH="0" baseline="0" noProof="0" dirty="0">
                <a:ln>
                  <a:noFill/>
                </a:ln>
                <a:solidFill>
                  <a:srgbClr val="FFFFFF"/>
                </a:solidFill>
                <a:effectLst/>
                <a:uLnTx/>
                <a:uFillTx/>
                <a:latin typeface="Calibri"/>
                <a:ea typeface="+mn-ea"/>
                <a:cs typeface="+mn-cs"/>
              </a:rPr>
              <a:t>the Q3 results: sales +36%, stock 8 → 4 days, all 20 distributors on price</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9" name="Ask num bg 2"/>
          <p:cNvSpPr/>
          <p:nvPr/>
        </p:nvSpPr>
        <p:spPr>
          <a:xfrm>
            <a:off x="7360920" y="2999232"/>
            <a:ext cx="384048" cy="384048"/>
          </a:xfrm>
          <a:prstGeom prst="ellipse">
            <a:avLst/>
          </a:prstGeom>
          <a:solidFill>
            <a:srgbClr val="FFD13F"/>
          </a:solidFill>
          <a:ln w="12700">
            <a:solidFill>
              <a:srgbClr val="FFD13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0" name="Ask num 2"/>
          <p:cNvSpPr txBox="1"/>
          <p:nvPr/>
        </p:nvSpPr>
        <p:spPr>
          <a:xfrm>
            <a:off x="7360920" y="2999232"/>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2</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1" name="Ask 2"/>
          <p:cNvSpPr txBox="1"/>
          <p:nvPr/>
        </p:nvSpPr>
        <p:spPr>
          <a:xfrm>
            <a:off x="7909560" y="2862072"/>
            <a:ext cx="3566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3F"/>
                </a:solidFill>
                <a:effectLst/>
                <a:uLnTx/>
                <a:uFillTx/>
                <a:latin typeface="Calibri"/>
                <a:ea typeface="+mn-ea"/>
                <a:cs typeface="+mn-cs"/>
              </a:rPr>
              <a:t>Endorse </a:t>
            </a:r>
            <a:r>
              <a:rPr kumimoji="0" lang="en-US" sz="1300" b="0" i="0" u="none" strike="noStrike" kern="1200" cap="none" spc="0" normalizeH="0" baseline="0" noProof="0" dirty="0">
                <a:ln>
                  <a:noFill/>
                </a:ln>
                <a:solidFill>
                  <a:srgbClr val="FFFFFF"/>
                </a:solidFill>
                <a:effectLst/>
                <a:uLnTx/>
                <a:uFillTx/>
                <a:latin typeface="Calibri"/>
                <a:ea typeface="+mn-ea"/>
                <a:cs typeface="+mn-cs"/>
              </a:rPr>
              <a:t>the principle that exclusivity is earned: a distributor who does not respect the rules loses it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2" name="Ask num bg 3"/>
          <p:cNvSpPr/>
          <p:nvPr/>
        </p:nvSpPr>
        <p:spPr>
          <a:xfrm>
            <a:off x="7360920" y="3895344"/>
            <a:ext cx="384048" cy="384048"/>
          </a:xfrm>
          <a:prstGeom prst="ellipse">
            <a:avLst/>
          </a:prstGeom>
          <a:solidFill>
            <a:srgbClr val="FFD13F"/>
          </a:solidFill>
          <a:ln w="12700">
            <a:solidFill>
              <a:srgbClr val="FFD13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3" name="Ask num 3"/>
          <p:cNvSpPr txBox="1"/>
          <p:nvPr/>
        </p:nvSpPr>
        <p:spPr>
          <a:xfrm>
            <a:off x="7360920" y="3895344"/>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3</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4" name="Ask 3"/>
          <p:cNvSpPr txBox="1"/>
          <p:nvPr/>
        </p:nvSpPr>
        <p:spPr>
          <a:xfrm>
            <a:off x="7909560" y="3758184"/>
            <a:ext cx="3566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3F"/>
                </a:solidFill>
                <a:effectLst/>
                <a:uLnTx/>
                <a:uFillTx/>
                <a:latin typeface="Calibri"/>
                <a:ea typeface="+mn-ea"/>
                <a:cs typeface="+mn-cs"/>
              </a:rPr>
              <a:t>Endorse </a:t>
            </a:r>
            <a:r>
              <a:rPr kumimoji="0" lang="en-US" sz="1300" b="0" i="0" u="none" strike="noStrike" kern="1200" cap="none" spc="0" normalizeH="0" baseline="0" noProof="0" dirty="0">
                <a:ln>
                  <a:noFill/>
                </a:ln>
                <a:solidFill>
                  <a:srgbClr val="FFFFFF"/>
                </a:solidFill>
                <a:effectLst/>
                <a:uLnTx/>
                <a:uFillTx/>
                <a:latin typeface="Calibri"/>
                <a:ea typeface="+mn-ea"/>
                <a:cs typeface="+mn-cs"/>
              </a:rPr>
              <a:t>moving P4P from sell-in to sell-out, with details in the 2027 budget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5" name="Ask num bg 4"/>
          <p:cNvSpPr/>
          <p:nvPr/>
        </p:nvSpPr>
        <p:spPr>
          <a:xfrm>
            <a:off x="7360920" y="4791456"/>
            <a:ext cx="384048" cy="384048"/>
          </a:xfrm>
          <a:prstGeom prst="ellipse">
            <a:avLst/>
          </a:prstGeom>
          <a:solidFill>
            <a:srgbClr val="FFD13F"/>
          </a:solidFill>
          <a:ln w="12700">
            <a:solidFill>
              <a:srgbClr val="FFD13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6" name="Ask num 4"/>
          <p:cNvSpPr txBox="1"/>
          <p:nvPr/>
        </p:nvSpPr>
        <p:spPr>
          <a:xfrm>
            <a:off x="7360920" y="479145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4</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7" name="Ask 4"/>
          <p:cNvSpPr txBox="1"/>
          <p:nvPr/>
        </p:nvSpPr>
        <p:spPr>
          <a:xfrm>
            <a:off x="7909560" y="4654296"/>
            <a:ext cx="3566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3F"/>
                </a:solidFill>
                <a:effectLst/>
                <a:uLnTx/>
                <a:uFillTx/>
                <a:latin typeface="Calibri"/>
                <a:ea typeface="+mn-ea"/>
                <a:cs typeface="+mn-cs"/>
              </a:rPr>
              <a:t>Endorse </a:t>
            </a:r>
            <a:r>
              <a:rPr kumimoji="0" lang="en-US" sz="1300" b="0" i="0" u="none" strike="noStrike" kern="1200" cap="none" spc="0" normalizeH="0" baseline="0" noProof="0" dirty="0">
                <a:ln>
                  <a:noFill/>
                </a:ln>
                <a:solidFill>
                  <a:srgbClr val="FFFFFF"/>
                </a:solidFill>
                <a:effectLst/>
                <a:uLnTx/>
                <a:uFillTx/>
                <a:latin typeface="Calibri"/>
                <a:ea typeface="+mn-ea"/>
                <a:cs typeface="+mn-cs"/>
              </a:rPr>
              <a:t>2027 renewals based on coverage, price compliance and sell-out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8" name="Bottom bar"/>
          <p:cNvSpPr/>
          <p:nvPr/>
        </p:nvSpPr>
        <p:spPr>
          <a:xfrm>
            <a:off x="548640" y="5897880"/>
            <a:ext cx="11109960" cy="457200"/>
          </a:xfrm>
          <a:prstGeom prst="rect">
            <a:avLst/>
          </a:prstGeom>
          <a:solidFill>
            <a:schemeClr val="bg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9"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Cover the market, respect the price, think sell-out.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0"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4FEBA-03F7-C9A0-E44B-33F6506F5520}"/>
            </a:ext>
          </a:extLst>
        </p:cNvPr>
        <p:cNvGrpSpPr/>
        <p:nvPr/>
      </p:nvGrpSpPr>
      <p:grpSpPr>
        <a:xfrm>
          <a:off x="0" y="0"/>
          <a:ext cx="0" cy="0"/>
          <a:chOff x="0" y="0"/>
          <a:chExt cx="0" cy="0"/>
        </a:xfrm>
      </p:grpSpPr>
      <p:sp>
        <p:nvSpPr>
          <p:cNvPr id="2" name="Google Shape;25;p1">
            <a:extLst>
              <a:ext uri="{FF2B5EF4-FFF2-40B4-BE49-F238E27FC236}">
                <a16:creationId xmlns:a16="http://schemas.microsoft.com/office/drawing/2014/main" id="{80C894B6-9F1C-5E00-5A9F-E661BE89F28E}"/>
              </a:ext>
            </a:extLst>
          </p:cNvPr>
          <p:cNvSpPr/>
          <p:nvPr/>
        </p:nvSpPr>
        <p:spPr>
          <a:xfrm>
            <a:off x="2290527" y="2353901"/>
            <a:ext cx="8639411" cy="3572607"/>
          </a:xfrm>
          <a:prstGeom prst="ellipse">
            <a:avLst/>
          </a:prstGeom>
          <a:solidFill>
            <a:schemeClr val="bg2">
              <a:lumMod val="75000"/>
              <a:alpha val="40000"/>
            </a:schemeClr>
          </a:solidFill>
          <a:ln w="25400" cap="flat" cmpd="sng">
            <a:solidFill>
              <a:srgbClr val="002060"/>
            </a:solidFill>
            <a:prstDash val="solid"/>
            <a:round/>
            <a:headEnd type="none" w="sm" len="sm"/>
            <a:tailEnd type="none" w="sm" len="sm"/>
          </a:ln>
          <a:effectLst>
            <a:outerShdw blurRad="63500" sx="102000" sy="102000" algn="ctr" rotWithShape="0">
              <a:prstClr val="black">
                <a:alpha val="40000"/>
              </a:prst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Google Shape;27;p1">
            <a:extLst>
              <a:ext uri="{FF2B5EF4-FFF2-40B4-BE49-F238E27FC236}">
                <a16:creationId xmlns:a16="http://schemas.microsoft.com/office/drawing/2014/main" id="{5E52A5C0-448D-417B-0F81-66348960B39B}"/>
              </a:ext>
            </a:extLst>
          </p:cNvPr>
          <p:cNvSpPr/>
          <p:nvPr/>
        </p:nvSpPr>
        <p:spPr>
          <a:xfrm>
            <a:off x="2697933" y="3417586"/>
            <a:ext cx="7503342" cy="13716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2800"/>
              <a:buFontTx/>
              <a:buNone/>
              <a:tabLst/>
              <a:defRPr/>
            </a:pPr>
            <a:r>
              <a:rPr kumimoji="0" lang="en-US" sz="28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Foundation achieved</a:t>
            </a:r>
            <a:r>
              <a:rPr kumimoji="0" lang="en-US" sz="2800" b="0"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 Value Demonstrated | </a:t>
            </a:r>
            <a:r>
              <a:rPr kumimoji="0" lang="en-US" sz="28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Sustainability &amp; Scale Next</a:t>
            </a:r>
          </a:p>
        </p:txBody>
      </p:sp>
      <p:sp>
        <p:nvSpPr>
          <p:cNvPr id="5" name="TextBox 4">
            <a:extLst>
              <a:ext uri="{FF2B5EF4-FFF2-40B4-BE49-F238E27FC236}">
                <a16:creationId xmlns:a16="http://schemas.microsoft.com/office/drawing/2014/main" id="{A475F55C-4E9B-4FB6-F168-C38277D586E0}"/>
              </a:ext>
            </a:extLst>
          </p:cNvPr>
          <p:cNvSpPr txBox="1"/>
          <p:nvPr/>
        </p:nvSpPr>
        <p:spPr>
          <a:xfrm>
            <a:off x="959790" y="1237283"/>
            <a:ext cx="1146747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Odoo &amp; EBM: From Digital Foundation to Commercial Value</a:t>
            </a:r>
            <a:endParaRPr kumimoji="0" lang="en-RW" sz="2800" b="1" i="0" u="none" strike="noStrike" kern="1200" cap="none" spc="0" normalizeH="0" baseline="0" noProof="0" dirty="0">
              <a:ln>
                <a:noFill/>
              </a:ln>
              <a:solidFill>
                <a:srgbClr val="002060"/>
              </a:solidFill>
              <a:effectLst/>
              <a:uLnTx/>
              <a:uFillTx/>
              <a:latin typeface="Century Gothic" panose="020B0502020202020204" pitchFamily="34" charset="0"/>
              <a:ea typeface="Cambria" panose="02040503050406030204" pitchFamily="18" charset="0"/>
              <a:cs typeface="+mn-cs"/>
            </a:endParaRPr>
          </a:p>
        </p:txBody>
      </p:sp>
      <p:sp>
        <p:nvSpPr>
          <p:cNvPr id="8" name="TextBox 7">
            <a:extLst>
              <a:ext uri="{FF2B5EF4-FFF2-40B4-BE49-F238E27FC236}">
                <a16:creationId xmlns:a16="http://schemas.microsoft.com/office/drawing/2014/main" id="{2F183D76-2D31-13B3-B385-0821B91935C2}"/>
              </a:ext>
            </a:extLst>
          </p:cNvPr>
          <p:cNvSpPr txBox="1"/>
          <p:nvPr/>
        </p:nvSpPr>
        <p:spPr>
          <a:xfrm>
            <a:off x="0" y="6488668"/>
            <a:ext cx="12192000" cy="369332"/>
          </a:xfrm>
          <a:prstGeom prst="rect">
            <a:avLst/>
          </a:prstGeom>
          <a:solidFill>
            <a:srgbClr val="231D8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Odoo Adoption → Data Quality → RRA CIS Certification → EBM Integration → Onboarding</a:t>
            </a:r>
            <a:endParaRPr kumimoji="0" lang="en-RW" sz="1800" b="0" i="1"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4154731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CDE42A-E9E1-AD96-D742-D70042FB066D}"/>
              </a:ext>
            </a:extLst>
          </p:cNvPr>
          <p:cNvPicPr>
            <a:picLocks noChangeAspect="1"/>
          </p:cNvPicPr>
          <p:nvPr/>
        </p:nvPicPr>
        <p:blipFill>
          <a:blip r:embed="rId2"/>
          <a:stretch>
            <a:fillRect/>
          </a:stretch>
        </p:blipFill>
        <p:spPr>
          <a:xfrm>
            <a:off x="2985987" y="1139254"/>
            <a:ext cx="5497108" cy="224086"/>
          </a:xfrm>
          <a:prstGeom prst="rect">
            <a:avLst/>
          </a:prstGeom>
        </p:spPr>
      </p:pic>
      <p:pic>
        <p:nvPicPr>
          <p:cNvPr id="6" name="Picture 5">
            <a:extLst>
              <a:ext uri="{FF2B5EF4-FFF2-40B4-BE49-F238E27FC236}">
                <a16:creationId xmlns:a16="http://schemas.microsoft.com/office/drawing/2014/main" id="{8B14086E-0D2A-DD3A-E938-A2DEC6808B8D}"/>
              </a:ext>
            </a:extLst>
          </p:cNvPr>
          <p:cNvPicPr>
            <a:picLocks noChangeAspect="1"/>
          </p:cNvPicPr>
          <p:nvPr/>
        </p:nvPicPr>
        <p:blipFill>
          <a:blip r:embed="rId3"/>
          <a:stretch>
            <a:fillRect/>
          </a:stretch>
        </p:blipFill>
        <p:spPr>
          <a:xfrm>
            <a:off x="1666635" y="1533043"/>
            <a:ext cx="4073259" cy="3521464"/>
          </a:xfrm>
          <a:prstGeom prst="rect">
            <a:avLst/>
          </a:prstGeom>
        </p:spPr>
      </p:pic>
      <p:pic>
        <p:nvPicPr>
          <p:cNvPr id="8" name="Picture 7">
            <a:extLst>
              <a:ext uri="{FF2B5EF4-FFF2-40B4-BE49-F238E27FC236}">
                <a16:creationId xmlns:a16="http://schemas.microsoft.com/office/drawing/2014/main" id="{8253A0E5-A1BD-13AC-9FFB-B3990A9B9DBA}"/>
              </a:ext>
            </a:extLst>
          </p:cNvPr>
          <p:cNvPicPr>
            <a:picLocks noChangeAspect="1"/>
          </p:cNvPicPr>
          <p:nvPr/>
        </p:nvPicPr>
        <p:blipFill>
          <a:blip r:embed="rId4"/>
          <a:stretch>
            <a:fillRect/>
          </a:stretch>
        </p:blipFill>
        <p:spPr>
          <a:xfrm>
            <a:off x="5957491" y="1603221"/>
            <a:ext cx="4125444" cy="34512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A5472-E805-CC43-5C51-2AD61A11BF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E87BB7-3C67-48ED-EE6E-76D7AF769A8A}"/>
              </a:ext>
            </a:extLst>
          </p:cNvPr>
          <p:cNvSpPr txBox="1"/>
          <p:nvPr/>
        </p:nvSpPr>
        <p:spPr>
          <a:xfrm>
            <a:off x="1185863" y="623891"/>
            <a:ext cx="110061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231D81"/>
                </a:solidFill>
                <a:effectLst/>
                <a:uLnTx/>
                <a:uFillTx/>
                <a:latin typeface="Century Gothic" panose="020B0502020202020204" pitchFamily="34" charset="0"/>
                <a:ea typeface="+mn-ea"/>
                <a:cs typeface="+mn-cs"/>
              </a:rPr>
              <a:t>Progressive Insight on Data Quality and sellout ratio trend</a:t>
            </a:r>
            <a:endParaRPr kumimoji="0" lang="en-US" sz="1000" b="1" i="0" u="none" strike="noStrike" kern="1200" cap="none" spc="0" normalizeH="0" baseline="0" noProof="0" dirty="0">
              <a:ln>
                <a:noFill/>
              </a:ln>
              <a:solidFill>
                <a:srgbClr val="231D81"/>
              </a:solidFill>
              <a:effectLst/>
              <a:uLnTx/>
              <a:uFillTx/>
              <a:latin typeface="Century Gothic" panose="020B0502020202020204" pitchFamily="34" charset="0"/>
              <a:ea typeface="+mn-ea"/>
              <a:cs typeface="+mn-cs"/>
            </a:endParaRPr>
          </a:p>
        </p:txBody>
      </p:sp>
      <p:sp>
        <p:nvSpPr>
          <p:cNvPr id="9" name="Text 9">
            <a:extLst>
              <a:ext uri="{FF2B5EF4-FFF2-40B4-BE49-F238E27FC236}">
                <a16:creationId xmlns:a16="http://schemas.microsoft.com/office/drawing/2014/main" id="{D595DA7D-6068-FB35-78B1-FC9E832846F2}"/>
              </a:ext>
            </a:extLst>
          </p:cNvPr>
          <p:cNvSpPr/>
          <p:nvPr/>
        </p:nvSpPr>
        <p:spPr>
          <a:xfrm>
            <a:off x="3182112" y="5424972"/>
            <a:ext cx="2743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anose="020F0502020204030204"/>
                <a:ea typeface="+mn-ea"/>
                <a:cs typeface="+mn-cs"/>
              </a:rPr>
              <a:t>164  </a:t>
            </a:r>
            <a:r>
              <a:rPr kumimoji="0" lang="en-US" sz="800" b="0" i="0" u="none" strike="noStrike" kern="1200" cap="none" spc="0" normalizeH="0" baseline="0" noProof="0" dirty="0">
                <a:ln>
                  <a:noFill/>
                </a:ln>
                <a:solidFill>
                  <a:srgbClr val="FFFFFF"/>
                </a:solidFill>
                <a:effectLst/>
                <a:uLnTx/>
                <a:uFillTx/>
                <a:latin typeface="Calibri" panose="020F0502020204030204"/>
                <a:ea typeface="+mn-ea"/>
                <a:cs typeface="+mn-cs"/>
              </a:rPr>
              <a:t>Total Users Onboarded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C0C8EF3-0C8A-CA30-65BA-6DE23F4CEF74}"/>
              </a:ext>
            </a:extLst>
          </p:cNvPr>
          <p:cNvPicPr>
            <a:picLocks noChangeAspect="1"/>
          </p:cNvPicPr>
          <p:nvPr/>
        </p:nvPicPr>
        <p:blipFill>
          <a:blip r:embed="rId3"/>
          <a:stretch>
            <a:fillRect/>
          </a:stretch>
        </p:blipFill>
        <p:spPr>
          <a:xfrm>
            <a:off x="1084523" y="1659809"/>
            <a:ext cx="4679392" cy="2078708"/>
          </a:xfrm>
          <a:prstGeom prst="rect">
            <a:avLst/>
          </a:prstGeom>
        </p:spPr>
      </p:pic>
      <p:pic>
        <p:nvPicPr>
          <p:cNvPr id="10" name="Picture 9">
            <a:extLst>
              <a:ext uri="{FF2B5EF4-FFF2-40B4-BE49-F238E27FC236}">
                <a16:creationId xmlns:a16="http://schemas.microsoft.com/office/drawing/2014/main" id="{538612BF-0BA1-126A-403D-CB47FCEAA1E8}"/>
              </a:ext>
            </a:extLst>
          </p:cNvPr>
          <p:cNvPicPr>
            <a:picLocks noChangeAspect="1"/>
          </p:cNvPicPr>
          <p:nvPr/>
        </p:nvPicPr>
        <p:blipFill>
          <a:blip r:embed="rId4"/>
          <a:stretch>
            <a:fillRect/>
          </a:stretch>
        </p:blipFill>
        <p:spPr>
          <a:xfrm>
            <a:off x="6428086" y="1532573"/>
            <a:ext cx="4767921" cy="5325427"/>
          </a:xfrm>
          <a:prstGeom prst="rect">
            <a:avLst/>
          </a:prstGeom>
        </p:spPr>
      </p:pic>
    </p:spTree>
    <p:extLst>
      <p:ext uri="{BB962C8B-B14F-4D97-AF65-F5344CB8AC3E}">
        <p14:creationId xmlns:p14="http://schemas.microsoft.com/office/powerpoint/2010/main" val="2190700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FAC5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skol_logo_crop.png"/>
          <p:cNvPicPr>
            <a:picLocks noChangeAspect="1"/>
          </p:cNvPicPr>
          <p:nvPr/>
        </p:nvPicPr>
        <p:blipFill>
          <a:blip r:embed="rId2"/>
          <a:stretch>
            <a:fillRect/>
          </a:stretch>
        </p:blipFill>
        <p:spPr>
          <a:xfrm>
            <a:off x="228600" y="64008"/>
            <a:ext cx="1783080" cy="491884"/>
          </a:xfrm>
          <a:prstGeom prst="rect">
            <a:avLst/>
          </a:prstGeom>
        </p:spPr>
      </p:pic>
      <p:pic>
        <p:nvPicPr>
          <p:cNvPr id="4" name="Picture 3" descr="sbl_logo_crop.png"/>
          <p:cNvPicPr>
            <a:picLocks noChangeAspect="1"/>
          </p:cNvPicPr>
          <p:nvPr/>
        </p:nvPicPr>
        <p:blipFill>
          <a:blip r:embed="rId3"/>
          <a:stretch>
            <a:fillRect/>
          </a:stretch>
        </p:blipFill>
        <p:spPr>
          <a:xfrm>
            <a:off x="9189720" y="64008"/>
            <a:ext cx="2606040" cy="334442"/>
          </a:xfrm>
          <a:prstGeom prst="rect">
            <a:avLst/>
          </a:prstGeom>
        </p:spPr>
      </p:pic>
      <p:sp>
        <p:nvSpPr>
          <p:cNvPr id="5" name="Rectangle 4"/>
          <p:cNvSpPr/>
          <p:nvPr/>
        </p:nvSpPr>
        <p:spPr>
          <a:xfrm>
            <a:off x="0" y="749808"/>
            <a:ext cx="12191695" cy="32004"/>
          </a:xfrm>
          <a:prstGeom prst="rect">
            <a:avLst/>
          </a:prstGeom>
          <a:solidFill>
            <a:srgbClr val="0B3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p:cNvSpPr/>
          <p:nvPr/>
        </p:nvSpPr>
        <p:spPr>
          <a:xfrm>
            <a:off x="0" y="786384"/>
            <a:ext cx="12191695" cy="50292"/>
          </a:xfrm>
          <a:prstGeom prst="rect">
            <a:avLst/>
          </a:prstGeom>
          <a:solidFill>
            <a:srgbClr val="DC1C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2331720" y="941832"/>
            <a:ext cx="7498079" cy="5029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0B3066"/>
                </a:solidFill>
                <a:effectLst/>
                <a:uLnTx/>
                <a:uFillTx/>
                <a:latin typeface="Aptos Display"/>
                <a:ea typeface="+mn-ea"/>
                <a:cs typeface="+mn-cs"/>
              </a:rPr>
              <a:t>Odoo-CIS Certification &amp; EBM Onboarding</a:t>
            </a:r>
          </a:p>
        </p:txBody>
      </p:sp>
      <p:sp>
        <p:nvSpPr>
          <p:cNvPr id="8" name="Rounded Rectangle 7"/>
          <p:cNvSpPr/>
          <p:nvPr/>
        </p:nvSpPr>
        <p:spPr>
          <a:xfrm>
            <a:off x="914400" y="1600200"/>
            <a:ext cx="10378440" cy="658368"/>
          </a:xfrm>
          <a:prstGeom prst="roundRect">
            <a:avLst/>
          </a:prstGeom>
          <a:solidFill>
            <a:srgbClr val="F4F7FA"/>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1143000" y="1746504"/>
            <a:ext cx="9966960" cy="32004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00A65B"/>
                </a:solidFill>
                <a:effectLst/>
                <a:uLnTx/>
                <a:uFillTx/>
                <a:latin typeface="Aptos"/>
                <a:ea typeface="+mn-ea"/>
                <a:cs typeface="+mn-cs"/>
              </a:rPr>
              <a:t>CIS/API Certification Achieved</a:t>
            </a:r>
            <a:r>
              <a:rPr kumimoji="0" sz="1900" b="0" i="0" u="none" strike="noStrike" kern="1200" cap="none" spc="0" normalizeH="0" baseline="0" noProof="0" dirty="0">
                <a:ln>
                  <a:noFill/>
                </a:ln>
                <a:solidFill>
                  <a:srgbClr val="646C76"/>
                </a:solidFill>
                <a:effectLst/>
                <a:uLnTx/>
                <a:uFillTx/>
                <a:latin typeface="Calibri" panose="020F0502020204030204"/>
                <a:ea typeface="+mn-ea"/>
                <a:cs typeface="+mn-cs"/>
              </a:rPr>
              <a:t>  |  </a:t>
            </a:r>
            <a:r>
              <a:rPr kumimoji="0" sz="1900" b="1" i="0" u="none" strike="noStrike" kern="1200" cap="none" spc="0" normalizeH="0" baseline="0" noProof="0" dirty="0">
                <a:ln>
                  <a:noFill/>
                </a:ln>
                <a:solidFill>
                  <a:srgbClr val="23282D"/>
                </a:solidFill>
                <a:effectLst/>
                <a:uLnTx/>
                <a:uFillTx/>
                <a:latin typeface="Aptos"/>
                <a:ea typeface="+mn-ea"/>
                <a:cs typeface="+mn-cs"/>
              </a:rPr>
              <a:t>Ongoing EBM Onboarding</a:t>
            </a:r>
          </a:p>
        </p:txBody>
      </p:sp>
      <p:sp>
        <p:nvSpPr>
          <p:cNvPr id="10" name="Rounded Rectangle 9"/>
          <p:cNvSpPr/>
          <p:nvPr/>
        </p:nvSpPr>
        <p:spPr>
          <a:xfrm>
            <a:off x="640080" y="2606040"/>
            <a:ext cx="5303520" cy="3520440"/>
          </a:xfrm>
          <a:prstGeom prst="roundRect">
            <a:avLst/>
          </a:prstGeom>
          <a:solidFill>
            <a:srgbClr val="F9FCF9"/>
          </a:solidFill>
          <a:ln>
            <a:solidFill>
              <a:srgbClr val="E1E6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10"/>
          <p:cNvSpPr/>
          <p:nvPr/>
        </p:nvSpPr>
        <p:spPr>
          <a:xfrm>
            <a:off x="6263640" y="2606040"/>
            <a:ext cx="5303520" cy="3520440"/>
          </a:xfrm>
          <a:prstGeom prst="roundRect">
            <a:avLst/>
          </a:prstGeom>
          <a:solidFill>
            <a:srgbClr val="F7FAFE"/>
          </a:solidFill>
          <a:ln>
            <a:solidFill>
              <a:srgbClr val="E1E6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868680" y="2816352"/>
            <a:ext cx="4800600" cy="3657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00A65B"/>
                </a:solidFill>
                <a:effectLst/>
                <a:uLnTx/>
                <a:uFillTx/>
                <a:latin typeface="Aptos Display"/>
                <a:ea typeface="+mn-ea"/>
                <a:cs typeface="+mn-cs"/>
              </a:rPr>
              <a:t>ODOO CIS CERTIFICATION</a:t>
            </a:r>
          </a:p>
        </p:txBody>
      </p:sp>
      <p:sp>
        <p:nvSpPr>
          <p:cNvPr id="13" name="TextBox 12"/>
          <p:cNvSpPr txBox="1"/>
          <p:nvPr/>
        </p:nvSpPr>
        <p:spPr>
          <a:xfrm>
            <a:off x="6492240" y="2816352"/>
            <a:ext cx="3679662" cy="353943"/>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1F5B9B"/>
                </a:solidFill>
                <a:effectLst/>
                <a:uLnTx/>
                <a:uFillTx/>
                <a:latin typeface="Aptos Display"/>
                <a:ea typeface="+mn-ea"/>
                <a:cs typeface="+mn-cs"/>
              </a:rPr>
              <a:t>CURRENT </a:t>
            </a:r>
            <a:r>
              <a:rPr kumimoji="0" lang="en-US" sz="1700" b="1" i="0" u="none" strike="noStrike" kern="1200" cap="none" spc="0" normalizeH="0" baseline="0" noProof="0" dirty="0">
                <a:ln>
                  <a:noFill/>
                </a:ln>
                <a:solidFill>
                  <a:srgbClr val="1F5B9B"/>
                </a:solidFill>
                <a:effectLst/>
                <a:uLnTx/>
                <a:uFillTx/>
                <a:latin typeface="Aptos Display"/>
                <a:ea typeface="+mn-ea"/>
                <a:cs typeface="+mn-cs"/>
              </a:rPr>
              <a:t>ODOO-</a:t>
            </a:r>
            <a:r>
              <a:rPr kumimoji="0" sz="1700" b="1" i="0" u="none" strike="noStrike" kern="1200" cap="none" spc="0" normalizeH="0" baseline="0" noProof="0" dirty="0">
                <a:ln>
                  <a:noFill/>
                </a:ln>
                <a:solidFill>
                  <a:srgbClr val="1F5B9B"/>
                </a:solidFill>
                <a:effectLst/>
                <a:uLnTx/>
                <a:uFillTx/>
                <a:latin typeface="Aptos Display"/>
                <a:ea typeface="+mn-ea"/>
                <a:cs typeface="+mn-cs"/>
              </a:rPr>
              <a:t>EBM ONBOARDING</a:t>
            </a:r>
          </a:p>
        </p:txBody>
      </p:sp>
      <p:sp>
        <p:nvSpPr>
          <p:cNvPr id="14" name="TextBox 13"/>
          <p:cNvSpPr txBox="1"/>
          <p:nvPr/>
        </p:nvSpPr>
        <p:spPr>
          <a:xfrm>
            <a:off x="896112" y="3337560"/>
            <a:ext cx="4709160" cy="6858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23282D"/>
                </a:solidFill>
                <a:effectLst/>
                <a:uLnTx/>
                <a:uFillTx/>
                <a:latin typeface="Aptos"/>
                <a:ea typeface="+mn-ea"/>
                <a:cs typeface="+mn-cs"/>
              </a:rPr>
              <a:t>A major milestone that unlocks commercial value.</a:t>
            </a:r>
          </a:p>
        </p:txBody>
      </p:sp>
      <p:sp>
        <p:nvSpPr>
          <p:cNvPr id="15" name="Rounded Rectangle 14"/>
          <p:cNvSpPr/>
          <p:nvPr/>
        </p:nvSpPr>
        <p:spPr>
          <a:xfrm>
            <a:off x="914400" y="4160520"/>
            <a:ext cx="4709160" cy="914400"/>
          </a:xfrm>
          <a:prstGeom prst="roundRect">
            <a:avLst/>
          </a:prstGeom>
          <a:solidFill>
            <a:srgbClr val="E9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p:cNvSpPr txBox="1"/>
          <p:nvPr/>
        </p:nvSpPr>
        <p:spPr>
          <a:xfrm>
            <a:off x="1097280" y="4352544"/>
            <a:ext cx="4343400" cy="54864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A65B"/>
                </a:solidFill>
                <a:effectLst/>
                <a:uLnTx/>
                <a:uFillTx/>
                <a:latin typeface="Aptos"/>
                <a:ea typeface="+mn-ea"/>
                <a:cs typeface="+mn-cs"/>
              </a:rPr>
              <a:t>Certification achieved</a:t>
            </a:r>
          </a:p>
        </p:txBody>
      </p:sp>
      <p:sp>
        <p:nvSpPr>
          <p:cNvPr id="17" name="TextBox 16"/>
          <p:cNvSpPr txBox="1"/>
          <p:nvPr/>
        </p:nvSpPr>
        <p:spPr>
          <a:xfrm>
            <a:off x="960120" y="5321808"/>
            <a:ext cx="4572000" cy="5943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00A65B"/>
                </a:solidFill>
                <a:effectLst/>
                <a:uLnTx/>
                <a:uFillTx/>
                <a:latin typeface="Calibri" panose="020F0502020204030204"/>
                <a:ea typeface="+mn-ea"/>
                <a:cs typeface="+mn-cs"/>
              </a:rPr>
              <a:t>→ </a:t>
            </a:r>
            <a:r>
              <a:rPr kumimoji="0" sz="1500" b="0" i="0" u="none" strike="noStrike" kern="1200" cap="none" spc="0" normalizeH="0" baseline="0" noProof="0">
                <a:ln>
                  <a:noFill/>
                </a:ln>
                <a:solidFill>
                  <a:srgbClr val="23282D"/>
                </a:solidFill>
                <a:effectLst/>
                <a:uLnTx/>
                <a:uFillTx/>
                <a:latin typeface="Calibri" panose="020F0502020204030204"/>
                <a:ea typeface="+mn-ea"/>
                <a:cs typeface="+mn-cs"/>
              </a:rPr>
              <a:t>Unlocks the next phase of EBM integration.</a:t>
            </a:r>
          </a:p>
        </p:txBody>
      </p:sp>
      <p:sp>
        <p:nvSpPr>
          <p:cNvPr id="18" name="Oval 17"/>
          <p:cNvSpPr/>
          <p:nvPr/>
        </p:nvSpPr>
        <p:spPr>
          <a:xfrm>
            <a:off x="6565392" y="3410712"/>
            <a:ext cx="164592" cy="164592"/>
          </a:xfrm>
          <a:prstGeom prst="ellipse">
            <a:avLst/>
          </a:prstGeom>
          <a:solidFill>
            <a:srgbClr val="1F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p:cNvSpPr txBox="1"/>
          <p:nvPr/>
        </p:nvSpPr>
        <p:spPr>
          <a:xfrm>
            <a:off x="6839712" y="3337560"/>
            <a:ext cx="4376711" cy="3308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50" b="1" i="0" u="none" strike="noStrike" kern="1200" cap="none" spc="0" normalizeH="0" baseline="0" noProof="0" dirty="0">
                <a:ln>
                  <a:noFill/>
                </a:ln>
                <a:solidFill>
                  <a:srgbClr val="23282D"/>
                </a:solidFill>
                <a:effectLst/>
                <a:uLnTx/>
                <a:uFillTx/>
                <a:latin typeface="Aptos"/>
                <a:ea typeface="+mn-ea"/>
                <a:cs typeface="+mn-cs"/>
              </a:rPr>
              <a:t>Invoice clearance</a:t>
            </a:r>
            <a:r>
              <a:rPr kumimoji="0" sz="1400" b="0" i="0" u="none" strike="noStrike" kern="1200" cap="none" spc="0" normalizeH="0" baseline="0" noProof="0" dirty="0">
                <a:ln>
                  <a:noFill/>
                </a:ln>
                <a:solidFill>
                  <a:srgbClr val="646C76"/>
                </a:solidFill>
                <a:effectLst/>
                <a:uLnTx/>
                <a:uFillTx/>
                <a:latin typeface="Aptos"/>
                <a:ea typeface="+mn-ea"/>
                <a:cs typeface="+mn-cs"/>
              </a:rPr>
              <a:t> </a:t>
            </a:r>
            <a:r>
              <a:rPr kumimoji="0" lang="en-US" sz="1400" b="0" i="0" u="none" strike="noStrike" kern="1200" cap="none" spc="0" normalizeH="0" baseline="0" noProof="0" dirty="0">
                <a:ln>
                  <a:noFill/>
                </a:ln>
                <a:solidFill>
                  <a:srgbClr val="646C76"/>
                </a:solidFill>
                <a:effectLst/>
                <a:uLnTx/>
                <a:uFillTx/>
                <a:latin typeface="Aptos"/>
                <a:ea typeface="+mn-ea"/>
                <a:cs typeface="+mn-cs"/>
              </a:rPr>
              <a:t>- </a:t>
            </a:r>
            <a:r>
              <a:rPr kumimoji="0" sz="1400" b="0" i="0" u="none" strike="noStrike" kern="1200" cap="none" spc="0" normalizeH="0" baseline="0" noProof="0" dirty="0">
                <a:ln>
                  <a:noFill/>
                </a:ln>
                <a:solidFill>
                  <a:srgbClr val="646C76"/>
                </a:solidFill>
                <a:effectLst/>
                <a:uLnTx/>
                <a:uFillTx/>
                <a:latin typeface="Aptos"/>
                <a:ea typeface="+mn-ea"/>
                <a:cs typeface="+mn-cs"/>
              </a:rPr>
              <a:t> at distributor level  |  since 5 Oct</a:t>
            </a:r>
          </a:p>
        </p:txBody>
      </p:sp>
      <p:sp>
        <p:nvSpPr>
          <p:cNvPr id="20" name="Oval 19"/>
          <p:cNvSpPr/>
          <p:nvPr/>
        </p:nvSpPr>
        <p:spPr>
          <a:xfrm>
            <a:off x="6565392" y="4251960"/>
            <a:ext cx="164592" cy="164592"/>
          </a:xfrm>
          <a:prstGeom prst="ellipse">
            <a:avLst/>
          </a:prstGeom>
          <a:solidFill>
            <a:srgbClr val="1F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p:cNvSpPr txBox="1"/>
          <p:nvPr/>
        </p:nvSpPr>
        <p:spPr>
          <a:xfrm>
            <a:off x="6839712" y="4178808"/>
            <a:ext cx="3333605" cy="3308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50" b="1" i="0" u="none" strike="noStrike" kern="1200" cap="none" spc="0" normalizeH="0" baseline="0" noProof="0" dirty="0">
                <a:ln>
                  <a:noFill/>
                </a:ln>
                <a:solidFill>
                  <a:srgbClr val="23282D"/>
                </a:solidFill>
                <a:effectLst/>
                <a:uLnTx/>
                <a:uFillTx/>
                <a:latin typeface="Aptos"/>
                <a:ea typeface="+mn-ea"/>
                <a:cs typeface="+mn-cs"/>
              </a:rPr>
              <a:t>Net-Invest onboarding</a:t>
            </a:r>
            <a:r>
              <a:rPr kumimoji="0" sz="1400" b="0" i="0" u="none" strike="noStrike" kern="1200" cap="none" spc="0" normalizeH="0" baseline="0" noProof="0" dirty="0">
                <a:ln>
                  <a:noFill/>
                </a:ln>
                <a:solidFill>
                  <a:srgbClr val="646C76"/>
                </a:solidFill>
                <a:effectLst/>
                <a:uLnTx/>
                <a:uFillTx/>
                <a:latin typeface="Aptos"/>
                <a:ea typeface="+mn-ea"/>
                <a:cs typeface="+mn-cs"/>
              </a:rPr>
              <a:t> </a:t>
            </a:r>
            <a:r>
              <a:rPr kumimoji="0" lang="en-US" sz="1400" b="0" i="0" u="none" strike="noStrike" kern="1200" cap="none" spc="0" normalizeH="0" baseline="0" noProof="0" dirty="0">
                <a:ln>
                  <a:noFill/>
                </a:ln>
                <a:solidFill>
                  <a:srgbClr val="646C76"/>
                </a:solidFill>
                <a:effectLst/>
                <a:uLnTx/>
                <a:uFillTx/>
                <a:latin typeface="Aptos"/>
                <a:ea typeface="+mn-ea"/>
                <a:cs typeface="+mn-cs"/>
              </a:rPr>
              <a:t>- </a:t>
            </a:r>
            <a:r>
              <a:rPr kumimoji="0" sz="1400" b="0" i="0" u="none" strike="noStrike" kern="1200" cap="none" spc="0" normalizeH="0" baseline="0" noProof="0" dirty="0">
                <a:ln>
                  <a:noFill/>
                </a:ln>
                <a:solidFill>
                  <a:srgbClr val="646C76"/>
                </a:solidFill>
                <a:effectLst/>
                <a:uLnTx/>
                <a:uFillTx/>
                <a:latin typeface="Aptos"/>
                <a:ea typeface="+mn-ea"/>
                <a:cs typeface="+mn-cs"/>
              </a:rPr>
              <a:t> since 13 Oct</a:t>
            </a:r>
          </a:p>
        </p:txBody>
      </p:sp>
      <p:sp>
        <p:nvSpPr>
          <p:cNvPr id="22" name="Oval 21"/>
          <p:cNvSpPr/>
          <p:nvPr/>
        </p:nvSpPr>
        <p:spPr>
          <a:xfrm>
            <a:off x="6565392" y="5093208"/>
            <a:ext cx="164592" cy="164592"/>
          </a:xfrm>
          <a:prstGeom prst="ellipse">
            <a:avLst/>
          </a:prstGeom>
          <a:solidFill>
            <a:srgbClr val="1F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TextBox 22"/>
          <p:cNvSpPr txBox="1"/>
          <p:nvPr/>
        </p:nvSpPr>
        <p:spPr>
          <a:xfrm>
            <a:off x="6839712" y="5020056"/>
            <a:ext cx="3895362" cy="3308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50" b="1" i="0" u="none" strike="noStrike" kern="1200" cap="none" spc="0" normalizeH="0" baseline="0" noProof="0" dirty="0">
                <a:ln>
                  <a:noFill/>
                </a:ln>
                <a:solidFill>
                  <a:srgbClr val="23282D"/>
                </a:solidFill>
                <a:effectLst/>
                <a:uLnTx/>
                <a:uFillTx/>
                <a:latin typeface="Aptos"/>
                <a:ea typeface="+mn-ea"/>
                <a:cs typeface="+mn-cs"/>
              </a:rPr>
              <a:t>Integration timeline</a:t>
            </a:r>
            <a:r>
              <a:rPr kumimoji="0" sz="1400" b="0" i="0" u="none" strike="noStrike" kern="1200" cap="none" spc="0" normalizeH="0" baseline="0" noProof="0" dirty="0">
                <a:ln>
                  <a:noFill/>
                </a:ln>
                <a:solidFill>
                  <a:srgbClr val="646C76"/>
                </a:solidFill>
                <a:effectLst/>
                <a:uLnTx/>
                <a:uFillTx/>
                <a:latin typeface="Aptos"/>
                <a:ea typeface="+mn-ea"/>
                <a:cs typeface="+mn-cs"/>
              </a:rPr>
              <a:t> </a:t>
            </a:r>
            <a:r>
              <a:rPr kumimoji="0" lang="en-US" sz="1400" b="0" i="0" u="none" strike="noStrike" kern="1200" cap="none" spc="0" normalizeH="0" baseline="0" noProof="0" dirty="0">
                <a:ln>
                  <a:noFill/>
                </a:ln>
                <a:solidFill>
                  <a:srgbClr val="646C76"/>
                </a:solidFill>
                <a:effectLst/>
                <a:uLnTx/>
                <a:uFillTx/>
                <a:latin typeface="Aptos"/>
                <a:ea typeface="+mn-ea"/>
                <a:cs typeface="+mn-cs"/>
              </a:rPr>
              <a:t>- </a:t>
            </a:r>
            <a:r>
              <a:rPr kumimoji="0" sz="1400" b="0" i="0" u="none" strike="noStrike" kern="1200" cap="none" spc="0" normalizeH="0" baseline="0" noProof="0" dirty="0">
                <a:ln>
                  <a:noFill/>
                </a:ln>
                <a:solidFill>
                  <a:srgbClr val="646C76"/>
                </a:solidFill>
                <a:effectLst/>
                <a:uLnTx/>
                <a:uFillTx/>
                <a:latin typeface="Aptos"/>
                <a:ea typeface="+mn-ea"/>
                <a:cs typeface="+mn-cs"/>
              </a:rPr>
              <a:t> 9 months from October</a:t>
            </a:r>
          </a:p>
        </p:txBody>
      </p:sp>
      <p:sp>
        <p:nvSpPr>
          <p:cNvPr id="24" name="Rounded Rectangle 23"/>
          <p:cNvSpPr/>
          <p:nvPr/>
        </p:nvSpPr>
        <p:spPr>
          <a:xfrm>
            <a:off x="640080" y="6309360"/>
            <a:ext cx="10972800" cy="384048"/>
          </a:xfrm>
          <a:prstGeom prst="roundRect">
            <a:avLst/>
          </a:prstGeom>
          <a:solidFill>
            <a:srgbClr val="0B3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p:cNvSpPr txBox="1"/>
          <p:nvPr/>
        </p:nvSpPr>
        <p:spPr>
          <a:xfrm>
            <a:off x="2416971" y="6373368"/>
            <a:ext cx="7419019" cy="253916"/>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FFFFFF"/>
                </a:solidFill>
                <a:effectLst/>
                <a:uLnTx/>
                <a:uFillTx/>
                <a:latin typeface="Aptos"/>
                <a:ea typeface="+mn-ea"/>
                <a:cs typeface="+mn-cs"/>
              </a:rPr>
              <a:t>EXECUTIVE TAKEAWAY  |  Certification achieved — the priority now is disciplined </a:t>
            </a:r>
            <a:r>
              <a:rPr kumimoji="0" lang="en-US" sz="1050" b="1" i="0" u="none" strike="noStrike" kern="1200" cap="none" spc="0" normalizeH="0" baseline="0" noProof="0" dirty="0">
                <a:ln>
                  <a:noFill/>
                </a:ln>
                <a:solidFill>
                  <a:srgbClr val="FFFFFF"/>
                </a:solidFill>
                <a:effectLst/>
                <a:uLnTx/>
                <a:uFillTx/>
                <a:latin typeface="Aptos"/>
                <a:ea typeface="+mn-ea"/>
                <a:cs typeface="+mn-cs"/>
              </a:rPr>
              <a:t>ODOO-</a:t>
            </a:r>
            <a:r>
              <a:rPr kumimoji="0" sz="1050" b="1" i="0" u="none" strike="noStrike" kern="1200" cap="none" spc="0" normalizeH="0" baseline="0" noProof="0" dirty="0">
                <a:ln>
                  <a:noFill/>
                </a:ln>
                <a:solidFill>
                  <a:srgbClr val="FFFFFF"/>
                </a:solidFill>
                <a:effectLst/>
                <a:uLnTx/>
                <a:uFillTx/>
                <a:latin typeface="Aptos"/>
                <a:ea typeface="+mn-ea"/>
                <a:cs typeface="+mn-cs"/>
              </a:rPr>
              <a:t>EBM onboarding and execution.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ppt_x"/>
                                          </p:val>
                                        </p:tav>
                                        <p:tav tm="100000">
                                          <p:val>
                                            <p:strVal val="#ppt_x"/>
                                          </p:val>
                                        </p:tav>
                                      </p:tavLst>
                                    </p:anim>
                                    <p:anim calcmode="lin" valueType="num">
                                      <p:cBhvr additive="base">
                                        <p:cTn id="64" dur="500" fill="hold"/>
                                        <p:tgtEl>
                                          <p:spTgt spid="2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1"/>
                                        </p:tgtEl>
                                        <p:attrNameLst>
                                          <p:attrName>style.visibility</p:attrName>
                                        </p:attrNameLst>
                                      </p:cBhvr>
                                      <p:to>
                                        <p:strVal val="visible"/>
                                      </p:to>
                                    </p:set>
                                    <p:anim calcmode="lin" valueType="num">
                                      <p:cBhvr additive="base">
                                        <p:cTn id="71" dur="500" fill="hold"/>
                                        <p:tgtEl>
                                          <p:spTgt spid="11"/>
                                        </p:tgtEl>
                                        <p:attrNameLst>
                                          <p:attrName>ppt_x</p:attrName>
                                        </p:attrNameLst>
                                      </p:cBhvr>
                                      <p:tavLst>
                                        <p:tav tm="0">
                                          <p:val>
                                            <p:strVal val="#ppt_x"/>
                                          </p:val>
                                        </p:tav>
                                        <p:tav tm="100000">
                                          <p:val>
                                            <p:strVal val="#ppt_x"/>
                                          </p:val>
                                        </p:tav>
                                      </p:tavLst>
                                    </p:anim>
                                    <p:anim calcmode="lin" valueType="num">
                                      <p:cBhvr additive="base">
                                        <p:cTn id="7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animBg="1"/>
      <p:bldP spid="12" grpId="0"/>
      <p:bldP spid="13" grpId="0"/>
      <p:bldP spid="14" grpId="0"/>
      <p:bldP spid="15" grpId="0" animBg="1"/>
      <p:bldP spid="16" grpId="0"/>
      <p:bldP spid="17" grpId="0"/>
      <p:bldP spid="18" grpId="0" animBg="1"/>
      <p:bldP spid="19" grpId="0"/>
      <p:bldP spid="20" grpId="0" animBg="1"/>
      <p:bldP spid="21" grpId="0"/>
      <p:bldP spid="22" grpId="0" animBg="1"/>
      <p:bldP spid="2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 name="TextBox 2"/>
          <p:cNvSpPr txBox="1"/>
          <p:nvPr/>
        </p:nvSpPr>
        <p:spPr>
          <a:xfrm>
            <a:off x="1862725" y="471051"/>
            <a:ext cx="6378669" cy="47705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2027 BI &amp; COMMERCIAL SYSTEMS VISION</a:t>
            </a:r>
          </a:p>
        </p:txBody>
      </p:sp>
      <p:sp>
        <p:nvSpPr>
          <p:cNvPr id="4" name="TextBox 3"/>
          <p:cNvSpPr txBox="1"/>
          <p:nvPr/>
        </p:nvSpPr>
        <p:spPr>
          <a:xfrm>
            <a:off x="2810829" y="1123074"/>
            <a:ext cx="6930700" cy="3231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142B46"/>
                </a:solidFill>
                <a:effectLst/>
                <a:uLnTx/>
                <a:uFillTx/>
                <a:latin typeface="Century Gothic" panose="020B0502020202020204" pitchFamily="34" charset="0"/>
                <a:ea typeface="+mn-ea"/>
                <a:cs typeface="+mn-cs"/>
              </a:rPr>
              <a:t>Scaling digital operations while removing key-person &amp; continuity risk</a:t>
            </a:r>
          </a:p>
        </p:txBody>
      </p:sp>
      <p:sp>
        <p:nvSpPr>
          <p:cNvPr id="5" name="Rounded Rectangle 4"/>
          <p:cNvSpPr/>
          <p:nvPr/>
        </p:nvSpPr>
        <p:spPr>
          <a:xfrm>
            <a:off x="411480" y="1534372"/>
            <a:ext cx="3611880" cy="3854402"/>
          </a:xfrm>
          <a:prstGeom prst="roundRect">
            <a:avLst/>
          </a:prstGeom>
          <a:solidFill>
            <a:srgbClr val="FFFFFF"/>
          </a:solidFill>
          <a:ln>
            <a:solidFill>
              <a:srgbClr val="DCE0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594360" y="1536192"/>
            <a:ext cx="1503938" cy="3231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2026 BASELINE</a:t>
            </a:r>
          </a:p>
        </p:txBody>
      </p:sp>
      <p:sp>
        <p:nvSpPr>
          <p:cNvPr id="7" name="Rounded Rectangle 6"/>
          <p:cNvSpPr/>
          <p:nvPr/>
        </p:nvSpPr>
        <p:spPr>
          <a:xfrm>
            <a:off x="4160520" y="1534372"/>
            <a:ext cx="3703320" cy="3868252"/>
          </a:xfrm>
          <a:prstGeom prst="roundRect">
            <a:avLst/>
          </a:prstGeom>
          <a:solidFill>
            <a:srgbClr val="FFFFFF"/>
          </a:solidFill>
          <a:ln>
            <a:solidFill>
              <a:srgbClr val="DCE0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p:cNvSpPr txBox="1"/>
          <p:nvPr/>
        </p:nvSpPr>
        <p:spPr>
          <a:xfrm>
            <a:off x="4343400" y="1536192"/>
            <a:ext cx="2794355" cy="3231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2027 SCALE-UP &amp; RESILIENCE</a:t>
            </a:r>
          </a:p>
        </p:txBody>
      </p:sp>
      <p:sp>
        <p:nvSpPr>
          <p:cNvPr id="9" name="Rounded Rectangle 8"/>
          <p:cNvSpPr/>
          <p:nvPr/>
        </p:nvSpPr>
        <p:spPr>
          <a:xfrm>
            <a:off x="8001000" y="1493782"/>
            <a:ext cx="3767328" cy="3868253"/>
          </a:xfrm>
          <a:prstGeom prst="roundRect">
            <a:avLst/>
          </a:prstGeom>
          <a:solidFill>
            <a:srgbClr val="FFFFFF"/>
          </a:solidFill>
          <a:ln>
            <a:solidFill>
              <a:srgbClr val="DCE0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p:cNvSpPr txBox="1"/>
          <p:nvPr/>
        </p:nvSpPr>
        <p:spPr>
          <a:xfrm>
            <a:off x="8455345" y="1617236"/>
            <a:ext cx="2284600" cy="3231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307858"/>
                </a:solidFill>
                <a:effectLst/>
                <a:uLnTx/>
                <a:uFillTx/>
                <a:latin typeface="Century Gothic" panose="020B0502020202020204" pitchFamily="34" charset="0"/>
                <a:ea typeface="+mn-ea"/>
                <a:cs typeface="+mn-cs"/>
              </a:rPr>
              <a:t>EXECUTIVE </a:t>
            </a:r>
            <a:r>
              <a:rPr kumimoji="0" sz="1500" b="1" i="0" u="none" strike="noStrike" kern="1200" cap="none" spc="0" normalizeH="0" baseline="0" noProof="0" dirty="0">
                <a:ln>
                  <a:noFill/>
                </a:ln>
                <a:solidFill>
                  <a:srgbClr val="307858"/>
                </a:solidFill>
                <a:effectLst/>
                <a:uLnTx/>
                <a:uFillTx/>
                <a:latin typeface="Century Gothic" panose="020B0502020202020204" pitchFamily="34" charset="0"/>
                <a:ea typeface="+mn-ea"/>
                <a:cs typeface="+mn-cs"/>
              </a:rPr>
              <a:t> TAKEAWAY</a:t>
            </a:r>
          </a:p>
        </p:txBody>
      </p:sp>
      <p:sp>
        <p:nvSpPr>
          <p:cNvPr id="11" name="TextBox 10"/>
          <p:cNvSpPr txBox="1"/>
          <p:nvPr/>
        </p:nvSpPr>
        <p:spPr>
          <a:xfrm>
            <a:off x="640080" y="1993392"/>
            <a:ext cx="3154680" cy="150348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sz="1320">
                <a:solidFill>
                  <a:srgbClr val="2D3237"/>
                </a:solidFill>
                <a:latin typeface="Aptos"/>
              </a:defRPr>
            </a:pPr>
            <a:r>
              <a:rPr kumimoji="0" sz="132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Budget: 109.7M RWF</a:t>
            </a:r>
          </a:p>
          <a:p>
            <a:pPr marL="0" marR="0" lvl="0" indent="0" algn="l" defTabSz="914400" rtl="0" eaLnBrk="1" fontAlgn="auto" latinLnBrk="0" hangingPunct="1">
              <a:lnSpc>
                <a:spcPct val="100000"/>
              </a:lnSpc>
              <a:spcBef>
                <a:spcPts val="0"/>
              </a:spcBef>
              <a:spcAft>
                <a:spcPts val="500"/>
              </a:spcAft>
              <a:buClrTx/>
              <a:buSzTx/>
              <a:buFontTx/>
              <a:buNone/>
              <a:tabLst/>
              <a:defRPr sz="1320">
                <a:solidFill>
                  <a:srgbClr val="2D3237"/>
                </a:solidFill>
                <a:latin typeface="Aptos"/>
              </a:defRPr>
            </a:pPr>
            <a:r>
              <a:rPr kumimoji="0" sz="132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Actual spend: 68.9M RWF</a:t>
            </a:r>
          </a:p>
          <a:p>
            <a:pPr marL="0" marR="0" lvl="0" indent="0" algn="l" defTabSz="914400" rtl="0" eaLnBrk="1" fontAlgn="auto" latinLnBrk="0" hangingPunct="1">
              <a:lnSpc>
                <a:spcPct val="100000"/>
              </a:lnSpc>
              <a:spcBef>
                <a:spcPts val="0"/>
              </a:spcBef>
              <a:spcAft>
                <a:spcPts val="500"/>
              </a:spcAft>
              <a:buClrTx/>
              <a:buSzTx/>
              <a:buFontTx/>
              <a:buNone/>
              <a:tabLst/>
              <a:defRPr sz="1320">
                <a:solidFill>
                  <a:srgbClr val="2D3237"/>
                </a:solidFill>
                <a:latin typeface="Aptos"/>
              </a:defRPr>
            </a:pPr>
            <a:r>
              <a:rPr kumimoji="0" sz="132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Odoo + Power BI foundation established</a:t>
            </a:r>
          </a:p>
          <a:p>
            <a:pPr marL="0" marR="0" lvl="0" indent="0" algn="l" defTabSz="914400" rtl="0" eaLnBrk="1" fontAlgn="auto" latinLnBrk="0" hangingPunct="1">
              <a:lnSpc>
                <a:spcPct val="100000"/>
              </a:lnSpc>
              <a:spcBef>
                <a:spcPts val="0"/>
              </a:spcBef>
              <a:spcAft>
                <a:spcPts val="500"/>
              </a:spcAft>
              <a:buClrTx/>
              <a:buSzTx/>
              <a:buFontTx/>
              <a:buNone/>
              <a:tabLst/>
              <a:defRPr sz="1320">
                <a:solidFill>
                  <a:srgbClr val="2D3237"/>
                </a:solidFill>
                <a:latin typeface="Aptos"/>
              </a:defRPr>
            </a:pPr>
            <a:r>
              <a:rPr kumimoji="0" sz="132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Initial onboarding &amp; API established</a:t>
            </a:r>
          </a:p>
        </p:txBody>
      </p:sp>
      <p:sp>
        <p:nvSpPr>
          <p:cNvPr id="12" name="TextBox 11"/>
          <p:cNvSpPr txBox="1"/>
          <p:nvPr/>
        </p:nvSpPr>
        <p:spPr>
          <a:xfrm>
            <a:off x="4389120" y="1993392"/>
            <a:ext cx="3246120" cy="16845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2027 request: 168.5M RWF</a:t>
            </a:r>
          </a:p>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Odoo–EBM integration &amp; onboarding: 68.0M</a:t>
            </a:r>
          </a:p>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Odoo subscription &amp; integration: 41.2M</a:t>
            </a:r>
          </a:p>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EBM maintenance: 31.5M</a:t>
            </a:r>
          </a:p>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Odoo support &amp; maintenance: 18.4M</a:t>
            </a:r>
          </a:p>
        </p:txBody>
      </p:sp>
      <p:sp>
        <p:nvSpPr>
          <p:cNvPr id="13" name="TextBox 12"/>
          <p:cNvSpPr txBox="1"/>
          <p:nvPr/>
        </p:nvSpPr>
        <p:spPr>
          <a:xfrm>
            <a:off x="8229600" y="2173910"/>
            <a:ext cx="3310128" cy="26974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900"/>
              </a:spcAft>
              <a:buClrTx/>
              <a:buSzTx/>
              <a:buFontTx/>
              <a:buNone/>
              <a:tabLst/>
              <a:defRPr sz="1420" b="1">
                <a:solidFill>
                  <a:srgbClr val="307858"/>
                </a:solidFill>
                <a:latin typeface="Aptos"/>
              </a:defRPr>
            </a:pPr>
            <a:r>
              <a:rPr kumimoji="0" sz="1420" b="1" i="0" u="none" strike="noStrike" kern="1200" cap="none" spc="0" normalizeH="0" baseline="0" noProof="0" dirty="0">
                <a:ln>
                  <a:noFill/>
                </a:ln>
                <a:solidFill>
                  <a:srgbClr val="307858"/>
                </a:solidFill>
                <a:effectLst/>
                <a:uLnTx/>
                <a:uFillTx/>
                <a:latin typeface="Century Gothic" panose="020B0502020202020204" pitchFamily="34" charset="0"/>
                <a:ea typeface="+mn-ea"/>
                <a:cs typeface="+mn-cs"/>
              </a:rPr>
              <a:t>2027 is </a:t>
            </a:r>
            <a:r>
              <a:rPr kumimoji="0" sz="1420" b="1" i="0" u="none" strike="noStrike" kern="1200" cap="none" spc="0" normalizeH="0" baseline="0" noProof="0" dirty="0">
                <a:ln>
                  <a:noFill/>
                </a:ln>
                <a:solidFill>
                  <a:srgbClr val="FF0000"/>
                </a:solidFill>
                <a:effectLst/>
                <a:uLnTx/>
                <a:uFillTx/>
                <a:latin typeface="Century Gothic" panose="020B0502020202020204" pitchFamily="34" charset="0"/>
                <a:ea typeface="+mn-ea"/>
                <a:cs typeface="+mn-cs"/>
              </a:rPr>
              <a:t>not</a:t>
            </a:r>
            <a:r>
              <a:rPr kumimoji="0" sz="1420" b="1" i="0" u="none" strike="noStrike" kern="1200" cap="none" spc="0" normalizeH="0" baseline="0" noProof="0" dirty="0">
                <a:ln>
                  <a:noFill/>
                </a:ln>
                <a:solidFill>
                  <a:srgbClr val="307858"/>
                </a:solidFill>
                <a:effectLst/>
                <a:uLnTx/>
                <a:uFillTx/>
                <a:latin typeface="Century Gothic" panose="020B0502020202020204" pitchFamily="34" charset="0"/>
                <a:ea typeface="+mn-ea"/>
                <a:cs typeface="+mn-cs"/>
              </a:rPr>
              <a:t> “more of the same”  it is a scale-up of the digital operating model.</a:t>
            </a:r>
          </a:p>
          <a:p>
            <a:pPr marL="0" marR="0" lvl="0" indent="0" algn="l" defTabSz="914400" rtl="0" eaLnBrk="1" fontAlgn="auto" latinLnBrk="0" hangingPunct="1">
              <a:lnSpc>
                <a:spcPct val="100000"/>
              </a:lnSpc>
              <a:spcBef>
                <a:spcPts val="0"/>
              </a:spcBef>
              <a:spcAft>
                <a:spcPts val="900"/>
              </a:spcAft>
              <a:buClrTx/>
              <a:buSzTx/>
              <a:buFontTx/>
              <a:buNone/>
              <a:tabLst/>
              <a:defRPr sz="1300" b="0">
                <a:solidFill>
                  <a:srgbClr val="2D3237"/>
                </a:solidFill>
                <a:latin typeface="Aptos"/>
              </a:defRPr>
            </a:pPr>
            <a:r>
              <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156 distributor depots to be integrated/onboarded</a:t>
            </a:r>
            <a:r>
              <a:rPr kumimoji="0" lang="en-US"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and sustained</a:t>
            </a:r>
            <a:endPar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sz="1300" b="0">
                <a:solidFill>
                  <a:srgbClr val="2D3237"/>
                </a:solidFill>
                <a:latin typeface="Aptos"/>
              </a:defRPr>
            </a:pPr>
            <a:r>
              <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Daily BI reporting must remain reliable &amp; uninterrupted</a:t>
            </a:r>
          </a:p>
          <a:p>
            <a:pPr marL="0" marR="0" lvl="0" indent="0" algn="l" defTabSz="914400" rtl="0" eaLnBrk="1" fontAlgn="auto" latinLnBrk="0" hangingPunct="1">
              <a:lnSpc>
                <a:spcPct val="100000"/>
              </a:lnSpc>
              <a:spcBef>
                <a:spcPts val="0"/>
              </a:spcBef>
              <a:spcAft>
                <a:spcPts val="900"/>
              </a:spcAft>
              <a:buClrTx/>
              <a:buSzTx/>
              <a:buFontTx/>
              <a:buNone/>
              <a:tabLst/>
              <a:defRPr sz="1300" b="0">
                <a:solidFill>
                  <a:srgbClr val="2D3237"/>
                </a:solidFill>
                <a:latin typeface="Aptos"/>
              </a:defRPr>
            </a:pPr>
            <a:r>
              <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Protect continuity through backups, documentation &amp; support</a:t>
            </a:r>
          </a:p>
          <a:p>
            <a:pPr marL="0" marR="0" lvl="0" indent="0" algn="l" defTabSz="914400" rtl="0" eaLnBrk="1" fontAlgn="auto" latinLnBrk="0" hangingPunct="1">
              <a:lnSpc>
                <a:spcPct val="100000"/>
              </a:lnSpc>
              <a:spcBef>
                <a:spcPts val="0"/>
              </a:spcBef>
              <a:spcAft>
                <a:spcPts val="900"/>
              </a:spcAft>
              <a:buClrTx/>
              <a:buSzTx/>
              <a:buFontTx/>
              <a:buNone/>
              <a:tabLst/>
              <a:defRPr sz="1300" b="0">
                <a:solidFill>
                  <a:srgbClr val="2D3237"/>
                </a:solidFill>
                <a:latin typeface="Aptos"/>
              </a:defRPr>
            </a:pPr>
            <a:r>
              <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Eliminate single-person dependency</a:t>
            </a:r>
          </a:p>
        </p:txBody>
      </p:sp>
      <p:sp>
        <p:nvSpPr>
          <p:cNvPr id="14" name="Rounded Rectangle 13"/>
          <p:cNvSpPr/>
          <p:nvPr/>
        </p:nvSpPr>
        <p:spPr>
          <a:xfrm>
            <a:off x="411480" y="5475073"/>
            <a:ext cx="11356848" cy="658368"/>
          </a:xfrm>
          <a:prstGeom prst="roundRect">
            <a:avLst/>
          </a:prstGeom>
          <a:solidFill>
            <a:srgbClr val="E8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nvSpPr>
        <p:spPr>
          <a:xfrm>
            <a:off x="640080" y="5621377"/>
            <a:ext cx="1367682"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42B46"/>
                </a:solidFill>
                <a:effectLst/>
                <a:uLnTx/>
                <a:uFillTx/>
                <a:latin typeface="Century Gothic" panose="020B0502020202020204" pitchFamily="34" charset="0"/>
                <a:ea typeface="+mn-ea"/>
                <a:cs typeface="+mn-cs"/>
              </a:rPr>
              <a:t>2027 PRIORITIES</a:t>
            </a:r>
            <a:r>
              <a:rPr kumimoji="0" lang="en-US" sz="1200" b="1" i="0" u="none" strike="noStrike" kern="1200" cap="none" spc="0" normalizeH="0" baseline="0" noProof="0" dirty="0">
                <a:ln>
                  <a:noFill/>
                </a:ln>
                <a:solidFill>
                  <a:srgbClr val="142B46"/>
                </a:solidFill>
                <a:effectLst/>
                <a:uLnTx/>
                <a:uFillTx/>
                <a:latin typeface="Century Gothic" panose="020B0502020202020204" pitchFamily="34" charset="0"/>
                <a:ea typeface="+mn-ea"/>
                <a:cs typeface="+mn-cs"/>
              </a:rPr>
              <a:t>:</a:t>
            </a:r>
            <a:endParaRPr kumimoji="0" sz="1200" b="1" i="0" u="none" strike="noStrike" kern="1200" cap="none" spc="0" normalizeH="0" baseline="0" noProof="0" dirty="0">
              <a:ln>
                <a:noFill/>
              </a:ln>
              <a:solidFill>
                <a:srgbClr val="142B46"/>
              </a:solidFill>
              <a:effectLst/>
              <a:uLnTx/>
              <a:uFillTx/>
              <a:latin typeface="Century Gothic" panose="020B0502020202020204" pitchFamily="34" charset="0"/>
              <a:ea typeface="+mn-ea"/>
              <a:cs typeface="+mn-cs"/>
            </a:endParaRPr>
          </a:p>
        </p:txBody>
      </p:sp>
      <p:sp>
        <p:nvSpPr>
          <p:cNvPr id="16" name="TextBox 15"/>
          <p:cNvSpPr txBox="1"/>
          <p:nvPr/>
        </p:nvSpPr>
        <p:spPr>
          <a:xfrm>
            <a:off x="2425399" y="5593945"/>
            <a:ext cx="1047082" cy="29238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RELIABILITY</a:t>
            </a:r>
          </a:p>
        </p:txBody>
      </p:sp>
      <p:sp>
        <p:nvSpPr>
          <p:cNvPr id="17" name="TextBox 16"/>
          <p:cNvSpPr txBox="1"/>
          <p:nvPr/>
        </p:nvSpPr>
        <p:spPr>
          <a:xfrm>
            <a:off x="4479627" y="5593945"/>
            <a:ext cx="1144865" cy="29238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CONTINUITY</a:t>
            </a:r>
          </a:p>
        </p:txBody>
      </p:sp>
      <p:sp>
        <p:nvSpPr>
          <p:cNvPr id="18" name="TextBox 17"/>
          <p:cNvSpPr txBox="1"/>
          <p:nvPr/>
        </p:nvSpPr>
        <p:spPr>
          <a:xfrm>
            <a:off x="6633240" y="5593945"/>
            <a:ext cx="1043876" cy="29238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CAPABILTY</a:t>
            </a:r>
            <a:endParaRPr kumimoji="0"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endParaRPr>
          </a:p>
        </p:txBody>
      </p:sp>
      <p:sp>
        <p:nvSpPr>
          <p:cNvPr id="19" name="TextBox 18"/>
          <p:cNvSpPr txBox="1"/>
          <p:nvPr/>
        </p:nvSpPr>
        <p:spPr>
          <a:xfrm>
            <a:off x="8655476" y="5593945"/>
            <a:ext cx="1388522" cy="29238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SUSTAINABILITY</a:t>
            </a:r>
            <a:endParaRPr kumimoji="0"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endParaRPr>
          </a:p>
        </p:txBody>
      </p:sp>
      <p:sp>
        <p:nvSpPr>
          <p:cNvPr id="20" name="TextBox 19"/>
          <p:cNvSpPr txBox="1"/>
          <p:nvPr/>
        </p:nvSpPr>
        <p:spPr>
          <a:xfrm>
            <a:off x="1379341" y="6094341"/>
            <a:ext cx="9265677" cy="26930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ENABLERS  |  Odoo Kenya Master Knowledge Transfer  •  Documentation &amp; Backup Framework  •  Additional BI/Odoo Capacity</a:t>
            </a:r>
          </a:p>
        </p:txBody>
      </p:sp>
      <p:sp>
        <p:nvSpPr>
          <p:cNvPr id="21" name="Rounded Rectangle 20"/>
          <p:cNvSpPr/>
          <p:nvPr/>
        </p:nvSpPr>
        <p:spPr>
          <a:xfrm>
            <a:off x="411480" y="6400800"/>
            <a:ext cx="11356848" cy="347472"/>
          </a:xfrm>
          <a:prstGeom prst="roundRect">
            <a:avLst/>
          </a:prstGeom>
          <a:solidFill>
            <a:srgbClr val="14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
        <p:nvSpPr>
          <p:cNvPr id="22" name="TextBox 21"/>
          <p:cNvSpPr txBox="1"/>
          <p:nvPr/>
        </p:nvSpPr>
        <p:spPr>
          <a:xfrm>
            <a:off x="2409959" y="6441948"/>
            <a:ext cx="7332457" cy="253916"/>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168.5M RWF investment to scale Odoo–EBM</a:t>
            </a:r>
            <a:r>
              <a:rPr kumimoji="0" lang="en-US"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 S</a:t>
            </a: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ustain daily BI reporting </a:t>
            </a:r>
            <a:r>
              <a:rPr kumimoji="0" lang="en-US"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a:t>
            </a: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build a resilient</a:t>
            </a:r>
            <a:r>
              <a:rPr kumimoji="0" lang="en-US"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a:t>
            </a: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automated system</a:t>
            </a:r>
            <a:r>
              <a:rPr kumimoji="0" lang="en-US"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a:t>
            </a: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additive="base">
                                        <p:cTn id="77" dur="500" fill="hold"/>
                                        <p:tgtEl>
                                          <p:spTgt spid="19"/>
                                        </p:tgtEl>
                                        <p:attrNameLst>
                                          <p:attrName>ppt_x</p:attrName>
                                        </p:attrNameLst>
                                      </p:cBhvr>
                                      <p:tavLst>
                                        <p:tav tm="0">
                                          <p:val>
                                            <p:strVal val="#ppt_x"/>
                                          </p:val>
                                        </p:tav>
                                        <p:tav tm="100000">
                                          <p:val>
                                            <p:strVal val="#ppt_x"/>
                                          </p:val>
                                        </p:tav>
                                      </p:tavLst>
                                    </p:anim>
                                    <p:anim calcmode="lin" valueType="num">
                                      <p:cBhvr additive="base">
                                        <p:cTn id="7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animBg="1"/>
      <p:bldP spid="10" grpId="0"/>
      <p:bldP spid="11" grpId="0"/>
      <p:bldP spid="12" grpId="0"/>
      <p:bldP spid="13" grpId="0"/>
      <p:bldP spid="14" grpId="0" animBg="1"/>
      <p:bldP spid="15" grpId="0"/>
      <p:bldP spid="16" grpId="0"/>
      <p:bldP spid="17" grpId="0"/>
      <p:bldP spid="18" grpId="0"/>
      <p:bldP spid="19" grpId="0"/>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F8EDA-1C15-6615-EDE6-1AC8BA1944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A2044C-0241-2B1B-23C3-F296C2F0DDF8}"/>
              </a:ext>
            </a:extLst>
          </p:cNvPr>
          <p:cNvSpPr txBox="1"/>
          <p:nvPr/>
        </p:nvSpPr>
        <p:spPr>
          <a:xfrm>
            <a:off x="1984646" y="2182505"/>
            <a:ext cx="8539507" cy="1015663"/>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231D81"/>
                </a:solidFill>
                <a:effectLst/>
                <a:uLnTx/>
                <a:uFillTx/>
                <a:latin typeface="Garamond" panose="02020404030301010803" pitchFamily="18" charset="0"/>
                <a:ea typeface="+mn-ea"/>
                <a:cs typeface="+mn-cs"/>
              </a:rPr>
              <a:t>END</a:t>
            </a:r>
            <a:endParaRPr kumimoji="0" lang="en-US" sz="9600" b="1" i="0" u="none" strike="noStrike" kern="1200" cap="none" spc="0" normalizeH="0" baseline="0" noProof="0" dirty="0">
              <a:ln>
                <a:noFill/>
              </a:ln>
              <a:solidFill>
                <a:srgbClr val="231D81"/>
              </a:solidFill>
              <a:effectLst/>
              <a:uLnTx/>
              <a:uFillTx/>
              <a:latin typeface="Garamond" panose="02020404030301010803" pitchFamily="18" charset="0"/>
              <a:ea typeface="+mn-ea"/>
              <a:cs typeface="+mn-cs"/>
            </a:endParaRPr>
          </a:p>
        </p:txBody>
      </p:sp>
    </p:spTree>
    <p:extLst>
      <p:ext uri="{BB962C8B-B14F-4D97-AF65-F5344CB8AC3E}">
        <p14:creationId xmlns:p14="http://schemas.microsoft.com/office/powerpoint/2010/main" val="2546641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62D81A7F-5D05-41DC-9C59-EF2472CD6F20}"/>
              </a:ext>
            </a:extLst>
          </p:cNvPr>
          <p:cNvSpPr txBox="1">
            <a:spLocks/>
          </p:cNvSpPr>
          <p:nvPr/>
        </p:nvSpPr>
        <p:spPr>
          <a:xfrm>
            <a:off x="418322" y="1258528"/>
            <a:ext cx="11355355" cy="5289755"/>
          </a:xfrm>
          <a:prstGeom prst="rect">
            <a:avLst/>
          </a:prstGeom>
        </p:spPr>
        <p:txBody>
          <a:bodyPr vert="horz" lIns="68580" tIns="34290" rIns="68580" bIns="34290" rtlCol="0" anchor="t">
            <a:noAutofit/>
          </a:bodyPr>
          <a:lstStyle>
            <a:lvl1pPr algn="ctr" defTabSz="457200" rtl="0" eaLnBrk="1" latinLnBrk="0" hangingPunct="1">
              <a:spcBef>
                <a:spcPct val="0"/>
              </a:spcBef>
              <a:buNone/>
              <a:defRPr sz="8000" b="0" i="0" kern="1200">
                <a:solidFill>
                  <a:srgbClr val="D22418"/>
                </a:solidFill>
                <a:latin typeface="HelveticaNeueLT Std Bold"/>
                <a:ea typeface="+mj-ea"/>
                <a:cs typeface="HelveticaNeueLT Std Bold"/>
              </a:defRPr>
            </a:lvl1pPr>
          </a:lstStyle>
          <a:p>
            <a:pPr marL="0" marR="0" lvl="0" indent="0" algn="ctr" defTabSz="457200" rtl="0" eaLnBrk="1" fontAlgn="auto" latinLnBrk="0" hangingPunct="1">
              <a:lnSpc>
                <a:spcPct val="15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endParaRPr>
          </a:p>
          <a:p>
            <a:pPr marL="0" marR="0" lvl="0" indent="0" algn="ctr" defTabSz="457200" rtl="0" eaLnBrk="1" fontAlgn="auto" latinLnBrk="0" hangingPunct="1">
              <a:lnSpc>
                <a:spcPct val="15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TRADE MARKETING</a:t>
            </a:r>
          </a:p>
          <a:p>
            <a:pPr marL="0" marR="0" lvl="0" indent="0" algn="ctr" defTabSz="457200" rtl="0" eaLnBrk="1" fontAlgn="auto" latinLnBrk="0" hangingPunct="1">
              <a:lnSpc>
                <a:spcPct val="15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QRM</a:t>
            </a:r>
            <a:r>
              <a:rPr lang="en-US" sz="20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Calibri" panose="020F0502020204030204" pitchFamily="34" charset="0"/>
              </a:rPr>
              <a:t> </a:t>
            </a:r>
            <a:r>
              <a:rPr kumimoji="0" lang="en-US" sz="2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October</a:t>
            </a:r>
            <a:r>
              <a:rPr lang="en-US" sz="20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Calibri" panose="020F0502020204030204" pitchFamily="34" charset="0"/>
              </a:rPr>
              <a:t> </a:t>
            </a:r>
            <a:r>
              <a:rPr kumimoji="0" lang="en-US" sz="2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2026</a:t>
            </a:r>
            <a:endPar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35956954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E2BB6-D312-FB50-D4A5-FF29DAB0CB09}"/>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FBB583CF-1E6E-D8AB-0A9A-23E69D50524E}"/>
              </a:ext>
            </a:extLst>
          </p:cNvPr>
          <p:cNvSpPr txBox="1">
            <a:spLocks/>
          </p:cNvSpPr>
          <p:nvPr/>
        </p:nvSpPr>
        <p:spPr>
          <a:xfrm>
            <a:off x="177156" y="9833"/>
            <a:ext cx="11837687" cy="698205"/>
          </a:xfrm>
          <a:prstGeom prst="rect">
            <a:avLst/>
          </a:prstGeom>
        </p:spPr>
        <p:txBody>
          <a:bodyPr>
            <a:noAutofit/>
          </a:bodyPr>
          <a:lstStyle>
            <a:defPPr>
              <a:defRPr lang="en-US"/>
            </a:defPPr>
            <a:lvl1pPr algn="ctr" defTabSz="914400">
              <a:lnSpc>
                <a:spcPct val="80000"/>
              </a:lnSpc>
              <a:spcBef>
                <a:spcPct val="0"/>
              </a:spcBef>
              <a:spcAft>
                <a:spcPts val="600"/>
              </a:spcAft>
              <a:buNone/>
              <a:defRPr sz="2700" b="1">
                <a:latin typeface="Aptos" panose="020B0004020202020204" pitchFamily="34" charset="0"/>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nl-NL"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QRM AGENDA</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nl-NL"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OCTOBER 2026</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15" name="Rectangle 14">
            <a:extLst>
              <a:ext uri="{FF2B5EF4-FFF2-40B4-BE49-F238E27FC236}">
                <a16:creationId xmlns:a16="http://schemas.microsoft.com/office/drawing/2014/main" id="{198BAFEF-7334-AE90-1310-0D780DDC2E90}"/>
              </a:ext>
            </a:extLst>
          </p:cNvPr>
          <p:cNvSpPr/>
          <p:nvPr/>
        </p:nvSpPr>
        <p:spPr>
          <a:xfrm>
            <a:off x="464127" y="835857"/>
            <a:ext cx="11263746" cy="5770217"/>
          </a:xfrm>
          <a:prstGeom prst="rect">
            <a:avLst/>
          </a:prstGeom>
          <a:solidFill>
            <a:schemeClr val="bg1"/>
          </a:solidFill>
          <a:ln w="9525" cap="sq" cmpd="sng" algn="ctr">
            <a:solidFill>
              <a:schemeClr val="tx1"/>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marR="0" lvl="0" indent="-742950" algn="l" defTabSz="914400" rtl="0" eaLnBrk="1" fontAlgn="auto" latinLnBrk="0" hangingPunct="1">
              <a:lnSpc>
                <a:spcPct val="100000"/>
              </a:lnSpc>
              <a:spcBef>
                <a:spcPts val="300"/>
              </a:spcBef>
              <a:spcAft>
                <a:spcPts val="300"/>
              </a:spcAft>
              <a:buClrTx/>
              <a:buSzTx/>
              <a:buFontTx/>
              <a:buAutoNum type="arabicPeriod"/>
              <a:tabLst/>
              <a:defRPr/>
            </a:pPr>
            <a:r>
              <a:rPr kumimoji="0" lang="en-RW"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Q3 2026</a:t>
            </a: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 </a:t>
            </a:r>
            <a:r>
              <a:rPr kumimoji="0" lang="en-RW"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PRIORITY ACTIVIT</a:t>
            </a: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IES REPORT </a:t>
            </a:r>
            <a:r>
              <a:rPr kumimoji="0" lang="nl-NL"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a:t>
            </a: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 </a:t>
            </a:r>
            <a:r>
              <a:rPr kumimoji="0" lang="en-RW" sz="2700" b="0"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What did we deliver?</a:t>
            </a:r>
            <a:endParaRPr kumimoji="0" lang="en-US" sz="27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a:p>
            <a:pPr marL="742950" marR="0" lvl="0" indent="-742950" algn="l" defTabSz="914400" rtl="0" eaLnBrk="1" fontAlgn="auto" latinLnBrk="0" hangingPunct="1">
              <a:lnSpc>
                <a:spcPct val="100000"/>
              </a:lnSpc>
              <a:spcBef>
                <a:spcPts val="300"/>
              </a:spcBef>
              <a:spcAft>
                <a:spcPts val="300"/>
              </a:spcAft>
              <a:buClrTx/>
              <a:buSzTx/>
              <a:buFontTx/>
              <a:buAutoNum type="arabicPeriod"/>
              <a:tabLst/>
              <a:defRPr/>
            </a:pPr>
            <a:endPar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a:p>
            <a:pPr marL="742950" marR="0" lvl="0" indent="-742950" algn="l" defTabSz="914400" rtl="0" eaLnBrk="1" fontAlgn="auto" latinLnBrk="0" hangingPunct="1">
              <a:lnSpc>
                <a:spcPct val="100000"/>
              </a:lnSpc>
              <a:spcBef>
                <a:spcPts val="300"/>
              </a:spcBef>
              <a:spcAft>
                <a:spcPts val="300"/>
              </a:spcAft>
              <a:buClrTx/>
              <a:buSzTx/>
              <a:buFontTx/>
              <a:buAutoNum type="arabicPeriod"/>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Q4 2026: PRIORITY ACTIVITIES PLAN </a:t>
            </a:r>
            <a:r>
              <a:rPr kumimoji="0" lang="nl-NL"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 </a:t>
            </a:r>
            <a:r>
              <a:rPr kumimoji="0" lang="en-RW" sz="2700" b="0"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What must we deliver to close 2026 strongly?</a:t>
            </a:r>
            <a:endParaRPr kumimoji="0" lang="en-US" sz="2700" b="0" i="1"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742950" marR="0" lvl="0" indent="-742950" algn="l" defTabSz="914400" rtl="0" eaLnBrk="1" fontAlgn="auto" latinLnBrk="0" hangingPunct="1">
              <a:lnSpc>
                <a:spcPct val="100000"/>
              </a:lnSpc>
              <a:spcBef>
                <a:spcPts val="300"/>
              </a:spcBef>
              <a:spcAft>
                <a:spcPts val="300"/>
              </a:spcAft>
              <a:buClrTx/>
              <a:buSzTx/>
              <a:buFontTx/>
              <a:buAutoNum type="arabicPeriod"/>
              <a:tabLst/>
              <a:defRPr/>
            </a:pPr>
            <a:endParaRPr kumimoji="0" lang="en-US" sz="27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a:p>
            <a:pPr marL="742950" marR="0" lvl="0" indent="-742950" algn="l" defTabSz="914400" rtl="0" eaLnBrk="1" fontAlgn="auto" latinLnBrk="0" hangingPunct="1">
              <a:lnSpc>
                <a:spcPct val="100000"/>
              </a:lnSpc>
              <a:spcBef>
                <a:spcPts val="300"/>
              </a:spcBef>
              <a:spcAft>
                <a:spcPts val="300"/>
              </a:spcAft>
              <a:buClrTx/>
              <a:buSzTx/>
              <a:buFontTx/>
              <a:buAutoNum type="arabicPeriod"/>
              <a:tabLst/>
              <a:defRPr/>
            </a:pPr>
            <a:r>
              <a:rPr kumimoji="0" lang="nl-NL"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HOW TO WIN IN 2027 – </a:t>
            </a:r>
            <a:r>
              <a:rPr kumimoji="0" lang="nl-NL" sz="2700" b="0"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Trade Marketing Strategy</a:t>
            </a:r>
          </a:p>
          <a:p>
            <a:pPr marL="742950" marR="0" lvl="0" indent="-742950" algn="l" defTabSz="914400" rtl="0" eaLnBrk="1" fontAlgn="auto" latinLnBrk="0" hangingPunct="1">
              <a:lnSpc>
                <a:spcPct val="100000"/>
              </a:lnSpc>
              <a:spcBef>
                <a:spcPts val="300"/>
              </a:spcBef>
              <a:spcAft>
                <a:spcPts val="300"/>
              </a:spcAft>
              <a:buClrTx/>
              <a:buSzTx/>
              <a:buFontTx/>
              <a:buAutoNum type="arabicPeriod"/>
              <a:tabLst/>
              <a:defRPr/>
            </a:pPr>
            <a:endParaRPr kumimoji="0" lang="nl-NL"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a:p>
            <a:pPr marL="742950" marR="0" lvl="0" indent="-742950" algn="l" defTabSz="914400" rtl="0" eaLnBrk="1" fontAlgn="auto" latinLnBrk="0" hangingPunct="1">
              <a:lnSpc>
                <a:spcPct val="100000"/>
              </a:lnSpc>
              <a:spcBef>
                <a:spcPts val="300"/>
              </a:spcBef>
              <a:spcAft>
                <a:spcPts val="300"/>
              </a:spcAft>
              <a:buClrTx/>
              <a:buSzTx/>
              <a:buFontTx/>
              <a:buAutoNum type="arabicPeriod"/>
              <a:tabLst/>
              <a:defRPr/>
            </a:pPr>
            <a:r>
              <a:rPr kumimoji="0" lang="nl-NL" sz="27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2027 BUDGET ALLOCATION – </a:t>
            </a:r>
            <a:r>
              <a:rPr kumimoji="0" lang="en-RW" sz="2700" b="0"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By SKU × Brand × Category × Activity</a:t>
            </a:r>
            <a:endParaRPr kumimoji="0" lang="en-US" sz="2700" b="0" i="1"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459619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E4FF3-62E7-382A-E940-DB682A81B50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C3D041A-C096-25AC-BB6A-C956444F6E32}"/>
              </a:ext>
            </a:extLst>
          </p:cNvPr>
          <p:cNvSpPr/>
          <p:nvPr/>
        </p:nvSpPr>
        <p:spPr>
          <a:xfrm>
            <a:off x="528629" y="803641"/>
            <a:ext cx="5059689" cy="306467"/>
          </a:xfrm>
          <a:prstGeom prst="roundRect">
            <a:avLst/>
          </a:prstGeom>
          <a:solidFill>
            <a:srgbClr val="FFC000"/>
          </a:solidFill>
          <a:ln>
            <a:solidFill>
              <a:schemeClr val="tx1"/>
            </a:solidFill>
          </a:ln>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 Actual NND</a:t>
            </a:r>
            <a:endParaRPr kumimoji="0" lang="en-UK"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cxnSp>
        <p:nvCxnSpPr>
          <p:cNvPr id="3" name="Straight Connector 2">
            <a:extLst>
              <a:ext uri="{FF2B5EF4-FFF2-40B4-BE49-F238E27FC236}">
                <a16:creationId xmlns:a16="http://schemas.microsoft.com/office/drawing/2014/main" id="{04AECF01-ECAD-E36A-8FB6-8F4D91A5CBC1}"/>
              </a:ext>
            </a:extLst>
          </p:cNvPr>
          <p:cNvCxnSpPr>
            <a:cxnSpLocks/>
          </p:cNvCxnSpPr>
          <p:nvPr/>
        </p:nvCxnSpPr>
        <p:spPr>
          <a:xfrm>
            <a:off x="6124725" y="885327"/>
            <a:ext cx="0" cy="585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F88E9524-125F-343E-A6D3-2849B3574419}"/>
              </a:ext>
            </a:extLst>
          </p:cNvPr>
          <p:cNvSpPr txBox="1">
            <a:spLocks/>
          </p:cNvSpPr>
          <p:nvPr/>
        </p:nvSpPr>
        <p:spPr>
          <a:xfrm>
            <a:off x="205882" y="56731"/>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EXECUTION REPORT – Q3</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AVAILABILITY &amp; AFFORDABILITY: </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did we deliver?</a:t>
            </a:r>
            <a:endParaRPr kumimoji="0" lang="en-US" sz="18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a:p>
            <a:pPr marL="0" marR="0" lvl="0" indent="0" algn="ctr" defTabSz="914400" rtl="0" eaLnBrk="1" fontAlgn="auto" latinLnBrk="0" hangingPunct="1">
              <a:lnSpc>
                <a:spcPct val="80000"/>
              </a:lnSpc>
              <a:spcBef>
                <a:spcPct val="0"/>
              </a:spcBef>
              <a:spcAft>
                <a:spcPts val="60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5" name="Rectangle: Rounded Corners 4">
            <a:extLst>
              <a:ext uri="{FF2B5EF4-FFF2-40B4-BE49-F238E27FC236}">
                <a16:creationId xmlns:a16="http://schemas.microsoft.com/office/drawing/2014/main" id="{FBD853C8-D150-8763-3EBC-9ABB278DDA4A}"/>
              </a:ext>
            </a:extLst>
          </p:cNvPr>
          <p:cNvSpPr/>
          <p:nvPr/>
        </p:nvSpPr>
        <p:spPr>
          <a:xfrm>
            <a:off x="6661133" y="803640"/>
            <a:ext cx="5059689" cy="306467"/>
          </a:xfrm>
          <a:prstGeom prst="roundRect">
            <a:avLst/>
          </a:prstGeom>
          <a:solidFill>
            <a:srgbClr val="FFC000"/>
          </a:solidFill>
          <a:ln>
            <a:solidFill>
              <a:schemeClr val="tx1"/>
            </a:solidFill>
          </a:ln>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AFFORDABILITY: Benchmarking vs the Competition</a:t>
            </a:r>
            <a:endParaRPr kumimoji="0" lang="en-UK"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graphicFrame>
        <p:nvGraphicFramePr>
          <p:cNvPr id="6" name="Chart 5">
            <a:extLst>
              <a:ext uri="{FF2B5EF4-FFF2-40B4-BE49-F238E27FC236}">
                <a16:creationId xmlns:a16="http://schemas.microsoft.com/office/drawing/2014/main" id="{7698E7B3-9C97-2CE5-37FA-3E5586EEC3E9}"/>
              </a:ext>
            </a:extLst>
          </p:cNvPr>
          <p:cNvGraphicFramePr>
            <a:graphicFrameLocks/>
          </p:cNvGraphicFramePr>
          <p:nvPr/>
        </p:nvGraphicFramePr>
        <p:xfrm>
          <a:off x="236320" y="1260753"/>
          <a:ext cx="5644311" cy="203651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7698E7B3-9C97-2CE5-37FA-3E5586EEC3E9}"/>
              </a:ext>
            </a:extLst>
          </p:cNvPr>
          <p:cNvGraphicFramePr>
            <a:graphicFrameLocks/>
          </p:cNvGraphicFramePr>
          <p:nvPr/>
        </p:nvGraphicFramePr>
        <p:xfrm>
          <a:off x="236320" y="3429000"/>
          <a:ext cx="5644310" cy="203652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7D5886C2-BB05-ACD1-3799-8D82DB54D43C}"/>
              </a:ext>
            </a:extLst>
          </p:cNvPr>
          <p:cNvSpPr/>
          <p:nvPr/>
        </p:nvSpPr>
        <p:spPr>
          <a:xfrm>
            <a:off x="236319" y="5597247"/>
            <a:ext cx="5644311" cy="994459"/>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US"/>
            </a:defPPr>
            <a:lvl1pPr marL="0" indent="0" algn="l" defTabSz="457200" rtl="0" eaLnBrk="1" latinLnBrk="0" hangingPunct="1">
              <a:defRPr sz="1800" kern="1200">
                <a:solidFill>
                  <a:sysClr val="window" lastClr="FFFFFF"/>
                </a:solidFill>
                <a:latin typeface="Calibri" panose="020F0502020204030204"/>
                <a:ea typeface="+mn-ea"/>
                <a:cs typeface="+mn-cs"/>
              </a:defRPr>
            </a:lvl1pPr>
            <a:lvl2pPr marL="457200" indent="0" algn="l" defTabSz="457200" rtl="0" eaLnBrk="1" latinLnBrk="0" hangingPunct="1">
              <a:defRPr sz="1800" kern="1200">
                <a:solidFill>
                  <a:sysClr val="window" lastClr="FFFFFF"/>
                </a:solidFill>
                <a:latin typeface="Calibri" panose="020F0502020204030204"/>
                <a:ea typeface="+mn-ea"/>
                <a:cs typeface="+mn-cs"/>
              </a:defRPr>
            </a:lvl2pPr>
            <a:lvl3pPr marL="914400" indent="0" algn="l" defTabSz="457200" rtl="0" eaLnBrk="1" latinLnBrk="0" hangingPunct="1">
              <a:defRPr sz="1800" kern="1200">
                <a:solidFill>
                  <a:sysClr val="window" lastClr="FFFFFF"/>
                </a:solidFill>
                <a:latin typeface="Calibri" panose="020F0502020204030204"/>
                <a:ea typeface="+mn-ea"/>
                <a:cs typeface="+mn-cs"/>
              </a:defRPr>
            </a:lvl3pPr>
            <a:lvl4pPr marL="1371600" indent="0" algn="l" defTabSz="457200" rtl="0" eaLnBrk="1" latinLnBrk="0" hangingPunct="1">
              <a:defRPr sz="1800" kern="1200">
                <a:solidFill>
                  <a:sysClr val="window" lastClr="FFFFFF"/>
                </a:solidFill>
                <a:latin typeface="Calibri" panose="020F0502020204030204"/>
                <a:ea typeface="+mn-ea"/>
                <a:cs typeface="+mn-cs"/>
              </a:defRPr>
            </a:lvl4pPr>
            <a:lvl5pPr marL="1828800" indent="0" algn="l" defTabSz="457200" rtl="0" eaLnBrk="1" latinLnBrk="0" hangingPunct="1">
              <a:defRPr sz="1800" kern="1200">
                <a:solidFill>
                  <a:sysClr val="window" lastClr="FFFFFF"/>
                </a:solidFill>
                <a:latin typeface="Calibri" panose="020F0502020204030204"/>
                <a:ea typeface="+mn-ea"/>
                <a:cs typeface="+mn-cs"/>
              </a:defRPr>
            </a:lvl5pPr>
            <a:lvl6pPr marL="2286000" indent="0" algn="l" defTabSz="457200" rtl="0" eaLnBrk="1" latinLnBrk="0" hangingPunct="1">
              <a:defRPr sz="1800" kern="1200">
                <a:solidFill>
                  <a:sysClr val="window" lastClr="FFFFFF"/>
                </a:solidFill>
                <a:latin typeface="Calibri" panose="020F0502020204030204"/>
                <a:ea typeface="+mn-ea"/>
                <a:cs typeface="+mn-cs"/>
              </a:defRPr>
            </a:lvl6pPr>
            <a:lvl7pPr marL="2743200" indent="0" algn="l" defTabSz="457200" rtl="0" eaLnBrk="1" latinLnBrk="0" hangingPunct="1">
              <a:defRPr sz="1800" kern="1200">
                <a:solidFill>
                  <a:sysClr val="window" lastClr="FFFFFF"/>
                </a:solidFill>
                <a:latin typeface="Calibri" panose="020F0502020204030204"/>
                <a:ea typeface="+mn-ea"/>
                <a:cs typeface="+mn-cs"/>
              </a:defRPr>
            </a:lvl7pPr>
            <a:lvl8pPr marL="3200400" indent="0" algn="l" defTabSz="457200" rtl="0" eaLnBrk="1" latinLnBrk="0" hangingPunct="1">
              <a:defRPr sz="1800" kern="1200">
                <a:solidFill>
                  <a:sysClr val="window" lastClr="FFFFFF"/>
                </a:solidFill>
                <a:latin typeface="Calibri" panose="020F0502020204030204"/>
                <a:ea typeface="+mn-ea"/>
                <a:cs typeface="+mn-cs"/>
              </a:defRPr>
            </a:lvl8pPr>
            <a:lvl9pPr marL="3657600" indent="0" algn="l" defTabSz="457200" rtl="0" eaLnBrk="1" latinLnBrk="0" hangingPunct="1">
              <a:defRPr sz="1800" kern="1200">
                <a:solidFill>
                  <a:sysClr val="window" lastClr="FFFFFF"/>
                </a:solidFill>
                <a:latin typeface="Calibri" panose="020F0502020204030204"/>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Comments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Despite OOS situations, NND increased in August 2026, supported by door-to-door delivery by Sales Reps.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This indicates a clear shift from sell-in to sell-out.</a:t>
            </a:r>
          </a:p>
        </p:txBody>
      </p:sp>
      <p:graphicFrame>
        <p:nvGraphicFramePr>
          <p:cNvPr id="14" name="Chart 13">
            <a:extLst>
              <a:ext uri="{FF2B5EF4-FFF2-40B4-BE49-F238E27FC236}">
                <a16:creationId xmlns:a16="http://schemas.microsoft.com/office/drawing/2014/main" id="{38AFE6F5-933D-963F-F942-ACF179410898}"/>
              </a:ext>
            </a:extLst>
          </p:cNvPr>
          <p:cNvGraphicFramePr>
            <a:graphicFrameLocks/>
          </p:cNvGraphicFramePr>
          <p:nvPr/>
        </p:nvGraphicFramePr>
        <p:xfrm>
          <a:off x="6368820" y="1260752"/>
          <a:ext cx="5586858" cy="3399738"/>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EE147F6F-89D2-D9D8-5EFB-FA5A42D286B6}"/>
              </a:ext>
            </a:extLst>
          </p:cNvPr>
          <p:cNvSpPr txBox="1"/>
          <p:nvPr/>
        </p:nvSpPr>
        <p:spPr>
          <a:xfrm>
            <a:off x="6368819" y="4886632"/>
            <a:ext cx="5586853" cy="1705074"/>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RW"/>
            </a:defPPr>
            <a:lvl1pPr indent="0" defTabSz="457200">
              <a:defRPr sz="1200" b="1" u="sng">
                <a:solidFill>
                  <a:prstClr val="black"/>
                </a:solidFill>
                <a:latin typeface="Aptos" panose="020B0004020202020204" pitchFamily="34" charset="0"/>
              </a:defRPr>
            </a:lvl1pPr>
            <a:lvl2pPr indent="0" defTabSz="457200">
              <a:defRPr>
                <a:solidFill>
                  <a:sysClr val="window" lastClr="FFFFFF"/>
                </a:solidFill>
                <a:latin typeface="Calibri" panose="020F0502020204030204"/>
              </a:defRPr>
            </a:lvl2pPr>
            <a:lvl3pPr indent="0" defTabSz="457200">
              <a:defRPr>
                <a:solidFill>
                  <a:sysClr val="window" lastClr="FFFFFF"/>
                </a:solidFill>
                <a:latin typeface="Calibri" panose="020F0502020204030204"/>
              </a:defRPr>
            </a:lvl3pPr>
            <a:lvl4pPr indent="0" defTabSz="457200">
              <a:defRPr>
                <a:solidFill>
                  <a:sysClr val="window" lastClr="FFFFFF"/>
                </a:solidFill>
                <a:latin typeface="Calibri" panose="020F0502020204030204"/>
              </a:defRPr>
            </a:lvl4pPr>
            <a:lvl5pPr indent="0" defTabSz="457200">
              <a:defRPr>
                <a:solidFill>
                  <a:sysClr val="window" lastClr="FFFFFF"/>
                </a:solidFill>
                <a:latin typeface="Calibri" panose="020F0502020204030204"/>
              </a:defRPr>
            </a:lvl5pPr>
            <a:lvl6pPr indent="0" defTabSz="457200">
              <a:defRPr>
                <a:solidFill>
                  <a:sysClr val="window" lastClr="FFFFFF"/>
                </a:solidFill>
                <a:latin typeface="Calibri" panose="020F0502020204030204"/>
              </a:defRPr>
            </a:lvl6pPr>
            <a:lvl7pPr indent="0" defTabSz="457200">
              <a:defRPr>
                <a:solidFill>
                  <a:sysClr val="window" lastClr="FFFFFF"/>
                </a:solidFill>
                <a:latin typeface="Calibri" panose="020F0502020204030204"/>
              </a:defRPr>
            </a:lvl7pPr>
            <a:lvl8pPr indent="0" defTabSz="457200">
              <a:defRPr>
                <a:solidFill>
                  <a:sysClr val="window" lastClr="FFFFFF"/>
                </a:solidFill>
                <a:latin typeface="Calibri" panose="020F0502020204030204"/>
              </a:defRPr>
            </a:lvl8pPr>
            <a:lvl9pPr indent="0" defTabSz="457200">
              <a:defRPr>
                <a:solidFill>
                  <a:sysClr val="window" lastClr="FFFFFF"/>
                </a:solidFill>
                <a:latin typeface="Calibri" panose="020F050202020403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RW"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Key observation</a:t>
            </a:r>
            <a:endParaRPr kumimoji="0" lang="en-US"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Clear shift toward SBL being priced lower in outlets: 46% → 65% → 73%.</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Positive impact of team efforts: SBL’s “better price” positioning improved across visited outlets, while price parity declined to 28%.</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RW"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Affordability remains a key focus in this price-sensitive market.</a:t>
            </a:r>
          </a:p>
        </p:txBody>
      </p:sp>
    </p:spTree>
    <p:extLst>
      <p:ext uri="{BB962C8B-B14F-4D97-AF65-F5344CB8AC3E}">
        <p14:creationId xmlns:p14="http://schemas.microsoft.com/office/powerpoint/2010/main" val="2597729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7B44F-6608-E87A-DD03-9363ACB899A4}"/>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953094B-3269-DD81-3278-027EBCAB22FD}"/>
              </a:ext>
            </a:extLst>
          </p:cNvPr>
          <p:cNvCxnSpPr>
            <a:cxnSpLocks/>
          </p:cNvCxnSpPr>
          <p:nvPr/>
        </p:nvCxnSpPr>
        <p:spPr>
          <a:xfrm>
            <a:off x="6233652" y="782683"/>
            <a:ext cx="0" cy="59734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63354323-18FB-D825-1529-0DFECB628525}"/>
              </a:ext>
            </a:extLst>
          </p:cNvPr>
          <p:cNvSpPr txBox="1">
            <a:spLocks/>
          </p:cNvSpPr>
          <p:nvPr/>
        </p:nvSpPr>
        <p:spPr>
          <a:xfrm>
            <a:off x="205882" y="56731"/>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EXECUTION REPORT – Q3</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WORLD CUP ACTIVATION: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why was it successful</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US" sz="18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a:p>
            <a:pPr marL="0" marR="0" lvl="0" indent="0" algn="ctr" defTabSz="914400" rtl="0" eaLnBrk="1" fontAlgn="auto" latinLnBrk="0" hangingPunct="1">
              <a:lnSpc>
                <a:spcPct val="80000"/>
              </a:lnSpc>
              <a:spcBef>
                <a:spcPct val="0"/>
              </a:spcBef>
              <a:spcAft>
                <a:spcPts val="60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pic>
        <p:nvPicPr>
          <p:cNvPr id="11" name="Picture 10">
            <a:extLst>
              <a:ext uri="{FF2B5EF4-FFF2-40B4-BE49-F238E27FC236}">
                <a16:creationId xmlns:a16="http://schemas.microsoft.com/office/drawing/2014/main" id="{828B3273-BE6F-732B-AC98-23A1CAC724B9}"/>
              </a:ext>
            </a:extLst>
          </p:cNvPr>
          <p:cNvPicPr>
            <a:picLocks noChangeAspect="1"/>
          </p:cNvPicPr>
          <p:nvPr/>
        </p:nvPicPr>
        <p:blipFill>
          <a:blip r:embed="rId2"/>
          <a:stretch>
            <a:fillRect/>
          </a:stretch>
        </p:blipFill>
        <p:spPr>
          <a:xfrm>
            <a:off x="10793" y="800809"/>
            <a:ext cx="1344034" cy="1609120"/>
          </a:xfrm>
          <a:prstGeom prst="rect">
            <a:avLst/>
          </a:prstGeom>
        </p:spPr>
      </p:pic>
      <p:pic>
        <p:nvPicPr>
          <p:cNvPr id="13" name="Picture 51">
            <a:extLst>
              <a:ext uri="{FF2B5EF4-FFF2-40B4-BE49-F238E27FC236}">
                <a16:creationId xmlns:a16="http://schemas.microsoft.com/office/drawing/2014/main" id="{D744C435-6210-4324-A442-4BF7624DE3B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592875" y="791921"/>
            <a:ext cx="4402727" cy="29766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5" name="Picture 52">
            <a:extLst>
              <a:ext uri="{FF2B5EF4-FFF2-40B4-BE49-F238E27FC236}">
                <a16:creationId xmlns:a16="http://schemas.microsoft.com/office/drawing/2014/main" id="{6A6B4542-09C9-E323-F468-4C3E0C1B838C}"/>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0" y="2871694"/>
            <a:ext cx="1451887" cy="832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 name="TextBox 16">
            <a:extLst>
              <a:ext uri="{FF2B5EF4-FFF2-40B4-BE49-F238E27FC236}">
                <a16:creationId xmlns:a16="http://schemas.microsoft.com/office/drawing/2014/main" id="{9DA6D388-D81D-0B34-2F40-59CCDF9554E8}"/>
              </a:ext>
            </a:extLst>
          </p:cNvPr>
          <p:cNvSpPr txBox="1"/>
          <p:nvPr/>
        </p:nvSpPr>
        <p:spPr>
          <a:xfrm>
            <a:off x="3082" y="2553479"/>
            <a:ext cx="1309079" cy="3231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Calibri" panose="020F0502020204030204"/>
                <a:ea typeface="+mn-ea"/>
                <a:cs typeface="+mn-cs"/>
              </a:rPr>
              <a:t>LEGEND:</a:t>
            </a:r>
            <a:endParaRPr kumimoji="0" lang="en-RW" sz="15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F72E7F0-D33C-23CC-BCDB-A94C3C2D02DF}"/>
              </a:ext>
            </a:extLst>
          </p:cNvPr>
          <p:cNvSpPr/>
          <p:nvPr/>
        </p:nvSpPr>
        <p:spPr>
          <a:xfrm>
            <a:off x="127820" y="5240595"/>
            <a:ext cx="5867773" cy="1515568"/>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US"/>
            </a:defPPr>
            <a:lvl1pPr marL="0" indent="0" algn="l" defTabSz="457200" rtl="0" eaLnBrk="1" latinLnBrk="0" hangingPunct="1">
              <a:defRPr sz="1800" kern="1200">
                <a:solidFill>
                  <a:sysClr val="window" lastClr="FFFFFF"/>
                </a:solidFill>
                <a:latin typeface="Calibri" panose="020F0502020204030204"/>
                <a:ea typeface="+mn-ea"/>
                <a:cs typeface="+mn-cs"/>
              </a:defRPr>
            </a:lvl1pPr>
            <a:lvl2pPr marL="457200" indent="0" algn="l" defTabSz="457200" rtl="0" eaLnBrk="1" latinLnBrk="0" hangingPunct="1">
              <a:defRPr sz="1800" kern="1200">
                <a:solidFill>
                  <a:sysClr val="window" lastClr="FFFFFF"/>
                </a:solidFill>
                <a:latin typeface="Calibri" panose="020F0502020204030204"/>
                <a:ea typeface="+mn-ea"/>
                <a:cs typeface="+mn-cs"/>
              </a:defRPr>
            </a:lvl2pPr>
            <a:lvl3pPr marL="914400" indent="0" algn="l" defTabSz="457200" rtl="0" eaLnBrk="1" latinLnBrk="0" hangingPunct="1">
              <a:defRPr sz="1800" kern="1200">
                <a:solidFill>
                  <a:sysClr val="window" lastClr="FFFFFF"/>
                </a:solidFill>
                <a:latin typeface="Calibri" panose="020F0502020204030204"/>
                <a:ea typeface="+mn-ea"/>
                <a:cs typeface="+mn-cs"/>
              </a:defRPr>
            </a:lvl3pPr>
            <a:lvl4pPr marL="1371600" indent="0" algn="l" defTabSz="457200" rtl="0" eaLnBrk="1" latinLnBrk="0" hangingPunct="1">
              <a:defRPr sz="1800" kern="1200">
                <a:solidFill>
                  <a:sysClr val="window" lastClr="FFFFFF"/>
                </a:solidFill>
                <a:latin typeface="Calibri" panose="020F0502020204030204"/>
                <a:ea typeface="+mn-ea"/>
                <a:cs typeface="+mn-cs"/>
              </a:defRPr>
            </a:lvl4pPr>
            <a:lvl5pPr marL="1828800" indent="0" algn="l" defTabSz="457200" rtl="0" eaLnBrk="1" latinLnBrk="0" hangingPunct="1">
              <a:defRPr sz="1800" kern="1200">
                <a:solidFill>
                  <a:sysClr val="window" lastClr="FFFFFF"/>
                </a:solidFill>
                <a:latin typeface="Calibri" panose="020F0502020204030204"/>
                <a:ea typeface="+mn-ea"/>
                <a:cs typeface="+mn-cs"/>
              </a:defRPr>
            </a:lvl5pPr>
            <a:lvl6pPr marL="2286000" indent="0" algn="l" defTabSz="457200" rtl="0" eaLnBrk="1" latinLnBrk="0" hangingPunct="1">
              <a:defRPr sz="1800" kern="1200">
                <a:solidFill>
                  <a:sysClr val="window" lastClr="FFFFFF"/>
                </a:solidFill>
                <a:latin typeface="Calibri" panose="020F0502020204030204"/>
                <a:ea typeface="+mn-ea"/>
                <a:cs typeface="+mn-cs"/>
              </a:defRPr>
            </a:lvl6pPr>
            <a:lvl7pPr marL="2743200" indent="0" algn="l" defTabSz="457200" rtl="0" eaLnBrk="1" latinLnBrk="0" hangingPunct="1">
              <a:defRPr sz="1800" kern="1200">
                <a:solidFill>
                  <a:sysClr val="window" lastClr="FFFFFF"/>
                </a:solidFill>
                <a:latin typeface="Calibri" panose="020F0502020204030204"/>
                <a:ea typeface="+mn-ea"/>
                <a:cs typeface="+mn-cs"/>
              </a:defRPr>
            </a:lvl7pPr>
            <a:lvl8pPr marL="3200400" indent="0" algn="l" defTabSz="457200" rtl="0" eaLnBrk="1" latinLnBrk="0" hangingPunct="1">
              <a:defRPr sz="1800" kern="1200">
                <a:solidFill>
                  <a:sysClr val="window" lastClr="FFFFFF"/>
                </a:solidFill>
                <a:latin typeface="Calibri" panose="020F0502020204030204"/>
                <a:ea typeface="+mn-ea"/>
                <a:cs typeface="+mn-cs"/>
              </a:defRPr>
            </a:lvl8pPr>
            <a:lvl9pPr marL="3657600" indent="0" algn="l" defTabSz="457200" rtl="0" eaLnBrk="1" latinLnBrk="0" hangingPunct="1">
              <a:defRPr sz="1800" kern="1200">
                <a:solidFill>
                  <a:sysClr val="window" lastClr="FFFFFF"/>
                </a:solidFill>
                <a:latin typeface="Calibri" panose="020F0502020204030204"/>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Key Observations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As from July, Skol Malt started to register a positive trend Vs LY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Skol Malt volume increased from 1 to 4 crates/day/POS. Total SBL portfolio sales increased from 4 to 6 crates/day/POS.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Market share in regular POS activated during the FIFA World Cup increased by 6 points, from 27% to 33%.</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Market share in mini-villages increased by 10 points, from 27% to 37%.</a:t>
            </a:r>
          </a:p>
        </p:txBody>
      </p:sp>
      <p:graphicFrame>
        <p:nvGraphicFramePr>
          <p:cNvPr id="20" name="Table 19">
            <a:extLst>
              <a:ext uri="{FF2B5EF4-FFF2-40B4-BE49-F238E27FC236}">
                <a16:creationId xmlns:a16="http://schemas.microsoft.com/office/drawing/2014/main" id="{51FBE01E-3B1F-8C60-0C67-7DDAC6F1028C}"/>
              </a:ext>
            </a:extLst>
          </p:cNvPr>
          <p:cNvGraphicFramePr>
            <a:graphicFrameLocks noGrp="1"/>
          </p:cNvGraphicFramePr>
          <p:nvPr/>
        </p:nvGraphicFramePr>
        <p:xfrm>
          <a:off x="127819" y="3874917"/>
          <a:ext cx="5867771" cy="518160"/>
        </p:xfrm>
        <a:graphic>
          <a:graphicData uri="http://schemas.openxmlformats.org/drawingml/2006/table">
            <a:tbl>
              <a:tblPr/>
              <a:tblGrid>
                <a:gridCol w="757731">
                  <a:extLst>
                    <a:ext uri="{9D8B030D-6E8A-4147-A177-3AD203B41FA5}">
                      <a16:colId xmlns:a16="http://schemas.microsoft.com/office/drawing/2014/main" val="855009058"/>
                    </a:ext>
                  </a:extLst>
                </a:gridCol>
                <a:gridCol w="844021">
                  <a:extLst>
                    <a:ext uri="{9D8B030D-6E8A-4147-A177-3AD203B41FA5}">
                      <a16:colId xmlns:a16="http://schemas.microsoft.com/office/drawing/2014/main" val="334587626"/>
                    </a:ext>
                  </a:extLst>
                </a:gridCol>
                <a:gridCol w="1325947">
                  <a:extLst>
                    <a:ext uri="{9D8B030D-6E8A-4147-A177-3AD203B41FA5}">
                      <a16:colId xmlns:a16="http://schemas.microsoft.com/office/drawing/2014/main" val="840832862"/>
                    </a:ext>
                  </a:extLst>
                </a:gridCol>
                <a:gridCol w="1309665">
                  <a:extLst>
                    <a:ext uri="{9D8B030D-6E8A-4147-A177-3AD203B41FA5}">
                      <a16:colId xmlns:a16="http://schemas.microsoft.com/office/drawing/2014/main" val="3086490163"/>
                    </a:ext>
                  </a:extLst>
                </a:gridCol>
                <a:gridCol w="1630407">
                  <a:extLst>
                    <a:ext uri="{9D8B030D-6E8A-4147-A177-3AD203B41FA5}">
                      <a16:colId xmlns:a16="http://schemas.microsoft.com/office/drawing/2014/main" val="1172546105"/>
                    </a:ext>
                  </a:extLst>
                </a:gridCol>
              </a:tblGrid>
              <a:tr h="0">
                <a:tc>
                  <a:txBody>
                    <a:bodyPr/>
                    <a:lstStyle/>
                    <a:p>
                      <a:pPr algn="l" fontAlgn="b">
                        <a:buNone/>
                      </a:pPr>
                      <a:r>
                        <a:rPr lang="en-US" sz="850" b="1" dirty="0">
                          <a:solidFill>
                            <a:srgbClr val="FFFFFF"/>
                          </a:solidFill>
                          <a:effectLst/>
                          <a:latin typeface="Aptos" panose="020B0004020202020204" pitchFamily="34" charset="0"/>
                          <a:ea typeface="SimSun" panose="02010600030101010101" pitchFamily="2" charset="-122"/>
                        </a:rPr>
                        <a:t>Location</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4E78"/>
                    </a:solidFill>
                  </a:tcPr>
                </a:tc>
                <a:tc>
                  <a:txBody>
                    <a:bodyPr/>
                    <a:lstStyle/>
                    <a:p>
                      <a:r>
                        <a:rPr sz="850"/>
                        <a:t>Projections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4E78"/>
                    </a:solidFill>
                  </a:tcPr>
                </a:tc>
                <a:tc>
                  <a:txBody>
                    <a:bodyPr/>
                    <a:lstStyle/>
                    <a:p>
                      <a:r>
                        <a:rPr sz="850"/>
                        <a:t>Projection/Day/POS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4E78"/>
                    </a:solidFill>
                  </a:tcPr>
                </a:tc>
                <a:tc>
                  <a:txBody>
                    <a:bodyPr/>
                    <a:lstStyle/>
                    <a:p>
                      <a:pPr algn="ctr" fontAlgn="b">
                        <a:buNone/>
                      </a:pPr>
                      <a:r>
                        <a:rPr lang="en-US" sz="850" b="1" dirty="0">
                          <a:solidFill>
                            <a:srgbClr val="FFFFFF"/>
                          </a:solidFill>
                          <a:effectLst/>
                          <a:latin typeface="Aptos" panose="020B0004020202020204" pitchFamily="34" charset="0"/>
                          <a:ea typeface="SimSun" panose="02010600030101010101" pitchFamily="2" charset="-122"/>
                        </a:rPr>
                        <a:t>Consumers</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4E78"/>
                    </a:solidFill>
                  </a:tcPr>
                </a:tc>
                <a:tc>
                  <a:txBody>
                    <a:bodyPr/>
                    <a:lstStyle/>
                    <a:p>
                      <a:r>
                        <a:rPr sz="850"/>
                        <a:t>Projection/Consumer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4E78"/>
                    </a:solidFill>
                  </a:tcPr>
                </a:tc>
                <a:extLst>
                  <a:ext uri="{0D108BD9-81ED-4DB2-BD59-A6C34878D82A}">
                    <a16:rowId xmlns:a16="http://schemas.microsoft.com/office/drawing/2014/main" val="345634402"/>
                  </a:ext>
                </a:extLst>
              </a:tr>
              <a:tr h="0">
                <a:tc>
                  <a:txBody>
                    <a:bodyPr/>
                    <a:lstStyle/>
                    <a:p>
                      <a:pPr algn="l" fontAlgn="b">
                        <a:buNone/>
                      </a:pPr>
                      <a:r>
                        <a:rPr lang="en-US" sz="850" b="1" dirty="0">
                          <a:solidFill>
                            <a:srgbClr val="000000"/>
                          </a:solidFill>
                          <a:effectLst/>
                          <a:latin typeface="Aptos" panose="020B0004020202020204" pitchFamily="34" charset="0"/>
                          <a:ea typeface="SimSun" panose="02010600030101010101" pitchFamily="2" charset="-122"/>
                        </a:rPr>
                        <a:t>KGL</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11,455</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a:solidFill>
                            <a:srgbClr val="000000"/>
                          </a:solidFill>
                          <a:effectLst/>
                          <a:latin typeface="Aptos" panose="020B0004020202020204" pitchFamily="34" charset="0"/>
                          <a:ea typeface="SimSun" panose="02010600030101010101" pitchFamily="2" charset="-122"/>
                        </a:rPr>
                        <a:t>13</a:t>
                      </a:r>
                      <a:endParaRPr lang="en-RW" sz="100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6,279</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1.8</a:t>
                      </a:r>
                      <a:endParaRPr lang="en-RW" sz="12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4521474"/>
                  </a:ext>
                </a:extLst>
              </a:tr>
              <a:tr h="0">
                <a:tc>
                  <a:txBody>
                    <a:bodyPr/>
                    <a:lstStyle/>
                    <a:p>
                      <a:pPr algn="l" fontAlgn="b">
                        <a:buNone/>
                      </a:pPr>
                      <a:r>
                        <a:rPr lang="en-US" sz="850" b="1" dirty="0">
                          <a:solidFill>
                            <a:srgbClr val="000000"/>
                          </a:solidFill>
                          <a:effectLst/>
                          <a:latin typeface="Aptos" panose="020B0004020202020204" pitchFamily="34" charset="0"/>
                          <a:ea typeface="SimSun" panose="02010600030101010101" pitchFamily="2" charset="-122"/>
                        </a:rPr>
                        <a:t>Upcountry</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10,532</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9</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3,198</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3.2</a:t>
                      </a:r>
                      <a:endParaRPr lang="en-RW" sz="12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0336486"/>
                  </a:ext>
                </a:extLst>
              </a:tr>
              <a:tr h="0">
                <a:tc>
                  <a:txBody>
                    <a:bodyPr/>
                    <a:lstStyle/>
                    <a:p>
                      <a:pPr algn="l" fontAlgn="b">
                        <a:buNone/>
                      </a:pPr>
                      <a:r>
                        <a:rPr lang="en-US" sz="850" b="1" dirty="0">
                          <a:solidFill>
                            <a:srgbClr val="000000"/>
                          </a:solidFill>
                          <a:effectLst/>
                          <a:latin typeface="Aptos" panose="020B0004020202020204" pitchFamily="34" charset="0"/>
                          <a:ea typeface="SimSun" panose="02010600030101010101" pitchFamily="2" charset="-122"/>
                        </a:rPr>
                        <a:t>Total</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US" sz="850" b="1" dirty="0">
                          <a:solidFill>
                            <a:srgbClr val="000000"/>
                          </a:solidFill>
                          <a:effectLst/>
                          <a:latin typeface="Aptos" panose="020B0004020202020204" pitchFamily="34" charset="0"/>
                          <a:ea typeface="SimSun" panose="02010600030101010101" pitchFamily="2" charset="-122"/>
                        </a:rPr>
                        <a:t>21,987</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US" sz="850" b="1" dirty="0">
                          <a:solidFill>
                            <a:srgbClr val="000000"/>
                          </a:solidFill>
                          <a:effectLst/>
                          <a:latin typeface="Aptos" panose="020B0004020202020204" pitchFamily="34" charset="0"/>
                          <a:ea typeface="SimSun" panose="02010600030101010101" pitchFamily="2" charset="-122"/>
                        </a:rPr>
                        <a:t>Average: 11</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US" sz="850" b="1" dirty="0">
                          <a:solidFill>
                            <a:srgbClr val="000000"/>
                          </a:solidFill>
                          <a:effectLst/>
                          <a:latin typeface="Aptos" panose="020B0004020202020204" pitchFamily="34" charset="0"/>
                          <a:ea typeface="SimSun" panose="02010600030101010101" pitchFamily="2" charset="-122"/>
                        </a:rPr>
                        <a:t>Countrywide: 9,477</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US" sz="850" b="1" dirty="0">
                          <a:solidFill>
                            <a:srgbClr val="000000"/>
                          </a:solidFill>
                          <a:effectLst/>
                          <a:latin typeface="Aptos" panose="020B0004020202020204" pitchFamily="34" charset="0"/>
                          <a:ea typeface="SimSun" panose="02010600030101010101" pitchFamily="2" charset="-122"/>
                        </a:rPr>
                        <a:t>Countrywide: 2.5</a:t>
                      </a:r>
                      <a:endParaRPr lang="en-RW" sz="12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329478716"/>
                  </a:ext>
                </a:extLst>
              </a:tr>
            </a:tbl>
          </a:graphicData>
        </a:graphic>
      </p:graphicFrame>
      <p:graphicFrame>
        <p:nvGraphicFramePr>
          <p:cNvPr id="21" name="Table 20">
            <a:extLst>
              <a:ext uri="{FF2B5EF4-FFF2-40B4-BE49-F238E27FC236}">
                <a16:creationId xmlns:a16="http://schemas.microsoft.com/office/drawing/2014/main" id="{8AF96C12-7A23-7434-80A6-15733278903B}"/>
              </a:ext>
            </a:extLst>
          </p:cNvPr>
          <p:cNvGraphicFramePr>
            <a:graphicFrameLocks noGrp="1"/>
          </p:cNvGraphicFramePr>
          <p:nvPr/>
        </p:nvGraphicFramePr>
        <p:xfrm>
          <a:off x="127819" y="4551447"/>
          <a:ext cx="5867777" cy="518160"/>
        </p:xfrm>
        <a:graphic>
          <a:graphicData uri="http://schemas.openxmlformats.org/drawingml/2006/table">
            <a:tbl>
              <a:tblPr/>
              <a:tblGrid>
                <a:gridCol w="812467">
                  <a:extLst>
                    <a:ext uri="{9D8B030D-6E8A-4147-A177-3AD203B41FA5}">
                      <a16:colId xmlns:a16="http://schemas.microsoft.com/office/drawing/2014/main" val="1414390939"/>
                    </a:ext>
                  </a:extLst>
                </a:gridCol>
                <a:gridCol w="2315548">
                  <a:extLst>
                    <a:ext uri="{9D8B030D-6E8A-4147-A177-3AD203B41FA5}">
                      <a16:colId xmlns:a16="http://schemas.microsoft.com/office/drawing/2014/main" val="2125961594"/>
                    </a:ext>
                  </a:extLst>
                </a:gridCol>
                <a:gridCol w="2739762">
                  <a:extLst>
                    <a:ext uri="{9D8B030D-6E8A-4147-A177-3AD203B41FA5}">
                      <a16:colId xmlns:a16="http://schemas.microsoft.com/office/drawing/2014/main" val="4279333398"/>
                    </a:ext>
                  </a:extLst>
                </a:gridCol>
              </a:tblGrid>
              <a:tr h="0">
                <a:tc>
                  <a:txBody>
                    <a:bodyPr/>
                    <a:lstStyle/>
                    <a:p>
                      <a:pPr algn="l" fontAlgn="b">
                        <a:buNone/>
                      </a:pPr>
                      <a:r>
                        <a:rPr lang="en-US" sz="850" b="1" dirty="0">
                          <a:solidFill>
                            <a:srgbClr val="FFFFFF"/>
                          </a:solidFill>
                          <a:effectLst/>
                          <a:latin typeface="Aptos" panose="020B0004020202020204" pitchFamily="34" charset="0"/>
                          <a:ea typeface="SimSun" panose="02010600030101010101" pitchFamily="2" charset="-122"/>
                        </a:rPr>
                        <a:t>Location</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4E78"/>
                    </a:solidFill>
                  </a:tcPr>
                </a:tc>
                <a:tc>
                  <a:txBody>
                    <a:bodyPr/>
                    <a:lstStyle/>
                    <a:p>
                      <a:pPr algn="ctr" fontAlgn="b">
                        <a:buNone/>
                      </a:pPr>
                      <a:r>
                        <a:rPr lang="en-US" sz="850" b="1" dirty="0">
                          <a:solidFill>
                            <a:srgbClr val="FFFFFF"/>
                          </a:solidFill>
                          <a:effectLst/>
                          <a:latin typeface="Aptos" panose="020B0004020202020204" pitchFamily="34" charset="0"/>
                          <a:ea typeface="SimSun" panose="02010600030101010101" pitchFamily="2" charset="-122"/>
                        </a:rPr>
                        <a:t>Average Daily Sales/POS (Malt)</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4E78"/>
                    </a:solidFill>
                  </a:tcPr>
                </a:tc>
                <a:tc>
                  <a:txBody>
                    <a:bodyPr/>
                    <a:lstStyle/>
                    <a:p>
                      <a:pPr algn="ctr" fontAlgn="b">
                        <a:buNone/>
                      </a:pPr>
                      <a:r>
                        <a:rPr lang="en-US" sz="850" b="1" dirty="0">
                          <a:solidFill>
                            <a:srgbClr val="FFFFFF"/>
                          </a:solidFill>
                          <a:effectLst/>
                          <a:latin typeface="Aptos" panose="020B0004020202020204" pitchFamily="34" charset="0"/>
                          <a:ea typeface="SimSun" panose="02010600030101010101" pitchFamily="2" charset="-122"/>
                        </a:rPr>
                        <a:t>Average Daily Sales/POS (SBL Beer)</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4E78"/>
                    </a:solidFill>
                  </a:tcPr>
                </a:tc>
                <a:extLst>
                  <a:ext uri="{0D108BD9-81ED-4DB2-BD59-A6C34878D82A}">
                    <a16:rowId xmlns:a16="http://schemas.microsoft.com/office/drawing/2014/main" val="1240101211"/>
                  </a:ext>
                </a:extLst>
              </a:tr>
              <a:tr h="0">
                <a:tc>
                  <a:txBody>
                    <a:bodyPr/>
                    <a:lstStyle/>
                    <a:p>
                      <a:pPr algn="l" fontAlgn="b">
                        <a:buNone/>
                      </a:pPr>
                      <a:r>
                        <a:rPr lang="en-US" sz="850" b="1" dirty="0">
                          <a:solidFill>
                            <a:srgbClr val="000000"/>
                          </a:solidFill>
                          <a:effectLst/>
                          <a:latin typeface="Aptos" panose="020B0004020202020204" pitchFamily="34" charset="0"/>
                          <a:ea typeface="SimSun" panose="02010600030101010101" pitchFamily="2" charset="-122"/>
                        </a:rPr>
                        <a:t>KGL</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3 crates of Skol Malt</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6 crates (Full SBL Portfolio)</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5898907"/>
                  </a:ext>
                </a:extLst>
              </a:tr>
              <a:tr h="0">
                <a:tc>
                  <a:txBody>
                    <a:bodyPr/>
                    <a:lstStyle/>
                    <a:p>
                      <a:pPr algn="l" fontAlgn="b">
                        <a:buNone/>
                      </a:pPr>
                      <a:r>
                        <a:rPr lang="en-US" sz="850" b="1" dirty="0">
                          <a:solidFill>
                            <a:srgbClr val="000000"/>
                          </a:solidFill>
                          <a:effectLst/>
                          <a:latin typeface="Aptos" panose="020B0004020202020204" pitchFamily="34" charset="0"/>
                          <a:ea typeface="SimSun" panose="02010600030101010101" pitchFamily="2" charset="-122"/>
                        </a:rPr>
                        <a:t>Upcountry</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4 crates of Skol Malt</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850" dirty="0">
                          <a:solidFill>
                            <a:srgbClr val="000000"/>
                          </a:solidFill>
                          <a:effectLst/>
                          <a:latin typeface="Aptos" panose="020B0004020202020204" pitchFamily="34" charset="0"/>
                          <a:ea typeface="SimSun" panose="02010600030101010101" pitchFamily="2" charset="-122"/>
                        </a:rPr>
                        <a:t>6 crates (Full SBL Portfolio)</a:t>
                      </a:r>
                      <a:endParaRPr lang="en-RW" sz="1000"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9268994"/>
                  </a:ext>
                </a:extLst>
              </a:tr>
              <a:tr h="0">
                <a:tc>
                  <a:txBody>
                    <a:bodyPr/>
                    <a:lstStyle/>
                    <a:p>
                      <a:pPr algn="l" fontAlgn="b">
                        <a:buNone/>
                      </a:pPr>
                      <a:r>
                        <a:rPr lang="en-US" sz="850" b="1" dirty="0">
                          <a:solidFill>
                            <a:srgbClr val="000000"/>
                          </a:solidFill>
                          <a:effectLst/>
                          <a:latin typeface="Aptos" panose="020B0004020202020204" pitchFamily="34" charset="0"/>
                          <a:ea typeface="SimSun" panose="02010600030101010101" pitchFamily="2" charset="-122"/>
                        </a:rPr>
                        <a:t>Total</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US" sz="850" b="1" dirty="0">
                          <a:solidFill>
                            <a:srgbClr val="000000"/>
                          </a:solidFill>
                          <a:effectLst/>
                          <a:latin typeface="Aptos" panose="020B0004020202020204" pitchFamily="34" charset="0"/>
                          <a:ea typeface="SimSun" panose="02010600030101010101" pitchFamily="2" charset="-122"/>
                        </a:rPr>
                        <a:t>Countrywide:4 crates of Skol Malt</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US" sz="850" b="1" dirty="0">
                          <a:solidFill>
                            <a:srgbClr val="000000"/>
                          </a:solidFill>
                          <a:effectLst/>
                          <a:latin typeface="Aptos" panose="020B0004020202020204" pitchFamily="34" charset="0"/>
                          <a:ea typeface="SimSun" panose="02010600030101010101" pitchFamily="2" charset="-122"/>
                        </a:rPr>
                        <a:t>Countrywide:6 crates (Full SBL Portfolio)</a:t>
                      </a:r>
                      <a:endParaRPr lang="en-RW" sz="1000" b="1" dirty="0">
                        <a:effectLst/>
                        <a:latin typeface="Aptos" panose="020B0004020202020204" pitchFamily="34" charset="0"/>
                        <a:ea typeface="SimSun" panose="02010600030101010101" pitchFamily="2" charset="-122"/>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41272067"/>
                  </a:ext>
                </a:extLst>
              </a:tr>
            </a:tbl>
          </a:graphicData>
        </a:graphic>
      </p:graphicFrame>
      <p:graphicFrame>
        <p:nvGraphicFramePr>
          <p:cNvPr id="2" name="Table 1">
            <a:extLst>
              <a:ext uri="{FF2B5EF4-FFF2-40B4-BE49-F238E27FC236}">
                <a16:creationId xmlns:a16="http://schemas.microsoft.com/office/drawing/2014/main" id="{E8919646-D997-E8A9-A05E-F6808A8801D4}"/>
              </a:ext>
            </a:extLst>
          </p:cNvPr>
          <p:cNvGraphicFramePr>
            <a:graphicFrameLocks noGrp="1"/>
          </p:cNvGraphicFramePr>
          <p:nvPr/>
        </p:nvGraphicFramePr>
        <p:xfrm>
          <a:off x="6391316" y="800809"/>
          <a:ext cx="5556165" cy="1441842"/>
        </p:xfrm>
        <a:graphic>
          <a:graphicData uri="http://schemas.openxmlformats.org/drawingml/2006/table">
            <a:tbl>
              <a:tblPr/>
              <a:tblGrid>
                <a:gridCol w="1780436">
                  <a:extLst>
                    <a:ext uri="{9D8B030D-6E8A-4147-A177-3AD203B41FA5}">
                      <a16:colId xmlns:a16="http://schemas.microsoft.com/office/drawing/2014/main" val="656068577"/>
                    </a:ext>
                  </a:extLst>
                </a:gridCol>
                <a:gridCol w="1198458">
                  <a:extLst>
                    <a:ext uri="{9D8B030D-6E8A-4147-A177-3AD203B41FA5}">
                      <a16:colId xmlns:a16="http://schemas.microsoft.com/office/drawing/2014/main" val="1616963473"/>
                    </a:ext>
                  </a:extLst>
                </a:gridCol>
                <a:gridCol w="1218293">
                  <a:extLst>
                    <a:ext uri="{9D8B030D-6E8A-4147-A177-3AD203B41FA5}">
                      <a16:colId xmlns:a16="http://schemas.microsoft.com/office/drawing/2014/main" val="3482387831"/>
                    </a:ext>
                  </a:extLst>
                </a:gridCol>
                <a:gridCol w="1358978">
                  <a:extLst>
                    <a:ext uri="{9D8B030D-6E8A-4147-A177-3AD203B41FA5}">
                      <a16:colId xmlns:a16="http://schemas.microsoft.com/office/drawing/2014/main" val="2946158020"/>
                    </a:ext>
                  </a:extLst>
                </a:gridCol>
              </a:tblGrid>
              <a:tr h="0">
                <a:tc>
                  <a:txBody>
                    <a:bodyPr/>
                    <a:lstStyle/>
                    <a:p>
                      <a:pPr algn="ctr" rtl="0" fontAlgn="ctr">
                        <a:buNone/>
                      </a:pPr>
                      <a:r>
                        <a:rPr lang="en-RW" sz="1000" b="1" i="0" u="none" strike="noStrike" dirty="0">
                          <a:solidFill>
                            <a:srgbClr val="000000"/>
                          </a:solidFill>
                          <a:effectLst/>
                          <a:latin typeface="Calibri" panose="020F0502020204030204" pitchFamily="34" charset="0"/>
                        </a:rPr>
                        <a:t>Field Manager</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Expected POS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Outlets Executed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Promo Performance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00289"/>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Ivan </a:t>
                      </a:r>
                      <a:r>
                        <a:rPr lang="en-RW" sz="1000" b="0" i="0" u="none" strike="noStrike" dirty="0" err="1">
                          <a:solidFill>
                            <a:srgbClr val="000000"/>
                          </a:solidFill>
                          <a:effectLst/>
                          <a:latin typeface="Calibri" panose="020F0502020204030204" pitchFamily="34" charset="0"/>
                        </a:rPr>
                        <a:t>Gahima</a:t>
                      </a:r>
                      <a:endParaRPr lang="en-RW" sz="10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450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498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111%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extLst>
                  <a:ext uri="{0D108BD9-81ED-4DB2-BD59-A6C34878D82A}">
                    <a16:rowId xmlns:a16="http://schemas.microsoft.com/office/drawing/2014/main" val="3573771990"/>
                  </a:ext>
                </a:extLst>
              </a:tr>
              <a:tr h="0">
                <a:tc>
                  <a:txBody>
                    <a:bodyPr/>
                    <a:lstStyle/>
                    <a:p>
                      <a:pPr algn="l" rtl="0" fontAlgn="ctr">
                        <a:buNone/>
                      </a:pPr>
                      <a:r>
                        <a:rPr lang="en-RW" sz="1000" b="0" i="0" u="none" strike="noStrike">
                          <a:solidFill>
                            <a:srgbClr val="000000"/>
                          </a:solidFill>
                          <a:effectLst/>
                          <a:latin typeface="Calibri" panose="020F0502020204030204" pitchFamily="34" charset="0"/>
                        </a:rPr>
                        <a:t>Aimable Maniriho</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525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475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430365622"/>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Fabrice </a:t>
                      </a:r>
                      <a:r>
                        <a:rPr lang="en-RW" sz="1000" b="0" i="0" u="none" strike="noStrike" dirty="0" err="1">
                          <a:solidFill>
                            <a:srgbClr val="000000"/>
                          </a:solidFill>
                          <a:effectLst/>
                          <a:latin typeface="Calibri" panose="020F0502020204030204" pitchFamily="34" charset="0"/>
                        </a:rPr>
                        <a:t>Mizero</a:t>
                      </a:r>
                      <a:endParaRPr lang="en-RW" sz="10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525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471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2108489506"/>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Thierry Hakizimana</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525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374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71%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62109354"/>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Pascal </a:t>
                      </a:r>
                      <a:r>
                        <a:rPr lang="en-RW" sz="1000" b="0" i="0" u="none" strike="noStrike" dirty="0" err="1">
                          <a:solidFill>
                            <a:srgbClr val="000000"/>
                          </a:solidFill>
                          <a:effectLst/>
                          <a:latin typeface="Calibri" panose="020F0502020204030204" pitchFamily="34" charset="0"/>
                        </a:rPr>
                        <a:t>Ayubusa</a:t>
                      </a:r>
                      <a:endParaRPr lang="en-RW" sz="10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375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317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85%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3260258846"/>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Leonce </a:t>
                      </a:r>
                      <a:r>
                        <a:rPr lang="en-RW" sz="1000" b="0" i="0" u="none" strike="noStrike" dirty="0" err="1">
                          <a:solidFill>
                            <a:srgbClr val="000000"/>
                          </a:solidFill>
                          <a:effectLst/>
                          <a:latin typeface="Calibri" panose="020F0502020204030204" pitchFamily="34" charset="0"/>
                        </a:rPr>
                        <a:t>Ndicunguye</a:t>
                      </a:r>
                      <a:endParaRPr lang="en-RW" sz="10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390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77%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3045499944"/>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Edwin Minega</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a:solidFill>
                            <a:srgbClr val="000000"/>
                          </a:solidFill>
                          <a:effectLst/>
                          <a:latin typeface="Calibri" panose="020F0502020204030204" pitchFamily="34" charset="0"/>
                        </a:rPr>
                        <a:t>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416251732"/>
                  </a:ext>
                </a:extLst>
              </a:tr>
              <a:tr h="161682">
                <a:tc>
                  <a:txBody>
                    <a:bodyPr/>
                    <a:lstStyle/>
                    <a:p>
                      <a:pPr algn="l" rtl="0" fontAlgn="ctr">
                        <a:buNone/>
                      </a:pPr>
                      <a:r>
                        <a:rPr lang="en-RW" sz="1000" b="1" i="0" u="none" strike="noStrike" dirty="0">
                          <a:solidFill>
                            <a:srgbClr val="000000"/>
                          </a:solidFill>
                          <a:effectLst/>
                          <a:latin typeface="Calibri" panose="020F0502020204030204" pitchFamily="34" charset="0"/>
                        </a:rPr>
                        <a:t>Grand Total</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1" i="0" u="none" strike="noStrike">
                          <a:solidFill>
                            <a:srgbClr val="000000"/>
                          </a:solidFill>
                          <a:effectLst/>
                          <a:latin typeface="Calibri" panose="020F0502020204030204" pitchFamily="34" charset="0"/>
                        </a:rPr>
                        <a:t>2,835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1" i="0" u="none" strike="noStrike">
                          <a:solidFill>
                            <a:srgbClr val="000000"/>
                          </a:solidFill>
                          <a:effectLst/>
                          <a:latin typeface="Calibri" panose="020F0502020204030204" pitchFamily="34" charset="0"/>
                        </a:rPr>
                        <a:t>2,453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RW" sz="1000" b="1" i="0" u="none" strike="noStrike" dirty="0">
                          <a:solidFill>
                            <a:srgbClr val="9C0006"/>
                          </a:solidFill>
                          <a:effectLst/>
                          <a:latin typeface="Calibri" panose="020F0502020204030204" pitchFamily="34" charset="0"/>
                        </a:rPr>
                        <a:t>87%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955973326"/>
                  </a:ext>
                </a:extLst>
              </a:tr>
            </a:tbl>
          </a:graphicData>
        </a:graphic>
      </p:graphicFrame>
      <p:graphicFrame>
        <p:nvGraphicFramePr>
          <p:cNvPr id="4" name="Table 3">
            <a:extLst>
              <a:ext uri="{FF2B5EF4-FFF2-40B4-BE49-F238E27FC236}">
                <a16:creationId xmlns:a16="http://schemas.microsoft.com/office/drawing/2014/main" id="{1BA236A3-0D11-C06B-24B5-D576DA977333}"/>
              </a:ext>
            </a:extLst>
          </p:cNvPr>
          <p:cNvGraphicFramePr>
            <a:graphicFrameLocks noGrp="1"/>
          </p:cNvGraphicFramePr>
          <p:nvPr/>
        </p:nvGraphicFramePr>
        <p:xfrm>
          <a:off x="6391316" y="2475370"/>
          <a:ext cx="5556163" cy="1595904"/>
        </p:xfrm>
        <a:graphic>
          <a:graphicData uri="http://schemas.openxmlformats.org/drawingml/2006/table">
            <a:tbl>
              <a:tblPr/>
              <a:tblGrid>
                <a:gridCol w="1167478">
                  <a:extLst>
                    <a:ext uri="{9D8B030D-6E8A-4147-A177-3AD203B41FA5}">
                      <a16:colId xmlns:a16="http://schemas.microsoft.com/office/drawing/2014/main" val="2182584044"/>
                    </a:ext>
                  </a:extLst>
                </a:gridCol>
                <a:gridCol w="783949">
                  <a:extLst>
                    <a:ext uri="{9D8B030D-6E8A-4147-A177-3AD203B41FA5}">
                      <a16:colId xmlns:a16="http://schemas.microsoft.com/office/drawing/2014/main" val="783038189"/>
                    </a:ext>
                  </a:extLst>
                </a:gridCol>
                <a:gridCol w="687144">
                  <a:extLst>
                    <a:ext uri="{9D8B030D-6E8A-4147-A177-3AD203B41FA5}">
                      <a16:colId xmlns:a16="http://schemas.microsoft.com/office/drawing/2014/main" val="1373803161"/>
                    </a:ext>
                  </a:extLst>
                </a:gridCol>
                <a:gridCol w="979955">
                  <a:extLst>
                    <a:ext uri="{9D8B030D-6E8A-4147-A177-3AD203B41FA5}">
                      <a16:colId xmlns:a16="http://schemas.microsoft.com/office/drawing/2014/main" val="2258432695"/>
                    </a:ext>
                  </a:extLst>
                </a:gridCol>
                <a:gridCol w="879732">
                  <a:extLst>
                    <a:ext uri="{9D8B030D-6E8A-4147-A177-3AD203B41FA5}">
                      <a16:colId xmlns:a16="http://schemas.microsoft.com/office/drawing/2014/main" val="3942495254"/>
                    </a:ext>
                  </a:extLst>
                </a:gridCol>
                <a:gridCol w="1057905">
                  <a:extLst>
                    <a:ext uri="{9D8B030D-6E8A-4147-A177-3AD203B41FA5}">
                      <a16:colId xmlns:a16="http://schemas.microsoft.com/office/drawing/2014/main" val="2553660024"/>
                    </a:ext>
                  </a:extLst>
                </a:gridCol>
              </a:tblGrid>
              <a:tr h="0">
                <a:tc>
                  <a:txBody>
                    <a:bodyPr/>
                    <a:lstStyle/>
                    <a:p>
                      <a:pPr algn="ctr" rtl="0" fontAlgn="ctr">
                        <a:buNone/>
                      </a:pPr>
                      <a:r>
                        <a:rPr lang="en-RW" sz="1000" b="1" i="0" u="none" strike="noStrike" dirty="0">
                          <a:solidFill>
                            <a:srgbClr val="000000"/>
                          </a:solidFill>
                          <a:effectLst/>
                          <a:latin typeface="Calibri" panose="020F0502020204030204" pitchFamily="34" charset="0"/>
                        </a:rPr>
                        <a:t>Field Manager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Sellin target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Purchased Volume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Sell In Performance</a:t>
                      </a:r>
                      <a:r>
                        <a:rPr lang="en-US" sz="1000" b="1" i="0" u="none" strike="noStrike" dirty="0">
                          <a:solidFill>
                            <a:srgbClr val="000000"/>
                          </a:solidFill>
                          <a:effectLst/>
                          <a:latin typeface="Calibri" panose="020F0502020204030204" pitchFamily="34" charset="0"/>
                        </a:rPr>
                        <a:t> - %</a:t>
                      </a:r>
                      <a:endParaRPr lang="en-RW" sz="10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Outlet Sellout</a:t>
                      </a:r>
                      <a:r>
                        <a:rPr lang="en-US" sz="1000" b="1" i="0" u="none" strike="noStrike" dirty="0">
                          <a:solidFill>
                            <a:srgbClr val="000000"/>
                          </a:solidFill>
                          <a:effectLst/>
                          <a:latin typeface="Calibri" panose="020F0502020204030204" pitchFamily="34" charset="0"/>
                        </a:rPr>
                        <a:t> Volume</a:t>
                      </a:r>
                      <a:endParaRPr lang="en-RW" sz="10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US" sz="1000" b="1" i="0" u="none" strike="noStrike" dirty="0">
                          <a:solidFill>
                            <a:srgbClr val="000000"/>
                          </a:solidFill>
                          <a:effectLst/>
                          <a:latin typeface="Calibri" panose="020F0502020204030204" pitchFamily="34" charset="0"/>
                        </a:rPr>
                        <a:t>Sell Out Performance - </a:t>
                      </a:r>
                      <a:r>
                        <a:rPr lang="en-RW" sz="1000" b="1" i="0" u="none" strike="noStrike" dirty="0">
                          <a:solidFill>
                            <a:srgbClr val="000000"/>
                          </a:solidFill>
                          <a:effectLst/>
                          <a:latin typeface="Calibri" panose="020F0502020204030204" pitchFamily="34" charset="0"/>
                        </a:rPr>
                        <a:t>%</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51071279"/>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Ivan </a:t>
                      </a:r>
                      <a:r>
                        <a:rPr lang="en-RW" sz="1000" b="0" i="0" u="none" strike="noStrike" dirty="0" err="1">
                          <a:solidFill>
                            <a:srgbClr val="000000"/>
                          </a:solidFill>
                          <a:effectLst/>
                          <a:latin typeface="Calibri" panose="020F0502020204030204" pitchFamily="34" charset="0"/>
                        </a:rPr>
                        <a:t>Gahima</a:t>
                      </a:r>
                      <a:endParaRPr lang="en-RW" sz="10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1,350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3,020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224%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2,917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97%</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89943818"/>
                  </a:ext>
                </a:extLst>
              </a:tr>
              <a:tr h="0">
                <a:tc>
                  <a:txBody>
                    <a:bodyPr/>
                    <a:lstStyle/>
                    <a:p>
                      <a:pPr algn="l" rtl="0" fontAlgn="ctr">
                        <a:buNone/>
                      </a:pPr>
                      <a:r>
                        <a:rPr lang="en-RW" sz="1000" b="0" i="0" u="none" strike="noStrike">
                          <a:solidFill>
                            <a:srgbClr val="000000"/>
                          </a:solidFill>
                          <a:effectLst/>
                          <a:latin typeface="Calibri" panose="020F0502020204030204" pitchFamily="34" charset="0"/>
                        </a:rPr>
                        <a:t>Aimable Maniriho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1,575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2,622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166%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2,462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94%</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39650107"/>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Fabrice </a:t>
                      </a:r>
                      <a:r>
                        <a:rPr lang="en-RW" sz="1000" b="0" i="0" u="none" strike="noStrike" dirty="0" err="1">
                          <a:solidFill>
                            <a:srgbClr val="000000"/>
                          </a:solidFill>
                          <a:effectLst/>
                          <a:latin typeface="Calibri" panose="020F0502020204030204" pitchFamily="34" charset="0"/>
                        </a:rPr>
                        <a:t>Mizero</a:t>
                      </a:r>
                      <a:endParaRPr lang="en-RW" sz="10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1,575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2,730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173%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2,508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92%</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7678191"/>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Thierry Hakizimana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1,575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2,080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132%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1,726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83%</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87036961"/>
                  </a:ext>
                </a:extLst>
              </a:tr>
              <a:tr h="161682">
                <a:tc>
                  <a:txBody>
                    <a:bodyPr/>
                    <a:lstStyle/>
                    <a:p>
                      <a:pPr algn="l" rtl="0" fontAlgn="ctr">
                        <a:buNone/>
                      </a:pPr>
                      <a:r>
                        <a:rPr lang="en-RW" sz="1000" b="0" i="0" u="none" strike="noStrike" dirty="0">
                          <a:solidFill>
                            <a:srgbClr val="000000"/>
                          </a:solidFill>
                          <a:effectLst/>
                          <a:latin typeface="Calibri" panose="020F0502020204030204" pitchFamily="34" charset="0"/>
                        </a:rPr>
                        <a:t>Pascal </a:t>
                      </a:r>
                      <a:r>
                        <a:rPr lang="en-RW" sz="1000" b="0" i="0" u="none" strike="noStrike" dirty="0" err="1">
                          <a:solidFill>
                            <a:srgbClr val="000000"/>
                          </a:solidFill>
                          <a:effectLst/>
                          <a:latin typeface="Calibri" panose="020F0502020204030204" pitchFamily="34" charset="0"/>
                        </a:rPr>
                        <a:t>Ayubusa</a:t>
                      </a:r>
                      <a:endParaRPr lang="en-RW" sz="10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1,125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1,757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156%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1,783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101%</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47174366"/>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Leonce </a:t>
                      </a:r>
                      <a:r>
                        <a:rPr lang="en-RW" sz="1000" b="0" i="0" u="none" strike="noStrike" dirty="0" err="1">
                          <a:solidFill>
                            <a:srgbClr val="000000"/>
                          </a:solidFill>
                          <a:effectLst/>
                          <a:latin typeface="Calibri" panose="020F0502020204030204" pitchFamily="34" charset="0"/>
                        </a:rPr>
                        <a:t>Ndicunguye</a:t>
                      </a:r>
                      <a:endParaRPr lang="en-RW" sz="10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1,170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1,298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111%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1,288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99%</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02914725"/>
                  </a:ext>
                </a:extLst>
              </a:tr>
              <a:tr h="0">
                <a:tc>
                  <a:txBody>
                    <a:bodyPr/>
                    <a:lstStyle/>
                    <a:p>
                      <a:pPr algn="l" rtl="0" fontAlgn="ctr">
                        <a:buNone/>
                      </a:pPr>
                      <a:r>
                        <a:rPr lang="en-RW" sz="1000" b="0" i="0" u="none" strike="noStrike" dirty="0">
                          <a:solidFill>
                            <a:srgbClr val="000000"/>
                          </a:solidFill>
                          <a:effectLst/>
                          <a:latin typeface="Calibri" panose="020F0502020204030204" pitchFamily="34" charset="0"/>
                        </a:rPr>
                        <a:t>Edwin Minega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151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6100"/>
                          </a:solidFill>
                          <a:effectLst/>
                          <a:latin typeface="Calibri" panose="020F0502020204030204" pitchFamily="34" charset="0"/>
                        </a:rPr>
                        <a:t>112%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000000"/>
                          </a:solidFill>
                          <a:effectLst/>
                          <a:latin typeface="Calibri" panose="020F0502020204030204" pitchFamily="34" charset="0"/>
                        </a:rPr>
                        <a:t>121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0" i="0" u="none" strike="noStrike" dirty="0">
                          <a:solidFill>
                            <a:srgbClr val="9C0006"/>
                          </a:solidFill>
                          <a:effectLst/>
                          <a:latin typeface="Calibri" panose="020F0502020204030204" pitchFamily="34" charset="0"/>
                        </a:rPr>
                        <a:t>80%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9197426"/>
                  </a:ext>
                </a:extLst>
              </a:tr>
              <a:tr h="161682">
                <a:tc>
                  <a:txBody>
                    <a:bodyPr/>
                    <a:lstStyle/>
                    <a:p>
                      <a:pPr algn="l" rtl="0" fontAlgn="ctr">
                        <a:buNone/>
                      </a:pPr>
                      <a:r>
                        <a:rPr lang="en-RW" sz="1000" b="1" i="0" u="none" strike="noStrike" dirty="0">
                          <a:solidFill>
                            <a:srgbClr val="000000"/>
                          </a:solidFill>
                          <a:effectLst/>
                          <a:latin typeface="Calibri" panose="020F0502020204030204" pitchFamily="34" charset="0"/>
                        </a:rPr>
                        <a:t>Grand Total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8,505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13,658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006100"/>
                          </a:solidFill>
                          <a:effectLst/>
                          <a:latin typeface="Calibri" panose="020F0502020204030204" pitchFamily="34" charset="0"/>
                        </a:rPr>
                        <a:t>161%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000000"/>
                          </a:solidFill>
                          <a:effectLst/>
                          <a:latin typeface="Calibri" panose="020F0502020204030204" pitchFamily="34" charset="0"/>
                        </a:rPr>
                        <a:t>12,804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RW" sz="1000" b="1" i="0" u="none" strike="noStrike" dirty="0">
                          <a:solidFill>
                            <a:srgbClr val="9C0006"/>
                          </a:solidFill>
                          <a:effectLst/>
                          <a:latin typeface="Calibri" panose="020F0502020204030204" pitchFamily="34" charset="0"/>
                        </a:rPr>
                        <a:t>94%</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69843087"/>
                  </a:ext>
                </a:extLst>
              </a:tr>
            </a:tbl>
          </a:graphicData>
        </a:graphic>
      </p:graphicFrame>
      <p:graphicFrame>
        <p:nvGraphicFramePr>
          <p:cNvPr id="6" name="Chart 5">
            <a:extLst>
              <a:ext uri="{FF2B5EF4-FFF2-40B4-BE49-F238E27FC236}">
                <a16:creationId xmlns:a16="http://schemas.microsoft.com/office/drawing/2014/main" id="{AFFEF5B9-3720-8DD3-A92F-D221613FB061}"/>
              </a:ext>
            </a:extLst>
          </p:cNvPr>
          <p:cNvGraphicFramePr>
            <a:graphicFrameLocks/>
          </p:cNvGraphicFramePr>
          <p:nvPr/>
        </p:nvGraphicFramePr>
        <p:xfrm>
          <a:off x="6391316" y="4382630"/>
          <a:ext cx="2752677" cy="236308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F41CAF19-E5F0-476E-B191-46ED9724D830}"/>
              </a:ext>
            </a:extLst>
          </p:cNvPr>
          <p:cNvGraphicFramePr>
            <a:graphicFrameLocks/>
          </p:cNvGraphicFramePr>
          <p:nvPr/>
        </p:nvGraphicFramePr>
        <p:xfrm>
          <a:off x="9301657" y="4382629"/>
          <a:ext cx="2645822" cy="2363085"/>
        </p:xfrm>
        <a:graphic>
          <a:graphicData uri="http://schemas.openxmlformats.org/drawingml/2006/chart">
            <c:chart xmlns:c="http://schemas.openxmlformats.org/drawingml/2006/chart" xmlns:r="http://schemas.openxmlformats.org/officeDocument/2006/relationships" r:id="rId6"/>
          </a:graphicData>
        </a:graphic>
      </p:graphicFrame>
      <p:pic>
        <p:nvPicPr>
          <p:cNvPr id="5" name="Picture 4" descr="A yellow and red label with white text&#10;&#10;AI-generated content may be incorrect.">
            <a:extLst>
              <a:ext uri="{FF2B5EF4-FFF2-40B4-BE49-F238E27FC236}">
                <a16:creationId xmlns:a16="http://schemas.microsoft.com/office/drawing/2014/main" id="{FE1DDEAF-DE19-ACF4-88C1-68F7457A1A39}"/>
              </a:ext>
            </a:extLst>
          </p:cNvPr>
          <p:cNvPicPr>
            <a:picLocks noChangeAspect="1"/>
          </p:cNvPicPr>
          <p:nvPr/>
        </p:nvPicPr>
        <p:blipFill>
          <a:blip r:embed="rId7">
            <a:extLst>
              <a:ext uri="{28A0092B-C50C-407E-A947-70E740481C1C}">
                <a14:useLocalDpi xmlns:a14="http://schemas.microsoft.com/office/drawing/2010/main" val="0"/>
              </a:ext>
            </a:extLst>
          </a:blip>
          <a:srcRect l="25784" t="29562" r="25029" b="29936"/>
          <a:stretch/>
        </p:blipFill>
        <p:spPr>
          <a:xfrm>
            <a:off x="10762905" y="45796"/>
            <a:ext cx="1108087" cy="645339"/>
          </a:xfrm>
          <a:prstGeom prst="rect">
            <a:avLst/>
          </a:prstGeom>
        </p:spPr>
      </p:pic>
    </p:spTree>
    <p:extLst>
      <p:ext uri="{BB962C8B-B14F-4D97-AF65-F5344CB8AC3E}">
        <p14:creationId xmlns:p14="http://schemas.microsoft.com/office/powerpoint/2010/main" val="41269179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4E51F-FA92-1B34-B7E4-FA0DD8B7D9F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7862FF7-28F2-51D5-4A58-3D5AD8651C41}"/>
              </a:ext>
            </a:extLst>
          </p:cNvPr>
          <p:cNvSpPr txBox="1">
            <a:spLocks/>
          </p:cNvSpPr>
          <p:nvPr/>
        </p:nvSpPr>
        <p:spPr>
          <a:xfrm>
            <a:off x="177156" y="46695"/>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PRIORITY ACTIVITIES – Q4</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ACTIVITY PLAN: </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must we deliver</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32" name="Rectangle 31">
            <a:extLst>
              <a:ext uri="{FF2B5EF4-FFF2-40B4-BE49-F238E27FC236}">
                <a16:creationId xmlns:a16="http://schemas.microsoft.com/office/drawing/2014/main" id="{0ED20615-46F8-B44A-D885-291E0247BFBC}"/>
              </a:ext>
            </a:extLst>
          </p:cNvPr>
          <p:cNvSpPr/>
          <p:nvPr/>
        </p:nvSpPr>
        <p:spPr>
          <a:xfrm>
            <a:off x="292608" y="803296"/>
            <a:ext cx="2920982" cy="548640"/>
          </a:xfrm>
          <a:prstGeom prst="rect">
            <a:avLst/>
          </a:prstGeom>
          <a:solidFill>
            <a:srgbClr val="FFC000"/>
          </a:solidFill>
          <a:ln>
            <a:solidFill>
              <a:srgbClr val="2231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4" name="TextBox 33">
            <a:extLst>
              <a:ext uri="{FF2B5EF4-FFF2-40B4-BE49-F238E27FC236}">
                <a16:creationId xmlns:a16="http://schemas.microsoft.com/office/drawing/2014/main" id="{D20FEB34-0A91-8783-BEB8-B2DB548F726C}"/>
              </a:ext>
            </a:extLst>
          </p:cNvPr>
          <p:cNvSpPr txBox="1"/>
          <p:nvPr/>
        </p:nvSpPr>
        <p:spPr>
          <a:xfrm>
            <a:off x="365759" y="913024"/>
            <a:ext cx="2793983" cy="307777"/>
          </a:xfrm>
          <a:prstGeom prst="rect">
            <a:avLst/>
          </a:prstGeom>
          <a:solidFill>
            <a:srgbClr val="FFC0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PRIORITY ACTIVITY</a:t>
            </a:r>
          </a:p>
        </p:txBody>
      </p:sp>
      <p:sp>
        <p:nvSpPr>
          <p:cNvPr id="36" name="Rectangle 35">
            <a:extLst>
              <a:ext uri="{FF2B5EF4-FFF2-40B4-BE49-F238E27FC236}">
                <a16:creationId xmlns:a16="http://schemas.microsoft.com/office/drawing/2014/main" id="{A5F4A96D-B077-8F2D-9111-F8EFC5DB80E6}"/>
              </a:ext>
            </a:extLst>
          </p:cNvPr>
          <p:cNvSpPr/>
          <p:nvPr/>
        </p:nvSpPr>
        <p:spPr>
          <a:xfrm>
            <a:off x="3383129" y="803296"/>
            <a:ext cx="5681958" cy="548640"/>
          </a:xfrm>
          <a:prstGeom prst="rect">
            <a:avLst/>
          </a:prstGeom>
          <a:solidFill>
            <a:srgbClr val="FFC000"/>
          </a:solidFill>
          <a:ln>
            <a:solidFill>
              <a:srgbClr val="2231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8" name="TextBox 37">
            <a:extLst>
              <a:ext uri="{FF2B5EF4-FFF2-40B4-BE49-F238E27FC236}">
                <a16:creationId xmlns:a16="http://schemas.microsoft.com/office/drawing/2014/main" id="{5D1A3CD7-555C-8E01-B3EA-22B5113A19C7}"/>
              </a:ext>
            </a:extLst>
          </p:cNvPr>
          <p:cNvSpPr txBox="1"/>
          <p:nvPr/>
        </p:nvSpPr>
        <p:spPr>
          <a:xfrm>
            <a:off x="3445283" y="935271"/>
            <a:ext cx="5530216" cy="307777"/>
          </a:xfrm>
          <a:prstGeom prst="rect">
            <a:avLst/>
          </a:prstGeom>
          <a:solidFill>
            <a:srgbClr val="FFC0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WHAT MUST </a:t>
            </a: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WE </a:t>
            </a:r>
            <a:r>
              <a:rPr kumimoji="0"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DELIVER</a:t>
            </a: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0" name="Rectangle 39">
            <a:extLst>
              <a:ext uri="{FF2B5EF4-FFF2-40B4-BE49-F238E27FC236}">
                <a16:creationId xmlns:a16="http://schemas.microsoft.com/office/drawing/2014/main" id="{5EADF3F4-80FC-9CE5-5EB0-A8F4F65E4E4C}"/>
              </a:ext>
            </a:extLst>
          </p:cNvPr>
          <p:cNvSpPr/>
          <p:nvPr/>
        </p:nvSpPr>
        <p:spPr>
          <a:xfrm>
            <a:off x="9202008" y="803296"/>
            <a:ext cx="2745560" cy="548640"/>
          </a:xfrm>
          <a:prstGeom prst="rect">
            <a:avLst/>
          </a:prstGeom>
          <a:solidFill>
            <a:srgbClr val="FFC000"/>
          </a:solidFill>
          <a:ln>
            <a:solidFill>
              <a:srgbClr val="2231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2" name="TextBox 41">
            <a:extLst>
              <a:ext uri="{FF2B5EF4-FFF2-40B4-BE49-F238E27FC236}">
                <a16:creationId xmlns:a16="http://schemas.microsoft.com/office/drawing/2014/main" id="{3C2B78E0-667B-0136-5CEF-033F61FDC34A}"/>
              </a:ext>
            </a:extLst>
          </p:cNvPr>
          <p:cNvSpPr txBox="1"/>
          <p:nvPr/>
        </p:nvSpPr>
        <p:spPr>
          <a:xfrm>
            <a:off x="9293447" y="941702"/>
            <a:ext cx="2605946" cy="307777"/>
          </a:xfrm>
          <a:prstGeom prst="rect">
            <a:avLst/>
          </a:prstGeom>
          <a:solidFill>
            <a:srgbClr val="FFC0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EXPECTED BUSINESS IMPACT</a:t>
            </a:r>
          </a:p>
        </p:txBody>
      </p:sp>
      <p:sp>
        <p:nvSpPr>
          <p:cNvPr id="44" name="Rectangle 43">
            <a:extLst>
              <a:ext uri="{FF2B5EF4-FFF2-40B4-BE49-F238E27FC236}">
                <a16:creationId xmlns:a16="http://schemas.microsoft.com/office/drawing/2014/main" id="{9E7E4B4D-5CF8-2D9B-5D80-5B5DBAE7BFC3}"/>
              </a:ext>
            </a:extLst>
          </p:cNvPr>
          <p:cNvSpPr/>
          <p:nvPr/>
        </p:nvSpPr>
        <p:spPr>
          <a:xfrm>
            <a:off x="292608" y="1430592"/>
            <a:ext cx="2920982" cy="820465"/>
          </a:xfrm>
          <a:prstGeom prst="rect">
            <a:avLst/>
          </a:prstGeom>
          <a:solidFill>
            <a:schemeClr val="accent1">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 name="Rectangle 45">
            <a:extLst>
              <a:ext uri="{FF2B5EF4-FFF2-40B4-BE49-F238E27FC236}">
                <a16:creationId xmlns:a16="http://schemas.microsoft.com/office/drawing/2014/main" id="{BA4F0D40-E921-E313-80FE-ADA240108B0E}"/>
              </a:ext>
            </a:extLst>
          </p:cNvPr>
          <p:cNvSpPr/>
          <p:nvPr/>
        </p:nvSpPr>
        <p:spPr>
          <a:xfrm>
            <a:off x="3382037" y="1430593"/>
            <a:ext cx="5681958" cy="814350"/>
          </a:xfrm>
          <a:prstGeom prst="rect">
            <a:avLst/>
          </a:prstGeom>
          <a:solidFill>
            <a:schemeClr val="accent1">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8" name="Rectangle 47">
            <a:extLst>
              <a:ext uri="{FF2B5EF4-FFF2-40B4-BE49-F238E27FC236}">
                <a16:creationId xmlns:a16="http://schemas.microsoft.com/office/drawing/2014/main" id="{62EBA328-4E0A-7060-B1FA-FA046753CD52}"/>
              </a:ext>
            </a:extLst>
          </p:cNvPr>
          <p:cNvSpPr/>
          <p:nvPr/>
        </p:nvSpPr>
        <p:spPr>
          <a:xfrm>
            <a:off x="9202006" y="1430593"/>
            <a:ext cx="2745561" cy="820465"/>
          </a:xfrm>
          <a:prstGeom prst="rect">
            <a:avLst/>
          </a:prstGeom>
          <a:solidFill>
            <a:schemeClr val="accent1">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0" name="TextBox 49">
            <a:extLst>
              <a:ext uri="{FF2B5EF4-FFF2-40B4-BE49-F238E27FC236}">
                <a16:creationId xmlns:a16="http://schemas.microsoft.com/office/drawing/2014/main" id="{87B28E6A-7B79-9427-4FE3-DDD406E745CB}"/>
              </a:ext>
            </a:extLst>
          </p:cNvPr>
          <p:cNvSpPr txBox="1"/>
          <p:nvPr/>
        </p:nvSpPr>
        <p:spPr>
          <a:xfrm>
            <a:off x="292607" y="1690531"/>
            <a:ext cx="2833375" cy="276999"/>
          </a:xfrm>
          <a:prstGeom prst="rect">
            <a:avLst/>
          </a:prstGeom>
          <a:solidFill>
            <a:schemeClr val="accent1">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1. Wedding Venue Coverage</a:t>
            </a:r>
          </a:p>
        </p:txBody>
      </p:sp>
      <p:sp>
        <p:nvSpPr>
          <p:cNvPr id="52" name="TextBox 51">
            <a:extLst>
              <a:ext uri="{FF2B5EF4-FFF2-40B4-BE49-F238E27FC236}">
                <a16:creationId xmlns:a16="http://schemas.microsoft.com/office/drawing/2014/main" id="{3B21385B-77DC-0D3A-4FC2-62843F26D646}"/>
              </a:ext>
            </a:extLst>
          </p:cNvPr>
          <p:cNvSpPr txBox="1"/>
          <p:nvPr/>
        </p:nvSpPr>
        <p:spPr>
          <a:xfrm>
            <a:off x="3474540" y="1493354"/>
            <a:ext cx="5530216" cy="671979"/>
          </a:xfrm>
          <a:prstGeom prst="rect">
            <a:avLst/>
          </a:prstGeom>
          <a:solidFill>
            <a:schemeClr val="accent1">
              <a:lumMod val="20000"/>
              <a:lumOff val="80000"/>
            </a:schemeClr>
          </a:solidFill>
        </p:spPr>
        <p:txBody>
          <a:bodyPr wrap="square">
            <a:spAutoFit/>
          </a:bodyPr>
          <a:lstStyle/>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265 venues</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identified with a target to cover the whole country</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Planned activation: 1</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0+1 B2B promo</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to drive consumption</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endPar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S</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ecure pre-event orders &amp; ensure availability</a:t>
            </a:r>
          </a:p>
        </p:txBody>
      </p:sp>
      <p:sp>
        <p:nvSpPr>
          <p:cNvPr id="54" name="TextBox 53">
            <a:extLst>
              <a:ext uri="{FF2B5EF4-FFF2-40B4-BE49-F238E27FC236}">
                <a16:creationId xmlns:a16="http://schemas.microsoft.com/office/drawing/2014/main" id="{AA735A56-B7D0-FB46-AD0C-1DA89488E610}"/>
              </a:ext>
            </a:extLst>
          </p:cNvPr>
          <p:cNvSpPr txBox="1"/>
          <p:nvPr/>
        </p:nvSpPr>
        <p:spPr>
          <a:xfrm>
            <a:off x="9293447" y="1499011"/>
            <a:ext cx="2562678" cy="646331"/>
          </a:xfrm>
          <a:prstGeom prst="rect">
            <a:avLst/>
          </a:prstGeom>
          <a:solidFill>
            <a:schemeClr val="accent1">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7,420 incremental crates/month expected from the wedding consumption occasion.</a:t>
            </a:r>
          </a:p>
        </p:txBody>
      </p:sp>
      <p:sp>
        <p:nvSpPr>
          <p:cNvPr id="56" name="Rectangle 55">
            <a:extLst>
              <a:ext uri="{FF2B5EF4-FFF2-40B4-BE49-F238E27FC236}">
                <a16:creationId xmlns:a16="http://schemas.microsoft.com/office/drawing/2014/main" id="{1429C27E-23A8-C558-E929-67D06A4D4028}"/>
              </a:ext>
            </a:extLst>
          </p:cNvPr>
          <p:cNvSpPr/>
          <p:nvPr/>
        </p:nvSpPr>
        <p:spPr>
          <a:xfrm>
            <a:off x="292608" y="2326492"/>
            <a:ext cx="2920982" cy="1626559"/>
          </a:xfrm>
          <a:prstGeom prst="rect">
            <a:avLst/>
          </a:prstGeom>
          <a:solidFill>
            <a:schemeClr val="accent6">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8" name="Rectangle 57">
            <a:extLst>
              <a:ext uri="{FF2B5EF4-FFF2-40B4-BE49-F238E27FC236}">
                <a16:creationId xmlns:a16="http://schemas.microsoft.com/office/drawing/2014/main" id="{1F1B186E-7497-FAB6-557E-561C19930D0E}"/>
              </a:ext>
            </a:extLst>
          </p:cNvPr>
          <p:cNvSpPr/>
          <p:nvPr/>
        </p:nvSpPr>
        <p:spPr>
          <a:xfrm>
            <a:off x="3370089" y="2326492"/>
            <a:ext cx="5695230" cy="1632847"/>
          </a:xfrm>
          <a:prstGeom prst="rect">
            <a:avLst/>
          </a:prstGeom>
          <a:solidFill>
            <a:schemeClr val="accent6">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0" name="Rectangle 59">
            <a:extLst>
              <a:ext uri="{FF2B5EF4-FFF2-40B4-BE49-F238E27FC236}">
                <a16:creationId xmlns:a16="http://schemas.microsoft.com/office/drawing/2014/main" id="{8A3C055D-25A4-53C0-88CF-174F23857825}"/>
              </a:ext>
            </a:extLst>
          </p:cNvPr>
          <p:cNvSpPr/>
          <p:nvPr/>
        </p:nvSpPr>
        <p:spPr>
          <a:xfrm>
            <a:off x="9202006" y="2326493"/>
            <a:ext cx="2745562" cy="1626560"/>
          </a:xfrm>
          <a:prstGeom prst="rect">
            <a:avLst/>
          </a:prstGeom>
          <a:solidFill>
            <a:schemeClr val="accent6">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2" name="TextBox 61">
            <a:extLst>
              <a:ext uri="{FF2B5EF4-FFF2-40B4-BE49-F238E27FC236}">
                <a16:creationId xmlns:a16="http://schemas.microsoft.com/office/drawing/2014/main" id="{ECD00D29-2E12-AFDF-110F-1E3620FDA6DC}"/>
              </a:ext>
            </a:extLst>
          </p:cNvPr>
          <p:cNvSpPr txBox="1"/>
          <p:nvPr/>
        </p:nvSpPr>
        <p:spPr>
          <a:xfrm>
            <a:off x="261295" y="2451993"/>
            <a:ext cx="2833377" cy="286143"/>
          </a:xfrm>
          <a:prstGeom prst="rect">
            <a:avLst/>
          </a:prstGeom>
          <a:solidFill>
            <a:schemeClr val="accent6">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2. Waiters Incentive Program</a:t>
            </a:r>
          </a:p>
        </p:txBody>
      </p:sp>
      <p:sp>
        <p:nvSpPr>
          <p:cNvPr id="64" name="TextBox 63">
            <a:extLst>
              <a:ext uri="{FF2B5EF4-FFF2-40B4-BE49-F238E27FC236}">
                <a16:creationId xmlns:a16="http://schemas.microsoft.com/office/drawing/2014/main" id="{6C7D51FA-3048-4F4B-0120-37583AEB77F4}"/>
              </a:ext>
            </a:extLst>
          </p:cNvPr>
          <p:cNvSpPr txBox="1"/>
          <p:nvPr/>
        </p:nvSpPr>
        <p:spPr>
          <a:xfrm>
            <a:off x="3435220" y="2402348"/>
            <a:ext cx="5490896" cy="1066959"/>
          </a:xfrm>
          <a:prstGeom prst="rect">
            <a:avLst/>
          </a:prstGeom>
          <a:solidFill>
            <a:schemeClr val="accent6">
              <a:lumMod val="20000"/>
              <a:lumOff val="80000"/>
            </a:schemeClr>
          </a:solidFill>
        </p:spPr>
        <p:txBody>
          <a:bodyPr wrap="square">
            <a:spAutoFit/>
          </a:bodyPr>
          <a:lstStyle/>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50 </a:t>
            </a:r>
            <a:r>
              <a:rPr kumimoji="0" lang="en-US" sz="1200" b="0" i="0" u="none" strike="noStrike" kern="1200" cap="none" spc="0" normalizeH="0" baseline="0" noProof="0" dirty="0" err="1">
                <a:ln>
                  <a:noFill/>
                </a:ln>
                <a:solidFill>
                  <a:srgbClr val="0C0C0C"/>
                </a:solidFill>
                <a:effectLst/>
                <a:uLnTx/>
                <a:uFillTx/>
                <a:latin typeface="Aptos" panose="020B0004020202020204" pitchFamily="34" charset="0"/>
                <a:ea typeface="+mn-ea"/>
                <a:cs typeface="+mn-cs"/>
              </a:rPr>
              <a:t>Rwf</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 bottle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reward</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ed</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upon</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target achievement</a:t>
            </a:r>
            <a:endPar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Septembe</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 baseline: 22,959</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Crates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Target calculation (X+1):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10% month-on-month</a:t>
            </a:r>
            <a:endPar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Current coverage:</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170 outlets</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rewery tours for owners/managers → ambassadorship</a:t>
            </a:r>
          </a:p>
        </p:txBody>
      </p:sp>
      <p:sp>
        <p:nvSpPr>
          <p:cNvPr id="66" name="TextBox 65">
            <a:extLst>
              <a:ext uri="{FF2B5EF4-FFF2-40B4-BE49-F238E27FC236}">
                <a16:creationId xmlns:a16="http://schemas.microsoft.com/office/drawing/2014/main" id="{B47B206E-CA07-277F-9FE4-D107E8AA52EA}"/>
              </a:ext>
            </a:extLst>
          </p:cNvPr>
          <p:cNvSpPr txBox="1"/>
          <p:nvPr/>
        </p:nvSpPr>
        <p:spPr>
          <a:xfrm>
            <a:off x="9315081" y="2440336"/>
            <a:ext cx="2562678" cy="830997"/>
          </a:xfrm>
          <a:prstGeom prst="rect">
            <a:avLst/>
          </a:prstGeom>
          <a:solidFill>
            <a:schemeClr val="accent6">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Increase sell-out, </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persuasion by </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waiter</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consumer’s switch and swap and </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brand </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power building</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across 170 outlets.</a:t>
            </a:r>
          </a:p>
        </p:txBody>
      </p:sp>
      <p:sp>
        <p:nvSpPr>
          <p:cNvPr id="68" name="Rectangle 67">
            <a:extLst>
              <a:ext uri="{FF2B5EF4-FFF2-40B4-BE49-F238E27FC236}">
                <a16:creationId xmlns:a16="http://schemas.microsoft.com/office/drawing/2014/main" id="{10B4948E-5E9C-723B-6BE8-671F28A0EC67}"/>
              </a:ext>
            </a:extLst>
          </p:cNvPr>
          <p:cNvSpPr/>
          <p:nvPr/>
        </p:nvSpPr>
        <p:spPr>
          <a:xfrm>
            <a:off x="292608" y="4020305"/>
            <a:ext cx="2920982" cy="981740"/>
          </a:xfrm>
          <a:prstGeom prst="rect">
            <a:avLst/>
          </a:prstGeom>
          <a:solidFill>
            <a:schemeClr val="bg1">
              <a:lumMod val="85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0" name="Rectangle 69">
            <a:extLst>
              <a:ext uri="{FF2B5EF4-FFF2-40B4-BE49-F238E27FC236}">
                <a16:creationId xmlns:a16="http://schemas.microsoft.com/office/drawing/2014/main" id="{08179525-3C2D-4C7E-417F-E93118564919}"/>
              </a:ext>
            </a:extLst>
          </p:cNvPr>
          <p:cNvSpPr/>
          <p:nvPr/>
        </p:nvSpPr>
        <p:spPr>
          <a:xfrm>
            <a:off x="3359473" y="4021963"/>
            <a:ext cx="5704522" cy="981738"/>
          </a:xfrm>
          <a:prstGeom prst="rect">
            <a:avLst/>
          </a:prstGeom>
          <a:solidFill>
            <a:schemeClr val="bg1">
              <a:lumMod val="85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2" name="Rectangle 71">
            <a:extLst>
              <a:ext uri="{FF2B5EF4-FFF2-40B4-BE49-F238E27FC236}">
                <a16:creationId xmlns:a16="http://schemas.microsoft.com/office/drawing/2014/main" id="{2BB072CA-CB7A-404E-1733-5F0B736A164C}"/>
              </a:ext>
            </a:extLst>
          </p:cNvPr>
          <p:cNvSpPr/>
          <p:nvPr/>
        </p:nvSpPr>
        <p:spPr>
          <a:xfrm>
            <a:off x="9183137" y="4020305"/>
            <a:ext cx="2745560" cy="981739"/>
          </a:xfrm>
          <a:prstGeom prst="rect">
            <a:avLst/>
          </a:prstGeom>
          <a:solidFill>
            <a:schemeClr val="bg1">
              <a:lumMod val="85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4" name="TextBox 73">
            <a:extLst>
              <a:ext uri="{FF2B5EF4-FFF2-40B4-BE49-F238E27FC236}">
                <a16:creationId xmlns:a16="http://schemas.microsoft.com/office/drawing/2014/main" id="{C982D981-CC18-8B8B-6E37-9EE4250E2DCD}"/>
              </a:ext>
            </a:extLst>
          </p:cNvPr>
          <p:cNvSpPr txBox="1"/>
          <p:nvPr/>
        </p:nvSpPr>
        <p:spPr>
          <a:xfrm>
            <a:off x="355498" y="4098179"/>
            <a:ext cx="2792426" cy="461665"/>
          </a:xfrm>
          <a:prstGeom prst="rect">
            <a:avLst/>
          </a:prstGeom>
          <a:solidFill>
            <a:schemeClr val="bg1">
              <a:lumMod val="8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3. Magic Boxes Loyalty Program</a:t>
            </a:r>
            <a:endPar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a:t>
            </a:r>
            <a:r>
              <a:rPr kumimoji="0" lang="en-US" sz="1200" b="1" i="0" u="none" strike="noStrike" kern="1200" cap="none" spc="0" normalizeH="0" baseline="0" noProof="0" dirty="0" err="1">
                <a:ln>
                  <a:noFill/>
                </a:ln>
                <a:solidFill>
                  <a:srgbClr val="0C0C0C"/>
                </a:solidFill>
                <a:effectLst/>
                <a:uLnTx/>
                <a:uFillTx/>
                <a:latin typeface="Aptos" panose="020B0004020202020204" pitchFamily="34" charset="0"/>
                <a:ea typeface="+mn-ea"/>
                <a:cs typeface="+mn-cs"/>
              </a:rPr>
              <a:t>Gatanu</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“UMUDATENGUHA” Box)</a:t>
            </a:r>
            <a:endPar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p:txBody>
      </p:sp>
      <p:sp>
        <p:nvSpPr>
          <p:cNvPr id="76" name="TextBox 75">
            <a:extLst>
              <a:ext uri="{FF2B5EF4-FFF2-40B4-BE49-F238E27FC236}">
                <a16:creationId xmlns:a16="http://schemas.microsoft.com/office/drawing/2014/main" id="{89D7EB59-39C7-0D69-BC14-A5EC8DE114BE}"/>
              </a:ext>
            </a:extLst>
          </p:cNvPr>
          <p:cNvSpPr txBox="1"/>
          <p:nvPr/>
        </p:nvSpPr>
        <p:spPr>
          <a:xfrm>
            <a:off x="3415564" y="4084619"/>
            <a:ext cx="5608856" cy="856645"/>
          </a:xfrm>
          <a:prstGeom prst="rect">
            <a:avLst/>
          </a:prstGeom>
          <a:solidFill>
            <a:schemeClr val="bg1">
              <a:lumMod val="85000"/>
            </a:schemeClr>
          </a:solidFill>
        </p:spPr>
        <p:txBody>
          <a:bodyPr wrap="square">
            <a:spAutoFit/>
          </a:bodyPr>
          <a:lstStyle/>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Branded boxes deployed in Basic POS</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The box will be filled with crown corks opened on Skol bottles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Once the box is full, the POS will be redeemed with </a:t>
            </a:r>
            <a:r>
              <a:rPr kumimoji="0" lang="en-US" sz="1200" b="0" i="0" u="none" strike="noStrike" kern="1200" cap="none" spc="0" normalizeH="0" baseline="0" noProof="0" dirty="0" err="1">
                <a:ln>
                  <a:noFill/>
                </a:ln>
                <a:solidFill>
                  <a:srgbClr val="0C0C0C"/>
                </a:solidFill>
                <a:effectLst/>
                <a:uLnTx/>
                <a:uFillTx/>
                <a:latin typeface="Aptos" panose="020B0004020202020204" pitchFamily="34" charset="0"/>
                <a:ea typeface="+mn-ea"/>
                <a:cs typeface="+mn-cs"/>
              </a:rPr>
              <a:t>Gatanu</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65cl crates + </a:t>
            </a:r>
            <a:r>
              <a:rPr kumimoji="0" lang="en-US" sz="1200" b="0" i="0" u="none" strike="noStrike" kern="1200" cap="none" spc="0" normalizeH="0" baseline="0" noProof="0" dirty="0" err="1">
                <a:ln>
                  <a:noFill/>
                </a:ln>
                <a:solidFill>
                  <a:srgbClr val="0C0C0C"/>
                </a:solidFill>
                <a:effectLst/>
                <a:uLnTx/>
                <a:uFillTx/>
                <a:latin typeface="Aptos" panose="020B0004020202020204" pitchFamily="34" charset="0"/>
                <a:ea typeface="+mn-ea"/>
                <a:cs typeface="+mn-cs"/>
              </a:rPr>
              <a:t>Gatanu</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tables sets</a:t>
            </a:r>
          </a:p>
        </p:txBody>
      </p:sp>
      <p:sp>
        <p:nvSpPr>
          <p:cNvPr id="78" name="TextBox 77">
            <a:extLst>
              <a:ext uri="{FF2B5EF4-FFF2-40B4-BE49-F238E27FC236}">
                <a16:creationId xmlns:a16="http://schemas.microsoft.com/office/drawing/2014/main" id="{4BD68414-B5E8-468B-F79E-AD54226DF2BD}"/>
              </a:ext>
            </a:extLst>
          </p:cNvPr>
          <p:cNvSpPr txBox="1"/>
          <p:nvPr/>
        </p:nvSpPr>
        <p:spPr>
          <a:xfrm>
            <a:off x="9293447" y="4083040"/>
            <a:ext cx="2562678" cy="646331"/>
          </a:xfrm>
          <a:prstGeom prst="rect">
            <a:avLst/>
          </a:prstGeom>
          <a:solidFill>
            <a:schemeClr val="bg1">
              <a:lumMod val="8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Build </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permanent persuasion</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visibility and repeat purchase at Basic POS.</a:t>
            </a:r>
          </a:p>
        </p:txBody>
      </p:sp>
      <p:sp>
        <p:nvSpPr>
          <p:cNvPr id="80" name="Rectangle 79">
            <a:extLst>
              <a:ext uri="{FF2B5EF4-FFF2-40B4-BE49-F238E27FC236}">
                <a16:creationId xmlns:a16="http://schemas.microsoft.com/office/drawing/2014/main" id="{669656EC-F64D-64F9-14B5-6095E0BB3ED3}"/>
              </a:ext>
            </a:extLst>
          </p:cNvPr>
          <p:cNvSpPr/>
          <p:nvPr/>
        </p:nvSpPr>
        <p:spPr>
          <a:xfrm>
            <a:off x="292607" y="5054929"/>
            <a:ext cx="2928442" cy="1139183"/>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2" name="Rectangle 81">
            <a:extLst>
              <a:ext uri="{FF2B5EF4-FFF2-40B4-BE49-F238E27FC236}">
                <a16:creationId xmlns:a16="http://schemas.microsoft.com/office/drawing/2014/main" id="{D5B4209A-2A41-E1E2-C226-7EC26E303216}"/>
              </a:ext>
            </a:extLst>
          </p:cNvPr>
          <p:cNvSpPr/>
          <p:nvPr/>
        </p:nvSpPr>
        <p:spPr>
          <a:xfrm>
            <a:off x="3370089" y="5060063"/>
            <a:ext cx="5716888" cy="1139183"/>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4" name="Rectangle 83">
            <a:extLst>
              <a:ext uri="{FF2B5EF4-FFF2-40B4-BE49-F238E27FC236}">
                <a16:creationId xmlns:a16="http://schemas.microsoft.com/office/drawing/2014/main" id="{7CE6B893-6B46-B059-DD28-6E04520E525F}"/>
              </a:ext>
            </a:extLst>
          </p:cNvPr>
          <p:cNvSpPr/>
          <p:nvPr/>
        </p:nvSpPr>
        <p:spPr>
          <a:xfrm>
            <a:off x="9202004" y="5054868"/>
            <a:ext cx="2745561" cy="1143189"/>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6" name="TextBox 85">
            <a:extLst>
              <a:ext uri="{FF2B5EF4-FFF2-40B4-BE49-F238E27FC236}">
                <a16:creationId xmlns:a16="http://schemas.microsoft.com/office/drawing/2014/main" id="{4B82FE5F-1249-7AEB-19A8-DFD3249B46FE}"/>
              </a:ext>
            </a:extLst>
          </p:cNvPr>
          <p:cNvSpPr txBox="1"/>
          <p:nvPr/>
        </p:nvSpPr>
        <p:spPr>
          <a:xfrm>
            <a:off x="364037" y="5150463"/>
            <a:ext cx="2792426" cy="276999"/>
          </a:xfrm>
          <a:prstGeom prst="rect">
            <a:avLst/>
          </a:prstGeom>
          <a:solidFill>
            <a:schemeClr val="accent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4. Key Flagship Outlets – Partnerships</a:t>
            </a:r>
          </a:p>
        </p:txBody>
      </p:sp>
      <p:sp>
        <p:nvSpPr>
          <p:cNvPr id="88" name="TextBox 87">
            <a:extLst>
              <a:ext uri="{FF2B5EF4-FFF2-40B4-BE49-F238E27FC236}">
                <a16:creationId xmlns:a16="http://schemas.microsoft.com/office/drawing/2014/main" id="{A360A494-78F5-E6CB-BA88-B219A1FC4AD7}"/>
              </a:ext>
            </a:extLst>
          </p:cNvPr>
          <p:cNvSpPr txBox="1"/>
          <p:nvPr/>
        </p:nvSpPr>
        <p:spPr>
          <a:xfrm>
            <a:off x="3435220" y="5103297"/>
            <a:ext cx="5530216" cy="1041311"/>
          </a:xfrm>
          <a:prstGeom prst="rect">
            <a:avLst/>
          </a:prstGeom>
          <a:solidFill>
            <a:schemeClr val="accent2">
              <a:lumMod val="20000"/>
              <a:lumOff val="80000"/>
            </a:schemeClr>
          </a:solidFill>
        </p:spPr>
        <p:txBody>
          <a:bodyPr wrap="square">
            <a:spAutoFit/>
          </a:bodyPr>
          <a:lstStyle/>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RG Sports Center</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sport</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hub; </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to be used for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RPL</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event ceremonies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A</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rea 51</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largest bar in Kicukiro Beer Garden</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priority outlet for consumer-facing activities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A</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fter 5</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premium </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bar</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located in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Kicukiro Beer Garden</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priority outlet for consumer-facing activities</a:t>
            </a:r>
          </a:p>
        </p:txBody>
      </p:sp>
      <p:sp>
        <p:nvSpPr>
          <p:cNvPr id="90" name="Rectangle 89">
            <a:extLst>
              <a:ext uri="{FF2B5EF4-FFF2-40B4-BE49-F238E27FC236}">
                <a16:creationId xmlns:a16="http://schemas.microsoft.com/office/drawing/2014/main" id="{5934F3AF-44EA-6271-9EC5-D8AC39B0FFC0}"/>
              </a:ext>
            </a:extLst>
          </p:cNvPr>
          <p:cNvSpPr/>
          <p:nvPr/>
        </p:nvSpPr>
        <p:spPr>
          <a:xfrm>
            <a:off x="355498" y="5532024"/>
            <a:ext cx="884344" cy="511275"/>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92" name="TextBox 91">
            <a:extLst>
              <a:ext uri="{FF2B5EF4-FFF2-40B4-BE49-F238E27FC236}">
                <a16:creationId xmlns:a16="http://schemas.microsoft.com/office/drawing/2014/main" id="{4C1C6AEA-0754-FFB1-A920-F022F59ECFC4}"/>
              </a:ext>
            </a:extLst>
          </p:cNvPr>
          <p:cNvSpPr txBox="1"/>
          <p:nvPr/>
        </p:nvSpPr>
        <p:spPr>
          <a:xfrm>
            <a:off x="364037" y="5595713"/>
            <a:ext cx="849561" cy="400110"/>
          </a:xfrm>
          <a:prstGeom prst="rect">
            <a:avLst/>
          </a:prstGeom>
          <a:solidFill>
            <a:schemeClr val="accent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RG SPORTS CENTER</a:t>
            </a:r>
          </a:p>
        </p:txBody>
      </p:sp>
      <p:sp>
        <p:nvSpPr>
          <p:cNvPr id="94" name="Rectangle 93">
            <a:extLst>
              <a:ext uri="{FF2B5EF4-FFF2-40B4-BE49-F238E27FC236}">
                <a16:creationId xmlns:a16="http://schemas.microsoft.com/office/drawing/2014/main" id="{D4AB6C4E-AEDD-64E0-5DD5-E57EF1AE3D5B}"/>
              </a:ext>
            </a:extLst>
          </p:cNvPr>
          <p:cNvSpPr/>
          <p:nvPr/>
        </p:nvSpPr>
        <p:spPr>
          <a:xfrm>
            <a:off x="1279301" y="5539221"/>
            <a:ext cx="883343" cy="512293"/>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96" name="TextBox 95">
            <a:extLst>
              <a:ext uri="{FF2B5EF4-FFF2-40B4-BE49-F238E27FC236}">
                <a16:creationId xmlns:a16="http://schemas.microsoft.com/office/drawing/2014/main" id="{C8FA17A3-393C-6B61-2923-6883492D1D5F}"/>
              </a:ext>
            </a:extLst>
          </p:cNvPr>
          <p:cNvSpPr txBox="1"/>
          <p:nvPr/>
        </p:nvSpPr>
        <p:spPr>
          <a:xfrm>
            <a:off x="1304221" y="5648118"/>
            <a:ext cx="843392" cy="250188"/>
          </a:xfrm>
          <a:prstGeom prst="rect">
            <a:avLst/>
          </a:prstGeom>
          <a:solidFill>
            <a:schemeClr val="accent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AREA 51</a:t>
            </a:r>
          </a:p>
        </p:txBody>
      </p:sp>
      <p:sp>
        <p:nvSpPr>
          <p:cNvPr id="98" name="Rectangle 97">
            <a:extLst>
              <a:ext uri="{FF2B5EF4-FFF2-40B4-BE49-F238E27FC236}">
                <a16:creationId xmlns:a16="http://schemas.microsoft.com/office/drawing/2014/main" id="{3380CEC3-9A7B-ABEE-DDE9-019578CBE453}"/>
              </a:ext>
            </a:extLst>
          </p:cNvPr>
          <p:cNvSpPr/>
          <p:nvPr/>
        </p:nvSpPr>
        <p:spPr>
          <a:xfrm>
            <a:off x="2203383" y="5539221"/>
            <a:ext cx="904628" cy="514864"/>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0" name="TextBox 99">
            <a:extLst>
              <a:ext uri="{FF2B5EF4-FFF2-40B4-BE49-F238E27FC236}">
                <a16:creationId xmlns:a16="http://schemas.microsoft.com/office/drawing/2014/main" id="{93049DBD-953F-92C1-8E32-37E835FAC678}"/>
              </a:ext>
            </a:extLst>
          </p:cNvPr>
          <p:cNvSpPr txBox="1"/>
          <p:nvPr/>
        </p:nvSpPr>
        <p:spPr>
          <a:xfrm>
            <a:off x="2220086" y="5644094"/>
            <a:ext cx="863715" cy="246221"/>
          </a:xfrm>
          <a:prstGeom prst="rect">
            <a:avLst/>
          </a:prstGeom>
          <a:solidFill>
            <a:schemeClr val="accent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AFTER 5</a:t>
            </a:r>
          </a:p>
        </p:txBody>
      </p:sp>
      <p:sp>
        <p:nvSpPr>
          <p:cNvPr id="102" name="TextBox 101">
            <a:extLst>
              <a:ext uri="{FF2B5EF4-FFF2-40B4-BE49-F238E27FC236}">
                <a16:creationId xmlns:a16="http://schemas.microsoft.com/office/drawing/2014/main" id="{EF0829A0-D1E8-7EF2-7A07-4002F0BAE68B}"/>
              </a:ext>
            </a:extLst>
          </p:cNvPr>
          <p:cNvSpPr txBox="1"/>
          <p:nvPr/>
        </p:nvSpPr>
        <p:spPr>
          <a:xfrm>
            <a:off x="9293446" y="5164826"/>
            <a:ext cx="2562679" cy="830997"/>
          </a:xfrm>
          <a:prstGeom prst="rect">
            <a:avLst/>
          </a:prstGeom>
          <a:solidFill>
            <a:schemeClr val="accent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Create scalable activation platforms across football, sports entertainment and premium nightlife.</a:t>
            </a:r>
          </a:p>
        </p:txBody>
      </p:sp>
      <p:sp>
        <p:nvSpPr>
          <p:cNvPr id="104" name="Rounded Rectangle 43">
            <a:extLst>
              <a:ext uri="{FF2B5EF4-FFF2-40B4-BE49-F238E27FC236}">
                <a16:creationId xmlns:a16="http://schemas.microsoft.com/office/drawing/2014/main" id="{87C28FB4-BA6F-864D-BD39-A2CB0B5AD3D9}"/>
              </a:ext>
            </a:extLst>
          </p:cNvPr>
          <p:cNvSpPr/>
          <p:nvPr/>
        </p:nvSpPr>
        <p:spPr>
          <a:xfrm>
            <a:off x="3474279" y="3482596"/>
            <a:ext cx="4470188" cy="388946"/>
          </a:xfrm>
          <a:prstGeom prst="roundRect">
            <a:avLst/>
          </a:prstGeom>
          <a:solidFill>
            <a:schemeClr val="accent6">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6" name="TextBox 105">
            <a:extLst>
              <a:ext uri="{FF2B5EF4-FFF2-40B4-BE49-F238E27FC236}">
                <a16:creationId xmlns:a16="http://schemas.microsoft.com/office/drawing/2014/main" id="{7614258A-2596-04C7-A2AA-F694ED35C42F}"/>
              </a:ext>
            </a:extLst>
          </p:cNvPr>
          <p:cNvSpPr txBox="1"/>
          <p:nvPr/>
        </p:nvSpPr>
        <p:spPr>
          <a:xfrm>
            <a:off x="3642032" y="3538569"/>
            <a:ext cx="4134682" cy="276999"/>
          </a:xfrm>
          <a:prstGeom prst="rect">
            <a:avLst/>
          </a:prstGeom>
          <a:solidFill>
            <a:schemeClr val="accent6">
              <a:lumMod val="20000"/>
              <a:lumOff val="80000"/>
            </a:schemeClr>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22313C"/>
                </a:solidFill>
                <a:effectLst/>
                <a:uLnTx/>
                <a:uFillTx/>
                <a:latin typeface="Aptos" panose="020B0004020202020204" pitchFamily="34" charset="0"/>
                <a:ea typeface="+mn-ea"/>
                <a:cs typeface="+mn-cs"/>
              </a:rPr>
              <a:t>Q4 </a:t>
            </a:r>
            <a:r>
              <a:rPr kumimoji="0" lang="en-US" sz="1200" b="1" i="0" u="none" strike="noStrike" kern="1200" cap="none" spc="0" normalizeH="0" baseline="0" noProof="0" dirty="0">
                <a:ln>
                  <a:noFill/>
                </a:ln>
                <a:solidFill>
                  <a:srgbClr val="22313C"/>
                </a:solidFill>
                <a:effectLst/>
                <a:uLnTx/>
                <a:uFillTx/>
                <a:latin typeface="Aptos" panose="020B0004020202020204" pitchFamily="34" charset="0"/>
                <a:ea typeface="+mn-ea"/>
                <a:cs typeface="+mn-cs"/>
              </a:rPr>
              <a:t>volume trend</a:t>
            </a:r>
            <a:r>
              <a:rPr kumimoji="0" sz="1200" b="1" i="0" u="none" strike="noStrike" kern="1200" cap="none" spc="0" normalizeH="0" baseline="0" noProof="0" dirty="0">
                <a:ln>
                  <a:noFill/>
                </a:ln>
                <a:solidFill>
                  <a:srgbClr val="22313C"/>
                </a:solidFill>
                <a:effectLst/>
                <a:uLnTx/>
                <a:uFillTx/>
                <a:latin typeface="Aptos" panose="020B0004020202020204" pitchFamily="34" charset="0"/>
                <a:ea typeface="+mn-ea"/>
                <a:cs typeface="+mn-cs"/>
              </a:rPr>
              <a:t>: Oct 25,255  •  Nov 27,781  •  Dec 30,559</a:t>
            </a:r>
          </a:p>
        </p:txBody>
      </p:sp>
      <p:sp>
        <p:nvSpPr>
          <p:cNvPr id="108" name="Rounded Rectangle 45">
            <a:extLst>
              <a:ext uri="{FF2B5EF4-FFF2-40B4-BE49-F238E27FC236}">
                <a16:creationId xmlns:a16="http://schemas.microsoft.com/office/drawing/2014/main" id="{52DD2BA6-4054-CC8C-0635-096908B54B33}"/>
              </a:ext>
            </a:extLst>
          </p:cNvPr>
          <p:cNvSpPr/>
          <p:nvPr/>
        </p:nvSpPr>
        <p:spPr>
          <a:xfrm>
            <a:off x="261295" y="6277130"/>
            <a:ext cx="11686270" cy="508962"/>
          </a:xfrm>
          <a:prstGeom prst="roundRect">
            <a:avLst/>
          </a:prstGeom>
          <a:solidFill>
            <a:schemeClr val="tx1"/>
          </a:solidFill>
          <a:ln>
            <a:solidFill>
              <a:srgbClr val="2231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10" name="TextBox 109">
            <a:extLst>
              <a:ext uri="{FF2B5EF4-FFF2-40B4-BE49-F238E27FC236}">
                <a16:creationId xmlns:a16="http://schemas.microsoft.com/office/drawing/2014/main" id="{3E786FC7-698A-2EC1-49A5-CF0C99CE5AF3}"/>
              </a:ext>
            </a:extLst>
          </p:cNvPr>
          <p:cNvSpPr txBox="1"/>
          <p:nvPr/>
        </p:nvSpPr>
        <p:spPr>
          <a:xfrm>
            <a:off x="476363" y="6396201"/>
            <a:ext cx="1114616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Q4 SUCCESS</a:t>
            </a:r>
            <a:r>
              <a:rPr kumimoji="0" lang="en-US"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 ROAD MAP</a:t>
            </a:r>
            <a:r>
              <a:rPr kumimoji="0"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 COVERAGE → AVAILABILITY → SELL-OUT → </a:t>
            </a:r>
            <a:r>
              <a:rPr kumimoji="0" lang="en-US"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PERSUASION</a:t>
            </a:r>
            <a:r>
              <a:rPr kumimoji="0"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 → ACTIVATION </a:t>
            </a:r>
            <a:r>
              <a:rPr kumimoji="0" lang="en-RW"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a:t>
            </a:r>
            <a:r>
              <a:rPr kumimoji="0" lang="en-US"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 INCREMENTAL VOLUME</a:t>
            </a:r>
            <a:endParaRPr kumimoji="0"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3613585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E2D93-6D6A-FC11-0490-833B1D0A35A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C137AA9-93F0-29C2-205E-580D6890ED0F}"/>
              </a:ext>
            </a:extLst>
          </p:cNvPr>
          <p:cNvSpPr txBox="1">
            <a:spLocks/>
          </p:cNvSpPr>
          <p:nvPr/>
        </p:nvSpPr>
        <p:spPr>
          <a:xfrm>
            <a:off x="205882" y="56731"/>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EXECUTION PLAN – 2027</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SKOL MALT</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How to win at the point of sale</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US" sz="18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a:p>
            <a:pPr marL="0" marR="0" lvl="0" indent="0" algn="ctr" defTabSz="914400" rtl="0" eaLnBrk="1" fontAlgn="auto" latinLnBrk="0" hangingPunct="1">
              <a:lnSpc>
                <a:spcPct val="80000"/>
              </a:lnSpc>
              <a:spcBef>
                <a:spcPct val="0"/>
              </a:spcBef>
              <a:spcAft>
                <a:spcPts val="60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10" name="Rounded Rectangle 7">
            <a:extLst>
              <a:ext uri="{FF2B5EF4-FFF2-40B4-BE49-F238E27FC236}">
                <a16:creationId xmlns:a16="http://schemas.microsoft.com/office/drawing/2014/main" id="{B6522228-5A72-9567-14D4-CBB1145C66B3}"/>
              </a:ext>
            </a:extLst>
          </p:cNvPr>
          <p:cNvSpPr/>
          <p:nvPr/>
        </p:nvSpPr>
        <p:spPr>
          <a:xfrm>
            <a:off x="321008" y="889583"/>
            <a:ext cx="2761488" cy="3323426"/>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2" name="Rectangle 11">
            <a:extLst>
              <a:ext uri="{FF2B5EF4-FFF2-40B4-BE49-F238E27FC236}">
                <a16:creationId xmlns:a16="http://schemas.microsoft.com/office/drawing/2014/main" id="{10AB7DF5-C0BA-A7F4-DC73-0D50A74530AE}"/>
              </a:ext>
            </a:extLst>
          </p:cNvPr>
          <p:cNvSpPr/>
          <p:nvPr/>
        </p:nvSpPr>
        <p:spPr>
          <a:xfrm>
            <a:off x="321008" y="813713"/>
            <a:ext cx="2761488" cy="118872"/>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 name="Oval 14">
            <a:extLst>
              <a:ext uri="{FF2B5EF4-FFF2-40B4-BE49-F238E27FC236}">
                <a16:creationId xmlns:a16="http://schemas.microsoft.com/office/drawing/2014/main" id="{18A795DD-42AD-AD94-FB8D-8A786BC0E8CA}"/>
              </a:ext>
            </a:extLst>
          </p:cNvPr>
          <p:cNvSpPr/>
          <p:nvPr/>
        </p:nvSpPr>
        <p:spPr>
          <a:xfrm>
            <a:off x="375775" y="1000487"/>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18" name="TextBox 17">
            <a:extLst>
              <a:ext uri="{FF2B5EF4-FFF2-40B4-BE49-F238E27FC236}">
                <a16:creationId xmlns:a16="http://schemas.microsoft.com/office/drawing/2014/main" id="{4076D8AA-06CC-E908-C313-48930C008C68}"/>
              </a:ext>
            </a:extLst>
          </p:cNvPr>
          <p:cNvSpPr txBox="1"/>
          <p:nvPr/>
        </p:nvSpPr>
        <p:spPr>
          <a:xfrm>
            <a:off x="375775" y="1089961"/>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01</a:t>
            </a:r>
          </a:p>
        </p:txBody>
      </p:sp>
      <p:sp>
        <p:nvSpPr>
          <p:cNvPr id="20" name="TextBox 19">
            <a:extLst>
              <a:ext uri="{FF2B5EF4-FFF2-40B4-BE49-F238E27FC236}">
                <a16:creationId xmlns:a16="http://schemas.microsoft.com/office/drawing/2014/main" id="{B1DF8E71-D1CA-7E18-828E-0B73902BC3EC}"/>
              </a:ext>
            </a:extLst>
          </p:cNvPr>
          <p:cNvSpPr txBox="1"/>
          <p:nvPr/>
        </p:nvSpPr>
        <p:spPr>
          <a:xfrm>
            <a:off x="842119" y="1100089"/>
            <a:ext cx="1965960" cy="203133"/>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MAXIMIZE AVAILABILITY</a:t>
            </a:r>
          </a:p>
        </p:txBody>
      </p:sp>
      <p:sp>
        <p:nvSpPr>
          <p:cNvPr id="22" name="Rectangle 21">
            <a:extLst>
              <a:ext uri="{FF2B5EF4-FFF2-40B4-BE49-F238E27FC236}">
                <a16:creationId xmlns:a16="http://schemas.microsoft.com/office/drawing/2014/main" id="{BD277C9F-757E-4FE6-25B1-D7028DC00B9D}"/>
              </a:ext>
            </a:extLst>
          </p:cNvPr>
          <p:cNvSpPr/>
          <p:nvPr/>
        </p:nvSpPr>
        <p:spPr>
          <a:xfrm>
            <a:off x="375775" y="1492199"/>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4" name="TextBox 23">
            <a:extLst>
              <a:ext uri="{FF2B5EF4-FFF2-40B4-BE49-F238E27FC236}">
                <a16:creationId xmlns:a16="http://schemas.microsoft.com/office/drawing/2014/main" id="{635507CD-2332-D803-9C75-317A9BD3BF8B}"/>
              </a:ext>
            </a:extLst>
          </p:cNvPr>
          <p:cNvSpPr txBox="1"/>
          <p:nvPr/>
        </p:nvSpPr>
        <p:spPr>
          <a:xfrm>
            <a:off x="357669" y="1644350"/>
            <a:ext cx="263760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sym typeface="Wingdings" panose="05000000000000000000" pitchFamily="2" charset="2"/>
              </a:rPr>
              <a:t>a) </a:t>
            </a: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164 priority venues to cover</a:t>
            </a:r>
          </a:p>
        </p:txBody>
      </p:sp>
      <p:sp>
        <p:nvSpPr>
          <p:cNvPr id="26" name="TextBox 25">
            <a:extLst>
              <a:ext uri="{FF2B5EF4-FFF2-40B4-BE49-F238E27FC236}">
                <a16:creationId xmlns:a16="http://schemas.microsoft.com/office/drawing/2014/main" id="{04EEFC88-4E8D-40B8-7090-43F139DAF911}"/>
              </a:ext>
            </a:extLst>
          </p:cNvPr>
          <p:cNvSpPr txBox="1"/>
          <p:nvPr/>
        </p:nvSpPr>
        <p:spPr>
          <a:xfrm>
            <a:off x="385016" y="1942322"/>
            <a:ext cx="2633472" cy="326243"/>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Secure listings and sustain stock availability in event venues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created as new channels</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p>
        </p:txBody>
      </p:sp>
      <p:sp>
        <p:nvSpPr>
          <p:cNvPr id="28" name="Rectangle 27">
            <a:extLst>
              <a:ext uri="{FF2B5EF4-FFF2-40B4-BE49-F238E27FC236}">
                <a16:creationId xmlns:a16="http://schemas.microsoft.com/office/drawing/2014/main" id="{848A91A7-7816-37C9-5017-F1601D721993}"/>
              </a:ext>
            </a:extLst>
          </p:cNvPr>
          <p:cNvSpPr/>
          <p:nvPr/>
        </p:nvSpPr>
        <p:spPr>
          <a:xfrm>
            <a:off x="475488" y="3187210"/>
            <a:ext cx="2432304" cy="13716"/>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0" name="TextBox 29">
            <a:extLst>
              <a:ext uri="{FF2B5EF4-FFF2-40B4-BE49-F238E27FC236}">
                <a16:creationId xmlns:a16="http://schemas.microsoft.com/office/drawing/2014/main" id="{2C14F88C-1F8F-3F91-9B54-B5E64ED6BFD0}"/>
              </a:ext>
            </a:extLst>
          </p:cNvPr>
          <p:cNvSpPr txBox="1"/>
          <p:nvPr/>
        </p:nvSpPr>
        <p:spPr>
          <a:xfrm>
            <a:off x="430225" y="3576594"/>
            <a:ext cx="2432304" cy="172355"/>
          </a:xfrm>
          <a:prstGeom prst="rect">
            <a:avLst/>
          </a:prstGeom>
          <a:noFill/>
        </p:spPr>
        <p:txBody>
          <a:bodyPr wrap="square" lIns="36576" tIns="9144" rIns="36576" bIns="9144"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Reinforce stock by outlet category</a:t>
            </a:r>
          </a:p>
        </p:txBody>
      </p:sp>
      <p:sp>
        <p:nvSpPr>
          <p:cNvPr id="32" name="TextBox 31">
            <a:extLst>
              <a:ext uri="{FF2B5EF4-FFF2-40B4-BE49-F238E27FC236}">
                <a16:creationId xmlns:a16="http://schemas.microsoft.com/office/drawing/2014/main" id="{7E02C5FE-1FCD-71A4-8753-EA7E8171D0BF}"/>
              </a:ext>
            </a:extLst>
          </p:cNvPr>
          <p:cNvSpPr txBox="1"/>
          <p:nvPr/>
        </p:nvSpPr>
        <p:spPr>
          <a:xfrm>
            <a:off x="430224" y="3777493"/>
            <a:ext cx="2565047" cy="326243"/>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CAT A: 6 crates  |  CAT B: 4  |  CAT C: 2</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34" name="Rounded Rectangle 18">
            <a:extLst>
              <a:ext uri="{FF2B5EF4-FFF2-40B4-BE49-F238E27FC236}">
                <a16:creationId xmlns:a16="http://schemas.microsoft.com/office/drawing/2014/main" id="{B03CA49B-A231-6510-4898-3E171EEF8A47}"/>
              </a:ext>
            </a:extLst>
          </p:cNvPr>
          <p:cNvSpPr/>
          <p:nvPr/>
        </p:nvSpPr>
        <p:spPr>
          <a:xfrm>
            <a:off x="6207383" y="882537"/>
            <a:ext cx="2761488" cy="3330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36" name="Rectangle 35">
            <a:extLst>
              <a:ext uri="{FF2B5EF4-FFF2-40B4-BE49-F238E27FC236}">
                <a16:creationId xmlns:a16="http://schemas.microsoft.com/office/drawing/2014/main" id="{C375FAB0-8BF7-B31F-97B1-25817D4FAB0D}"/>
              </a:ext>
            </a:extLst>
          </p:cNvPr>
          <p:cNvSpPr/>
          <p:nvPr/>
        </p:nvSpPr>
        <p:spPr>
          <a:xfrm>
            <a:off x="6207383" y="813714"/>
            <a:ext cx="2761488" cy="118872"/>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 name="Oval 37">
            <a:extLst>
              <a:ext uri="{FF2B5EF4-FFF2-40B4-BE49-F238E27FC236}">
                <a16:creationId xmlns:a16="http://schemas.microsoft.com/office/drawing/2014/main" id="{6256A8A6-EB2A-EB97-2DC8-FA3363984AF8}"/>
              </a:ext>
            </a:extLst>
          </p:cNvPr>
          <p:cNvSpPr/>
          <p:nvPr/>
        </p:nvSpPr>
        <p:spPr>
          <a:xfrm>
            <a:off x="6371975" y="101006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0" name="TextBox 39">
            <a:extLst>
              <a:ext uri="{FF2B5EF4-FFF2-40B4-BE49-F238E27FC236}">
                <a16:creationId xmlns:a16="http://schemas.microsoft.com/office/drawing/2014/main" id="{1EA58869-2105-3705-D4CE-FC7E939DB5B3}"/>
              </a:ext>
            </a:extLst>
          </p:cNvPr>
          <p:cNvSpPr txBox="1"/>
          <p:nvPr/>
        </p:nvSpPr>
        <p:spPr>
          <a:xfrm>
            <a:off x="6371975" y="109954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3</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2" name="TextBox 41">
            <a:extLst>
              <a:ext uri="{FF2B5EF4-FFF2-40B4-BE49-F238E27FC236}">
                <a16:creationId xmlns:a16="http://schemas.microsoft.com/office/drawing/2014/main" id="{47D2752A-7F1C-B779-3725-12C75CFFBE85}"/>
              </a:ext>
            </a:extLst>
          </p:cNvPr>
          <p:cNvSpPr txBox="1"/>
          <p:nvPr/>
        </p:nvSpPr>
        <p:spPr>
          <a:xfrm>
            <a:off x="6838319" y="1109668"/>
            <a:ext cx="1965960" cy="203133"/>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372F"/>
                </a:solidFill>
                <a:effectLst/>
                <a:uLnTx/>
                <a:uFillTx/>
                <a:latin typeface="Aptos" panose="020B0004020202020204" pitchFamily="34" charset="0"/>
                <a:ea typeface="+mn-ea"/>
                <a:cs typeface="+mn-cs"/>
              </a:rPr>
              <a:t>WIN VISIBILITY</a:t>
            </a:r>
          </a:p>
        </p:txBody>
      </p:sp>
      <p:sp>
        <p:nvSpPr>
          <p:cNvPr id="44" name="Rectangle 43">
            <a:extLst>
              <a:ext uri="{FF2B5EF4-FFF2-40B4-BE49-F238E27FC236}">
                <a16:creationId xmlns:a16="http://schemas.microsoft.com/office/drawing/2014/main" id="{86614E71-1553-D748-2CB9-483DE7B4862B}"/>
              </a:ext>
            </a:extLst>
          </p:cNvPr>
          <p:cNvSpPr/>
          <p:nvPr/>
        </p:nvSpPr>
        <p:spPr>
          <a:xfrm>
            <a:off x="6371975" y="150177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 name="TextBox 45">
            <a:extLst>
              <a:ext uri="{FF2B5EF4-FFF2-40B4-BE49-F238E27FC236}">
                <a16:creationId xmlns:a16="http://schemas.microsoft.com/office/drawing/2014/main" id="{FBA0C785-0DBB-8A3D-2B9F-BAFB77DEACFC}"/>
              </a:ext>
            </a:extLst>
          </p:cNvPr>
          <p:cNvSpPr txBox="1"/>
          <p:nvPr/>
        </p:nvSpPr>
        <p:spPr>
          <a:xfrm>
            <a:off x="6251810" y="1634952"/>
            <a:ext cx="2636549"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Brand visibility Reinforcement</a:t>
            </a:r>
            <a:endParaRPr kumimoji="0"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48" name="TextBox 47">
            <a:extLst>
              <a:ext uri="{FF2B5EF4-FFF2-40B4-BE49-F238E27FC236}">
                <a16:creationId xmlns:a16="http://schemas.microsoft.com/office/drawing/2014/main" id="{EE757045-7D4C-0323-38FE-72469113ED22}"/>
              </a:ext>
            </a:extLst>
          </p:cNvPr>
          <p:cNvSpPr txBox="1"/>
          <p:nvPr/>
        </p:nvSpPr>
        <p:spPr>
          <a:xfrm>
            <a:off x="6310057" y="1949132"/>
            <a:ext cx="2556139" cy="1095685"/>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148 pylons and billboards to r</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refresh</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Deploy </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aluminum tables and chairs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in 32 classy POS</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enew</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the branding for 18</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Sales Rep</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car</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Develop 2 skol malt flagship outlets</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50" name="Rectangle 49">
            <a:extLst>
              <a:ext uri="{FF2B5EF4-FFF2-40B4-BE49-F238E27FC236}">
                <a16:creationId xmlns:a16="http://schemas.microsoft.com/office/drawing/2014/main" id="{33A43050-AE0E-8500-D3C6-510C66E4BBE4}"/>
              </a:ext>
            </a:extLst>
          </p:cNvPr>
          <p:cNvSpPr/>
          <p:nvPr/>
        </p:nvSpPr>
        <p:spPr>
          <a:xfrm>
            <a:off x="6371975" y="3181060"/>
            <a:ext cx="2432304" cy="13716"/>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2" name="TextBox 51">
            <a:extLst>
              <a:ext uri="{FF2B5EF4-FFF2-40B4-BE49-F238E27FC236}">
                <a16:creationId xmlns:a16="http://schemas.microsoft.com/office/drawing/2014/main" id="{2AB5B654-7634-2B78-360F-221070767C13}"/>
              </a:ext>
            </a:extLst>
          </p:cNvPr>
          <p:cNvSpPr txBox="1"/>
          <p:nvPr/>
        </p:nvSpPr>
        <p:spPr>
          <a:xfrm>
            <a:off x="6371975" y="3345324"/>
            <a:ext cx="2432304" cy="172355"/>
          </a:xfrm>
          <a:prstGeom prst="rect">
            <a:avLst/>
          </a:prstGeom>
          <a:noFill/>
        </p:spPr>
        <p:txBody>
          <a:bodyPr wrap="square" lIns="36576" tIns="9144" rIns="36576"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0000"/>
                </a:solidFill>
                <a:effectLst/>
                <a:uLnTx/>
                <a:uFillTx/>
                <a:latin typeface="Aptos"/>
                <a:ea typeface="+mn-ea"/>
                <a:cs typeface="+mn-cs"/>
              </a:rPr>
              <a:t>EXECUTION STANDARD</a:t>
            </a:r>
          </a:p>
        </p:txBody>
      </p:sp>
      <p:sp>
        <p:nvSpPr>
          <p:cNvPr id="54" name="Rounded Rectangle 29">
            <a:extLst>
              <a:ext uri="{FF2B5EF4-FFF2-40B4-BE49-F238E27FC236}">
                <a16:creationId xmlns:a16="http://schemas.microsoft.com/office/drawing/2014/main" id="{145698F6-C454-365C-D440-41F390314242}"/>
              </a:ext>
            </a:extLst>
          </p:cNvPr>
          <p:cNvSpPr/>
          <p:nvPr/>
        </p:nvSpPr>
        <p:spPr>
          <a:xfrm>
            <a:off x="3265362" y="882537"/>
            <a:ext cx="2761488" cy="3330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6" name="Rectangle 55">
            <a:extLst>
              <a:ext uri="{FF2B5EF4-FFF2-40B4-BE49-F238E27FC236}">
                <a16:creationId xmlns:a16="http://schemas.microsoft.com/office/drawing/2014/main" id="{77481CE3-2E1D-DC54-B5D7-485F39C72BB2}"/>
              </a:ext>
            </a:extLst>
          </p:cNvPr>
          <p:cNvSpPr/>
          <p:nvPr/>
        </p:nvSpPr>
        <p:spPr>
          <a:xfrm>
            <a:off x="3242959" y="813714"/>
            <a:ext cx="2761488" cy="118872"/>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8" name="Oval 57">
            <a:extLst>
              <a:ext uri="{FF2B5EF4-FFF2-40B4-BE49-F238E27FC236}">
                <a16:creationId xmlns:a16="http://schemas.microsoft.com/office/drawing/2014/main" id="{E5C2D93A-00F2-2915-68B2-8F4E325E12F3}"/>
              </a:ext>
            </a:extLst>
          </p:cNvPr>
          <p:cNvSpPr/>
          <p:nvPr/>
        </p:nvSpPr>
        <p:spPr>
          <a:xfrm>
            <a:off x="3407551" y="101006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60" name="TextBox 59">
            <a:extLst>
              <a:ext uri="{FF2B5EF4-FFF2-40B4-BE49-F238E27FC236}">
                <a16:creationId xmlns:a16="http://schemas.microsoft.com/office/drawing/2014/main" id="{E8637BCF-7BFA-063D-A19E-CC7C8E18EB27}"/>
              </a:ext>
            </a:extLst>
          </p:cNvPr>
          <p:cNvSpPr txBox="1"/>
          <p:nvPr/>
        </p:nvSpPr>
        <p:spPr>
          <a:xfrm>
            <a:off x="3407551" y="109954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2</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62" name="TextBox 61">
            <a:extLst>
              <a:ext uri="{FF2B5EF4-FFF2-40B4-BE49-F238E27FC236}">
                <a16:creationId xmlns:a16="http://schemas.microsoft.com/office/drawing/2014/main" id="{DC383C7D-FB1D-EF7E-7652-B7D80134011D}"/>
              </a:ext>
            </a:extLst>
          </p:cNvPr>
          <p:cNvSpPr txBox="1"/>
          <p:nvPr/>
        </p:nvSpPr>
        <p:spPr>
          <a:xfrm>
            <a:off x="3873894" y="1109668"/>
            <a:ext cx="1965960" cy="203133"/>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372F"/>
                </a:solidFill>
                <a:effectLst/>
                <a:uLnTx/>
                <a:uFillTx/>
                <a:latin typeface="Aptos" panose="020B0004020202020204" pitchFamily="34" charset="0"/>
                <a:ea typeface="+mn-ea"/>
                <a:cs typeface="+mn-cs"/>
              </a:rPr>
              <a:t>PROTECT AFFORDABILITY</a:t>
            </a:r>
          </a:p>
        </p:txBody>
      </p:sp>
      <p:sp>
        <p:nvSpPr>
          <p:cNvPr id="64" name="Rectangle 63">
            <a:extLst>
              <a:ext uri="{FF2B5EF4-FFF2-40B4-BE49-F238E27FC236}">
                <a16:creationId xmlns:a16="http://schemas.microsoft.com/office/drawing/2014/main" id="{59747BE0-C7B4-5199-BF42-1B28BA4723C3}"/>
              </a:ext>
            </a:extLst>
          </p:cNvPr>
          <p:cNvSpPr/>
          <p:nvPr/>
        </p:nvSpPr>
        <p:spPr>
          <a:xfrm>
            <a:off x="3407551" y="150177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6" name="TextBox 65">
            <a:extLst>
              <a:ext uri="{FF2B5EF4-FFF2-40B4-BE49-F238E27FC236}">
                <a16:creationId xmlns:a16="http://schemas.microsoft.com/office/drawing/2014/main" id="{78EFF3B9-E4E2-0D69-F20D-EE4082E3E083}"/>
              </a:ext>
            </a:extLst>
          </p:cNvPr>
          <p:cNvSpPr txBox="1"/>
          <p:nvPr/>
        </p:nvSpPr>
        <p:spPr>
          <a:xfrm>
            <a:off x="3349638" y="1639194"/>
            <a:ext cx="2490216"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Competitive price position</a:t>
            </a:r>
          </a:p>
        </p:txBody>
      </p:sp>
      <p:sp>
        <p:nvSpPr>
          <p:cNvPr id="68" name="TextBox 67">
            <a:extLst>
              <a:ext uri="{FF2B5EF4-FFF2-40B4-BE49-F238E27FC236}">
                <a16:creationId xmlns:a16="http://schemas.microsoft.com/office/drawing/2014/main" id="{4F4F8B0C-D4AB-FF4A-985A-3EB14BCDFEFC}"/>
              </a:ext>
            </a:extLst>
          </p:cNvPr>
          <p:cNvSpPr txBox="1"/>
          <p:nvPr/>
        </p:nvSpPr>
        <p:spPr>
          <a:xfrm>
            <a:off x="3349639" y="1946744"/>
            <a:ext cx="2587752" cy="326243"/>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a:ea typeface="+mn-ea"/>
                <a:cs typeface="+mn-cs"/>
              </a:rPr>
              <a:t>Maintain Skol Malt below </a:t>
            </a:r>
            <a:r>
              <a:rPr kumimoji="0" lang="en-US" sz="1000" b="0" i="0" u="none" strike="noStrike" kern="1200" cap="none" spc="0" normalizeH="0" baseline="0" noProof="0" dirty="0" err="1">
                <a:ln>
                  <a:noFill/>
                </a:ln>
                <a:solidFill>
                  <a:prstClr val="black"/>
                </a:solidFill>
                <a:effectLst/>
                <a:uLnTx/>
                <a:uFillTx/>
                <a:latin typeface="Aptos"/>
                <a:ea typeface="+mn-ea"/>
                <a:cs typeface="+mn-cs"/>
              </a:rPr>
              <a:t>Mutzig</a:t>
            </a:r>
            <a:r>
              <a:rPr kumimoji="0" lang="en-US" sz="1000" b="0" i="0" u="none" strike="noStrike" kern="1200" cap="none" spc="0" normalizeH="0" baseline="0" noProof="0" dirty="0">
                <a:ln>
                  <a:noFill/>
                </a:ln>
                <a:solidFill>
                  <a:prstClr val="black"/>
                </a:solidFill>
                <a:effectLst/>
                <a:uLnTx/>
                <a:uFillTx/>
                <a:latin typeface="Aptos"/>
                <a:ea typeface="+mn-ea"/>
                <a:cs typeface="+mn-cs"/>
              </a:rPr>
              <a:t> and Amstel in the covered outlet universe</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70" name="Rectangle 69">
            <a:extLst>
              <a:ext uri="{FF2B5EF4-FFF2-40B4-BE49-F238E27FC236}">
                <a16:creationId xmlns:a16="http://schemas.microsoft.com/office/drawing/2014/main" id="{59EC1B87-E38C-25D1-3C36-32AD4D566D86}"/>
              </a:ext>
            </a:extLst>
          </p:cNvPr>
          <p:cNvSpPr/>
          <p:nvPr/>
        </p:nvSpPr>
        <p:spPr>
          <a:xfrm>
            <a:off x="3407551" y="3183786"/>
            <a:ext cx="2432304" cy="13716"/>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2" name="TextBox 71">
            <a:extLst>
              <a:ext uri="{FF2B5EF4-FFF2-40B4-BE49-F238E27FC236}">
                <a16:creationId xmlns:a16="http://schemas.microsoft.com/office/drawing/2014/main" id="{61BD559C-4606-ED6F-C8A4-2694600EBEE0}"/>
              </a:ext>
            </a:extLst>
          </p:cNvPr>
          <p:cNvSpPr txBox="1"/>
          <p:nvPr/>
        </p:nvSpPr>
        <p:spPr>
          <a:xfrm>
            <a:off x="3364878" y="3345324"/>
            <a:ext cx="2587751" cy="172355"/>
          </a:xfrm>
          <a:prstGeom prst="rect">
            <a:avLst/>
          </a:prstGeom>
          <a:noFill/>
        </p:spPr>
        <p:txBody>
          <a:bodyPr wrap="square" lIns="36576" tIns="9144" rIns="36576" bIns="9144"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CONTROL MECHANISM</a:t>
            </a:r>
            <a:r>
              <a:rPr kumimoji="0" lang="en-US"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 &amp; ENFORCEMENT</a:t>
            </a:r>
            <a:endPar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74" name="TextBox 73">
            <a:extLst>
              <a:ext uri="{FF2B5EF4-FFF2-40B4-BE49-F238E27FC236}">
                <a16:creationId xmlns:a16="http://schemas.microsoft.com/office/drawing/2014/main" id="{3595AEDF-E5B8-4736-1646-F2BF5A03C864}"/>
              </a:ext>
            </a:extLst>
          </p:cNvPr>
          <p:cNvSpPr txBox="1"/>
          <p:nvPr/>
        </p:nvSpPr>
        <p:spPr>
          <a:xfrm>
            <a:off x="3349639" y="3572324"/>
            <a:ext cx="2432304" cy="480131"/>
          </a:xfrm>
          <a:prstGeom prst="rect">
            <a:avLst/>
          </a:prstGeom>
          <a:noFill/>
        </p:spPr>
        <p:txBody>
          <a:bodyPr wrap="square" lIns="36576" tIns="9144" rIns="36576" bIns="9144" anchor="t">
            <a:spAutoFit/>
          </a:bodyPr>
          <a:lstStyle/>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Monthly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reporting</a:t>
            </a:r>
            <a:r>
              <a:rPr kumimoji="0" lang="en-US" sz="1000" b="0"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 on gaps to be fixed</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Compliant POS to be prioritized for the POSM deployment activity</a:t>
            </a:r>
          </a:p>
        </p:txBody>
      </p:sp>
      <p:sp>
        <p:nvSpPr>
          <p:cNvPr id="76" name="Rounded Rectangle 40">
            <a:extLst>
              <a:ext uri="{FF2B5EF4-FFF2-40B4-BE49-F238E27FC236}">
                <a16:creationId xmlns:a16="http://schemas.microsoft.com/office/drawing/2014/main" id="{565F2607-E2EF-5FAB-7DA0-6C026EC684DF}"/>
              </a:ext>
            </a:extLst>
          </p:cNvPr>
          <p:cNvSpPr/>
          <p:nvPr/>
        </p:nvSpPr>
        <p:spPr>
          <a:xfrm>
            <a:off x="9101215" y="904514"/>
            <a:ext cx="2761488" cy="330897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8" name="Rectangle 77">
            <a:extLst>
              <a:ext uri="{FF2B5EF4-FFF2-40B4-BE49-F238E27FC236}">
                <a16:creationId xmlns:a16="http://schemas.microsoft.com/office/drawing/2014/main" id="{349A13A2-099E-FCBB-91C5-672003C7ED4F}"/>
              </a:ext>
            </a:extLst>
          </p:cNvPr>
          <p:cNvSpPr/>
          <p:nvPr/>
        </p:nvSpPr>
        <p:spPr>
          <a:xfrm>
            <a:off x="9101215" y="816027"/>
            <a:ext cx="2761488" cy="118872"/>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0" name="Oval 79">
            <a:extLst>
              <a:ext uri="{FF2B5EF4-FFF2-40B4-BE49-F238E27FC236}">
                <a16:creationId xmlns:a16="http://schemas.microsoft.com/office/drawing/2014/main" id="{570A3A15-1659-C50C-7A14-2AF15E529BBB}"/>
              </a:ext>
            </a:extLst>
          </p:cNvPr>
          <p:cNvSpPr/>
          <p:nvPr/>
        </p:nvSpPr>
        <p:spPr>
          <a:xfrm>
            <a:off x="9265807" y="1032043"/>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82" name="TextBox 81">
            <a:extLst>
              <a:ext uri="{FF2B5EF4-FFF2-40B4-BE49-F238E27FC236}">
                <a16:creationId xmlns:a16="http://schemas.microsoft.com/office/drawing/2014/main" id="{EE924E39-B5C2-5863-DA37-291E87FBA39D}"/>
              </a:ext>
            </a:extLst>
          </p:cNvPr>
          <p:cNvSpPr txBox="1"/>
          <p:nvPr/>
        </p:nvSpPr>
        <p:spPr>
          <a:xfrm>
            <a:off x="9265807" y="1121517"/>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04</a:t>
            </a:r>
          </a:p>
        </p:txBody>
      </p:sp>
      <p:sp>
        <p:nvSpPr>
          <p:cNvPr id="84" name="TextBox 83">
            <a:extLst>
              <a:ext uri="{FF2B5EF4-FFF2-40B4-BE49-F238E27FC236}">
                <a16:creationId xmlns:a16="http://schemas.microsoft.com/office/drawing/2014/main" id="{235C3775-FAC4-1DB4-52CA-DC3C4AFE378F}"/>
              </a:ext>
            </a:extLst>
          </p:cNvPr>
          <p:cNvSpPr txBox="1"/>
          <p:nvPr/>
        </p:nvSpPr>
        <p:spPr>
          <a:xfrm>
            <a:off x="9732151" y="1131645"/>
            <a:ext cx="1965960" cy="203133"/>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372F"/>
                </a:solidFill>
                <a:effectLst/>
                <a:uLnTx/>
                <a:uFillTx/>
                <a:latin typeface="Aptos" panose="020B0004020202020204" pitchFamily="34" charset="0"/>
                <a:ea typeface="+mn-ea"/>
                <a:cs typeface="+mn-cs"/>
              </a:rPr>
              <a:t>ACTIVATE KEY OCCASIONS</a:t>
            </a:r>
          </a:p>
        </p:txBody>
      </p:sp>
      <p:sp>
        <p:nvSpPr>
          <p:cNvPr id="86" name="Rectangle 85">
            <a:extLst>
              <a:ext uri="{FF2B5EF4-FFF2-40B4-BE49-F238E27FC236}">
                <a16:creationId xmlns:a16="http://schemas.microsoft.com/office/drawing/2014/main" id="{AB111C47-E204-02C9-AD82-17766A9CA687}"/>
              </a:ext>
            </a:extLst>
          </p:cNvPr>
          <p:cNvSpPr/>
          <p:nvPr/>
        </p:nvSpPr>
        <p:spPr>
          <a:xfrm>
            <a:off x="9265807" y="1533570"/>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8" name="TextBox 87">
            <a:extLst>
              <a:ext uri="{FF2B5EF4-FFF2-40B4-BE49-F238E27FC236}">
                <a16:creationId xmlns:a16="http://schemas.microsoft.com/office/drawing/2014/main" id="{BAFF31F3-9C27-02CE-A21D-AAE1D0892B3B}"/>
              </a:ext>
            </a:extLst>
          </p:cNvPr>
          <p:cNvSpPr txBox="1"/>
          <p:nvPr/>
        </p:nvSpPr>
        <p:spPr>
          <a:xfrm>
            <a:off x="9113634" y="1621594"/>
            <a:ext cx="2757358"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Consumers </a:t>
            </a:r>
            <a:r>
              <a:rPr kumimoji="0"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activation platforms</a:t>
            </a:r>
          </a:p>
        </p:txBody>
      </p:sp>
      <p:sp>
        <p:nvSpPr>
          <p:cNvPr id="90" name="TextBox 89">
            <a:extLst>
              <a:ext uri="{FF2B5EF4-FFF2-40B4-BE49-F238E27FC236}">
                <a16:creationId xmlns:a16="http://schemas.microsoft.com/office/drawing/2014/main" id="{D12F4D5A-6298-6C1C-3100-FCD3AA1B58FE}"/>
              </a:ext>
            </a:extLst>
          </p:cNvPr>
          <p:cNvSpPr txBox="1"/>
          <p:nvPr/>
        </p:nvSpPr>
        <p:spPr>
          <a:xfrm>
            <a:off x="9194736" y="1864103"/>
            <a:ext cx="2611461" cy="1249573"/>
          </a:xfrm>
          <a:prstGeom prst="rect">
            <a:avLst/>
          </a:prstGeom>
          <a:noFill/>
        </p:spPr>
        <p:txBody>
          <a:bodyPr wrap="square" lIns="36576" tIns="9144" rIns="36576" bIns="9144"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RPL in Bar activations with digital tools and hostesses.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Match Day</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with big matches activations in classy outlets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Pool Table Tournaments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in CAT A POS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AFCON</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mini villages experience (Countrywide)</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92" name="Rectangle 91">
            <a:extLst>
              <a:ext uri="{FF2B5EF4-FFF2-40B4-BE49-F238E27FC236}">
                <a16:creationId xmlns:a16="http://schemas.microsoft.com/office/drawing/2014/main" id="{275D1142-9C50-B527-EB51-8E24E0A1DA54}"/>
              </a:ext>
            </a:extLst>
          </p:cNvPr>
          <p:cNvSpPr/>
          <p:nvPr/>
        </p:nvSpPr>
        <p:spPr>
          <a:xfrm>
            <a:off x="9276161" y="3194914"/>
            <a:ext cx="2432304" cy="13716"/>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4" name="TextBox 93">
            <a:extLst>
              <a:ext uri="{FF2B5EF4-FFF2-40B4-BE49-F238E27FC236}">
                <a16:creationId xmlns:a16="http://schemas.microsoft.com/office/drawing/2014/main" id="{4663275C-4CFF-A19E-9D67-5714AFDF481F}"/>
              </a:ext>
            </a:extLst>
          </p:cNvPr>
          <p:cNvSpPr txBox="1"/>
          <p:nvPr/>
        </p:nvSpPr>
        <p:spPr>
          <a:xfrm>
            <a:off x="9244583" y="3349357"/>
            <a:ext cx="2432304" cy="172355"/>
          </a:xfrm>
          <a:prstGeom prst="rect">
            <a:avLst/>
          </a:prstGeom>
          <a:noFill/>
        </p:spPr>
        <p:txBody>
          <a:bodyPr wrap="square" lIns="36576" tIns="9144" rIns="36576" bIns="9144" anchor="ctr">
            <a:spAutoFit/>
          </a:bodyPr>
          <a:lstStyle>
            <a:defPPr>
              <a:defRPr lang="en-RW"/>
            </a:defPPr>
            <a:lvl1pPr lvl="0" defTabSz="457200">
              <a:defRPr sz="1000" b="1">
                <a:solidFill>
                  <a:srgbClr val="FF0000"/>
                </a:solidFill>
                <a:latin typeface="Apto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a:ea typeface="+mn-ea"/>
                <a:cs typeface="+mn-cs"/>
              </a:rPr>
              <a:t>PROVE THE IMPACT</a:t>
            </a:r>
          </a:p>
        </p:txBody>
      </p:sp>
      <p:sp>
        <p:nvSpPr>
          <p:cNvPr id="96" name="TextBox 95">
            <a:extLst>
              <a:ext uri="{FF2B5EF4-FFF2-40B4-BE49-F238E27FC236}">
                <a16:creationId xmlns:a16="http://schemas.microsoft.com/office/drawing/2014/main" id="{03FCEC38-C54B-A801-1DEB-4ACB08F18D6C}"/>
              </a:ext>
            </a:extLst>
          </p:cNvPr>
          <p:cNvSpPr txBox="1"/>
          <p:nvPr/>
        </p:nvSpPr>
        <p:spPr>
          <a:xfrm>
            <a:off x="9189202" y="3659123"/>
            <a:ext cx="2611460" cy="295466"/>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Approved plan, outlet execution and post-activity review</a:t>
            </a:r>
          </a:p>
        </p:txBody>
      </p:sp>
      <p:sp>
        <p:nvSpPr>
          <p:cNvPr id="98" name="TextBox 97">
            <a:extLst>
              <a:ext uri="{FF2B5EF4-FFF2-40B4-BE49-F238E27FC236}">
                <a16:creationId xmlns:a16="http://schemas.microsoft.com/office/drawing/2014/main" id="{232AC802-213E-3122-CAAA-667745CE33AC}"/>
              </a:ext>
            </a:extLst>
          </p:cNvPr>
          <p:cNvSpPr txBox="1"/>
          <p:nvPr/>
        </p:nvSpPr>
        <p:spPr>
          <a:xfrm>
            <a:off x="460318" y="2275631"/>
            <a:ext cx="2432304" cy="787908"/>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Facts</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Expected consumers: 675 on average by venue</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Total capacity of event venues: 174,872 people</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00" name="TextBox 99">
            <a:extLst>
              <a:ext uri="{FF2B5EF4-FFF2-40B4-BE49-F238E27FC236}">
                <a16:creationId xmlns:a16="http://schemas.microsoft.com/office/drawing/2014/main" id="{97A34C2A-FC83-2379-6191-D694AB1D4D72}"/>
              </a:ext>
            </a:extLst>
          </p:cNvPr>
          <p:cNvSpPr txBox="1"/>
          <p:nvPr/>
        </p:nvSpPr>
        <p:spPr>
          <a:xfrm>
            <a:off x="357669" y="3287802"/>
            <a:ext cx="2432304" cy="233910"/>
          </a:xfrm>
          <a:prstGeom prst="rect">
            <a:avLst/>
          </a:prstGeom>
          <a:noFill/>
        </p:spPr>
        <p:txBody>
          <a:bodyPr wrap="square" lIns="36576" tIns="9144" rIns="36576" bIns="9144" anchor="ctr">
            <a:spAutoFit/>
          </a:bodyPr>
          <a:lstStyle>
            <a:defPPr>
              <a:defRPr lang="en-US"/>
            </a:defPPr>
            <a:lvl1pPr>
              <a:defRPr sz="1400" b="1">
                <a:solidFill>
                  <a:srgbClr val="8F0000"/>
                </a:solidFill>
                <a:latin typeface="Aptos"/>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b) 12,128 Visited POS</a:t>
            </a:r>
          </a:p>
        </p:txBody>
      </p:sp>
      <p:sp>
        <p:nvSpPr>
          <p:cNvPr id="102" name="Rounded Rectangle 84">
            <a:extLst>
              <a:ext uri="{FF2B5EF4-FFF2-40B4-BE49-F238E27FC236}">
                <a16:creationId xmlns:a16="http://schemas.microsoft.com/office/drawing/2014/main" id="{728E4D47-BF1C-17B5-5779-6F018D6D65DF}"/>
              </a:ext>
            </a:extLst>
          </p:cNvPr>
          <p:cNvSpPr/>
          <p:nvPr/>
        </p:nvSpPr>
        <p:spPr>
          <a:xfrm>
            <a:off x="274320" y="5010911"/>
            <a:ext cx="9203977" cy="1645921"/>
          </a:xfrm>
          <a:prstGeom prst="roundRect">
            <a:avLst>
              <a:gd name="adj" fmla="val 7000"/>
            </a:avLst>
          </a:prstGeom>
          <a:solidFill>
            <a:srgbClr val="FFFFFF"/>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4" name="Rectangle 103">
            <a:extLst>
              <a:ext uri="{FF2B5EF4-FFF2-40B4-BE49-F238E27FC236}">
                <a16:creationId xmlns:a16="http://schemas.microsoft.com/office/drawing/2014/main" id="{02E86E1C-31AB-8E14-0EA0-3B1F1F3302DB}"/>
              </a:ext>
            </a:extLst>
          </p:cNvPr>
          <p:cNvSpPr/>
          <p:nvPr/>
        </p:nvSpPr>
        <p:spPr>
          <a:xfrm>
            <a:off x="274320" y="5010912"/>
            <a:ext cx="9203977" cy="201066"/>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6" name="TextBox 105">
            <a:extLst>
              <a:ext uri="{FF2B5EF4-FFF2-40B4-BE49-F238E27FC236}">
                <a16:creationId xmlns:a16="http://schemas.microsoft.com/office/drawing/2014/main" id="{4838F459-00C8-0241-E627-102FD1392799}"/>
              </a:ext>
            </a:extLst>
          </p:cNvPr>
          <p:cNvSpPr txBox="1"/>
          <p:nvPr/>
        </p:nvSpPr>
        <p:spPr>
          <a:xfrm>
            <a:off x="438912" y="5039078"/>
            <a:ext cx="3749039"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2027 EXECUTION CALENDAR</a:t>
            </a:r>
          </a:p>
        </p:txBody>
      </p:sp>
      <p:sp>
        <p:nvSpPr>
          <p:cNvPr id="108" name="TextBox 107">
            <a:extLst>
              <a:ext uri="{FF2B5EF4-FFF2-40B4-BE49-F238E27FC236}">
                <a16:creationId xmlns:a16="http://schemas.microsoft.com/office/drawing/2014/main" id="{C5069B4A-664E-F132-3ABD-1080E36689EA}"/>
              </a:ext>
            </a:extLst>
          </p:cNvPr>
          <p:cNvSpPr txBox="1"/>
          <p:nvPr/>
        </p:nvSpPr>
        <p:spPr>
          <a:xfrm>
            <a:off x="2907792"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Jan</a:t>
            </a:r>
          </a:p>
        </p:txBody>
      </p:sp>
      <p:sp>
        <p:nvSpPr>
          <p:cNvPr id="110" name="TextBox 109">
            <a:extLst>
              <a:ext uri="{FF2B5EF4-FFF2-40B4-BE49-F238E27FC236}">
                <a16:creationId xmlns:a16="http://schemas.microsoft.com/office/drawing/2014/main" id="{6ABC5D62-926B-867B-2BC1-51C4F2F64053}"/>
              </a:ext>
            </a:extLst>
          </p:cNvPr>
          <p:cNvSpPr txBox="1"/>
          <p:nvPr/>
        </p:nvSpPr>
        <p:spPr>
          <a:xfrm>
            <a:off x="3438144"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Feb</a:t>
            </a:r>
          </a:p>
        </p:txBody>
      </p:sp>
      <p:sp>
        <p:nvSpPr>
          <p:cNvPr id="112" name="TextBox 111">
            <a:extLst>
              <a:ext uri="{FF2B5EF4-FFF2-40B4-BE49-F238E27FC236}">
                <a16:creationId xmlns:a16="http://schemas.microsoft.com/office/drawing/2014/main" id="{7F134862-6B77-FCE4-A0AC-EB9FB90CF75D}"/>
              </a:ext>
            </a:extLst>
          </p:cNvPr>
          <p:cNvSpPr txBox="1"/>
          <p:nvPr/>
        </p:nvSpPr>
        <p:spPr>
          <a:xfrm>
            <a:off x="3968496"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Mar</a:t>
            </a:r>
          </a:p>
        </p:txBody>
      </p:sp>
      <p:sp>
        <p:nvSpPr>
          <p:cNvPr id="114" name="TextBox 113">
            <a:extLst>
              <a:ext uri="{FF2B5EF4-FFF2-40B4-BE49-F238E27FC236}">
                <a16:creationId xmlns:a16="http://schemas.microsoft.com/office/drawing/2014/main" id="{8A328885-B79F-0239-8635-3B812B9ABE0E}"/>
              </a:ext>
            </a:extLst>
          </p:cNvPr>
          <p:cNvSpPr txBox="1"/>
          <p:nvPr/>
        </p:nvSpPr>
        <p:spPr>
          <a:xfrm>
            <a:off x="4498848"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Apr</a:t>
            </a:r>
          </a:p>
        </p:txBody>
      </p:sp>
      <p:sp>
        <p:nvSpPr>
          <p:cNvPr id="116" name="TextBox 115">
            <a:extLst>
              <a:ext uri="{FF2B5EF4-FFF2-40B4-BE49-F238E27FC236}">
                <a16:creationId xmlns:a16="http://schemas.microsoft.com/office/drawing/2014/main" id="{DE8F109C-B0A4-1D22-F577-6539BE958382}"/>
              </a:ext>
            </a:extLst>
          </p:cNvPr>
          <p:cNvSpPr txBox="1"/>
          <p:nvPr/>
        </p:nvSpPr>
        <p:spPr>
          <a:xfrm>
            <a:off x="5029200"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May</a:t>
            </a:r>
          </a:p>
        </p:txBody>
      </p:sp>
      <p:sp>
        <p:nvSpPr>
          <p:cNvPr id="118" name="TextBox 117">
            <a:extLst>
              <a:ext uri="{FF2B5EF4-FFF2-40B4-BE49-F238E27FC236}">
                <a16:creationId xmlns:a16="http://schemas.microsoft.com/office/drawing/2014/main" id="{1DEB58F0-975D-2C7C-D0C0-A92132F0925F}"/>
              </a:ext>
            </a:extLst>
          </p:cNvPr>
          <p:cNvSpPr txBox="1"/>
          <p:nvPr/>
        </p:nvSpPr>
        <p:spPr>
          <a:xfrm>
            <a:off x="5559552"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Jun</a:t>
            </a:r>
          </a:p>
        </p:txBody>
      </p:sp>
      <p:sp>
        <p:nvSpPr>
          <p:cNvPr id="120" name="TextBox 119">
            <a:extLst>
              <a:ext uri="{FF2B5EF4-FFF2-40B4-BE49-F238E27FC236}">
                <a16:creationId xmlns:a16="http://schemas.microsoft.com/office/drawing/2014/main" id="{E56CD484-AA1E-856F-0CDA-F6672DE0AA80}"/>
              </a:ext>
            </a:extLst>
          </p:cNvPr>
          <p:cNvSpPr txBox="1"/>
          <p:nvPr/>
        </p:nvSpPr>
        <p:spPr>
          <a:xfrm>
            <a:off x="6089904"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Jul</a:t>
            </a:r>
          </a:p>
        </p:txBody>
      </p:sp>
      <p:sp>
        <p:nvSpPr>
          <p:cNvPr id="122" name="TextBox 121">
            <a:extLst>
              <a:ext uri="{FF2B5EF4-FFF2-40B4-BE49-F238E27FC236}">
                <a16:creationId xmlns:a16="http://schemas.microsoft.com/office/drawing/2014/main" id="{7434315F-4FD6-0A5B-0B49-9DD9D1022334}"/>
              </a:ext>
            </a:extLst>
          </p:cNvPr>
          <p:cNvSpPr txBox="1"/>
          <p:nvPr/>
        </p:nvSpPr>
        <p:spPr>
          <a:xfrm>
            <a:off x="6620256"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Aug</a:t>
            </a:r>
          </a:p>
        </p:txBody>
      </p:sp>
      <p:sp>
        <p:nvSpPr>
          <p:cNvPr id="124" name="TextBox 123">
            <a:extLst>
              <a:ext uri="{FF2B5EF4-FFF2-40B4-BE49-F238E27FC236}">
                <a16:creationId xmlns:a16="http://schemas.microsoft.com/office/drawing/2014/main" id="{DA52B39D-F7E4-8BFF-CDCC-9A7522922D96}"/>
              </a:ext>
            </a:extLst>
          </p:cNvPr>
          <p:cNvSpPr txBox="1"/>
          <p:nvPr/>
        </p:nvSpPr>
        <p:spPr>
          <a:xfrm>
            <a:off x="7150608"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Sep</a:t>
            </a:r>
          </a:p>
        </p:txBody>
      </p:sp>
      <p:sp>
        <p:nvSpPr>
          <p:cNvPr id="126" name="TextBox 125">
            <a:extLst>
              <a:ext uri="{FF2B5EF4-FFF2-40B4-BE49-F238E27FC236}">
                <a16:creationId xmlns:a16="http://schemas.microsoft.com/office/drawing/2014/main" id="{B6D8B454-55AD-17D9-041E-0C49E77719AA}"/>
              </a:ext>
            </a:extLst>
          </p:cNvPr>
          <p:cNvSpPr txBox="1"/>
          <p:nvPr/>
        </p:nvSpPr>
        <p:spPr>
          <a:xfrm>
            <a:off x="7680960"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Oct</a:t>
            </a:r>
          </a:p>
        </p:txBody>
      </p:sp>
      <p:sp>
        <p:nvSpPr>
          <p:cNvPr id="128" name="TextBox 127">
            <a:extLst>
              <a:ext uri="{FF2B5EF4-FFF2-40B4-BE49-F238E27FC236}">
                <a16:creationId xmlns:a16="http://schemas.microsoft.com/office/drawing/2014/main" id="{6A4AC195-6526-C26B-290D-9EA42A6A3F2F}"/>
              </a:ext>
            </a:extLst>
          </p:cNvPr>
          <p:cNvSpPr txBox="1"/>
          <p:nvPr/>
        </p:nvSpPr>
        <p:spPr>
          <a:xfrm>
            <a:off x="8211312"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Nov</a:t>
            </a:r>
          </a:p>
        </p:txBody>
      </p:sp>
      <p:sp>
        <p:nvSpPr>
          <p:cNvPr id="130" name="TextBox 129">
            <a:extLst>
              <a:ext uri="{FF2B5EF4-FFF2-40B4-BE49-F238E27FC236}">
                <a16:creationId xmlns:a16="http://schemas.microsoft.com/office/drawing/2014/main" id="{5ECA7527-0A5E-1B4A-3C7B-01C6405925AE}"/>
              </a:ext>
            </a:extLst>
          </p:cNvPr>
          <p:cNvSpPr txBox="1"/>
          <p:nvPr/>
        </p:nvSpPr>
        <p:spPr>
          <a:xfrm>
            <a:off x="8741664"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Dec</a:t>
            </a:r>
          </a:p>
        </p:txBody>
      </p:sp>
      <p:sp>
        <p:nvSpPr>
          <p:cNvPr id="132" name="Rectangle 131">
            <a:extLst>
              <a:ext uri="{FF2B5EF4-FFF2-40B4-BE49-F238E27FC236}">
                <a16:creationId xmlns:a16="http://schemas.microsoft.com/office/drawing/2014/main" id="{B03DB6E1-0BBB-0070-1675-C698CB1E0E97}"/>
              </a:ext>
            </a:extLst>
          </p:cNvPr>
          <p:cNvSpPr/>
          <p:nvPr/>
        </p:nvSpPr>
        <p:spPr>
          <a:xfrm>
            <a:off x="393193" y="5372543"/>
            <a:ext cx="8891016" cy="255299"/>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34" name="TextBox 133">
            <a:extLst>
              <a:ext uri="{FF2B5EF4-FFF2-40B4-BE49-F238E27FC236}">
                <a16:creationId xmlns:a16="http://schemas.microsoft.com/office/drawing/2014/main" id="{41F5ACB1-84BA-DBD5-7FBA-2DA07B4BFEAA}"/>
              </a:ext>
            </a:extLst>
          </p:cNvPr>
          <p:cNvSpPr txBox="1"/>
          <p:nvPr/>
        </p:nvSpPr>
        <p:spPr>
          <a:xfrm>
            <a:off x="475488" y="5359563"/>
            <a:ext cx="2267712"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RPL BAR ACTIVATIONS</a:t>
            </a:r>
          </a:p>
        </p:txBody>
      </p:sp>
      <p:sp>
        <p:nvSpPr>
          <p:cNvPr id="136" name="TextBox 135">
            <a:extLst>
              <a:ext uri="{FF2B5EF4-FFF2-40B4-BE49-F238E27FC236}">
                <a16:creationId xmlns:a16="http://schemas.microsoft.com/office/drawing/2014/main" id="{3A213FE9-1E43-C230-523A-D42CE569F101}"/>
              </a:ext>
            </a:extLst>
          </p:cNvPr>
          <p:cNvSpPr txBox="1"/>
          <p:nvPr/>
        </p:nvSpPr>
        <p:spPr>
          <a:xfrm>
            <a:off x="475488" y="5480109"/>
            <a:ext cx="2267712" cy="132344"/>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800" b="1"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Consumer promotions around stadiums</a:t>
            </a:r>
          </a:p>
        </p:txBody>
      </p:sp>
      <p:sp>
        <p:nvSpPr>
          <p:cNvPr id="138" name="Rectangle 137">
            <a:extLst>
              <a:ext uri="{FF2B5EF4-FFF2-40B4-BE49-F238E27FC236}">
                <a16:creationId xmlns:a16="http://schemas.microsoft.com/office/drawing/2014/main" id="{4ECABF5D-05F6-6DFC-5779-48220C660851}"/>
              </a:ext>
            </a:extLst>
          </p:cNvPr>
          <p:cNvSpPr/>
          <p:nvPr/>
        </p:nvSpPr>
        <p:spPr>
          <a:xfrm>
            <a:off x="2930652"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0" name="Rectangle 139">
            <a:extLst>
              <a:ext uri="{FF2B5EF4-FFF2-40B4-BE49-F238E27FC236}">
                <a16:creationId xmlns:a16="http://schemas.microsoft.com/office/drawing/2014/main" id="{CD33D88C-8E82-C46D-315F-A1D0D83724F7}"/>
              </a:ext>
            </a:extLst>
          </p:cNvPr>
          <p:cNvSpPr/>
          <p:nvPr/>
        </p:nvSpPr>
        <p:spPr>
          <a:xfrm>
            <a:off x="3461004"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2" name="Rectangle 141">
            <a:extLst>
              <a:ext uri="{FF2B5EF4-FFF2-40B4-BE49-F238E27FC236}">
                <a16:creationId xmlns:a16="http://schemas.microsoft.com/office/drawing/2014/main" id="{B0B50BF9-3C66-E75F-7ED9-611E736909B7}"/>
              </a:ext>
            </a:extLst>
          </p:cNvPr>
          <p:cNvSpPr/>
          <p:nvPr/>
        </p:nvSpPr>
        <p:spPr>
          <a:xfrm>
            <a:off x="3991356"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4" name="Rectangle 143">
            <a:extLst>
              <a:ext uri="{FF2B5EF4-FFF2-40B4-BE49-F238E27FC236}">
                <a16:creationId xmlns:a16="http://schemas.microsoft.com/office/drawing/2014/main" id="{62179250-BE15-3B71-164D-7A8F20399594}"/>
              </a:ext>
            </a:extLst>
          </p:cNvPr>
          <p:cNvSpPr/>
          <p:nvPr/>
        </p:nvSpPr>
        <p:spPr>
          <a:xfrm>
            <a:off x="4521708" y="5422836"/>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6" name="Rectangle 145">
            <a:extLst>
              <a:ext uri="{FF2B5EF4-FFF2-40B4-BE49-F238E27FC236}">
                <a16:creationId xmlns:a16="http://schemas.microsoft.com/office/drawing/2014/main" id="{D452F7A4-8866-93FD-19B1-9C669FC02946}"/>
              </a:ext>
            </a:extLst>
          </p:cNvPr>
          <p:cNvSpPr/>
          <p:nvPr/>
        </p:nvSpPr>
        <p:spPr>
          <a:xfrm>
            <a:off x="5052060"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8" name="Rectangle 147">
            <a:extLst>
              <a:ext uri="{FF2B5EF4-FFF2-40B4-BE49-F238E27FC236}">
                <a16:creationId xmlns:a16="http://schemas.microsoft.com/office/drawing/2014/main" id="{4A92ABB6-B725-13B4-47C3-1926BAFE0F4A}"/>
              </a:ext>
            </a:extLst>
          </p:cNvPr>
          <p:cNvSpPr/>
          <p:nvPr/>
        </p:nvSpPr>
        <p:spPr>
          <a:xfrm>
            <a:off x="5582412"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0" name="Rectangle 149">
            <a:extLst>
              <a:ext uri="{FF2B5EF4-FFF2-40B4-BE49-F238E27FC236}">
                <a16:creationId xmlns:a16="http://schemas.microsoft.com/office/drawing/2014/main" id="{BC491A64-9C16-76DC-DFC8-7CFBA3A16D7E}"/>
              </a:ext>
            </a:extLst>
          </p:cNvPr>
          <p:cNvSpPr/>
          <p:nvPr/>
        </p:nvSpPr>
        <p:spPr>
          <a:xfrm>
            <a:off x="6112764" y="5422836"/>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2" name="Rectangle 151">
            <a:extLst>
              <a:ext uri="{FF2B5EF4-FFF2-40B4-BE49-F238E27FC236}">
                <a16:creationId xmlns:a16="http://schemas.microsoft.com/office/drawing/2014/main" id="{FBC34B89-29A5-4C75-E540-A6DB05503C1D}"/>
              </a:ext>
            </a:extLst>
          </p:cNvPr>
          <p:cNvSpPr/>
          <p:nvPr/>
        </p:nvSpPr>
        <p:spPr>
          <a:xfrm>
            <a:off x="6643116"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4" name="Rectangle 153">
            <a:extLst>
              <a:ext uri="{FF2B5EF4-FFF2-40B4-BE49-F238E27FC236}">
                <a16:creationId xmlns:a16="http://schemas.microsoft.com/office/drawing/2014/main" id="{92AF68B9-91AB-8A65-1301-90CFC72034E9}"/>
              </a:ext>
            </a:extLst>
          </p:cNvPr>
          <p:cNvSpPr/>
          <p:nvPr/>
        </p:nvSpPr>
        <p:spPr>
          <a:xfrm>
            <a:off x="7173468"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6" name="Rectangle 155">
            <a:extLst>
              <a:ext uri="{FF2B5EF4-FFF2-40B4-BE49-F238E27FC236}">
                <a16:creationId xmlns:a16="http://schemas.microsoft.com/office/drawing/2014/main" id="{D6AD7786-F618-80F4-61DA-7E8C1056D7E0}"/>
              </a:ext>
            </a:extLst>
          </p:cNvPr>
          <p:cNvSpPr/>
          <p:nvPr/>
        </p:nvSpPr>
        <p:spPr>
          <a:xfrm>
            <a:off x="7703820"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8" name="Rectangle 157">
            <a:extLst>
              <a:ext uri="{FF2B5EF4-FFF2-40B4-BE49-F238E27FC236}">
                <a16:creationId xmlns:a16="http://schemas.microsoft.com/office/drawing/2014/main" id="{0074F65C-478F-840A-CA42-561D0AB70C2B}"/>
              </a:ext>
            </a:extLst>
          </p:cNvPr>
          <p:cNvSpPr/>
          <p:nvPr/>
        </p:nvSpPr>
        <p:spPr>
          <a:xfrm>
            <a:off x="8234172"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0" name="Rectangle 159">
            <a:extLst>
              <a:ext uri="{FF2B5EF4-FFF2-40B4-BE49-F238E27FC236}">
                <a16:creationId xmlns:a16="http://schemas.microsoft.com/office/drawing/2014/main" id="{F2A0DAA5-5AFF-6636-3E48-ECCDCC1D7970}"/>
              </a:ext>
            </a:extLst>
          </p:cNvPr>
          <p:cNvSpPr/>
          <p:nvPr/>
        </p:nvSpPr>
        <p:spPr>
          <a:xfrm>
            <a:off x="8764524"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2" name="TextBox 161">
            <a:extLst>
              <a:ext uri="{FF2B5EF4-FFF2-40B4-BE49-F238E27FC236}">
                <a16:creationId xmlns:a16="http://schemas.microsoft.com/office/drawing/2014/main" id="{676EC001-7F33-D450-A226-80043F734E47}"/>
              </a:ext>
            </a:extLst>
          </p:cNvPr>
          <p:cNvSpPr txBox="1"/>
          <p:nvPr/>
        </p:nvSpPr>
        <p:spPr>
          <a:xfrm>
            <a:off x="475488" y="5703395"/>
            <a:ext cx="2267712"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MATCH DAY ACTIVATIONS</a:t>
            </a:r>
          </a:p>
        </p:txBody>
      </p:sp>
      <p:sp>
        <p:nvSpPr>
          <p:cNvPr id="164" name="TextBox 163">
            <a:extLst>
              <a:ext uri="{FF2B5EF4-FFF2-40B4-BE49-F238E27FC236}">
                <a16:creationId xmlns:a16="http://schemas.microsoft.com/office/drawing/2014/main" id="{283139CD-7AFD-8DCD-1FA0-2E2ED4C01092}"/>
              </a:ext>
            </a:extLst>
          </p:cNvPr>
          <p:cNvSpPr txBox="1"/>
          <p:nvPr/>
        </p:nvSpPr>
        <p:spPr>
          <a:xfrm>
            <a:off x="475488" y="5823941"/>
            <a:ext cx="2267712" cy="132344"/>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800" b="1"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Sports-led consumer engagement</a:t>
            </a:r>
          </a:p>
        </p:txBody>
      </p:sp>
      <p:sp>
        <p:nvSpPr>
          <p:cNvPr id="166" name="Rectangle 165">
            <a:extLst>
              <a:ext uri="{FF2B5EF4-FFF2-40B4-BE49-F238E27FC236}">
                <a16:creationId xmlns:a16="http://schemas.microsoft.com/office/drawing/2014/main" id="{82268CE8-CEB3-C35C-45C7-1652A6C728DF}"/>
              </a:ext>
            </a:extLst>
          </p:cNvPr>
          <p:cNvSpPr/>
          <p:nvPr/>
        </p:nvSpPr>
        <p:spPr>
          <a:xfrm>
            <a:off x="2930652"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8" name="Rectangle 167">
            <a:extLst>
              <a:ext uri="{FF2B5EF4-FFF2-40B4-BE49-F238E27FC236}">
                <a16:creationId xmlns:a16="http://schemas.microsoft.com/office/drawing/2014/main" id="{EEBC42F8-3B97-8989-21F1-28BBBAC3DF12}"/>
              </a:ext>
            </a:extLst>
          </p:cNvPr>
          <p:cNvSpPr/>
          <p:nvPr/>
        </p:nvSpPr>
        <p:spPr>
          <a:xfrm>
            <a:off x="3461004"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0" name="Rectangle 169">
            <a:extLst>
              <a:ext uri="{FF2B5EF4-FFF2-40B4-BE49-F238E27FC236}">
                <a16:creationId xmlns:a16="http://schemas.microsoft.com/office/drawing/2014/main" id="{926574B7-9648-F2A2-3BEA-AE6CE6241960}"/>
              </a:ext>
            </a:extLst>
          </p:cNvPr>
          <p:cNvSpPr/>
          <p:nvPr/>
        </p:nvSpPr>
        <p:spPr>
          <a:xfrm>
            <a:off x="3991356"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2" name="Rectangle 171">
            <a:extLst>
              <a:ext uri="{FF2B5EF4-FFF2-40B4-BE49-F238E27FC236}">
                <a16:creationId xmlns:a16="http://schemas.microsoft.com/office/drawing/2014/main" id="{96EE2B34-B157-C9F3-24FC-6083CA1BCF55}"/>
              </a:ext>
            </a:extLst>
          </p:cNvPr>
          <p:cNvSpPr/>
          <p:nvPr/>
        </p:nvSpPr>
        <p:spPr>
          <a:xfrm>
            <a:off x="4521708" y="576666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4" name="Rectangle 173">
            <a:extLst>
              <a:ext uri="{FF2B5EF4-FFF2-40B4-BE49-F238E27FC236}">
                <a16:creationId xmlns:a16="http://schemas.microsoft.com/office/drawing/2014/main" id="{B2BBF99A-A210-67B6-5442-830732816BD0}"/>
              </a:ext>
            </a:extLst>
          </p:cNvPr>
          <p:cNvSpPr/>
          <p:nvPr/>
        </p:nvSpPr>
        <p:spPr>
          <a:xfrm>
            <a:off x="5052060" y="576666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6" name="Rectangle 175">
            <a:extLst>
              <a:ext uri="{FF2B5EF4-FFF2-40B4-BE49-F238E27FC236}">
                <a16:creationId xmlns:a16="http://schemas.microsoft.com/office/drawing/2014/main" id="{3757EB70-4F24-22E6-131A-4DD1FC73ED1A}"/>
              </a:ext>
            </a:extLst>
          </p:cNvPr>
          <p:cNvSpPr/>
          <p:nvPr/>
        </p:nvSpPr>
        <p:spPr>
          <a:xfrm>
            <a:off x="5582412" y="576666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8" name="Rectangle 177">
            <a:extLst>
              <a:ext uri="{FF2B5EF4-FFF2-40B4-BE49-F238E27FC236}">
                <a16:creationId xmlns:a16="http://schemas.microsoft.com/office/drawing/2014/main" id="{7011F0BB-3A91-C635-0A72-E51DC73C4957}"/>
              </a:ext>
            </a:extLst>
          </p:cNvPr>
          <p:cNvSpPr/>
          <p:nvPr/>
        </p:nvSpPr>
        <p:spPr>
          <a:xfrm>
            <a:off x="6112764" y="576666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0" name="Rectangle 179">
            <a:extLst>
              <a:ext uri="{FF2B5EF4-FFF2-40B4-BE49-F238E27FC236}">
                <a16:creationId xmlns:a16="http://schemas.microsoft.com/office/drawing/2014/main" id="{FEEA1DB4-257B-39FC-839E-DF94F37387F2}"/>
              </a:ext>
            </a:extLst>
          </p:cNvPr>
          <p:cNvSpPr/>
          <p:nvPr/>
        </p:nvSpPr>
        <p:spPr>
          <a:xfrm>
            <a:off x="6643116"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2" name="Rectangle 181">
            <a:extLst>
              <a:ext uri="{FF2B5EF4-FFF2-40B4-BE49-F238E27FC236}">
                <a16:creationId xmlns:a16="http://schemas.microsoft.com/office/drawing/2014/main" id="{9B30DF8B-D72C-D56A-A1A6-D86426D0993C}"/>
              </a:ext>
            </a:extLst>
          </p:cNvPr>
          <p:cNvSpPr/>
          <p:nvPr/>
        </p:nvSpPr>
        <p:spPr>
          <a:xfrm>
            <a:off x="7173468"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4" name="Rectangle 183">
            <a:extLst>
              <a:ext uri="{FF2B5EF4-FFF2-40B4-BE49-F238E27FC236}">
                <a16:creationId xmlns:a16="http://schemas.microsoft.com/office/drawing/2014/main" id="{CCFF29EA-681B-9137-4DC0-DB96E35B7466}"/>
              </a:ext>
            </a:extLst>
          </p:cNvPr>
          <p:cNvSpPr/>
          <p:nvPr/>
        </p:nvSpPr>
        <p:spPr>
          <a:xfrm>
            <a:off x="7703820"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6" name="Rectangle 185">
            <a:extLst>
              <a:ext uri="{FF2B5EF4-FFF2-40B4-BE49-F238E27FC236}">
                <a16:creationId xmlns:a16="http://schemas.microsoft.com/office/drawing/2014/main" id="{10845DF6-C5E8-6BD6-A773-0EAF7C919C5F}"/>
              </a:ext>
            </a:extLst>
          </p:cNvPr>
          <p:cNvSpPr/>
          <p:nvPr/>
        </p:nvSpPr>
        <p:spPr>
          <a:xfrm>
            <a:off x="8234172"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8" name="Rectangle 187">
            <a:extLst>
              <a:ext uri="{FF2B5EF4-FFF2-40B4-BE49-F238E27FC236}">
                <a16:creationId xmlns:a16="http://schemas.microsoft.com/office/drawing/2014/main" id="{3039973C-CED8-5774-A65A-5B863EB138FA}"/>
              </a:ext>
            </a:extLst>
          </p:cNvPr>
          <p:cNvSpPr/>
          <p:nvPr/>
        </p:nvSpPr>
        <p:spPr>
          <a:xfrm>
            <a:off x="8764524"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90" name="Rectangle 189">
            <a:extLst>
              <a:ext uri="{FF2B5EF4-FFF2-40B4-BE49-F238E27FC236}">
                <a16:creationId xmlns:a16="http://schemas.microsoft.com/office/drawing/2014/main" id="{E67A4296-E684-C263-BD7E-285B96576133}"/>
              </a:ext>
            </a:extLst>
          </p:cNvPr>
          <p:cNvSpPr/>
          <p:nvPr/>
        </p:nvSpPr>
        <p:spPr>
          <a:xfrm>
            <a:off x="393192" y="6020880"/>
            <a:ext cx="8891017" cy="255299"/>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92" name="TextBox 191">
            <a:extLst>
              <a:ext uri="{FF2B5EF4-FFF2-40B4-BE49-F238E27FC236}">
                <a16:creationId xmlns:a16="http://schemas.microsoft.com/office/drawing/2014/main" id="{9E827E52-AF3D-A4B3-4180-B37C67537E35}"/>
              </a:ext>
            </a:extLst>
          </p:cNvPr>
          <p:cNvSpPr txBox="1"/>
          <p:nvPr/>
        </p:nvSpPr>
        <p:spPr>
          <a:xfrm>
            <a:off x="475488" y="6007899"/>
            <a:ext cx="2267712"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POOL TABLE TOURNAMENTS</a:t>
            </a:r>
          </a:p>
        </p:txBody>
      </p:sp>
      <p:sp>
        <p:nvSpPr>
          <p:cNvPr id="194" name="TextBox 193">
            <a:extLst>
              <a:ext uri="{FF2B5EF4-FFF2-40B4-BE49-F238E27FC236}">
                <a16:creationId xmlns:a16="http://schemas.microsoft.com/office/drawing/2014/main" id="{B748EA09-BD23-82E5-5168-20159716A5AA}"/>
              </a:ext>
            </a:extLst>
          </p:cNvPr>
          <p:cNvSpPr txBox="1"/>
          <p:nvPr/>
        </p:nvSpPr>
        <p:spPr>
          <a:xfrm>
            <a:off x="475488" y="6128445"/>
            <a:ext cx="2267712" cy="132344"/>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800" b="1"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Always-on outlet occasion builder</a:t>
            </a:r>
          </a:p>
        </p:txBody>
      </p:sp>
      <p:sp>
        <p:nvSpPr>
          <p:cNvPr id="196" name="Rectangle 195">
            <a:extLst>
              <a:ext uri="{FF2B5EF4-FFF2-40B4-BE49-F238E27FC236}">
                <a16:creationId xmlns:a16="http://schemas.microsoft.com/office/drawing/2014/main" id="{C335BA5E-5748-7FC6-9F39-4E3582BE234C}"/>
              </a:ext>
            </a:extLst>
          </p:cNvPr>
          <p:cNvSpPr/>
          <p:nvPr/>
        </p:nvSpPr>
        <p:spPr>
          <a:xfrm>
            <a:off x="2930652"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98" name="Rectangle 197">
            <a:extLst>
              <a:ext uri="{FF2B5EF4-FFF2-40B4-BE49-F238E27FC236}">
                <a16:creationId xmlns:a16="http://schemas.microsoft.com/office/drawing/2014/main" id="{15D4A6A2-9E67-97F4-554B-4407ABAAB80D}"/>
              </a:ext>
            </a:extLst>
          </p:cNvPr>
          <p:cNvSpPr/>
          <p:nvPr/>
        </p:nvSpPr>
        <p:spPr>
          <a:xfrm>
            <a:off x="3991356"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0" name="Rectangle 199">
            <a:extLst>
              <a:ext uri="{FF2B5EF4-FFF2-40B4-BE49-F238E27FC236}">
                <a16:creationId xmlns:a16="http://schemas.microsoft.com/office/drawing/2014/main" id="{D1723B0B-F734-BFB6-1BBB-2CEAB09A099F}"/>
              </a:ext>
            </a:extLst>
          </p:cNvPr>
          <p:cNvSpPr/>
          <p:nvPr/>
        </p:nvSpPr>
        <p:spPr>
          <a:xfrm>
            <a:off x="4521708" y="6071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2" name="Rectangle 201">
            <a:extLst>
              <a:ext uri="{FF2B5EF4-FFF2-40B4-BE49-F238E27FC236}">
                <a16:creationId xmlns:a16="http://schemas.microsoft.com/office/drawing/2014/main" id="{4D874EDB-DDFD-0167-69CB-D6EEC53E4DE0}"/>
              </a:ext>
            </a:extLst>
          </p:cNvPr>
          <p:cNvSpPr/>
          <p:nvPr/>
        </p:nvSpPr>
        <p:spPr>
          <a:xfrm>
            <a:off x="5052060"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4" name="Rectangle 203">
            <a:extLst>
              <a:ext uri="{FF2B5EF4-FFF2-40B4-BE49-F238E27FC236}">
                <a16:creationId xmlns:a16="http://schemas.microsoft.com/office/drawing/2014/main" id="{8D2C5942-C373-4257-4576-964186DE15E9}"/>
              </a:ext>
            </a:extLst>
          </p:cNvPr>
          <p:cNvSpPr/>
          <p:nvPr/>
        </p:nvSpPr>
        <p:spPr>
          <a:xfrm>
            <a:off x="6112764"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6" name="Rectangle 205">
            <a:extLst>
              <a:ext uri="{FF2B5EF4-FFF2-40B4-BE49-F238E27FC236}">
                <a16:creationId xmlns:a16="http://schemas.microsoft.com/office/drawing/2014/main" id="{11ED1C46-1D45-406B-B11E-007EC2E3CDB3}"/>
              </a:ext>
            </a:extLst>
          </p:cNvPr>
          <p:cNvSpPr/>
          <p:nvPr/>
        </p:nvSpPr>
        <p:spPr>
          <a:xfrm>
            <a:off x="7173468"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8" name="Rectangle 207">
            <a:extLst>
              <a:ext uri="{FF2B5EF4-FFF2-40B4-BE49-F238E27FC236}">
                <a16:creationId xmlns:a16="http://schemas.microsoft.com/office/drawing/2014/main" id="{BFE6B70A-568D-865C-4A03-3A4F3A060E66}"/>
              </a:ext>
            </a:extLst>
          </p:cNvPr>
          <p:cNvSpPr/>
          <p:nvPr/>
        </p:nvSpPr>
        <p:spPr>
          <a:xfrm>
            <a:off x="8234172"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10" name="Rectangle 209">
            <a:extLst>
              <a:ext uri="{FF2B5EF4-FFF2-40B4-BE49-F238E27FC236}">
                <a16:creationId xmlns:a16="http://schemas.microsoft.com/office/drawing/2014/main" id="{06240A82-15EE-2F67-A78A-E6D10E467131}"/>
              </a:ext>
            </a:extLst>
          </p:cNvPr>
          <p:cNvSpPr/>
          <p:nvPr/>
        </p:nvSpPr>
        <p:spPr>
          <a:xfrm>
            <a:off x="8764524"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12" name="TextBox 211">
            <a:extLst>
              <a:ext uri="{FF2B5EF4-FFF2-40B4-BE49-F238E27FC236}">
                <a16:creationId xmlns:a16="http://schemas.microsoft.com/office/drawing/2014/main" id="{198E9279-C6BE-796C-1388-7A191035DF38}"/>
              </a:ext>
            </a:extLst>
          </p:cNvPr>
          <p:cNvSpPr txBox="1"/>
          <p:nvPr/>
        </p:nvSpPr>
        <p:spPr>
          <a:xfrm>
            <a:off x="475488" y="6341899"/>
            <a:ext cx="2267712"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AFCON CAMPAIGN</a:t>
            </a:r>
          </a:p>
        </p:txBody>
      </p:sp>
      <p:sp>
        <p:nvSpPr>
          <p:cNvPr id="214" name="TextBox 213">
            <a:extLst>
              <a:ext uri="{FF2B5EF4-FFF2-40B4-BE49-F238E27FC236}">
                <a16:creationId xmlns:a16="http://schemas.microsoft.com/office/drawing/2014/main" id="{0D469CC5-A014-6125-F1D9-CF3668CF96A9}"/>
              </a:ext>
            </a:extLst>
          </p:cNvPr>
          <p:cNvSpPr txBox="1"/>
          <p:nvPr/>
        </p:nvSpPr>
        <p:spPr>
          <a:xfrm>
            <a:off x="475488" y="6462445"/>
            <a:ext cx="2267712" cy="132344"/>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800" b="1"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Tournament-led campaign burst</a:t>
            </a:r>
          </a:p>
        </p:txBody>
      </p:sp>
      <p:sp>
        <p:nvSpPr>
          <p:cNvPr id="216" name="Rectangle 215">
            <a:extLst>
              <a:ext uri="{FF2B5EF4-FFF2-40B4-BE49-F238E27FC236}">
                <a16:creationId xmlns:a16="http://schemas.microsoft.com/office/drawing/2014/main" id="{A5214450-CE3E-2900-49E5-F0457436A6F0}"/>
              </a:ext>
            </a:extLst>
          </p:cNvPr>
          <p:cNvSpPr/>
          <p:nvPr/>
        </p:nvSpPr>
        <p:spPr>
          <a:xfrm>
            <a:off x="2930652"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18" name="Rectangle 217">
            <a:extLst>
              <a:ext uri="{FF2B5EF4-FFF2-40B4-BE49-F238E27FC236}">
                <a16:creationId xmlns:a16="http://schemas.microsoft.com/office/drawing/2014/main" id="{AB48BAA6-0FDA-FB18-3FCD-5E3A5D7EAF98}"/>
              </a:ext>
            </a:extLst>
          </p:cNvPr>
          <p:cNvSpPr/>
          <p:nvPr/>
        </p:nvSpPr>
        <p:spPr>
          <a:xfrm>
            <a:off x="3461004"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0" name="Rectangle 219">
            <a:extLst>
              <a:ext uri="{FF2B5EF4-FFF2-40B4-BE49-F238E27FC236}">
                <a16:creationId xmlns:a16="http://schemas.microsoft.com/office/drawing/2014/main" id="{AB4C9AD7-A14D-86CB-BAA4-B3CCFAC1BAB5}"/>
              </a:ext>
            </a:extLst>
          </p:cNvPr>
          <p:cNvSpPr/>
          <p:nvPr/>
        </p:nvSpPr>
        <p:spPr>
          <a:xfrm>
            <a:off x="3991356"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2" name="Rectangle 221">
            <a:extLst>
              <a:ext uri="{FF2B5EF4-FFF2-40B4-BE49-F238E27FC236}">
                <a16:creationId xmlns:a16="http://schemas.microsoft.com/office/drawing/2014/main" id="{2F23349B-A5FF-C094-375C-55AF5E7BE4FD}"/>
              </a:ext>
            </a:extLst>
          </p:cNvPr>
          <p:cNvSpPr/>
          <p:nvPr/>
        </p:nvSpPr>
        <p:spPr>
          <a:xfrm>
            <a:off x="4521708"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4" name="Rectangle 223">
            <a:extLst>
              <a:ext uri="{FF2B5EF4-FFF2-40B4-BE49-F238E27FC236}">
                <a16:creationId xmlns:a16="http://schemas.microsoft.com/office/drawing/2014/main" id="{569C8357-76C5-EF4A-6E96-56A989BEAA4D}"/>
              </a:ext>
            </a:extLst>
          </p:cNvPr>
          <p:cNvSpPr/>
          <p:nvPr/>
        </p:nvSpPr>
        <p:spPr>
          <a:xfrm>
            <a:off x="5052060" y="6405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6" name="Rectangle 225">
            <a:extLst>
              <a:ext uri="{FF2B5EF4-FFF2-40B4-BE49-F238E27FC236}">
                <a16:creationId xmlns:a16="http://schemas.microsoft.com/office/drawing/2014/main" id="{AE77AA82-36C8-EB77-A1C2-202C7D15ED76}"/>
              </a:ext>
            </a:extLst>
          </p:cNvPr>
          <p:cNvSpPr/>
          <p:nvPr/>
        </p:nvSpPr>
        <p:spPr>
          <a:xfrm>
            <a:off x="5582412" y="6405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8" name="Rectangle 227">
            <a:extLst>
              <a:ext uri="{FF2B5EF4-FFF2-40B4-BE49-F238E27FC236}">
                <a16:creationId xmlns:a16="http://schemas.microsoft.com/office/drawing/2014/main" id="{F8387C13-B019-8D56-9BF5-C83349FF21F3}"/>
              </a:ext>
            </a:extLst>
          </p:cNvPr>
          <p:cNvSpPr/>
          <p:nvPr/>
        </p:nvSpPr>
        <p:spPr>
          <a:xfrm>
            <a:off x="6112764" y="6405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0" name="Rectangle 229">
            <a:extLst>
              <a:ext uri="{FF2B5EF4-FFF2-40B4-BE49-F238E27FC236}">
                <a16:creationId xmlns:a16="http://schemas.microsoft.com/office/drawing/2014/main" id="{A3D225AA-63DE-E176-E53E-E2A8C2517A59}"/>
              </a:ext>
            </a:extLst>
          </p:cNvPr>
          <p:cNvSpPr/>
          <p:nvPr/>
        </p:nvSpPr>
        <p:spPr>
          <a:xfrm>
            <a:off x="6643116"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2" name="Rectangle 231">
            <a:extLst>
              <a:ext uri="{FF2B5EF4-FFF2-40B4-BE49-F238E27FC236}">
                <a16:creationId xmlns:a16="http://schemas.microsoft.com/office/drawing/2014/main" id="{7E90F82B-141A-C02F-A05C-8B85603779A4}"/>
              </a:ext>
            </a:extLst>
          </p:cNvPr>
          <p:cNvSpPr/>
          <p:nvPr/>
        </p:nvSpPr>
        <p:spPr>
          <a:xfrm>
            <a:off x="7173468"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4" name="Rectangle 233">
            <a:extLst>
              <a:ext uri="{FF2B5EF4-FFF2-40B4-BE49-F238E27FC236}">
                <a16:creationId xmlns:a16="http://schemas.microsoft.com/office/drawing/2014/main" id="{20F13B27-0041-150F-94A3-BD680DB5343F}"/>
              </a:ext>
            </a:extLst>
          </p:cNvPr>
          <p:cNvSpPr/>
          <p:nvPr/>
        </p:nvSpPr>
        <p:spPr>
          <a:xfrm>
            <a:off x="7703820"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6" name="Rectangle 235">
            <a:extLst>
              <a:ext uri="{FF2B5EF4-FFF2-40B4-BE49-F238E27FC236}">
                <a16:creationId xmlns:a16="http://schemas.microsoft.com/office/drawing/2014/main" id="{39159709-24A3-A4CE-F7FA-04971A8C044A}"/>
              </a:ext>
            </a:extLst>
          </p:cNvPr>
          <p:cNvSpPr/>
          <p:nvPr/>
        </p:nvSpPr>
        <p:spPr>
          <a:xfrm>
            <a:off x="8234172"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8" name="Rectangle 237">
            <a:extLst>
              <a:ext uri="{FF2B5EF4-FFF2-40B4-BE49-F238E27FC236}">
                <a16:creationId xmlns:a16="http://schemas.microsoft.com/office/drawing/2014/main" id="{52F318C8-D468-5FA6-13A7-41D79AE6EE92}"/>
              </a:ext>
            </a:extLst>
          </p:cNvPr>
          <p:cNvSpPr/>
          <p:nvPr/>
        </p:nvSpPr>
        <p:spPr>
          <a:xfrm>
            <a:off x="8764524"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40" name="Rounded Rectangle 157">
            <a:extLst>
              <a:ext uri="{FF2B5EF4-FFF2-40B4-BE49-F238E27FC236}">
                <a16:creationId xmlns:a16="http://schemas.microsoft.com/office/drawing/2014/main" id="{308E787D-B9C7-91DB-0EDC-3B6A69BC3920}"/>
              </a:ext>
            </a:extLst>
          </p:cNvPr>
          <p:cNvSpPr/>
          <p:nvPr/>
        </p:nvSpPr>
        <p:spPr>
          <a:xfrm>
            <a:off x="9531992" y="5039078"/>
            <a:ext cx="2353646" cy="1645921"/>
          </a:xfrm>
          <a:prstGeom prst="roundRect">
            <a:avLst>
              <a:gd name="adj" fmla="val 7000"/>
            </a:avLst>
          </a:prstGeom>
          <a:solidFill>
            <a:srgbClr val="EDF2EE"/>
          </a:solidFill>
          <a:ln>
            <a:solidFill>
              <a:srgbClr val="EDF2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pic>
        <p:nvPicPr>
          <p:cNvPr id="242" name="Picture 241" descr="skol_bottle_refined_structure.png">
            <a:extLst>
              <a:ext uri="{FF2B5EF4-FFF2-40B4-BE49-F238E27FC236}">
                <a16:creationId xmlns:a16="http://schemas.microsoft.com/office/drawing/2014/main" id="{5A7E1F1C-CF17-7F78-5D5B-A0C51B8C58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741295" y="5104369"/>
            <a:ext cx="670835" cy="1519064"/>
          </a:xfrm>
          <a:prstGeom prst="rect">
            <a:avLst/>
          </a:prstGeom>
        </p:spPr>
      </p:pic>
      <p:sp>
        <p:nvSpPr>
          <p:cNvPr id="244" name="TextBox 243">
            <a:extLst>
              <a:ext uri="{FF2B5EF4-FFF2-40B4-BE49-F238E27FC236}">
                <a16:creationId xmlns:a16="http://schemas.microsoft.com/office/drawing/2014/main" id="{7BB2D473-4A2F-332A-7327-1B4E18681170}"/>
              </a:ext>
            </a:extLst>
          </p:cNvPr>
          <p:cNvSpPr txBox="1"/>
          <p:nvPr/>
        </p:nvSpPr>
        <p:spPr>
          <a:xfrm>
            <a:off x="10558428" y="5171421"/>
            <a:ext cx="1209302" cy="193899"/>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rPr>
              <a:t>SKOL MALT</a:t>
            </a:r>
            <a:r>
              <a:rPr kumimoji="0" lang="en-US"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rPr>
              <a:t> </a:t>
            </a:r>
            <a:endParaRPr kumimoji="0"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endParaRPr>
          </a:p>
        </p:txBody>
      </p:sp>
      <p:sp>
        <p:nvSpPr>
          <p:cNvPr id="246" name="TextBox 245">
            <a:extLst>
              <a:ext uri="{FF2B5EF4-FFF2-40B4-BE49-F238E27FC236}">
                <a16:creationId xmlns:a16="http://schemas.microsoft.com/office/drawing/2014/main" id="{45DB9D52-1620-6587-D794-276DD02DFB3F}"/>
              </a:ext>
            </a:extLst>
          </p:cNvPr>
          <p:cNvSpPr txBox="1"/>
          <p:nvPr/>
        </p:nvSpPr>
        <p:spPr>
          <a:xfrm>
            <a:off x="10564590" y="5368432"/>
            <a:ext cx="1298114"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STRATEGIC FOCUS</a:t>
            </a:r>
            <a:endPar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248" name="TextBox 247">
            <a:extLst>
              <a:ext uri="{FF2B5EF4-FFF2-40B4-BE49-F238E27FC236}">
                <a16:creationId xmlns:a16="http://schemas.microsoft.com/office/drawing/2014/main" id="{3BBF82C7-0EDC-A9A0-4037-255F3A0569B3}"/>
              </a:ext>
            </a:extLst>
          </p:cNvPr>
          <p:cNvSpPr txBox="1"/>
          <p:nvPr/>
        </p:nvSpPr>
        <p:spPr>
          <a:xfrm>
            <a:off x="10597031" y="5627842"/>
            <a:ext cx="1209166" cy="778675"/>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
Visibility
Affordability
Consumer engagement</a:t>
            </a:r>
          </a:p>
        </p:txBody>
      </p:sp>
      <p:sp>
        <p:nvSpPr>
          <p:cNvPr id="250" name="Rounded Rectangle 70">
            <a:extLst>
              <a:ext uri="{FF2B5EF4-FFF2-40B4-BE49-F238E27FC236}">
                <a16:creationId xmlns:a16="http://schemas.microsoft.com/office/drawing/2014/main" id="{32196A89-AB0F-0855-EA14-586F26496440}"/>
              </a:ext>
            </a:extLst>
          </p:cNvPr>
          <p:cNvSpPr/>
          <p:nvPr/>
        </p:nvSpPr>
        <p:spPr>
          <a:xfrm>
            <a:off x="274320" y="4302496"/>
            <a:ext cx="11631168" cy="621792"/>
          </a:xfrm>
          <a:prstGeom prst="roundRect">
            <a:avLst>
              <a:gd name="adj" fmla="val 7000"/>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52" name="TextBox 251">
            <a:extLst>
              <a:ext uri="{FF2B5EF4-FFF2-40B4-BE49-F238E27FC236}">
                <a16:creationId xmlns:a16="http://schemas.microsoft.com/office/drawing/2014/main" id="{447A516D-8183-24F3-458C-26D7B6EC742D}"/>
              </a:ext>
            </a:extLst>
          </p:cNvPr>
          <p:cNvSpPr txBox="1"/>
          <p:nvPr/>
        </p:nvSpPr>
        <p:spPr>
          <a:xfrm>
            <a:off x="430224" y="4392239"/>
            <a:ext cx="2380013"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MONTHLY PERFORMANCE SCORECARD</a:t>
            </a:r>
          </a:p>
        </p:txBody>
      </p:sp>
      <p:sp>
        <p:nvSpPr>
          <p:cNvPr id="254" name="TextBox 253">
            <a:extLst>
              <a:ext uri="{FF2B5EF4-FFF2-40B4-BE49-F238E27FC236}">
                <a16:creationId xmlns:a16="http://schemas.microsoft.com/office/drawing/2014/main" id="{106E8FEE-F847-E52B-6D00-136936CC3B84}"/>
              </a:ext>
            </a:extLst>
          </p:cNvPr>
          <p:cNvSpPr txBox="1"/>
          <p:nvPr/>
        </p:nvSpPr>
        <p:spPr>
          <a:xfrm>
            <a:off x="541782" y="4586600"/>
            <a:ext cx="2135124"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Track execution and business impact</a:t>
            </a:r>
          </a:p>
        </p:txBody>
      </p:sp>
      <p:sp>
        <p:nvSpPr>
          <p:cNvPr id="256" name="TextBox 255">
            <a:extLst>
              <a:ext uri="{FF2B5EF4-FFF2-40B4-BE49-F238E27FC236}">
                <a16:creationId xmlns:a16="http://schemas.microsoft.com/office/drawing/2014/main" id="{BA791071-F704-12F9-E51D-775618FC4EF0}"/>
              </a:ext>
            </a:extLst>
          </p:cNvPr>
          <p:cNvSpPr txBox="1"/>
          <p:nvPr/>
        </p:nvSpPr>
        <p:spPr>
          <a:xfrm>
            <a:off x="3154680" y="4390099"/>
            <a:ext cx="1993392"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a:t>
            </a:r>
          </a:p>
        </p:txBody>
      </p:sp>
      <p:sp>
        <p:nvSpPr>
          <p:cNvPr id="258" name="TextBox 257">
            <a:extLst>
              <a:ext uri="{FF2B5EF4-FFF2-40B4-BE49-F238E27FC236}">
                <a16:creationId xmlns:a16="http://schemas.microsoft.com/office/drawing/2014/main" id="{4493AE30-6042-A1D4-3A31-3609F89ABC29}"/>
              </a:ext>
            </a:extLst>
          </p:cNvPr>
          <p:cNvSpPr txBox="1"/>
          <p:nvPr/>
        </p:nvSpPr>
        <p:spPr>
          <a:xfrm>
            <a:off x="2930652" y="4583531"/>
            <a:ext cx="2145905"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NND rate • Skol share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competitor</a:t>
            </a:r>
          </a:p>
        </p:txBody>
      </p:sp>
      <p:sp>
        <p:nvSpPr>
          <p:cNvPr id="260" name="Rectangle 259">
            <a:extLst>
              <a:ext uri="{FF2B5EF4-FFF2-40B4-BE49-F238E27FC236}">
                <a16:creationId xmlns:a16="http://schemas.microsoft.com/office/drawing/2014/main" id="{268421CD-D051-6DE0-6FF9-B6D51908EBD7}"/>
              </a:ext>
            </a:extLst>
          </p:cNvPr>
          <p:cNvSpPr/>
          <p:nvPr/>
        </p:nvSpPr>
        <p:spPr>
          <a:xfrm>
            <a:off x="5202936"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2" name="TextBox 261">
            <a:extLst>
              <a:ext uri="{FF2B5EF4-FFF2-40B4-BE49-F238E27FC236}">
                <a16:creationId xmlns:a16="http://schemas.microsoft.com/office/drawing/2014/main" id="{FA091E91-B154-9E5B-AEC2-BD2049408FFD}"/>
              </a:ext>
            </a:extLst>
          </p:cNvPr>
          <p:cNvSpPr txBox="1"/>
          <p:nvPr/>
        </p:nvSpPr>
        <p:spPr>
          <a:xfrm>
            <a:off x="5321808" y="4390099"/>
            <a:ext cx="1920240"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prstClr val="black"/>
                </a:solidFill>
                <a:effectLst/>
                <a:uLnTx/>
                <a:uFillTx/>
                <a:latin typeface="Aptos" panose="020B0004020202020204" pitchFamily="34" charset="0"/>
                <a:ea typeface="+mn-ea"/>
                <a:cs typeface="+mn-cs"/>
              </a:rPr>
              <a:t>AFFORDABILITY</a:t>
            </a:r>
          </a:p>
        </p:txBody>
      </p:sp>
      <p:sp>
        <p:nvSpPr>
          <p:cNvPr id="264" name="TextBox 263">
            <a:extLst>
              <a:ext uri="{FF2B5EF4-FFF2-40B4-BE49-F238E27FC236}">
                <a16:creationId xmlns:a16="http://schemas.microsoft.com/office/drawing/2014/main" id="{ABF9D002-FF8F-EB9B-A777-B034F81D9CFF}"/>
              </a:ext>
            </a:extLst>
          </p:cNvPr>
          <p:cNvSpPr txBox="1"/>
          <p:nvPr/>
        </p:nvSpPr>
        <p:spPr>
          <a:xfrm>
            <a:off x="5285231" y="4583531"/>
            <a:ext cx="1920240"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Price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position V</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competition</a:t>
            </a:r>
          </a:p>
        </p:txBody>
      </p:sp>
      <p:sp>
        <p:nvSpPr>
          <p:cNvPr id="266" name="Rectangle 265">
            <a:extLst>
              <a:ext uri="{FF2B5EF4-FFF2-40B4-BE49-F238E27FC236}">
                <a16:creationId xmlns:a16="http://schemas.microsoft.com/office/drawing/2014/main" id="{B80081C7-174E-97A9-F173-B296A48E6C78}"/>
              </a:ext>
            </a:extLst>
          </p:cNvPr>
          <p:cNvSpPr/>
          <p:nvPr/>
        </p:nvSpPr>
        <p:spPr>
          <a:xfrm>
            <a:off x="7333488"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8" name="TextBox 267">
            <a:extLst>
              <a:ext uri="{FF2B5EF4-FFF2-40B4-BE49-F238E27FC236}">
                <a16:creationId xmlns:a16="http://schemas.microsoft.com/office/drawing/2014/main" id="{7C93381C-B942-84F1-1CC3-B01CD2866F92}"/>
              </a:ext>
            </a:extLst>
          </p:cNvPr>
          <p:cNvSpPr txBox="1"/>
          <p:nvPr/>
        </p:nvSpPr>
        <p:spPr>
          <a:xfrm>
            <a:off x="7452360" y="4390099"/>
            <a:ext cx="1938528"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prstClr val="black"/>
                </a:solidFill>
                <a:effectLst/>
                <a:uLnTx/>
                <a:uFillTx/>
                <a:latin typeface="Aptos" panose="020B0004020202020204" pitchFamily="34" charset="0"/>
                <a:ea typeface="+mn-ea"/>
                <a:cs typeface="+mn-cs"/>
              </a:rPr>
              <a:t>VISIBILITY</a:t>
            </a:r>
          </a:p>
        </p:txBody>
      </p:sp>
      <p:sp>
        <p:nvSpPr>
          <p:cNvPr id="270" name="TextBox 269">
            <a:extLst>
              <a:ext uri="{FF2B5EF4-FFF2-40B4-BE49-F238E27FC236}">
                <a16:creationId xmlns:a16="http://schemas.microsoft.com/office/drawing/2014/main" id="{9FFD17E5-CB1E-0052-7E7A-089FB4992390}"/>
              </a:ext>
            </a:extLst>
          </p:cNvPr>
          <p:cNvSpPr txBox="1"/>
          <p:nvPr/>
        </p:nvSpPr>
        <p:spPr>
          <a:xfrm>
            <a:off x="7413497" y="4583531"/>
            <a:ext cx="1938528"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Assets deployed and refreshed</a:t>
            </a:r>
          </a:p>
        </p:txBody>
      </p:sp>
      <p:sp>
        <p:nvSpPr>
          <p:cNvPr id="272" name="Rectangle 271">
            <a:extLst>
              <a:ext uri="{FF2B5EF4-FFF2-40B4-BE49-F238E27FC236}">
                <a16:creationId xmlns:a16="http://schemas.microsoft.com/office/drawing/2014/main" id="{118B6EC5-5B55-0382-1760-F895B6C40A99}"/>
              </a:ext>
            </a:extLst>
          </p:cNvPr>
          <p:cNvSpPr/>
          <p:nvPr/>
        </p:nvSpPr>
        <p:spPr>
          <a:xfrm>
            <a:off x="9482328"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74" name="TextBox 273">
            <a:extLst>
              <a:ext uri="{FF2B5EF4-FFF2-40B4-BE49-F238E27FC236}">
                <a16:creationId xmlns:a16="http://schemas.microsoft.com/office/drawing/2014/main" id="{2EE8E59E-1799-9BC3-DBFE-2F9E97946654}"/>
              </a:ext>
            </a:extLst>
          </p:cNvPr>
          <p:cNvSpPr txBox="1"/>
          <p:nvPr/>
        </p:nvSpPr>
        <p:spPr>
          <a:xfrm>
            <a:off x="9581536" y="4370831"/>
            <a:ext cx="2011680"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BUSINESS IMPACT</a:t>
            </a:r>
          </a:p>
        </p:txBody>
      </p:sp>
      <p:sp>
        <p:nvSpPr>
          <p:cNvPr id="276" name="TextBox 275">
            <a:extLst>
              <a:ext uri="{FF2B5EF4-FFF2-40B4-BE49-F238E27FC236}">
                <a16:creationId xmlns:a16="http://schemas.microsoft.com/office/drawing/2014/main" id="{0D6FB5D5-90A4-9F89-C740-23C8692D5421}"/>
              </a:ext>
            </a:extLst>
          </p:cNvPr>
          <p:cNvSpPr txBox="1"/>
          <p:nvPr/>
        </p:nvSpPr>
        <p:spPr>
          <a:xfrm>
            <a:off x="9601199" y="4558528"/>
            <a:ext cx="2261503" cy="317010"/>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Volume growth • incremental contribution</a:t>
            </a:r>
          </a:p>
        </p:txBody>
      </p:sp>
      <p:sp>
        <p:nvSpPr>
          <p:cNvPr id="278" name="TextBox 277">
            <a:extLst>
              <a:ext uri="{FF2B5EF4-FFF2-40B4-BE49-F238E27FC236}">
                <a16:creationId xmlns:a16="http://schemas.microsoft.com/office/drawing/2014/main" id="{ECDDECD5-96BE-EB76-BDB8-7022B63DC331}"/>
              </a:ext>
            </a:extLst>
          </p:cNvPr>
          <p:cNvSpPr txBox="1"/>
          <p:nvPr/>
        </p:nvSpPr>
        <p:spPr>
          <a:xfrm>
            <a:off x="3365370" y="2317780"/>
            <a:ext cx="2313432" cy="778675"/>
          </a:xfrm>
          <a:prstGeom prst="rect">
            <a:avLst/>
          </a:prstGeom>
          <a:noFill/>
        </p:spPr>
        <p:txBody>
          <a:bodyPr wrap="square" lIns="22860" tIns="4572" rIns="22860" bIns="4572"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a:ea typeface="+mn-ea"/>
                <a:cs typeface="+mn-cs"/>
              </a:rPr>
              <a:t>Regular competitor price checks and corrective actions</a:t>
            </a:r>
            <a:r>
              <a:rPr kumimoji="0" lang="en-US" sz="1000" b="0" i="0" u="none" strike="noStrike" kern="1200" cap="none" spc="0" normalizeH="0" baseline="0" noProof="0" dirty="0">
                <a:ln>
                  <a:noFill/>
                </a:ln>
                <a:solidFill>
                  <a:prstClr val="black"/>
                </a:solidFill>
                <a:effectLst/>
                <a:uLnTx/>
                <a:uFillTx/>
                <a:latin typeface="Aptos"/>
                <a:ea typeface="+mn-ea"/>
                <a:cs typeface="+mn-cs"/>
              </a:rPr>
              <a:t> to be executed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a:ea typeface="+mn-ea"/>
                <a:cs typeface="+mn-cs"/>
              </a:rPr>
              <a:t>Display price lists in all standard and basic outlets</a:t>
            </a:r>
            <a:endParaRPr kumimoji="0"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80" name="TextBox 279">
            <a:extLst>
              <a:ext uri="{FF2B5EF4-FFF2-40B4-BE49-F238E27FC236}">
                <a16:creationId xmlns:a16="http://schemas.microsoft.com/office/drawing/2014/main" id="{F1C85D39-5589-E5CC-CA4F-2D84DFA0DA7B}"/>
              </a:ext>
            </a:extLst>
          </p:cNvPr>
          <p:cNvSpPr txBox="1"/>
          <p:nvPr/>
        </p:nvSpPr>
        <p:spPr>
          <a:xfrm>
            <a:off x="6332464" y="3667479"/>
            <a:ext cx="2487168"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a:ea typeface="+mn-ea"/>
                <a:cs typeface="+mn-cs"/>
              </a:rPr>
              <a:t>DEPLOY • MAINTAIN • VERIFY</a:t>
            </a:r>
          </a:p>
        </p:txBody>
      </p:sp>
      <p:sp>
        <p:nvSpPr>
          <p:cNvPr id="282" name="Rectangle 281">
            <a:extLst>
              <a:ext uri="{FF2B5EF4-FFF2-40B4-BE49-F238E27FC236}">
                <a16:creationId xmlns:a16="http://schemas.microsoft.com/office/drawing/2014/main" id="{E9C3B5C8-119B-FF75-5DB5-F5261C02C696}"/>
              </a:ext>
            </a:extLst>
          </p:cNvPr>
          <p:cNvSpPr/>
          <p:nvPr/>
        </p:nvSpPr>
        <p:spPr>
          <a:xfrm>
            <a:off x="3467642" y="6069185"/>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4" name="Rectangle 283">
            <a:extLst>
              <a:ext uri="{FF2B5EF4-FFF2-40B4-BE49-F238E27FC236}">
                <a16:creationId xmlns:a16="http://schemas.microsoft.com/office/drawing/2014/main" id="{BC4B494F-F962-E8C1-1166-9CE2C51C12FF}"/>
              </a:ext>
            </a:extLst>
          </p:cNvPr>
          <p:cNvSpPr/>
          <p:nvPr/>
        </p:nvSpPr>
        <p:spPr>
          <a:xfrm>
            <a:off x="6634757" y="607017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6" name="Rectangle 285">
            <a:extLst>
              <a:ext uri="{FF2B5EF4-FFF2-40B4-BE49-F238E27FC236}">
                <a16:creationId xmlns:a16="http://schemas.microsoft.com/office/drawing/2014/main" id="{30771457-EA99-9534-0A3E-0CC9A6B19A93}"/>
              </a:ext>
            </a:extLst>
          </p:cNvPr>
          <p:cNvSpPr/>
          <p:nvPr/>
        </p:nvSpPr>
        <p:spPr>
          <a:xfrm>
            <a:off x="5580691" y="6068191"/>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8" name="Rectangle 287">
            <a:extLst>
              <a:ext uri="{FF2B5EF4-FFF2-40B4-BE49-F238E27FC236}">
                <a16:creationId xmlns:a16="http://schemas.microsoft.com/office/drawing/2014/main" id="{44F29B5B-931B-8F18-A6DE-FF3744FCB4D1}"/>
              </a:ext>
            </a:extLst>
          </p:cNvPr>
          <p:cNvSpPr/>
          <p:nvPr/>
        </p:nvSpPr>
        <p:spPr>
          <a:xfrm>
            <a:off x="7703819" y="6069185"/>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pic>
        <p:nvPicPr>
          <p:cNvPr id="290" name="Picture 289" descr="A yellow and red label with white text&#10;&#10;AI-generated content may be incorrect.">
            <a:extLst>
              <a:ext uri="{FF2B5EF4-FFF2-40B4-BE49-F238E27FC236}">
                <a16:creationId xmlns:a16="http://schemas.microsoft.com/office/drawing/2014/main" id="{2A288E35-4FD3-23C0-1BCC-0B30307D663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762905" y="45796"/>
            <a:ext cx="1108087" cy="645339"/>
          </a:xfrm>
          <a:prstGeom prst="rect">
            <a:avLst/>
          </a:prstGeom>
        </p:spPr>
      </p:pic>
    </p:spTree>
    <p:extLst>
      <p:ext uri="{BB962C8B-B14F-4D97-AF65-F5344CB8AC3E}">
        <p14:creationId xmlns:p14="http://schemas.microsoft.com/office/powerpoint/2010/main" val="35342062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BE8D-6A3A-7F3C-B8D0-C658EB7A095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3590795-488B-AFC7-C2A6-E679C66993EC}"/>
              </a:ext>
            </a:extLst>
          </p:cNvPr>
          <p:cNvSpPr txBox="1">
            <a:spLocks/>
          </p:cNvSpPr>
          <p:nvPr/>
        </p:nvSpPr>
        <p:spPr>
          <a:xfrm>
            <a:off x="205882" y="56731"/>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EXECUTION PLAN – 2027</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1F372F"/>
                </a:solidFill>
                <a:effectLst/>
                <a:uLnTx/>
                <a:uFillTx/>
                <a:latin typeface="Aptos" panose="020B0004020202020204" pitchFamily="34" charset="0"/>
                <a:ea typeface="+mj-ea"/>
                <a:cs typeface="+mj-cs"/>
              </a:rPr>
              <a:t>VIRUNGA</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How to win at the point of sale</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US" sz="18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p:txBody>
      </p:sp>
      <p:sp>
        <p:nvSpPr>
          <p:cNvPr id="10" name="Rounded Rectangle 7">
            <a:extLst>
              <a:ext uri="{FF2B5EF4-FFF2-40B4-BE49-F238E27FC236}">
                <a16:creationId xmlns:a16="http://schemas.microsoft.com/office/drawing/2014/main" id="{5EEA3536-41A6-DD1E-9495-DFBC59DC3FE0}"/>
              </a:ext>
            </a:extLst>
          </p:cNvPr>
          <p:cNvSpPr/>
          <p:nvPr/>
        </p:nvSpPr>
        <p:spPr>
          <a:xfrm>
            <a:off x="321008" y="917490"/>
            <a:ext cx="2761488" cy="3323426"/>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2" name="Rectangle 11">
            <a:extLst>
              <a:ext uri="{FF2B5EF4-FFF2-40B4-BE49-F238E27FC236}">
                <a16:creationId xmlns:a16="http://schemas.microsoft.com/office/drawing/2014/main" id="{464D4EA7-0437-B4B6-B652-CC08953DFB8E}"/>
              </a:ext>
            </a:extLst>
          </p:cNvPr>
          <p:cNvSpPr/>
          <p:nvPr/>
        </p:nvSpPr>
        <p:spPr>
          <a:xfrm>
            <a:off x="321008" y="813713"/>
            <a:ext cx="2761488" cy="118872"/>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4" name="Rounded Rectangle 18">
            <a:extLst>
              <a:ext uri="{FF2B5EF4-FFF2-40B4-BE49-F238E27FC236}">
                <a16:creationId xmlns:a16="http://schemas.microsoft.com/office/drawing/2014/main" id="{B59F82F3-C604-02F2-236C-521EFDF9402C}"/>
              </a:ext>
            </a:extLst>
          </p:cNvPr>
          <p:cNvSpPr/>
          <p:nvPr/>
        </p:nvSpPr>
        <p:spPr>
          <a:xfrm>
            <a:off x="6276207" y="882537"/>
            <a:ext cx="2761488" cy="3330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36" name="Rectangle 35">
            <a:extLst>
              <a:ext uri="{FF2B5EF4-FFF2-40B4-BE49-F238E27FC236}">
                <a16:creationId xmlns:a16="http://schemas.microsoft.com/office/drawing/2014/main" id="{DDE11013-B996-444F-47F4-35EE65BCD8D6}"/>
              </a:ext>
            </a:extLst>
          </p:cNvPr>
          <p:cNvSpPr/>
          <p:nvPr/>
        </p:nvSpPr>
        <p:spPr>
          <a:xfrm>
            <a:off x="6276207" y="813714"/>
            <a:ext cx="2761488" cy="118872"/>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 name="Oval 37">
            <a:extLst>
              <a:ext uri="{FF2B5EF4-FFF2-40B4-BE49-F238E27FC236}">
                <a16:creationId xmlns:a16="http://schemas.microsoft.com/office/drawing/2014/main" id="{9E2A5438-A904-8627-2DA0-6AD6BFF93698}"/>
              </a:ext>
            </a:extLst>
          </p:cNvPr>
          <p:cNvSpPr/>
          <p:nvPr/>
        </p:nvSpPr>
        <p:spPr>
          <a:xfrm>
            <a:off x="6440799" y="101006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0" name="TextBox 39">
            <a:extLst>
              <a:ext uri="{FF2B5EF4-FFF2-40B4-BE49-F238E27FC236}">
                <a16:creationId xmlns:a16="http://schemas.microsoft.com/office/drawing/2014/main" id="{84CBB04D-0A90-362A-9680-753784216305}"/>
              </a:ext>
            </a:extLst>
          </p:cNvPr>
          <p:cNvSpPr txBox="1"/>
          <p:nvPr/>
        </p:nvSpPr>
        <p:spPr>
          <a:xfrm>
            <a:off x="6440799" y="109954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3</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2" name="TextBox 41">
            <a:extLst>
              <a:ext uri="{FF2B5EF4-FFF2-40B4-BE49-F238E27FC236}">
                <a16:creationId xmlns:a16="http://schemas.microsoft.com/office/drawing/2014/main" id="{FC3D81C9-ABFE-EC9D-D5C6-B4FA95EC46EA}"/>
              </a:ext>
            </a:extLst>
          </p:cNvPr>
          <p:cNvSpPr txBox="1"/>
          <p:nvPr/>
        </p:nvSpPr>
        <p:spPr>
          <a:xfrm>
            <a:off x="6952863" y="1112054"/>
            <a:ext cx="1965960" cy="203133"/>
          </a:xfrm>
          <a:prstGeom prst="rect">
            <a:avLst/>
          </a:prstGeom>
          <a:noFill/>
        </p:spPr>
        <p:txBody>
          <a:bodyPr wrap="square" lIns="36576" tIns="9144" rIns="36576" bIns="9144"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WIN </a:t>
            </a:r>
            <a:r>
              <a:rPr kumimoji="0" lang="en-US"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PREMIUM </a:t>
            </a:r>
            <a:r>
              <a:rPr kumimoji="0"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VISIBILITY</a:t>
            </a:r>
          </a:p>
        </p:txBody>
      </p:sp>
      <p:sp>
        <p:nvSpPr>
          <p:cNvPr id="44" name="Rectangle 43">
            <a:extLst>
              <a:ext uri="{FF2B5EF4-FFF2-40B4-BE49-F238E27FC236}">
                <a16:creationId xmlns:a16="http://schemas.microsoft.com/office/drawing/2014/main" id="{54F91AE6-11A1-BCB3-F3AB-579AE447C93F}"/>
              </a:ext>
            </a:extLst>
          </p:cNvPr>
          <p:cNvSpPr/>
          <p:nvPr/>
        </p:nvSpPr>
        <p:spPr>
          <a:xfrm>
            <a:off x="6440799" y="150177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 name="TextBox 45">
            <a:extLst>
              <a:ext uri="{FF2B5EF4-FFF2-40B4-BE49-F238E27FC236}">
                <a16:creationId xmlns:a16="http://schemas.microsoft.com/office/drawing/2014/main" id="{AE43B0F9-85B9-10F8-9C4E-796DCE91D9FA}"/>
              </a:ext>
            </a:extLst>
          </p:cNvPr>
          <p:cNvSpPr txBox="1"/>
          <p:nvPr/>
        </p:nvSpPr>
        <p:spPr>
          <a:xfrm>
            <a:off x="6312799" y="1655800"/>
            <a:ext cx="2636549" cy="449354"/>
          </a:xfrm>
          <a:prstGeom prst="rect">
            <a:avLst/>
          </a:prstGeom>
          <a:noFill/>
        </p:spPr>
        <p:txBody>
          <a:bodyPr wrap="square" lIns="36576" tIns="9144" rIns="36576" bIns="9144" anchor="ctr">
            <a:spAutoFit/>
          </a:bodyPr>
          <a:lstStyle/>
          <a:p>
            <a:pPr marL="0" marR="0" lvl="0" indent="0" algn="ctr" defTabSz="914400" rtl="0" eaLnBrk="1" fontAlgn="auto" latinLnBrk="0" hangingPunct="1">
              <a:lnSpc>
                <a:spcPct val="100000"/>
              </a:lnSpc>
              <a:spcBef>
                <a:spcPts val="0"/>
              </a:spcBef>
              <a:spcAft>
                <a:spcPts val="100"/>
              </a:spcAft>
              <a:buClrTx/>
              <a:buSzTx/>
              <a:buFontTx/>
              <a:buNone/>
              <a:tabLst/>
              <a:defRPr sz="1100" b="1" i="1">
                <a:solidFill>
                  <a:srgbClr val="009152"/>
                </a:solidFill>
                <a:latin typeface="Aptos"/>
              </a:defRPr>
            </a:pPr>
            <a:r>
              <a:rPr kumimoji="0" lang="en-US" sz="1400" b="1" i="1" u="none" strike="noStrike" kern="1200" cap="none" spc="0" normalizeH="0" baseline="0" noProof="0" dirty="0">
                <a:ln>
                  <a:noFill/>
                </a:ln>
                <a:solidFill>
                  <a:srgbClr val="009152"/>
                </a:solidFill>
                <a:effectLst/>
                <a:uLnTx/>
                <a:uFillTx/>
                <a:latin typeface="Aptos"/>
                <a:ea typeface="+mn-ea"/>
                <a:cs typeface="+mn-cs"/>
              </a:rPr>
              <a:t>Reinforce the brand in premium outlets and on the road</a:t>
            </a:r>
          </a:p>
        </p:txBody>
      </p:sp>
      <p:sp>
        <p:nvSpPr>
          <p:cNvPr id="52" name="TextBox 51">
            <a:extLst>
              <a:ext uri="{FF2B5EF4-FFF2-40B4-BE49-F238E27FC236}">
                <a16:creationId xmlns:a16="http://schemas.microsoft.com/office/drawing/2014/main" id="{3B490D08-A947-CA42-A2D4-084DE2DA55C5}"/>
              </a:ext>
            </a:extLst>
          </p:cNvPr>
          <p:cNvSpPr txBox="1"/>
          <p:nvPr/>
        </p:nvSpPr>
        <p:spPr>
          <a:xfrm>
            <a:off x="6440799" y="3584154"/>
            <a:ext cx="2432304" cy="172355"/>
          </a:xfrm>
          <a:prstGeom prst="rect">
            <a:avLst/>
          </a:prstGeom>
          <a:noFill/>
        </p:spPr>
        <p:txBody>
          <a:bodyPr wrap="square" lIns="36576" tIns="9144" rIns="36576"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50"/>
                </a:solidFill>
                <a:effectLst/>
                <a:uLnTx/>
                <a:uFillTx/>
                <a:latin typeface="Aptos"/>
                <a:ea typeface="+mn-ea"/>
                <a:cs typeface="+mn-cs"/>
              </a:rPr>
              <a:t>EXECUTION </a:t>
            </a:r>
            <a:r>
              <a:rPr kumimoji="0" lang="en-US" sz="1000" b="1" i="0" u="none" strike="noStrike" kern="1200" cap="none" spc="0" normalizeH="0" baseline="0" noProof="0" dirty="0">
                <a:ln>
                  <a:noFill/>
                </a:ln>
                <a:solidFill>
                  <a:srgbClr val="009152"/>
                </a:solidFill>
                <a:effectLst/>
                <a:uLnTx/>
                <a:uFillTx/>
                <a:latin typeface="Aptos"/>
                <a:ea typeface="+mn-ea"/>
                <a:cs typeface="+mn-cs"/>
              </a:rPr>
              <a:t>STANDARD</a:t>
            </a:r>
          </a:p>
        </p:txBody>
      </p:sp>
      <p:sp>
        <p:nvSpPr>
          <p:cNvPr id="54" name="Rounded Rectangle 29">
            <a:extLst>
              <a:ext uri="{FF2B5EF4-FFF2-40B4-BE49-F238E27FC236}">
                <a16:creationId xmlns:a16="http://schemas.microsoft.com/office/drawing/2014/main" id="{D6E7371E-74C1-6E37-8D77-AAC5B12AD0AF}"/>
              </a:ext>
            </a:extLst>
          </p:cNvPr>
          <p:cNvSpPr/>
          <p:nvPr/>
        </p:nvSpPr>
        <p:spPr>
          <a:xfrm>
            <a:off x="3304690" y="882537"/>
            <a:ext cx="2761488" cy="3358379"/>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6" name="Rectangle 55">
            <a:extLst>
              <a:ext uri="{FF2B5EF4-FFF2-40B4-BE49-F238E27FC236}">
                <a16:creationId xmlns:a16="http://schemas.microsoft.com/office/drawing/2014/main" id="{7A2CB636-CEAA-7C05-F3F2-FA1195A0F646}"/>
              </a:ext>
            </a:extLst>
          </p:cNvPr>
          <p:cNvSpPr/>
          <p:nvPr/>
        </p:nvSpPr>
        <p:spPr>
          <a:xfrm>
            <a:off x="3282287" y="813714"/>
            <a:ext cx="2761488" cy="118872"/>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8" name="Oval 57">
            <a:extLst>
              <a:ext uri="{FF2B5EF4-FFF2-40B4-BE49-F238E27FC236}">
                <a16:creationId xmlns:a16="http://schemas.microsoft.com/office/drawing/2014/main" id="{1088D2A0-262D-99A5-9A2D-F56CC461EE2D}"/>
              </a:ext>
            </a:extLst>
          </p:cNvPr>
          <p:cNvSpPr/>
          <p:nvPr/>
        </p:nvSpPr>
        <p:spPr>
          <a:xfrm>
            <a:off x="3446879" y="101006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60" name="TextBox 59">
            <a:extLst>
              <a:ext uri="{FF2B5EF4-FFF2-40B4-BE49-F238E27FC236}">
                <a16:creationId xmlns:a16="http://schemas.microsoft.com/office/drawing/2014/main" id="{12F5751F-5D5F-4E47-51EC-3A06FB2CAF19}"/>
              </a:ext>
            </a:extLst>
          </p:cNvPr>
          <p:cNvSpPr txBox="1"/>
          <p:nvPr/>
        </p:nvSpPr>
        <p:spPr>
          <a:xfrm>
            <a:off x="3446879" y="109954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2</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62" name="TextBox 61">
            <a:extLst>
              <a:ext uri="{FF2B5EF4-FFF2-40B4-BE49-F238E27FC236}">
                <a16:creationId xmlns:a16="http://schemas.microsoft.com/office/drawing/2014/main" id="{68A113A4-2F25-3326-824F-C594F9735DE0}"/>
              </a:ext>
            </a:extLst>
          </p:cNvPr>
          <p:cNvSpPr txBox="1"/>
          <p:nvPr/>
        </p:nvSpPr>
        <p:spPr>
          <a:xfrm>
            <a:off x="3842465" y="1121836"/>
            <a:ext cx="2148937" cy="203133"/>
          </a:xfrm>
          <a:prstGeom prst="rect">
            <a:avLst/>
          </a:prstGeom>
          <a:noFill/>
        </p:spPr>
        <p:txBody>
          <a:bodyPr wrap="square" lIns="36576" tIns="9144" rIns="36576" bIns="9144"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DRIVE PREMIUMPERSUASION</a:t>
            </a:r>
            <a:endParaRPr kumimoji="0"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endParaRPr>
          </a:p>
        </p:txBody>
      </p:sp>
      <p:sp>
        <p:nvSpPr>
          <p:cNvPr id="64" name="Rectangle 63">
            <a:extLst>
              <a:ext uri="{FF2B5EF4-FFF2-40B4-BE49-F238E27FC236}">
                <a16:creationId xmlns:a16="http://schemas.microsoft.com/office/drawing/2014/main" id="{33385F93-DB36-3F83-C422-F549280E1074}"/>
              </a:ext>
            </a:extLst>
          </p:cNvPr>
          <p:cNvSpPr/>
          <p:nvPr/>
        </p:nvSpPr>
        <p:spPr>
          <a:xfrm>
            <a:off x="3446879" y="150177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6" name="TextBox 65">
            <a:extLst>
              <a:ext uri="{FF2B5EF4-FFF2-40B4-BE49-F238E27FC236}">
                <a16:creationId xmlns:a16="http://schemas.microsoft.com/office/drawing/2014/main" id="{5E173D67-42C9-B460-3CA5-49CFE42D4052}"/>
              </a:ext>
            </a:extLst>
          </p:cNvPr>
          <p:cNvSpPr txBox="1"/>
          <p:nvPr/>
        </p:nvSpPr>
        <p:spPr>
          <a:xfrm>
            <a:off x="3377821" y="1637980"/>
            <a:ext cx="2490216" cy="449354"/>
          </a:xfrm>
          <a:prstGeom prst="rect">
            <a:avLst/>
          </a:prstGeom>
          <a:noFill/>
        </p:spPr>
        <p:txBody>
          <a:bodyPr wrap="square" lIns="36576" tIns="9144" rIns="36576" bIns="9144" anchor="ctr">
            <a:spAutoFit/>
          </a:bodyPr>
          <a:lstStyle/>
          <a:p>
            <a:pPr marL="0" marR="0" lvl="0" indent="0" algn="ctr" defTabSz="914400" rtl="0" eaLnBrk="1" fontAlgn="auto" latinLnBrk="0" hangingPunct="1">
              <a:lnSpc>
                <a:spcPct val="100000"/>
              </a:lnSpc>
              <a:spcBef>
                <a:spcPts val="0"/>
              </a:spcBef>
              <a:spcAft>
                <a:spcPts val="100"/>
              </a:spcAft>
              <a:buClrTx/>
              <a:buSzTx/>
              <a:buFontTx/>
              <a:buNone/>
              <a:tabLst/>
              <a:defRPr sz="1100" b="1" i="1">
                <a:solidFill>
                  <a:srgbClr val="009152"/>
                </a:solidFill>
                <a:latin typeface="Aptos"/>
              </a:defRPr>
            </a:pPr>
            <a:r>
              <a:rPr kumimoji="0" lang="en-US" sz="1400" b="1" i="1" u="none" strike="noStrike" kern="1200" cap="none" spc="0" normalizeH="0" baseline="0" noProof="0" dirty="0">
                <a:ln>
                  <a:noFill/>
                </a:ln>
                <a:solidFill>
                  <a:srgbClr val="009152"/>
                </a:solidFill>
                <a:effectLst/>
                <a:uLnTx/>
                <a:uFillTx/>
                <a:latin typeface="Aptos"/>
                <a:ea typeface="+mn-ea"/>
                <a:cs typeface="+mn-cs"/>
              </a:rPr>
              <a:t>Customized incentives and persuasion at point of sale</a:t>
            </a:r>
          </a:p>
        </p:txBody>
      </p:sp>
      <p:sp>
        <p:nvSpPr>
          <p:cNvPr id="72" name="TextBox 71">
            <a:extLst>
              <a:ext uri="{FF2B5EF4-FFF2-40B4-BE49-F238E27FC236}">
                <a16:creationId xmlns:a16="http://schemas.microsoft.com/office/drawing/2014/main" id="{7F66247C-7957-C8D5-6813-1781F7A83624}"/>
              </a:ext>
            </a:extLst>
          </p:cNvPr>
          <p:cNvSpPr txBox="1"/>
          <p:nvPr/>
        </p:nvSpPr>
        <p:spPr>
          <a:xfrm>
            <a:off x="3419855" y="3590934"/>
            <a:ext cx="2587751" cy="172355"/>
          </a:xfrm>
          <a:prstGeom prst="rect">
            <a:avLst/>
          </a:prstGeom>
          <a:noFill/>
        </p:spPr>
        <p:txBody>
          <a:bodyPr wrap="square" lIns="36576" tIns="9144" rIns="36576" bIns="9144" anchor="ctr">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840" b="1" i="0">
                <a:solidFill>
                  <a:srgbClr val="009152"/>
                </a:solidFill>
                <a:latin typeface="Aptos"/>
              </a:defRPr>
            </a:pPr>
            <a:r>
              <a:rPr kumimoji="0" lang="en-US" sz="1000" b="1" i="0" u="none" strike="noStrike" kern="1200" cap="none" spc="0" normalizeH="0" baseline="0" noProof="0" dirty="0">
                <a:ln>
                  <a:noFill/>
                </a:ln>
                <a:solidFill>
                  <a:srgbClr val="009152"/>
                </a:solidFill>
                <a:effectLst/>
                <a:uLnTx/>
                <a:uFillTx/>
                <a:latin typeface="Aptos"/>
                <a:ea typeface="+mn-ea"/>
                <a:cs typeface="+mn-cs"/>
              </a:rPr>
              <a:t>EXPECTED OUTCOME</a:t>
            </a:r>
          </a:p>
        </p:txBody>
      </p:sp>
      <p:sp>
        <p:nvSpPr>
          <p:cNvPr id="102" name="Rounded Rectangle 84">
            <a:extLst>
              <a:ext uri="{FF2B5EF4-FFF2-40B4-BE49-F238E27FC236}">
                <a16:creationId xmlns:a16="http://schemas.microsoft.com/office/drawing/2014/main" id="{80221894-7670-B6EB-B8D8-252728C85EF9}"/>
              </a:ext>
            </a:extLst>
          </p:cNvPr>
          <p:cNvSpPr/>
          <p:nvPr/>
        </p:nvSpPr>
        <p:spPr>
          <a:xfrm>
            <a:off x="274320" y="5010911"/>
            <a:ext cx="9203977" cy="1645921"/>
          </a:xfrm>
          <a:prstGeom prst="roundRect">
            <a:avLst>
              <a:gd name="adj" fmla="val 7000"/>
            </a:avLst>
          </a:prstGeom>
          <a:solidFill>
            <a:srgbClr val="FFFFFF"/>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4" name="Rectangle 103">
            <a:extLst>
              <a:ext uri="{FF2B5EF4-FFF2-40B4-BE49-F238E27FC236}">
                <a16:creationId xmlns:a16="http://schemas.microsoft.com/office/drawing/2014/main" id="{932FA39F-4A63-CF9C-0F67-FE2AE70E7202}"/>
              </a:ext>
            </a:extLst>
          </p:cNvPr>
          <p:cNvSpPr/>
          <p:nvPr/>
        </p:nvSpPr>
        <p:spPr>
          <a:xfrm>
            <a:off x="274320" y="5010912"/>
            <a:ext cx="9203977" cy="201066"/>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6" name="TextBox 105">
            <a:extLst>
              <a:ext uri="{FF2B5EF4-FFF2-40B4-BE49-F238E27FC236}">
                <a16:creationId xmlns:a16="http://schemas.microsoft.com/office/drawing/2014/main" id="{8CAC00E8-D17D-1BE7-92EF-8C2F27C481AF}"/>
              </a:ext>
            </a:extLst>
          </p:cNvPr>
          <p:cNvSpPr txBox="1"/>
          <p:nvPr/>
        </p:nvSpPr>
        <p:spPr>
          <a:xfrm>
            <a:off x="438912" y="5039078"/>
            <a:ext cx="3749039"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2027 EXECUTION CALENDAR</a:t>
            </a:r>
          </a:p>
        </p:txBody>
      </p:sp>
      <p:sp>
        <p:nvSpPr>
          <p:cNvPr id="240" name="Rounded Rectangle 157">
            <a:extLst>
              <a:ext uri="{FF2B5EF4-FFF2-40B4-BE49-F238E27FC236}">
                <a16:creationId xmlns:a16="http://schemas.microsoft.com/office/drawing/2014/main" id="{C5886A7E-4E9C-E269-3C35-E59E351D536D}"/>
              </a:ext>
            </a:extLst>
          </p:cNvPr>
          <p:cNvSpPr/>
          <p:nvPr/>
        </p:nvSpPr>
        <p:spPr>
          <a:xfrm>
            <a:off x="9560593" y="5018563"/>
            <a:ext cx="2353646" cy="1645921"/>
          </a:xfrm>
          <a:prstGeom prst="roundRect">
            <a:avLst>
              <a:gd name="adj" fmla="val 7000"/>
            </a:avLst>
          </a:prstGeom>
          <a:solidFill>
            <a:srgbClr val="EDF2EE"/>
          </a:solidFill>
          <a:ln>
            <a:solidFill>
              <a:srgbClr val="EDF2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44" name="TextBox 243">
            <a:extLst>
              <a:ext uri="{FF2B5EF4-FFF2-40B4-BE49-F238E27FC236}">
                <a16:creationId xmlns:a16="http://schemas.microsoft.com/office/drawing/2014/main" id="{795944AF-CB0D-F75E-D2B5-849A8C078D01}"/>
              </a:ext>
            </a:extLst>
          </p:cNvPr>
          <p:cNvSpPr txBox="1"/>
          <p:nvPr/>
        </p:nvSpPr>
        <p:spPr>
          <a:xfrm>
            <a:off x="10453931" y="5133066"/>
            <a:ext cx="1361152" cy="193899"/>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rPr>
              <a:t>VIRUNGA BEER</a:t>
            </a:r>
            <a:endParaRPr kumimoji="0"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endParaRPr>
          </a:p>
        </p:txBody>
      </p:sp>
      <p:sp>
        <p:nvSpPr>
          <p:cNvPr id="246" name="TextBox 245">
            <a:extLst>
              <a:ext uri="{FF2B5EF4-FFF2-40B4-BE49-F238E27FC236}">
                <a16:creationId xmlns:a16="http://schemas.microsoft.com/office/drawing/2014/main" id="{2295B910-553F-54AF-9E4F-52F68696CB51}"/>
              </a:ext>
            </a:extLst>
          </p:cNvPr>
          <p:cNvSpPr txBox="1"/>
          <p:nvPr/>
        </p:nvSpPr>
        <p:spPr>
          <a:xfrm>
            <a:off x="10453931" y="5370761"/>
            <a:ext cx="1361153"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50"/>
                </a:solidFill>
                <a:effectLst/>
                <a:uLnTx/>
                <a:uFillTx/>
                <a:latin typeface="Aptos" panose="020B0004020202020204" pitchFamily="34" charset="0"/>
                <a:ea typeface="+mn-ea"/>
                <a:cs typeface="+mn-cs"/>
              </a:rPr>
              <a:t>STRATEGIC FOCUS</a:t>
            </a:r>
            <a:endParaRPr kumimoji="0" sz="1000" b="1" i="0" u="none" strike="noStrike" kern="1200" cap="none" spc="0" normalizeH="0" baseline="0" noProof="0" dirty="0">
              <a:ln>
                <a:noFill/>
              </a:ln>
              <a:solidFill>
                <a:srgbClr val="00B050"/>
              </a:solidFill>
              <a:effectLst/>
              <a:uLnTx/>
              <a:uFillTx/>
              <a:latin typeface="Aptos" panose="020B0004020202020204" pitchFamily="34" charset="0"/>
              <a:ea typeface="+mn-ea"/>
              <a:cs typeface="+mn-cs"/>
            </a:endParaRPr>
          </a:p>
        </p:txBody>
      </p:sp>
      <p:sp>
        <p:nvSpPr>
          <p:cNvPr id="248" name="TextBox 247">
            <a:extLst>
              <a:ext uri="{FF2B5EF4-FFF2-40B4-BE49-F238E27FC236}">
                <a16:creationId xmlns:a16="http://schemas.microsoft.com/office/drawing/2014/main" id="{9879611D-B995-7B0F-72F8-A71C824D4C11}"/>
              </a:ext>
            </a:extLst>
          </p:cNvPr>
          <p:cNvSpPr txBox="1"/>
          <p:nvPr/>
        </p:nvSpPr>
        <p:spPr>
          <a:xfrm>
            <a:off x="10492313" y="5642551"/>
            <a:ext cx="1278957" cy="624786"/>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Promotion</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Persuasion</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Visibility</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a:t>
            </a:r>
            <a:endPar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50" name="Rounded Rectangle 70">
            <a:extLst>
              <a:ext uri="{FF2B5EF4-FFF2-40B4-BE49-F238E27FC236}">
                <a16:creationId xmlns:a16="http://schemas.microsoft.com/office/drawing/2014/main" id="{16983927-362B-BFF5-4741-D1F7F3F6E8BE}"/>
              </a:ext>
            </a:extLst>
          </p:cNvPr>
          <p:cNvSpPr/>
          <p:nvPr/>
        </p:nvSpPr>
        <p:spPr>
          <a:xfrm>
            <a:off x="274320" y="4302496"/>
            <a:ext cx="11631168" cy="621792"/>
          </a:xfrm>
          <a:prstGeom prst="roundRect">
            <a:avLst>
              <a:gd name="adj" fmla="val 7000"/>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52" name="TextBox 251">
            <a:extLst>
              <a:ext uri="{FF2B5EF4-FFF2-40B4-BE49-F238E27FC236}">
                <a16:creationId xmlns:a16="http://schemas.microsoft.com/office/drawing/2014/main" id="{3E82DEF0-4A9F-C90A-80EA-27E432BEDC3F}"/>
              </a:ext>
            </a:extLst>
          </p:cNvPr>
          <p:cNvSpPr txBox="1"/>
          <p:nvPr/>
        </p:nvSpPr>
        <p:spPr>
          <a:xfrm>
            <a:off x="430224" y="4392239"/>
            <a:ext cx="2380013"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B050"/>
                </a:solidFill>
                <a:effectLst/>
                <a:uLnTx/>
                <a:uFillTx/>
                <a:latin typeface="Aptos" panose="020B0004020202020204" pitchFamily="34" charset="0"/>
                <a:ea typeface="+mn-ea"/>
                <a:cs typeface="+mn-cs"/>
              </a:rPr>
              <a:t>MONTHLY PERFORMANCE SCORECARD</a:t>
            </a:r>
          </a:p>
        </p:txBody>
      </p:sp>
      <p:sp>
        <p:nvSpPr>
          <p:cNvPr id="254" name="TextBox 253">
            <a:extLst>
              <a:ext uri="{FF2B5EF4-FFF2-40B4-BE49-F238E27FC236}">
                <a16:creationId xmlns:a16="http://schemas.microsoft.com/office/drawing/2014/main" id="{2E77FEDA-EEFA-AE0E-4AFC-5CCF3D1DA393}"/>
              </a:ext>
            </a:extLst>
          </p:cNvPr>
          <p:cNvSpPr txBox="1"/>
          <p:nvPr/>
        </p:nvSpPr>
        <p:spPr>
          <a:xfrm>
            <a:off x="541782" y="4586600"/>
            <a:ext cx="2135124"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Track execution and business impact</a:t>
            </a:r>
          </a:p>
        </p:txBody>
      </p:sp>
      <p:sp>
        <p:nvSpPr>
          <p:cNvPr id="256" name="TextBox 255">
            <a:extLst>
              <a:ext uri="{FF2B5EF4-FFF2-40B4-BE49-F238E27FC236}">
                <a16:creationId xmlns:a16="http://schemas.microsoft.com/office/drawing/2014/main" id="{8709FE1F-B9A5-A476-E943-44DDC3361325}"/>
              </a:ext>
            </a:extLst>
          </p:cNvPr>
          <p:cNvSpPr txBox="1"/>
          <p:nvPr/>
        </p:nvSpPr>
        <p:spPr>
          <a:xfrm>
            <a:off x="3154680" y="4390099"/>
            <a:ext cx="1993392"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a:t>
            </a:r>
          </a:p>
        </p:txBody>
      </p:sp>
      <p:sp>
        <p:nvSpPr>
          <p:cNvPr id="258" name="TextBox 257">
            <a:extLst>
              <a:ext uri="{FF2B5EF4-FFF2-40B4-BE49-F238E27FC236}">
                <a16:creationId xmlns:a16="http://schemas.microsoft.com/office/drawing/2014/main" id="{BBE28789-B36A-68D6-50F6-855EFB1EBB3B}"/>
              </a:ext>
            </a:extLst>
          </p:cNvPr>
          <p:cNvSpPr txBox="1"/>
          <p:nvPr/>
        </p:nvSpPr>
        <p:spPr>
          <a:xfrm>
            <a:off x="2989690" y="4583098"/>
            <a:ext cx="2236582"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NND rate •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Virunga </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share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competitor</a:t>
            </a:r>
          </a:p>
        </p:txBody>
      </p:sp>
      <p:sp>
        <p:nvSpPr>
          <p:cNvPr id="260" name="Rectangle 259">
            <a:extLst>
              <a:ext uri="{FF2B5EF4-FFF2-40B4-BE49-F238E27FC236}">
                <a16:creationId xmlns:a16="http://schemas.microsoft.com/office/drawing/2014/main" id="{A4F94116-2051-F483-5420-D6F781F23D4D}"/>
              </a:ext>
            </a:extLst>
          </p:cNvPr>
          <p:cNvSpPr/>
          <p:nvPr/>
        </p:nvSpPr>
        <p:spPr>
          <a:xfrm>
            <a:off x="5202936"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2" name="TextBox 261">
            <a:extLst>
              <a:ext uri="{FF2B5EF4-FFF2-40B4-BE49-F238E27FC236}">
                <a16:creationId xmlns:a16="http://schemas.microsoft.com/office/drawing/2014/main" id="{33956684-B16B-2FFD-B3F7-30995E75C431}"/>
              </a:ext>
            </a:extLst>
          </p:cNvPr>
          <p:cNvSpPr txBox="1"/>
          <p:nvPr/>
        </p:nvSpPr>
        <p:spPr>
          <a:xfrm>
            <a:off x="5321808" y="4390099"/>
            <a:ext cx="1920240"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AFFORDABILITY</a:t>
            </a: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 </a:t>
            </a:r>
            <a:endPar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64" name="TextBox 263">
            <a:extLst>
              <a:ext uri="{FF2B5EF4-FFF2-40B4-BE49-F238E27FC236}">
                <a16:creationId xmlns:a16="http://schemas.microsoft.com/office/drawing/2014/main" id="{2C677487-0E09-0D70-E132-7559BD1DA27A}"/>
              </a:ext>
            </a:extLst>
          </p:cNvPr>
          <p:cNvSpPr txBox="1"/>
          <p:nvPr/>
        </p:nvSpPr>
        <p:spPr>
          <a:xfrm>
            <a:off x="5285231" y="4583531"/>
            <a:ext cx="1920240"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Price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position V</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competition</a:t>
            </a:r>
          </a:p>
        </p:txBody>
      </p:sp>
      <p:sp>
        <p:nvSpPr>
          <p:cNvPr id="266" name="Rectangle 265">
            <a:extLst>
              <a:ext uri="{FF2B5EF4-FFF2-40B4-BE49-F238E27FC236}">
                <a16:creationId xmlns:a16="http://schemas.microsoft.com/office/drawing/2014/main" id="{4BC53472-192F-5CB7-27C4-5C652A8C76D6}"/>
              </a:ext>
            </a:extLst>
          </p:cNvPr>
          <p:cNvSpPr/>
          <p:nvPr/>
        </p:nvSpPr>
        <p:spPr>
          <a:xfrm>
            <a:off x="7333488"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8" name="TextBox 267">
            <a:extLst>
              <a:ext uri="{FF2B5EF4-FFF2-40B4-BE49-F238E27FC236}">
                <a16:creationId xmlns:a16="http://schemas.microsoft.com/office/drawing/2014/main" id="{C41D7F65-5242-C871-C061-1D0FF24A3F62}"/>
              </a:ext>
            </a:extLst>
          </p:cNvPr>
          <p:cNvSpPr txBox="1"/>
          <p:nvPr/>
        </p:nvSpPr>
        <p:spPr>
          <a:xfrm>
            <a:off x="7452360" y="4390099"/>
            <a:ext cx="1938528"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PERSUASION</a:t>
            </a:r>
            <a:endPar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70" name="TextBox 269">
            <a:extLst>
              <a:ext uri="{FF2B5EF4-FFF2-40B4-BE49-F238E27FC236}">
                <a16:creationId xmlns:a16="http://schemas.microsoft.com/office/drawing/2014/main" id="{AD113709-26C9-0D25-5BD9-327557D2C4B8}"/>
              </a:ext>
            </a:extLst>
          </p:cNvPr>
          <p:cNvSpPr txBox="1"/>
          <p:nvPr/>
        </p:nvSpPr>
        <p:spPr>
          <a:xfrm>
            <a:off x="7413497" y="4583531"/>
            <a:ext cx="1938528" cy="163122"/>
          </a:xfrm>
          <a:prstGeom prst="rect">
            <a:avLst/>
          </a:prstGeom>
          <a:noFill/>
        </p:spPr>
        <p:txBody>
          <a:bodyPr wrap="square" lIns="22860" tIns="4572" rIns="22860" bIns="4572"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76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Consumers reached and recruited</a:t>
            </a:r>
          </a:p>
        </p:txBody>
      </p:sp>
      <p:sp>
        <p:nvSpPr>
          <p:cNvPr id="272" name="Rectangle 271">
            <a:extLst>
              <a:ext uri="{FF2B5EF4-FFF2-40B4-BE49-F238E27FC236}">
                <a16:creationId xmlns:a16="http://schemas.microsoft.com/office/drawing/2014/main" id="{66EA1661-60DC-4512-4AC8-87C5B06E2E37}"/>
              </a:ext>
            </a:extLst>
          </p:cNvPr>
          <p:cNvSpPr/>
          <p:nvPr/>
        </p:nvSpPr>
        <p:spPr>
          <a:xfrm>
            <a:off x="9482328"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76" name="TextBox 275">
            <a:extLst>
              <a:ext uri="{FF2B5EF4-FFF2-40B4-BE49-F238E27FC236}">
                <a16:creationId xmlns:a16="http://schemas.microsoft.com/office/drawing/2014/main" id="{284F8C5E-5744-13A1-9F0E-BD17D1DF9D38}"/>
              </a:ext>
            </a:extLst>
          </p:cNvPr>
          <p:cNvSpPr txBox="1"/>
          <p:nvPr/>
        </p:nvSpPr>
        <p:spPr>
          <a:xfrm>
            <a:off x="9601199" y="4558528"/>
            <a:ext cx="2261503" cy="317010"/>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Counter area touch point visibility to be improved</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78" name="TextBox 277">
            <a:extLst>
              <a:ext uri="{FF2B5EF4-FFF2-40B4-BE49-F238E27FC236}">
                <a16:creationId xmlns:a16="http://schemas.microsoft.com/office/drawing/2014/main" id="{81DE6310-C556-1647-619C-0298BFB71DB7}"/>
              </a:ext>
            </a:extLst>
          </p:cNvPr>
          <p:cNvSpPr txBox="1"/>
          <p:nvPr/>
        </p:nvSpPr>
        <p:spPr>
          <a:xfrm>
            <a:off x="3396732" y="2142302"/>
            <a:ext cx="2578383" cy="1278812"/>
          </a:xfrm>
          <a:prstGeom prst="rect">
            <a:avLst/>
          </a:prstGeom>
          <a:noFill/>
        </p:spPr>
        <p:txBody>
          <a:bodyPr wrap="square" lIns="22860" tIns="4572" rIns="22860" bIns="4572"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Process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Set outlet sales incentives tied to agreed volume targets.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Engage and train bartenders/waiters to recommend Virunga.</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Reward monthly activation in priority premium outlets once targets are achieved.</a:t>
            </a:r>
          </a:p>
        </p:txBody>
      </p:sp>
      <p:pic>
        <p:nvPicPr>
          <p:cNvPr id="3" name="Image 0" descr="/mnt/data/virunga_logo_crop.png">
            <a:extLst>
              <a:ext uri="{FF2B5EF4-FFF2-40B4-BE49-F238E27FC236}">
                <a16:creationId xmlns:a16="http://schemas.microsoft.com/office/drawing/2014/main" id="{9BA22D3C-52A7-1FB3-A467-74E6D8BA5E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28537" y="70274"/>
            <a:ext cx="1134166" cy="577585"/>
          </a:xfrm>
          <a:prstGeom prst="rect">
            <a:avLst/>
          </a:prstGeom>
        </p:spPr>
      </p:pic>
      <p:sp>
        <p:nvSpPr>
          <p:cNvPr id="425" name="Oval 424">
            <a:extLst>
              <a:ext uri="{FF2B5EF4-FFF2-40B4-BE49-F238E27FC236}">
                <a16:creationId xmlns:a16="http://schemas.microsoft.com/office/drawing/2014/main" id="{99C1C9E7-F246-F809-E6C1-60AF87FF1C7B}"/>
              </a:ext>
            </a:extLst>
          </p:cNvPr>
          <p:cNvSpPr/>
          <p:nvPr/>
        </p:nvSpPr>
        <p:spPr>
          <a:xfrm>
            <a:off x="515517" y="1039622"/>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27" name="TextBox 426">
            <a:extLst>
              <a:ext uri="{FF2B5EF4-FFF2-40B4-BE49-F238E27FC236}">
                <a16:creationId xmlns:a16="http://schemas.microsoft.com/office/drawing/2014/main" id="{DFC2DFDD-00D1-9E14-3CB0-B84B9CC05899}"/>
              </a:ext>
            </a:extLst>
          </p:cNvPr>
          <p:cNvSpPr txBox="1"/>
          <p:nvPr/>
        </p:nvSpPr>
        <p:spPr>
          <a:xfrm>
            <a:off x="515517" y="1129096"/>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29" name="TextBox 428">
            <a:extLst>
              <a:ext uri="{FF2B5EF4-FFF2-40B4-BE49-F238E27FC236}">
                <a16:creationId xmlns:a16="http://schemas.microsoft.com/office/drawing/2014/main" id="{EF0BCCFD-DD84-042E-A2BC-2A168BD6B6BC}"/>
              </a:ext>
            </a:extLst>
          </p:cNvPr>
          <p:cNvSpPr txBox="1"/>
          <p:nvPr/>
        </p:nvSpPr>
        <p:spPr>
          <a:xfrm>
            <a:off x="931112" y="1135670"/>
            <a:ext cx="2026810" cy="203133"/>
          </a:xfrm>
          <a:prstGeom prst="rect">
            <a:avLst/>
          </a:prstGeom>
          <a:noFill/>
        </p:spPr>
        <p:txBody>
          <a:bodyPr wrap="square" lIns="36576" tIns="9144" rIns="36576" bIns="9144" anchor="ctr">
            <a:spAutoFit/>
          </a:bodyPr>
          <a:lstStyle>
            <a:defPPr>
              <a:defRPr lang="en-RW"/>
            </a:defPPr>
            <a:lvl1pPr marR="0" lvl="0" indent="0" algn="just" defTabSz="457200" fontAlgn="auto">
              <a:lnSpc>
                <a:spcPct val="100000"/>
              </a:lnSpc>
              <a:spcBef>
                <a:spcPts val="0"/>
              </a:spcBef>
              <a:spcAft>
                <a:spcPts val="0"/>
              </a:spcAft>
              <a:buClrTx/>
              <a:buSzTx/>
              <a:buFontTx/>
              <a:buNone/>
              <a:tabLst/>
              <a:defRPr kumimoji="0" sz="1200" b="1" i="0" u="none" strike="noStrike" cap="none" spc="0" normalizeH="0" baseline="0">
                <a:ln>
                  <a:noFill/>
                </a:ln>
                <a:solidFill>
                  <a:srgbClr val="1F372F"/>
                </a:solidFill>
                <a:effectLst/>
                <a:uLnTx/>
                <a:uFillTx/>
                <a:latin typeface="Aptos" panose="020B0004020202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BUILD PREMIUM TRIAL</a:t>
            </a:r>
          </a:p>
        </p:txBody>
      </p:sp>
      <p:sp>
        <p:nvSpPr>
          <p:cNvPr id="431" name="Rectangle 430">
            <a:extLst>
              <a:ext uri="{FF2B5EF4-FFF2-40B4-BE49-F238E27FC236}">
                <a16:creationId xmlns:a16="http://schemas.microsoft.com/office/drawing/2014/main" id="{7AE517E4-5008-3B50-CBF7-7D6D5A221952}"/>
              </a:ext>
            </a:extLst>
          </p:cNvPr>
          <p:cNvSpPr/>
          <p:nvPr/>
        </p:nvSpPr>
        <p:spPr>
          <a:xfrm>
            <a:off x="515517" y="1560813"/>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33" name="TextBox 432">
            <a:extLst>
              <a:ext uri="{FF2B5EF4-FFF2-40B4-BE49-F238E27FC236}">
                <a16:creationId xmlns:a16="http://schemas.microsoft.com/office/drawing/2014/main" id="{F0756729-7A14-7A9E-8C07-8976DDCE9A11}"/>
              </a:ext>
            </a:extLst>
          </p:cNvPr>
          <p:cNvSpPr txBox="1"/>
          <p:nvPr/>
        </p:nvSpPr>
        <p:spPr>
          <a:xfrm>
            <a:off x="372733" y="1655800"/>
            <a:ext cx="2635938" cy="449354"/>
          </a:xfrm>
          <a:prstGeom prst="rect">
            <a:avLst/>
          </a:prstGeom>
          <a:noFill/>
        </p:spPr>
        <p:txBody>
          <a:bodyPr wrap="square" lIns="36576" tIns="9144" rIns="36576" bIns="9144" anchor="ctr">
            <a:spAutoFit/>
          </a:bodyPr>
          <a:lstStyle/>
          <a:p>
            <a:pPr marL="0" marR="0" lvl="0" indent="0" algn="ctr" defTabSz="914400" rtl="0" eaLnBrk="1" fontAlgn="auto" latinLnBrk="0" hangingPunct="1">
              <a:lnSpc>
                <a:spcPct val="100000"/>
              </a:lnSpc>
              <a:spcBef>
                <a:spcPts val="0"/>
              </a:spcBef>
              <a:spcAft>
                <a:spcPts val="100"/>
              </a:spcAft>
              <a:buClrTx/>
              <a:buSzTx/>
              <a:buFontTx/>
              <a:buNone/>
              <a:tabLst/>
              <a:defRPr sz="1100" b="1" i="1">
                <a:solidFill>
                  <a:srgbClr val="009152"/>
                </a:solidFill>
                <a:latin typeface="Aptos"/>
              </a:defRPr>
            </a:pPr>
            <a:r>
              <a:rPr kumimoji="0" lang="en-US" sz="1400" b="1" i="1" u="none" strike="noStrike" kern="1200" cap="none" spc="0" normalizeH="0" baseline="0" noProof="0" dirty="0">
                <a:ln>
                  <a:noFill/>
                </a:ln>
                <a:solidFill>
                  <a:srgbClr val="009152"/>
                </a:solidFill>
                <a:effectLst/>
                <a:uLnTx/>
                <a:uFillTx/>
                <a:latin typeface="Aptos"/>
                <a:ea typeface="+mn-ea"/>
                <a:cs typeface="+mn-cs"/>
              </a:rPr>
              <a:t>Golden Hour campaigns and premium experiences</a:t>
            </a:r>
          </a:p>
        </p:txBody>
      </p:sp>
      <p:sp>
        <p:nvSpPr>
          <p:cNvPr id="435" name="TextBox 434">
            <a:extLst>
              <a:ext uri="{FF2B5EF4-FFF2-40B4-BE49-F238E27FC236}">
                <a16:creationId xmlns:a16="http://schemas.microsoft.com/office/drawing/2014/main" id="{BA566EC6-99A5-D1F9-0979-DF188C7245F2}"/>
              </a:ext>
            </a:extLst>
          </p:cNvPr>
          <p:cNvSpPr txBox="1"/>
          <p:nvPr/>
        </p:nvSpPr>
        <p:spPr>
          <a:xfrm>
            <a:off x="417164" y="2140434"/>
            <a:ext cx="2611461" cy="1288045"/>
          </a:xfrm>
          <a:prstGeom prst="rect">
            <a:avLst/>
          </a:prstGeom>
          <a:noFill/>
        </p:spPr>
        <p:txBody>
          <a:bodyPr wrap="square" lIns="36576" tIns="9144" rIns="36576" bIns="9144"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Roll out Virunga Golden Hour to drive trial among target consumers.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Activate flagship bars in key premium outlets with quality entertainment.</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Run consumer tastings and promotions with trained hostesses at approved occasions.</a:t>
            </a:r>
          </a:p>
        </p:txBody>
      </p:sp>
      <p:sp>
        <p:nvSpPr>
          <p:cNvPr id="5" name="TextBox 4">
            <a:extLst>
              <a:ext uri="{FF2B5EF4-FFF2-40B4-BE49-F238E27FC236}">
                <a16:creationId xmlns:a16="http://schemas.microsoft.com/office/drawing/2014/main" id="{F08B66B3-9F00-C1A3-7EBD-8146F1E7C82B}"/>
              </a:ext>
            </a:extLst>
          </p:cNvPr>
          <p:cNvSpPr txBox="1"/>
          <p:nvPr/>
        </p:nvSpPr>
        <p:spPr>
          <a:xfrm>
            <a:off x="2907792"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00B050"/>
                </a:solidFill>
                <a:effectLst/>
                <a:uLnTx/>
                <a:uFillTx/>
                <a:latin typeface="Aptos" panose="020B0004020202020204" pitchFamily="34" charset="0"/>
                <a:ea typeface="+mn-ea"/>
                <a:cs typeface="+mn-cs"/>
              </a:rPr>
              <a:t>Jan</a:t>
            </a:r>
          </a:p>
        </p:txBody>
      </p:sp>
      <p:sp>
        <p:nvSpPr>
          <p:cNvPr id="7" name="TextBox 6">
            <a:extLst>
              <a:ext uri="{FF2B5EF4-FFF2-40B4-BE49-F238E27FC236}">
                <a16:creationId xmlns:a16="http://schemas.microsoft.com/office/drawing/2014/main" id="{EFAB8CC0-B0C1-12C3-88CF-E5BC4E1171C7}"/>
              </a:ext>
            </a:extLst>
          </p:cNvPr>
          <p:cNvSpPr txBox="1"/>
          <p:nvPr/>
        </p:nvSpPr>
        <p:spPr>
          <a:xfrm>
            <a:off x="3438144"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00B050"/>
                </a:solidFill>
                <a:effectLst/>
                <a:uLnTx/>
                <a:uFillTx/>
                <a:latin typeface="Aptos" panose="020B0004020202020204" pitchFamily="34" charset="0"/>
                <a:ea typeface="+mn-ea"/>
                <a:cs typeface="+mn-cs"/>
              </a:rPr>
              <a:t>Feb</a:t>
            </a:r>
          </a:p>
        </p:txBody>
      </p:sp>
      <p:sp>
        <p:nvSpPr>
          <p:cNvPr id="9" name="TextBox 8">
            <a:extLst>
              <a:ext uri="{FF2B5EF4-FFF2-40B4-BE49-F238E27FC236}">
                <a16:creationId xmlns:a16="http://schemas.microsoft.com/office/drawing/2014/main" id="{916E792F-E7CD-C506-AA23-52E839B289DC}"/>
              </a:ext>
            </a:extLst>
          </p:cNvPr>
          <p:cNvSpPr txBox="1"/>
          <p:nvPr/>
        </p:nvSpPr>
        <p:spPr>
          <a:xfrm>
            <a:off x="3968496"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Mar</a:t>
            </a:r>
          </a:p>
        </p:txBody>
      </p:sp>
      <p:sp>
        <p:nvSpPr>
          <p:cNvPr id="13" name="TextBox 12">
            <a:extLst>
              <a:ext uri="{FF2B5EF4-FFF2-40B4-BE49-F238E27FC236}">
                <a16:creationId xmlns:a16="http://schemas.microsoft.com/office/drawing/2014/main" id="{88E5D924-095D-4006-AA95-BDA6A70665FF}"/>
              </a:ext>
            </a:extLst>
          </p:cNvPr>
          <p:cNvSpPr txBox="1"/>
          <p:nvPr/>
        </p:nvSpPr>
        <p:spPr>
          <a:xfrm>
            <a:off x="4498848"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Apr</a:t>
            </a:r>
          </a:p>
        </p:txBody>
      </p:sp>
      <p:sp>
        <p:nvSpPr>
          <p:cNvPr id="15" name="TextBox 14">
            <a:extLst>
              <a:ext uri="{FF2B5EF4-FFF2-40B4-BE49-F238E27FC236}">
                <a16:creationId xmlns:a16="http://schemas.microsoft.com/office/drawing/2014/main" id="{81F405AA-3835-2904-AAF4-0F1E6AD3E928}"/>
              </a:ext>
            </a:extLst>
          </p:cNvPr>
          <p:cNvSpPr txBox="1"/>
          <p:nvPr/>
        </p:nvSpPr>
        <p:spPr>
          <a:xfrm>
            <a:off x="5029200"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May</a:t>
            </a:r>
          </a:p>
        </p:txBody>
      </p:sp>
      <p:sp>
        <p:nvSpPr>
          <p:cNvPr id="17" name="TextBox 16">
            <a:extLst>
              <a:ext uri="{FF2B5EF4-FFF2-40B4-BE49-F238E27FC236}">
                <a16:creationId xmlns:a16="http://schemas.microsoft.com/office/drawing/2014/main" id="{B849A0F7-B016-573C-FA31-D7B707BB5667}"/>
              </a:ext>
            </a:extLst>
          </p:cNvPr>
          <p:cNvSpPr txBox="1"/>
          <p:nvPr/>
        </p:nvSpPr>
        <p:spPr>
          <a:xfrm>
            <a:off x="5559552"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Jun</a:t>
            </a:r>
          </a:p>
        </p:txBody>
      </p:sp>
      <p:sp>
        <p:nvSpPr>
          <p:cNvPr id="19" name="TextBox 18">
            <a:extLst>
              <a:ext uri="{FF2B5EF4-FFF2-40B4-BE49-F238E27FC236}">
                <a16:creationId xmlns:a16="http://schemas.microsoft.com/office/drawing/2014/main" id="{0997A3F0-3A64-106D-E771-67828D200343}"/>
              </a:ext>
            </a:extLst>
          </p:cNvPr>
          <p:cNvSpPr txBox="1"/>
          <p:nvPr/>
        </p:nvSpPr>
        <p:spPr>
          <a:xfrm>
            <a:off x="6089904"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Jul</a:t>
            </a:r>
          </a:p>
        </p:txBody>
      </p:sp>
      <p:sp>
        <p:nvSpPr>
          <p:cNvPr id="21" name="TextBox 20">
            <a:extLst>
              <a:ext uri="{FF2B5EF4-FFF2-40B4-BE49-F238E27FC236}">
                <a16:creationId xmlns:a16="http://schemas.microsoft.com/office/drawing/2014/main" id="{C6368C5F-B7BD-02D0-0BBD-74386E8D6B86}"/>
              </a:ext>
            </a:extLst>
          </p:cNvPr>
          <p:cNvSpPr txBox="1"/>
          <p:nvPr/>
        </p:nvSpPr>
        <p:spPr>
          <a:xfrm>
            <a:off x="6620256"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Aug</a:t>
            </a:r>
          </a:p>
        </p:txBody>
      </p:sp>
      <p:sp>
        <p:nvSpPr>
          <p:cNvPr id="23" name="TextBox 22">
            <a:extLst>
              <a:ext uri="{FF2B5EF4-FFF2-40B4-BE49-F238E27FC236}">
                <a16:creationId xmlns:a16="http://schemas.microsoft.com/office/drawing/2014/main" id="{05313C8F-D7F2-2F0A-D84A-289C9AA1F76C}"/>
              </a:ext>
            </a:extLst>
          </p:cNvPr>
          <p:cNvSpPr txBox="1"/>
          <p:nvPr/>
        </p:nvSpPr>
        <p:spPr>
          <a:xfrm>
            <a:off x="7150608"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Sep</a:t>
            </a:r>
          </a:p>
        </p:txBody>
      </p:sp>
      <p:sp>
        <p:nvSpPr>
          <p:cNvPr id="25" name="TextBox 24">
            <a:extLst>
              <a:ext uri="{FF2B5EF4-FFF2-40B4-BE49-F238E27FC236}">
                <a16:creationId xmlns:a16="http://schemas.microsoft.com/office/drawing/2014/main" id="{EECAAD99-6529-D849-753E-668E3DCD1684}"/>
              </a:ext>
            </a:extLst>
          </p:cNvPr>
          <p:cNvSpPr txBox="1"/>
          <p:nvPr/>
        </p:nvSpPr>
        <p:spPr>
          <a:xfrm>
            <a:off x="7680960"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Oct</a:t>
            </a:r>
          </a:p>
        </p:txBody>
      </p:sp>
      <p:sp>
        <p:nvSpPr>
          <p:cNvPr id="27" name="TextBox 26">
            <a:extLst>
              <a:ext uri="{FF2B5EF4-FFF2-40B4-BE49-F238E27FC236}">
                <a16:creationId xmlns:a16="http://schemas.microsoft.com/office/drawing/2014/main" id="{91E8CEEF-DFAD-1127-9141-E938684E6276}"/>
              </a:ext>
            </a:extLst>
          </p:cNvPr>
          <p:cNvSpPr txBox="1"/>
          <p:nvPr/>
        </p:nvSpPr>
        <p:spPr>
          <a:xfrm>
            <a:off x="8211312"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Nov</a:t>
            </a:r>
          </a:p>
        </p:txBody>
      </p:sp>
      <p:sp>
        <p:nvSpPr>
          <p:cNvPr id="29" name="TextBox 28">
            <a:extLst>
              <a:ext uri="{FF2B5EF4-FFF2-40B4-BE49-F238E27FC236}">
                <a16:creationId xmlns:a16="http://schemas.microsoft.com/office/drawing/2014/main" id="{A7862938-8AA7-705B-3421-DA1C1527E8F4}"/>
              </a:ext>
            </a:extLst>
          </p:cNvPr>
          <p:cNvSpPr txBox="1"/>
          <p:nvPr/>
        </p:nvSpPr>
        <p:spPr>
          <a:xfrm>
            <a:off x="8741664"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00B050"/>
                </a:solidFill>
                <a:effectLst/>
                <a:uLnTx/>
                <a:uFillTx/>
                <a:latin typeface="Aptos" panose="020B0004020202020204" pitchFamily="34" charset="0"/>
                <a:ea typeface="+mn-ea"/>
                <a:cs typeface="+mn-cs"/>
              </a:rPr>
              <a:t>Dec</a:t>
            </a:r>
          </a:p>
        </p:txBody>
      </p:sp>
      <p:sp>
        <p:nvSpPr>
          <p:cNvPr id="93" name="Text 47">
            <a:extLst>
              <a:ext uri="{FF2B5EF4-FFF2-40B4-BE49-F238E27FC236}">
                <a16:creationId xmlns:a16="http://schemas.microsoft.com/office/drawing/2014/main" id="{4C73F518-A621-5F66-C827-3CCD4CF77A89}"/>
              </a:ext>
            </a:extLst>
          </p:cNvPr>
          <p:cNvSpPr/>
          <p:nvPr/>
        </p:nvSpPr>
        <p:spPr>
          <a:xfrm>
            <a:off x="274320" y="5529806"/>
            <a:ext cx="219456" cy="1097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78911"/>
                </a:solidFill>
                <a:effectLst/>
                <a:uLnTx/>
                <a:uFillTx/>
                <a:latin typeface="Aptos" pitchFamily="34" charset="0"/>
                <a:ea typeface="Aptos" pitchFamily="34" charset="-122"/>
                <a:cs typeface="Aptos"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Text 48">
            <a:extLst>
              <a:ext uri="{FF2B5EF4-FFF2-40B4-BE49-F238E27FC236}">
                <a16:creationId xmlns:a16="http://schemas.microsoft.com/office/drawing/2014/main" id="{3044CBDD-5927-6278-25EC-D341C002BD61}"/>
              </a:ext>
            </a:extLst>
          </p:cNvPr>
          <p:cNvSpPr/>
          <p:nvPr/>
        </p:nvSpPr>
        <p:spPr>
          <a:xfrm>
            <a:off x="576072" y="5493230"/>
            <a:ext cx="2212848"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7352A"/>
                </a:solidFill>
                <a:effectLst/>
                <a:uLnTx/>
                <a:uFillTx/>
                <a:latin typeface="Aptos" pitchFamily="34" charset="0"/>
                <a:ea typeface="Aptos" pitchFamily="34" charset="-122"/>
                <a:cs typeface="Aptos" pitchFamily="34" charset="-120"/>
              </a:rPr>
              <a:t>Virunga Golden Hour Campaign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Text 49">
            <a:extLst>
              <a:ext uri="{FF2B5EF4-FFF2-40B4-BE49-F238E27FC236}">
                <a16:creationId xmlns:a16="http://schemas.microsoft.com/office/drawing/2014/main" id="{1D5E8D4C-C0BD-0A51-7374-A900522042EF}"/>
              </a:ext>
            </a:extLst>
          </p:cNvPr>
          <p:cNvSpPr/>
          <p:nvPr/>
        </p:nvSpPr>
        <p:spPr>
          <a:xfrm>
            <a:off x="576072" y="5630390"/>
            <a:ext cx="2331720" cy="1005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5B6D65"/>
                </a:solidFill>
                <a:effectLst/>
                <a:uLnTx/>
                <a:uFillTx/>
                <a:latin typeface="Aptos" pitchFamily="34" charset="0"/>
                <a:ea typeface="Aptos" pitchFamily="34" charset="-122"/>
                <a:cs typeface="Aptos" pitchFamily="34" charset="-120"/>
              </a:rPr>
              <a:t>Hero on-trade consumer activation</a:t>
            </a:r>
            <a:endParaRPr kumimoji="0" lang="en-US" sz="8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Text 56">
            <a:extLst>
              <a:ext uri="{FF2B5EF4-FFF2-40B4-BE49-F238E27FC236}">
                <a16:creationId xmlns:a16="http://schemas.microsoft.com/office/drawing/2014/main" id="{437F4ED5-72C9-5863-615E-FC5B9CD8E247}"/>
              </a:ext>
            </a:extLst>
          </p:cNvPr>
          <p:cNvSpPr/>
          <p:nvPr/>
        </p:nvSpPr>
        <p:spPr>
          <a:xfrm>
            <a:off x="274320" y="5904022"/>
            <a:ext cx="219456" cy="1097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78911"/>
                </a:solidFill>
                <a:effectLst/>
                <a:uLnTx/>
                <a:uFillTx/>
                <a:latin typeface="Aptos" pitchFamily="34" charset="0"/>
                <a:ea typeface="Aptos" pitchFamily="34" charset="-122"/>
                <a:cs typeface="Aptos"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Text 57">
            <a:extLst>
              <a:ext uri="{FF2B5EF4-FFF2-40B4-BE49-F238E27FC236}">
                <a16:creationId xmlns:a16="http://schemas.microsoft.com/office/drawing/2014/main" id="{A20CE0FA-1450-E292-B78A-67A8EFB375CF}"/>
              </a:ext>
            </a:extLst>
          </p:cNvPr>
          <p:cNvSpPr/>
          <p:nvPr/>
        </p:nvSpPr>
        <p:spPr>
          <a:xfrm>
            <a:off x="576072" y="5867446"/>
            <a:ext cx="2212848"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7352A"/>
                </a:solidFill>
                <a:effectLst/>
                <a:uLnTx/>
                <a:uFillTx/>
                <a:latin typeface="Aptos" pitchFamily="34" charset="0"/>
                <a:ea typeface="Aptos" pitchFamily="34" charset="-122"/>
                <a:cs typeface="Aptos" pitchFamily="34" charset="-120"/>
              </a:rPr>
              <a:t>Flagship Bar Activations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Text 58">
            <a:extLst>
              <a:ext uri="{FF2B5EF4-FFF2-40B4-BE49-F238E27FC236}">
                <a16:creationId xmlns:a16="http://schemas.microsoft.com/office/drawing/2014/main" id="{3AE32C85-847B-5509-27C3-0BCF29EE803D}"/>
              </a:ext>
            </a:extLst>
          </p:cNvPr>
          <p:cNvSpPr/>
          <p:nvPr/>
        </p:nvSpPr>
        <p:spPr>
          <a:xfrm>
            <a:off x="576072" y="6004606"/>
            <a:ext cx="2331720" cy="1005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5B6D65"/>
                </a:solidFill>
                <a:effectLst/>
                <a:uLnTx/>
                <a:uFillTx/>
                <a:latin typeface="Aptos" pitchFamily="34" charset="0"/>
                <a:ea typeface="Aptos" pitchFamily="34" charset="-122"/>
                <a:cs typeface="Aptos" pitchFamily="34" charset="-120"/>
              </a:rPr>
              <a:t>Signature outlets &amp; premium experience</a:t>
            </a:r>
            <a:endParaRPr kumimoji="0" lang="en-US" sz="8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Text 74">
            <a:extLst>
              <a:ext uri="{FF2B5EF4-FFF2-40B4-BE49-F238E27FC236}">
                <a16:creationId xmlns:a16="http://schemas.microsoft.com/office/drawing/2014/main" id="{C7D571C5-D45C-19FA-0270-80A281A4AFAD}"/>
              </a:ext>
            </a:extLst>
          </p:cNvPr>
          <p:cNvSpPr/>
          <p:nvPr/>
        </p:nvSpPr>
        <p:spPr>
          <a:xfrm>
            <a:off x="274320" y="6259162"/>
            <a:ext cx="219456" cy="1097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78911"/>
                </a:solidFill>
                <a:effectLst/>
                <a:uLnTx/>
                <a:uFillTx/>
                <a:latin typeface="Aptos" pitchFamily="34" charset="0"/>
                <a:ea typeface="Aptos" pitchFamily="34" charset="-122"/>
                <a:cs typeface="Aptos"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 75">
            <a:extLst>
              <a:ext uri="{FF2B5EF4-FFF2-40B4-BE49-F238E27FC236}">
                <a16:creationId xmlns:a16="http://schemas.microsoft.com/office/drawing/2014/main" id="{DC3DB0F8-AA8F-EC9C-9351-CB2A3AA03407}"/>
              </a:ext>
            </a:extLst>
          </p:cNvPr>
          <p:cNvSpPr/>
          <p:nvPr/>
        </p:nvSpPr>
        <p:spPr>
          <a:xfrm>
            <a:off x="576072" y="6222586"/>
            <a:ext cx="2212848"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1" i="0" u="none" strike="noStrike" kern="1200" cap="none" spc="0" normalizeH="0" baseline="0" noProof="0" dirty="0">
                <a:ln>
                  <a:noFill/>
                </a:ln>
                <a:solidFill>
                  <a:srgbClr val="17352A"/>
                </a:solidFill>
                <a:effectLst/>
                <a:uLnTx/>
                <a:uFillTx/>
                <a:latin typeface="Aptos" pitchFamily="34" charset="0"/>
                <a:ea typeface="Aptos" pitchFamily="34" charset="-122"/>
                <a:cs typeface="Aptos" pitchFamily="34" charset="-120"/>
              </a:rPr>
              <a:t>Consumer </a:t>
            </a:r>
            <a:r>
              <a:rPr kumimoji="0" lang="en-US" sz="1000" b="1" i="0" u="none" strike="noStrike" kern="1200" cap="none" spc="0" normalizeH="0" baseline="0" noProof="0" dirty="0">
                <a:ln>
                  <a:noFill/>
                </a:ln>
                <a:solidFill>
                  <a:srgbClr val="17352A"/>
                </a:solidFill>
                <a:effectLst/>
                <a:uLnTx/>
                <a:uFillTx/>
                <a:latin typeface="Aptos" pitchFamily="34" charset="0"/>
                <a:ea typeface="Aptos" pitchFamily="34" charset="-122"/>
                <a:cs typeface="Aptos" pitchFamily="34" charset="-120"/>
              </a:rPr>
              <a:t>Promotions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Text 76">
            <a:extLst>
              <a:ext uri="{FF2B5EF4-FFF2-40B4-BE49-F238E27FC236}">
                <a16:creationId xmlns:a16="http://schemas.microsoft.com/office/drawing/2014/main" id="{44ED3540-6AC1-46D8-81AF-20F390090B5B}"/>
              </a:ext>
            </a:extLst>
          </p:cNvPr>
          <p:cNvSpPr/>
          <p:nvPr/>
        </p:nvSpPr>
        <p:spPr>
          <a:xfrm>
            <a:off x="576072" y="6359746"/>
            <a:ext cx="2331720" cy="1005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5B6D65"/>
                </a:solidFill>
                <a:effectLst/>
                <a:uLnTx/>
                <a:uFillTx/>
                <a:latin typeface="Aptos" pitchFamily="34" charset="0"/>
                <a:ea typeface="Aptos" pitchFamily="34" charset="-122"/>
                <a:cs typeface="Aptos" pitchFamily="34" charset="-120"/>
              </a:rPr>
              <a:t>Targeted trade &amp; consumer value offers</a:t>
            </a:r>
            <a:endParaRPr kumimoji="0" lang="en-US" sz="8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4" name="Shape 76">
            <a:extLst>
              <a:ext uri="{FF2B5EF4-FFF2-40B4-BE49-F238E27FC236}">
                <a16:creationId xmlns:a16="http://schemas.microsoft.com/office/drawing/2014/main" id="{2FF0AA49-5995-A4D8-891D-B2F94B901B0E}"/>
              </a:ext>
            </a:extLst>
          </p:cNvPr>
          <p:cNvSpPr/>
          <p:nvPr/>
        </p:nvSpPr>
        <p:spPr>
          <a:xfrm>
            <a:off x="3008671" y="5488012"/>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77">
            <a:extLst>
              <a:ext uri="{FF2B5EF4-FFF2-40B4-BE49-F238E27FC236}">
                <a16:creationId xmlns:a16="http://schemas.microsoft.com/office/drawing/2014/main" id="{A44B7045-C271-21EC-8AAB-23F936260C31}"/>
              </a:ext>
            </a:extLst>
          </p:cNvPr>
          <p:cNvSpPr/>
          <p:nvPr/>
        </p:nvSpPr>
        <p:spPr>
          <a:xfrm>
            <a:off x="3509689" y="5488012"/>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78">
            <a:extLst>
              <a:ext uri="{FF2B5EF4-FFF2-40B4-BE49-F238E27FC236}">
                <a16:creationId xmlns:a16="http://schemas.microsoft.com/office/drawing/2014/main" id="{06866AEF-9C0D-DA3F-DB42-6ADE825F4D2B}"/>
              </a:ext>
            </a:extLst>
          </p:cNvPr>
          <p:cNvSpPr/>
          <p:nvPr/>
        </p:nvSpPr>
        <p:spPr>
          <a:xfrm>
            <a:off x="4001276" y="54894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79">
            <a:extLst>
              <a:ext uri="{FF2B5EF4-FFF2-40B4-BE49-F238E27FC236}">
                <a16:creationId xmlns:a16="http://schemas.microsoft.com/office/drawing/2014/main" id="{7E20D89E-CC77-97A2-230E-E9C8F0A119F3}"/>
              </a:ext>
            </a:extLst>
          </p:cNvPr>
          <p:cNvSpPr/>
          <p:nvPr/>
        </p:nvSpPr>
        <p:spPr>
          <a:xfrm>
            <a:off x="4498848" y="54880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80">
            <a:extLst>
              <a:ext uri="{FF2B5EF4-FFF2-40B4-BE49-F238E27FC236}">
                <a16:creationId xmlns:a16="http://schemas.microsoft.com/office/drawing/2014/main" id="{7E0C80A3-52C4-F523-8197-E32D8374E9FB}"/>
              </a:ext>
            </a:extLst>
          </p:cNvPr>
          <p:cNvSpPr/>
          <p:nvPr/>
        </p:nvSpPr>
        <p:spPr>
          <a:xfrm>
            <a:off x="5076557" y="550884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 name="Shape 81">
            <a:extLst>
              <a:ext uri="{FF2B5EF4-FFF2-40B4-BE49-F238E27FC236}">
                <a16:creationId xmlns:a16="http://schemas.microsoft.com/office/drawing/2014/main" id="{F5F089A7-010F-0667-5BB0-2C43B8980BE8}"/>
              </a:ext>
            </a:extLst>
          </p:cNvPr>
          <p:cNvSpPr/>
          <p:nvPr/>
        </p:nvSpPr>
        <p:spPr>
          <a:xfrm>
            <a:off x="5616741" y="54894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82">
            <a:extLst>
              <a:ext uri="{FF2B5EF4-FFF2-40B4-BE49-F238E27FC236}">
                <a16:creationId xmlns:a16="http://schemas.microsoft.com/office/drawing/2014/main" id="{9064D0B7-AFCD-AB6F-9EF8-72030901D1C6}"/>
              </a:ext>
            </a:extLst>
          </p:cNvPr>
          <p:cNvSpPr/>
          <p:nvPr/>
        </p:nvSpPr>
        <p:spPr>
          <a:xfrm>
            <a:off x="6185300" y="54880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83">
            <a:extLst>
              <a:ext uri="{FF2B5EF4-FFF2-40B4-BE49-F238E27FC236}">
                <a16:creationId xmlns:a16="http://schemas.microsoft.com/office/drawing/2014/main" id="{73BCF1CB-B977-4A40-99D9-EDD0FF0027E0}"/>
              </a:ext>
            </a:extLst>
          </p:cNvPr>
          <p:cNvSpPr/>
          <p:nvPr/>
        </p:nvSpPr>
        <p:spPr>
          <a:xfrm>
            <a:off x="6660788" y="550920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84">
            <a:extLst>
              <a:ext uri="{FF2B5EF4-FFF2-40B4-BE49-F238E27FC236}">
                <a16:creationId xmlns:a16="http://schemas.microsoft.com/office/drawing/2014/main" id="{001250E4-D283-6449-0CF5-CC13D51E46F9}"/>
              </a:ext>
            </a:extLst>
          </p:cNvPr>
          <p:cNvSpPr/>
          <p:nvPr/>
        </p:nvSpPr>
        <p:spPr>
          <a:xfrm>
            <a:off x="7254632" y="550441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85">
            <a:extLst>
              <a:ext uri="{FF2B5EF4-FFF2-40B4-BE49-F238E27FC236}">
                <a16:creationId xmlns:a16="http://schemas.microsoft.com/office/drawing/2014/main" id="{E937A052-F4D7-4C85-F191-3173EF47A989}"/>
              </a:ext>
            </a:extLst>
          </p:cNvPr>
          <p:cNvSpPr/>
          <p:nvPr/>
        </p:nvSpPr>
        <p:spPr>
          <a:xfrm>
            <a:off x="7801385" y="54894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86">
            <a:extLst>
              <a:ext uri="{FF2B5EF4-FFF2-40B4-BE49-F238E27FC236}">
                <a16:creationId xmlns:a16="http://schemas.microsoft.com/office/drawing/2014/main" id="{91BB05E1-C5EF-24F1-DBDA-DDF8C96A4195}"/>
              </a:ext>
            </a:extLst>
          </p:cNvPr>
          <p:cNvSpPr/>
          <p:nvPr/>
        </p:nvSpPr>
        <p:spPr>
          <a:xfrm>
            <a:off x="8350025" y="550920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87">
            <a:extLst>
              <a:ext uri="{FF2B5EF4-FFF2-40B4-BE49-F238E27FC236}">
                <a16:creationId xmlns:a16="http://schemas.microsoft.com/office/drawing/2014/main" id="{954EA1D0-4DA0-818C-6643-17EF3811B71C}"/>
              </a:ext>
            </a:extLst>
          </p:cNvPr>
          <p:cNvSpPr/>
          <p:nvPr/>
        </p:nvSpPr>
        <p:spPr>
          <a:xfrm>
            <a:off x="8851174" y="54880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90">
            <a:extLst>
              <a:ext uri="{FF2B5EF4-FFF2-40B4-BE49-F238E27FC236}">
                <a16:creationId xmlns:a16="http://schemas.microsoft.com/office/drawing/2014/main" id="{55E2654B-29BA-9B67-9744-49CFDE814F8B}"/>
              </a:ext>
            </a:extLst>
          </p:cNvPr>
          <p:cNvSpPr/>
          <p:nvPr/>
        </p:nvSpPr>
        <p:spPr>
          <a:xfrm>
            <a:off x="3008671" y="5856312"/>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91">
            <a:extLst>
              <a:ext uri="{FF2B5EF4-FFF2-40B4-BE49-F238E27FC236}">
                <a16:creationId xmlns:a16="http://schemas.microsoft.com/office/drawing/2014/main" id="{84EAB6D2-ADF7-2ACA-E8D8-749BB5628E05}"/>
              </a:ext>
            </a:extLst>
          </p:cNvPr>
          <p:cNvSpPr/>
          <p:nvPr/>
        </p:nvSpPr>
        <p:spPr>
          <a:xfrm>
            <a:off x="3509689" y="5856312"/>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92">
            <a:extLst>
              <a:ext uri="{FF2B5EF4-FFF2-40B4-BE49-F238E27FC236}">
                <a16:creationId xmlns:a16="http://schemas.microsoft.com/office/drawing/2014/main" id="{34863C27-2CF1-64AB-338B-A6F76F52AF08}"/>
              </a:ext>
            </a:extLst>
          </p:cNvPr>
          <p:cNvSpPr/>
          <p:nvPr/>
        </p:nvSpPr>
        <p:spPr>
          <a:xfrm>
            <a:off x="4001276" y="58577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93">
            <a:extLst>
              <a:ext uri="{FF2B5EF4-FFF2-40B4-BE49-F238E27FC236}">
                <a16:creationId xmlns:a16="http://schemas.microsoft.com/office/drawing/2014/main" id="{8BEC62F7-FB75-C0DB-29D5-1F44320CF670}"/>
              </a:ext>
            </a:extLst>
          </p:cNvPr>
          <p:cNvSpPr/>
          <p:nvPr/>
        </p:nvSpPr>
        <p:spPr>
          <a:xfrm>
            <a:off x="4498848" y="58563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94">
            <a:extLst>
              <a:ext uri="{FF2B5EF4-FFF2-40B4-BE49-F238E27FC236}">
                <a16:creationId xmlns:a16="http://schemas.microsoft.com/office/drawing/2014/main" id="{DD605BFA-EC96-4F49-0848-BA850A0E65A8}"/>
              </a:ext>
            </a:extLst>
          </p:cNvPr>
          <p:cNvSpPr/>
          <p:nvPr/>
        </p:nvSpPr>
        <p:spPr>
          <a:xfrm>
            <a:off x="5076557" y="587714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95">
            <a:extLst>
              <a:ext uri="{FF2B5EF4-FFF2-40B4-BE49-F238E27FC236}">
                <a16:creationId xmlns:a16="http://schemas.microsoft.com/office/drawing/2014/main" id="{B5C21FB6-4DDD-DE8E-A141-8B91878633E4}"/>
              </a:ext>
            </a:extLst>
          </p:cNvPr>
          <p:cNvSpPr/>
          <p:nvPr/>
        </p:nvSpPr>
        <p:spPr>
          <a:xfrm>
            <a:off x="5616741" y="58577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96">
            <a:extLst>
              <a:ext uri="{FF2B5EF4-FFF2-40B4-BE49-F238E27FC236}">
                <a16:creationId xmlns:a16="http://schemas.microsoft.com/office/drawing/2014/main" id="{06711095-5DB8-0ACF-BDB8-B903F9964155}"/>
              </a:ext>
            </a:extLst>
          </p:cNvPr>
          <p:cNvSpPr/>
          <p:nvPr/>
        </p:nvSpPr>
        <p:spPr>
          <a:xfrm>
            <a:off x="6185300" y="58563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97">
            <a:extLst>
              <a:ext uri="{FF2B5EF4-FFF2-40B4-BE49-F238E27FC236}">
                <a16:creationId xmlns:a16="http://schemas.microsoft.com/office/drawing/2014/main" id="{A591F07C-3F72-D4E7-4471-85FD2E53D51B}"/>
              </a:ext>
            </a:extLst>
          </p:cNvPr>
          <p:cNvSpPr/>
          <p:nvPr/>
        </p:nvSpPr>
        <p:spPr>
          <a:xfrm>
            <a:off x="6660788" y="587750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98">
            <a:extLst>
              <a:ext uri="{FF2B5EF4-FFF2-40B4-BE49-F238E27FC236}">
                <a16:creationId xmlns:a16="http://schemas.microsoft.com/office/drawing/2014/main" id="{6AFE29D7-18DB-A0E3-ED53-92792C543F24}"/>
              </a:ext>
            </a:extLst>
          </p:cNvPr>
          <p:cNvSpPr/>
          <p:nvPr/>
        </p:nvSpPr>
        <p:spPr>
          <a:xfrm>
            <a:off x="7254632" y="587271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99">
            <a:extLst>
              <a:ext uri="{FF2B5EF4-FFF2-40B4-BE49-F238E27FC236}">
                <a16:creationId xmlns:a16="http://schemas.microsoft.com/office/drawing/2014/main" id="{87A9149C-FB6F-6E2B-951B-E3CA047A6FB0}"/>
              </a:ext>
            </a:extLst>
          </p:cNvPr>
          <p:cNvSpPr/>
          <p:nvPr/>
        </p:nvSpPr>
        <p:spPr>
          <a:xfrm>
            <a:off x="7801385" y="58577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100">
            <a:extLst>
              <a:ext uri="{FF2B5EF4-FFF2-40B4-BE49-F238E27FC236}">
                <a16:creationId xmlns:a16="http://schemas.microsoft.com/office/drawing/2014/main" id="{4729522A-80F8-3FBA-6737-5817CA6B9159}"/>
              </a:ext>
            </a:extLst>
          </p:cNvPr>
          <p:cNvSpPr/>
          <p:nvPr/>
        </p:nvSpPr>
        <p:spPr>
          <a:xfrm>
            <a:off x="8350025" y="583387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101">
            <a:extLst>
              <a:ext uri="{FF2B5EF4-FFF2-40B4-BE49-F238E27FC236}">
                <a16:creationId xmlns:a16="http://schemas.microsoft.com/office/drawing/2014/main" id="{2FB12B71-CE1C-43F5-0353-E00B88DA4A46}"/>
              </a:ext>
            </a:extLst>
          </p:cNvPr>
          <p:cNvSpPr/>
          <p:nvPr/>
        </p:nvSpPr>
        <p:spPr>
          <a:xfrm>
            <a:off x="8851174" y="58563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148">
            <a:extLst>
              <a:ext uri="{FF2B5EF4-FFF2-40B4-BE49-F238E27FC236}">
                <a16:creationId xmlns:a16="http://schemas.microsoft.com/office/drawing/2014/main" id="{26C7DD4D-546A-66AC-718A-638914E52447}"/>
              </a:ext>
            </a:extLst>
          </p:cNvPr>
          <p:cNvSpPr/>
          <p:nvPr/>
        </p:nvSpPr>
        <p:spPr>
          <a:xfrm>
            <a:off x="3026959" y="6248523"/>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149">
            <a:extLst>
              <a:ext uri="{FF2B5EF4-FFF2-40B4-BE49-F238E27FC236}">
                <a16:creationId xmlns:a16="http://schemas.microsoft.com/office/drawing/2014/main" id="{2AA927E8-DD22-31A9-0A65-88910CC78064}"/>
              </a:ext>
            </a:extLst>
          </p:cNvPr>
          <p:cNvSpPr/>
          <p:nvPr/>
        </p:nvSpPr>
        <p:spPr>
          <a:xfrm>
            <a:off x="3527977" y="6248523"/>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150">
            <a:extLst>
              <a:ext uri="{FF2B5EF4-FFF2-40B4-BE49-F238E27FC236}">
                <a16:creationId xmlns:a16="http://schemas.microsoft.com/office/drawing/2014/main" id="{54A2D0C8-773D-FB08-BB13-6F04F140BB02}"/>
              </a:ext>
            </a:extLst>
          </p:cNvPr>
          <p:cNvSpPr/>
          <p:nvPr/>
        </p:nvSpPr>
        <p:spPr>
          <a:xfrm>
            <a:off x="4019564" y="624996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151">
            <a:extLst>
              <a:ext uri="{FF2B5EF4-FFF2-40B4-BE49-F238E27FC236}">
                <a16:creationId xmlns:a16="http://schemas.microsoft.com/office/drawing/2014/main" id="{88CECD4C-D0F3-C952-43C6-53549D454387}"/>
              </a:ext>
            </a:extLst>
          </p:cNvPr>
          <p:cNvSpPr/>
          <p:nvPr/>
        </p:nvSpPr>
        <p:spPr>
          <a:xfrm>
            <a:off x="4517136" y="6248523"/>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152">
            <a:extLst>
              <a:ext uri="{FF2B5EF4-FFF2-40B4-BE49-F238E27FC236}">
                <a16:creationId xmlns:a16="http://schemas.microsoft.com/office/drawing/2014/main" id="{C4F2167C-7740-C159-5EFB-DF947797CE17}"/>
              </a:ext>
            </a:extLst>
          </p:cNvPr>
          <p:cNvSpPr/>
          <p:nvPr/>
        </p:nvSpPr>
        <p:spPr>
          <a:xfrm>
            <a:off x="5094845" y="626935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153">
            <a:extLst>
              <a:ext uri="{FF2B5EF4-FFF2-40B4-BE49-F238E27FC236}">
                <a16:creationId xmlns:a16="http://schemas.microsoft.com/office/drawing/2014/main" id="{85B47E3F-77A1-7F5C-EB1C-E1EC450AF1CA}"/>
              </a:ext>
            </a:extLst>
          </p:cNvPr>
          <p:cNvSpPr/>
          <p:nvPr/>
        </p:nvSpPr>
        <p:spPr>
          <a:xfrm>
            <a:off x="5635029" y="624996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154">
            <a:extLst>
              <a:ext uri="{FF2B5EF4-FFF2-40B4-BE49-F238E27FC236}">
                <a16:creationId xmlns:a16="http://schemas.microsoft.com/office/drawing/2014/main" id="{4442851A-D06B-FB26-98FF-6E726DE70A3C}"/>
              </a:ext>
            </a:extLst>
          </p:cNvPr>
          <p:cNvSpPr/>
          <p:nvPr/>
        </p:nvSpPr>
        <p:spPr>
          <a:xfrm>
            <a:off x="6203588" y="6248523"/>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155">
            <a:extLst>
              <a:ext uri="{FF2B5EF4-FFF2-40B4-BE49-F238E27FC236}">
                <a16:creationId xmlns:a16="http://schemas.microsoft.com/office/drawing/2014/main" id="{B95513A7-92B3-481F-1C3F-10B60B2AA09F}"/>
              </a:ext>
            </a:extLst>
          </p:cNvPr>
          <p:cNvSpPr/>
          <p:nvPr/>
        </p:nvSpPr>
        <p:spPr>
          <a:xfrm>
            <a:off x="6679076" y="62697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156">
            <a:extLst>
              <a:ext uri="{FF2B5EF4-FFF2-40B4-BE49-F238E27FC236}">
                <a16:creationId xmlns:a16="http://schemas.microsoft.com/office/drawing/2014/main" id="{05FED697-7806-BCE8-8657-A7FAD585F4DB}"/>
              </a:ext>
            </a:extLst>
          </p:cNvPr>
          <p:cNvSpPr/>
          <p:nvPr/>
        </p:nvSpPr>
        <p:spPr>
          <a:xfrm>
            <a:off x="7272920" y="6264927"/>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157">
            <a:extLst>
              <a:ext uri="{FF2B5EF4-FFF2-40B4-BE49-F238E27FC236}">
                <a16:creationId xmlns:a16="http://schemas.microsoft.com/office/drawing/2014/main" id="{8C6DFC58-A971-291C-332F-C9F80980975C}"/>
              </a:ext>
            </a:extLst>
          </p:cNvPr>
          <p:cNvSpPr/>
          <p:nvPr/>
        </p:nvSpPr>
        <p:spPr>
          <a:xfrm>
            <a:off x="7819673" y="624996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158">
            <a:extLst>
              <a:ext uri="{FF2B5EF4-FFF2-40B4-BE49-F238E27FC236}">
                <a16:creationId xmlns:a16="http://schemas.microsoft.com/office/drawing/2014/main" id="{CD3E9B81-1783-8AFF-540D-D4A21A8EFB46}"/>
              </a:ext>
            </a:extLst>
          </p:cNvPr>
          <p:cNvSpPr/>
          <p:nvPr/>
        </p:nvSpPr>
        <p:spPr>
          <a:xfrm>
            <a:off x="8368313" y="62697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159">
            <a:extLst>
              <a:ext uri="{FF2B5EF4-FFF2-40B4-BE49-F238E27FC236}">
                <a16:creationId xmlns:a16="http://schemas.microsoft.com/office/drawing/2014/main" id="{26914A7A-2BCB-DB56-00F9-6980A65FC5AA}"/>
              </a:ext>
            </a:extLst>
          </p:cNvPr>
          <p:cNvSpPr/>
          <p:nvPr/>
        </p:nvSpPr>
        <p:spPr>
          <a:xfrm>
            <a:off x="8869462" y="6248523"/>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4" name="TextBox 283">
            <a:extLst>
              <a:ext uri="{FF2B5EF4-FFF2-40B4-BE49-F238E27FC236}">
                <a16:creationId xmlns:a16="http://schemas.microsoft.com/office/drawing/2014/main" id="{39D2C1F8-4938-6039-10E9-E726FBDD93DE}"/>
              </a:ext>
            </a:extLst>
          </p:cNvPr>
          <p:cNvSpPr txBox="1"/>
          <p:nvPr/>
        </p:nvSpPr>
        <p:spPr>
          <a:xfrm>
            <a:off x="391610" y="3584153"/>
            <a:ext cx="2414016" cy="172355"/>
          </a:xfrm>
          <a:prstGeom prst="rect">
            <a:avLst/>
          </a:prstGeom>
          <a:noFill/>
        </p:spPr>
        <p:txBody>
          <a:bodyPr wrap="square" lIns="36576" tIns="9144" rIns="36576" bIns="9144" anchor="ctr">
            <a:spAutoFit/>
          </a:bodyPr>
          <a:lstStyle>
            <a:defPPr>
              <a:defRPr lang="en-RW"/>
            </a:defPPr>
            <a:lvl1pPr>
              <a:spcAft>
                <a:spcPts val="100"/>
              </a:spcAft>
              <a:defRPr sz="1000" b="1" i="0">
                <a:solidFill>
                  <a:srgbClr val="009152"/>
                </a:solidFill>
                <a:latin typeface="Aptos"/>
              </a:defRPr>
            </a:lvl1p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1000" b="1" i="0" u="none" strike="noStrike" kern="1200" cap="none" spc="0" normalizeH="0" baseline="0" noProof="0" dirty="0">
                <a:ln>
                  <a:noFill/>
                </a:ln>
                <a:solidFill>
                  <a:srgbClr val="009152"/>
                </a:solidFill>
                <a:effectLst/>
                <a:uLnTx/>
                <a:uFillTx/>
                <a:latin typeface="Aptos"/>
                <a:ea typeface="+mn-ea"/>
                <a:cs typeface="+mn-cs"/>
              </a:rPr>
              <a:t>EXPECTED OUTCOME</a:t>
            </a:r>
          </a:p>
        </p:txBody>
      </p:sp>
      <p:sp>
        <p:nvSpPr>
          <p:cNvPr id="286" name="TextBox 285">
            <a:extLst>
              <a:ext uri="{FF2B5EF4-FFF2-40B4-BE49-F238E27FC236}">
                <a16:creationId xmlns:a16="http://schemas.microsoft.com/office/drawing/2014/main" id="{0AB38442-7F99-8ED4-E97A-F7060117D24B}"/>
              </a:ext>
            </a:extLst>
          </p:cNvPr>
          <p:cNvSpPr txBox="1"/>
          <p:nvPr/>
        </p:nvSpPr>
        <p:spPr>
          <a:xfrm>
            <a:off x="439367" y="3820058"/>
            <a:ext cx="2414016"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810" b="0" i="0">
                <a:solidFill>
                  <a:srgbClr val="1B3A30"/>
                </a:solidFill>
                <a:latin typeface="Aptos"/>
              </a:defRPr>
            </a:pPr>
            <a:r>
              <a:rPr kumimoji="0" sz="1000" b="0" i="0" u="none" strike="noStrike" kern="1200" cap="none" spc="0" normalizeH="0" baseline="0" noProof="0" dirty="0">
                <a:ln>
                  <a:noFill/>
                </a:ln>
                <a:solidFill>
                  <a:srgbClr val="1B3A30"/>
                </a:solidFill>
                <a:effectLst/>
                <a:uLnTx/>
                <a:uFillTx/>
                <a:latin typeface="Aptos"/>
                <a:ea typeface="+mn-ea"/>
                <a:cs typeface="+mn-cs"/>
              </a:rPr>
              <a:t>Trial, consumer recruitment and repeat </a:t>
            </a:r>
            <a:r>
              <a:rPr kumimoji="0" sz="1000" b="0" i="0" u="none" strike="noStrike" kern="1200" cap="none" spc="0" normalizeH="0" baseline="0" noProof="0" dirty="0">
                <a:ln>
                  <a:noFill/>
                </a:ln>
                <a:solidFill>
                  <a:srgbClr val="1B3A30"/>
                </a:solidFill>
                <a:effectLst/>
                <a:uLnTx/>
                <a:uFillTx/>
                <a:latin typeface="Aptos" panose="020B0004020202020204" pitchFamily="34" charset="0"/>
                <a:ea typeface="+mn-ea"/>
                <a:cs typeface="+mn-cs"/>
              </a:rPr>
              <a:t>purchase</a:t>
            </a:r>
            <a:r>
              <a:rPr kumimoji="0" sz="1000" b="0" i="0" u="none" strike="noStrike" kern="1200" cap="none" spc="0" normalizeH="0" baseline="0" noProof="0" dirty="0">
                <a:ln>
                  <a:noFill/>
                </a:ln>
                <a:solidFill>
                  <a:srgbClr val="1B3A30"/>
                </a:solidFill>
                <a:effectLst/>
                <a:uLnTx/>
                <a:uFillTx/>
                <a:latin typeface="Aptos"/>
                <a:ea typeface="+mn-ea"/>
                <a:cs typeface="+mn-cs"/>
              </a:rPr>
              <a:t>.</a:t>
            </a:r>
          </a:p>
        </p:txBody>
      </p:sp>
      <p:sp>
        <p:nvSpPr>
          <p:cNvPr id="288" name="Rectangle 287">
            <a:extLst>
              <a:ext uri="{FF2B5EF4-FFF2-40B4-BE49-F238E27FC236}">
                <a16:creationId xmlns:a16="http://schemas.microsoft.com/office/drawing/2014/main" id="{B8395A7C-D309-5317-CEF4-C8E6A6183AFA}"/>
              </a:ext>
            </a:extLst>
          </p:cNvPr>
          <p:cNvSpPr/>
          <p:nvPr/>
        </p:nvSpPr>
        <p:spPr>
          <a:xfrm>
            <a:off x="426328" y="3474196"/>
            <a:ext cx="2520000" cy="18000"/>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prstClr val="white"/>
              </a:solidFill>
              <a:effectLst/>
              <a:uLnTx/>
              <a:uFillTx/>
              <a:latin typeface="Aptos" panose="020B0004020202020204" pitchFamily="34" charset="0"/>
              <a:ea typeface="+mn-ea"/>
              <a:cs typeface="+mn-cs"/>
            </a:endParaRPr>
          </a:p>
        </p:txBody>
      </p:sp>
      <p:sp>
        <p:nvSpPr>
          <p:cNvPr id="292" name="Rectangle 291">
            <a:extLst>
              <a:ext uri="{FF2B5EF4-FFF2-40B4-BE49-F238E27FC236}">
                <a16:creationId xmlns:a16="http://schemas.microsoft.com/office/drawing/2014/main" id="{5E84655C-96D3-813D-E190-13014CDA5BE2}"/>
              </a:ext>
            </a:extLst>
          </p:cNvPr>
          <p:cNvSpPr/>
          <p:nvPr/>
        </p:nvSpPr>
        <p:spPr>
          <a:xfrm>
            <a:off x="3431189" y="3477191"/>
            <a:ext cx="2520000" cy="18000"/>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94" name="TextBox 293">
            <a:extLst>
              <a:ext uri="{FF2B5EF4-FFF2-40B4-BE49-F238E27FC236}">
                <a16:creationId xmlns:a16="http://schemas.microsoft.com/office/drawing/2014/main" id="{757A8F11-DEFB-6F47-7E0F-CC1A5AD2426D}"/>
              </a:ext>
            </a:extLst>
          </p:cNvPr>
          <p:cNvSpPr txBox="1"/>
          <p:nvPr/>
        </p:nvSpPr>
        <p:spPr>
          <a:xfrm>
            <a:off x="3415921" y="3810479"/>
            <a:ext cx="2414016" cy="307777"/>
          </a:xfrm>
          <a:prstGeom prst="rect">
            <a:avLst/>
          </a:prstGeom>
          <a:noFill/>
        </p:spPr>
        <p:txBody>
          <a:bodyPr wrap="square" lIns="0" tIns="0" rIns="0" bIns="0" anchor="t">
            <a:spAutoFit/>
          </a:bodyPr>
          <a:lstStyle>
            <a:defPPr>
              <a:defRPr lang="en-RW"/>
            </a:defPPr>
            <a:lvl1pPr>
              <a:spcBef>
                <a:spcPts val="0"/>
              </a:spcBef>
              <a:spcAft>
                <a:spcPts val="100"/>
              </a:spcAft>
              <a:defRPr sz="1000" b="0" i="0">
                <a:solidFill>
                  <a:srgbClr val="1B3A30"/>
                </a:solidFill>
                <a:latin typeface="Aptos"/>
              </a:defRPr>
            </a:lvl1p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1000" b="0" i="0" u="none" strike="noStrike" kern="1200" cap="none" spc="0" normalizeH="0" baseline="0" noProof="0" dirty="0">
                <a:ln>
                  <a:noFill/>
                </a:ln>
                <a:solidFill>
                  <a:srgbClr val="1B3A30"/>
                </a:solidFill>
                <a:effectLst/>
                <a:uLnTx/>
                <a:uFillTx/>
                <a:latin typeface="Aptos"/>
                <a:ea typeface="+mn-ea"/>
                <a:cs typeface="+mn-cs"/>
              </a:rPr>
              <a:t>Stronger recommendation and higher conversion to purchase.</a:t>
            </a:r>
          </a:p>
        </p:txBody>
      </p:sp>
      <p:sp>
        <p:nvSpPr>
          <p:cNvPr id="298" name="TextBox 297">
            <a:extLst>
              <a:ext uri="{FF2B5EF4-FFF2-40B4-BE49-F238E27FC236}">
                <a16:creationId xmlns:a16="http://schemas.microsoft.com/office/drawing/2014/main" id="{2BA0BBE5-D15E-863D-E93F-DBC4C08F5CA6}"/>
              </a:ext>
            </a:extLst>
          </p:cNvPr>
          <p:cNvSpPr txBox="1"/>
          <p:nvPr/>
        </p:nvSpPr>
        <p:spPr>
          <a:xfrm>
            <a:off x="6376806" y="2159046"/>
            <a:ext cx="2523744" cy="1310102"/>
          </a:xfrm>
          <a:prstGeom prst="rect">
            <a:avLst/>
          </a:prstGeom>
          <a:noFill/>
        </p:spPr>
        <p:txBody>
          <a:bodyPr wrap="square" lIns="13716" tIns="13716" rIns="13716" bIns="13716"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910" b="0" i="0">
                <a:solidFill>
                  <a:srgbClr val="191F1D"/>
                </a:solidFill>
                <a:latin typeface="Aptos"/>
              </a:defRPr>
            </a:pPr>
            <a:r>
              <a:rPr kumimoji="0" lang="en-US" sz="1000" b="1" i="0" u="sng" strike="noStrike" kern="1200" cap="none" spc="0" normalizeH="0" baseline="0" noProof="0" dirty="0">
                <a:ln>
                  <a:noFill/>
                </a:ln>
                <a:solidFill>
                  <a:srgbClr val="191F1D"/>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srgbClr val="191F1D"/>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sz="1000" b="0" i="0" u="none" strike="noStrike" kern="1200" cap="none" spc="0" normalizeH="0" baseline="0" noProof="0" dirty="0">
                <a:ln>
                  <a:noFill/>
                </a:ln>
                <a:solidFill>
                  <a:srgbClr val="191F1D"/>
                </a:solidFill>
                <a:effectLst/>
                <a:uLnTx/>
                <a:uFillTx/>
                <a:latin typeface="Aptos"/>
                <a:ea typeface="+mn-ea"/>
                <a:cs typeface="+mn-cs"/>
              </a:rPr>
              <a:t>Refresh 98 pylons and billboards.</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R</a:t>
            </a:r>
            <a:r>
              <a:rPr kumimoji="0" sz="1000" b="0" i="0" u="none" strike="noStrike" kern="1200" cap="none" spc="0" normalizeH="0" baseline="0" noProof="0" dirty="0">
                <a:ln>
                  <a:noFill/>
                </a:ln>
                <a:solidFill>
                  <a:srgbClr val="191F1D"/>
                </a:solidFill>
                <a:effectLst/>
                <a:uLnTx/>
                <a:uFillTx/>
                <a:latin typeface="Aptos"/>
                <a:ea typeface="+mn-ea"/>
                <a:cs typeface="+mn-cs"/>
              </a:rPr>
              <a:t>enew branding for 22 sales representative cars.</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D</a:t>
            </a:r>
            <a:r>
              <a:rPr kumimoji="0" sz="1000" b="0" i="0" u="none" strike="noStrike" kern="1200" cap="none" spc="0" normalizeH="0" baseline="0" noProof="0" dirty="0">
                <a:ln>
                  <a:noFill/>
                </a:ln>
                <a:solidFill>
                  <a:srgbClr val="191F1D"/>
                </a:solidFill>
                <a:effectLst/>
                <a:uLnTx/>
                <a:uFillTx/>
                <a:latin typeface="Aptos"/>
                <a:ea typeface="+mn-ea"/>
                <a:cs typeface="+mn-cs"/>
              </a:rPr>
              <a:t>evelop 5 flagship premium POS upcountry.</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I</a:t>
            </a:r>
            <a:r>
              <a:rPr kumimoji="0" sz="1000" b="0" i="0" u="none" strike="noStrike" kern="1200" cap="none" spc="0" normalizeH="0" baseline="0" noProof="0" dirty="0">
                <a:ln>
                  <a:noFill/>
                </a:ln>
                <a:solidFill>
                  <a:srgbClr val="191F1D"/>
                </a:solidFill>
                <a:effectLst/>
                <a:uLnTx/>
                <a:uFillTx/>
                <a:latin typeface="Aptos"/>
                <a:ea typeface="+mn-ea"/>
                <a:cs typeface="+mn-cs"/>
              </a:rPr>
              <a:t>mprove counter</a:t>
            </a:r>
            <a:r>
              <a:rPr kumimoji="0" lang="en-US" sz="1000" b="0" i="0" u="none" strike="noStrike" kern="1200" cap="none" spc="0" normalizeH="0" baseline="0" noProof="0" dirty="0">
                <a:ln>
                  <a:noFill/>
                </a:ln>
                <a:solidFill>
                  <a:srgbClr val="191F1D"/>
                </a:solidFill>
                <a:effectLst/>
                <a:uLnTx/>
                <a:uFillTx/>
                <a:latin typeface="Aptos"/>
                <a:ea typeface="+mn-ea"/>
                <a:cs typeface="+mn-cs"/>
              </a:rPr>
              <a:t> area</a:t>
            </a:r>
            <a:r>
              <a:rPr kumimoji="0" sz="1000" b="0" i="0" u="none" strike="noStrike" kern="1200" cap="none" spc="0" normalizeH="0" baseline="0" noProof="0" dirty="0">
                <a:ln>
                  <a:noFill/>
                </a:ln>
                <a:solidFill>
                  <a:srgbClr val="191F1D"/>
                </a:solidFill>
                <a:effectLst/>
                <a:uLnTx/>
                <a:uFillTx/>
                <a:latin typeface="Aptos"/>
                <a:ea typeface="+mn-ea"/>
                <a:cs typeface="+mn-cs"/>
              </a:rPr>
              <a:t> visibility</a:t>
            </a:r>
            <a:r>
              <a:rPr kumimoji="0" lang="en-US" sz="1000" b="0" i="0" u="none" strike="noStrike" kern="1200" cap="none" spc="0" normalizeH="0" baseline="0" noProof="0" dirty="0">
                <a:ln>
                  <a:noFill/>
                </a:ln>
                <a:solidFill>
                  <a:srgbClr val="191F1D"/>
                </a:solidFill>
                <a:effectLst/>
                <a:uLnTx/>
                <a:uFillTx/>
                <a:latin typeface="Aptos"/>
                <a:ea typeface="+mn-ea"/>
                <a:cs typeface="+mn-cs"/>
              </a:rPr>
              <a:t> with illuminated light signs</a:t>
            </a:r>
            <a:r>
              <a:rPr kumimoji="0" sz="1000" b="0" i="0" u="none" strike="noStrike" kern="1200" cap="none" spc="0" normalizeH="0" baseline="0" noProof="0" dirty="0">
                <a:ln>
                  <a:noFill/>
                </a:ln>
                <a:solidFill>
                  <a:srgbClr val="191F1D"/>
                </a:solidFill>
                <a:effectLst/>
                <a:uLnTx/>
                <a:uFillTx/>
                <a:latin typeface="Aptos"/>
                <a:ea typeface="+mn-ea"/>
                <a:cs typeface="+mn-cs"/>
              </a:rPr>
              <a:t>.</a:t>
            </a:r>
          </a:p>
        </p:txBody>
      </p:sp>
      <p:sp>
        <p:nvSpPr>
          <p:cNvPr id="306" name="Rectangle 305">
            <a:extLst>
              <a:ext uri="{FF2B5EF4-FFF2-40B4-BE49-F238E27FC236}">
                <a16:creationId xmlns:a16="http://schemas.microsoft.com/office/drawing/2014/main" id="{F915A107-B2C6-79D5-46E3-C1425DD151DE}"/>
              </a:ext>
            </a:extLst>
          </p:cNvPr>
          <p:cNvSpPr/>
          <p:nvPr/>
        </p:nvSpPr>
        <p:spPr>
          <a:xfrm>
            <a:off x="6391639" y="3493910"/>
            <a:ext cx="2520000" cy="18000"/>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14" name="TextBox 313">
            <a:extLst>
              <a:ext uri="{FF2B5EF4-FFF2-40B4-BE49-F238E27FC236}">
                <a16:creationId xmlns:a16="http://schemas.microsoft.com/office/drawing/2014/main" id="{94F8B88C-CCDA-F5BD-6AD9-08FA4E82A872}"/>
              </a:ext>
            </a:extLst>
          </p:cNvPr>
          <p:cNvSpPr txBox="1"/>
          <p:nvPr/>
        </p:nvSpPr>
        <p:spPr>
          <a:xfrm>
            <a:off x="6440799" y="3858442"/>
            <a:ext cx="2414016" cy="163122"/>
          </a:xfrm>
          <a:prstGeom prst="rect">
            <a:avLst/>
          </a:prstGeom>
          <a:noFill/>
        </p:spPr>
        <p:txBody>
          <a:bodyPr wrap="square" lIns="22860" tIns="4572" rIns="22860" bIns="4572" anchor="ctr">
            <a:spAutoFit/>
          </a:bodyPr>
          <a:lstStyle>
            <a:defPPr>
              <a:defRPr lang="en-RW"/>
            </a:defPPr>
            <a:lvl1pPr marR="0" lvl="0" indent="0" defTabSz="457200" fontAlgn="auto">
              <a:lnSpc>
                <a:spcPct val="100000"/>
              </a:lnSpc>
              <a:spcBef>
                <a:spcPts val="0"/>
              </a:spcBef>
              <a:spcAft>
                <a:spcPts val="0"/>
              </a:spcAft>
              <a:buClrTx/>
              <a:buSzTx/>
              <a:buFontTx/>
              <a:buNone/>
              <a:tabLst/>
              <a:defRPr kumimoji="0" sz="1000" b="1" i="0" u="none" strike="noStrike" cap="none" spc="0" normalizeH="0" baseline="0">
                <a:ln>
                  <a:noFill/>
                </a:ln>
                <a:effectLst/>
                <a:uLnTx/>
                <a:uFillTx/>
                <a:latin typeface="Apto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a:ea typeface="+mn-ea"/>
                <a:cs typeface="+mn-cs"/>
              </a:rPr>
              <a:t>DEPLOY  •  MAINTAIN  •  VERIFY</a:t>
            </a:r>
          </a:p>
        </p:txBody>
      </p:sp>
      <p:sp>
        <p:nvSpPr>
          <p:cNvPr id="318" name="Rounded Rectangle 18">
            <a:extLst>
              <a:ext uri="{FF2B5EF4-FFF2-40B4-BE49-F238E27FC236}">
                <a16:creationId xmlns:a16="http://schemas.microsoft.com/office/drawing/2014/main" id="{3A3A5210-53D4-2AD6-28E6-5F5D58FCB523}"/>
              </a:ext>
            </a:extLst>
          </p:cNvPr>
          <p:cNvSpPr/>
          <p:nvPr/>
        </p:nvSpPr>
        <p:spPr>
          <a:xfrm>
            <a:off x="9253727" y="877978"/>
            <a:ext cx="2761488" cy="3330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322" name="Rectangle 321">
            <a:extLst>
              <a:ext uri="{FF2B5EF4-FFF2-40B4-BE49-F238E27FC236}">
                <a16:creationId xmlns:a16="http://schemas.microsoft.com/office/drawing/2014/main" id="{B5B85ACE-C851-6A33-BDB7-BD8347DB5DA7}"/>
              </a:ext>
            </a:extLst>
          </p:cNvPr>
          <p:cNvSpPr/>
          <p:nvPr/>
        </p:nvSpPr>
        <p:spPr>
          <a:xfrm>
            <a:off x="9385488" y="3502344"/>
            <a:ext cx="2520000" cy="18000"/>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0" name="Rounded Rectangle 7">
            <a:extLst>
              <a:ext uri="{FF2B5EF4-FFF2-40B4-BE49-F238E27FC236}">
                <a16:creationId xmlns:a16="http://schemas.microsoft.com/office/drawing/2014/main" id="{E9376D78-C0FD-1623-50C5-3C5C852386D1}"/>
              </a:ext>
            </a:extLst>
          </p:cNvPr>
          <p:cNvSpPr/>
          <p:nvPr/>
        </p:nvSpPr>
        <p:spPr>
          <a:xfrm>
            <a:off x="9253727" y="2428224"/>
            <a:ext cx="2761488" cy="245221"/>
          </a:xfrm>
          <a:prstGeom prst="roundRect">
            <a:avLst>
              <a:gd name="adj" fmla="val 8000"/>
            </a:avLst>
          </a:prstGeom>
          <a:noFill/>
        </p:spPr>
        <p:txBody>
          <a:bodyPr wrap="square" lIns="36576" tIns="9144" rIns="36576" bIns="9144" anchor="ctr">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endParaRPr kumimoji="0" sz="1400" b="1" i="1" u="none" strike="noStrike" kern="1200" cap="none" spc="0" normalizeH="0" baseline="0" noProof="0">
              <a:ln>
                <a:noFill/>
              </a:ln>
              <a:solidFill>
                <a:srgbClr val="009152"/>
              </a:solidFill>
              <a:effectLst/>
              <a:uLnTx/>
              <a:uFillTx/>
              <a:latin typeface="Aptos"/>
              <a:ea typeface="+mn-ea"/>
              <a:cs typeface="+mn-cs"/>
            </a:endParaRPr>
          </a:p>
        </p:txBody>
      </p:sp>
      <p:sp>
        <p:nvSpPr>
          <p:cNvPr id="334" name="Rectangle 333">
            <a:extLst>
              <a:ext uri="{FF2B5EF4-FFF2-40B4-BE49-F238E27FC236}">
                <a16:creationId xmlns:a16="http://schemas.microsoft.com/office/drawing/2014/main" id="{FED52EAC-C010-E9AF-5754-FCC63EBFB8E1}"/>
              </a:ext>
            </a:extLst>
          </p:cNvPr>
          <p:cNvSpPr/>
          <p:nvPr/>
        </p:nvSpPr>
        <p:spPr>
          <a:xfrm>
            <a:off x="9253727" y="813252"/>
            <a:ext cx="2761488" cy="118872"/>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8" name="Oval 337">
            <a:extLst>
              <a:ext uri="{FF2B5EF4-FFF2-40B4-BE49-F238E27FC236}">
                <a16:creationId xmlns:a16="http://schemas.microsoft.com/office/drawing/2014/main" id="{732FD3C0-D37E-D35C-507C-256EDBDD188A}"/>
              </a:ext>
            </a:extLst>
          </p:cNvPr>
          <p:cNvSpPr/>
          <p:nvPr/>
        </p:nvSpPr>
        <p:spPr>
          <a:xfrm>
            <a:off x="9308494" y="100002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342" name="TextBox 341">
            <a:extLst>
              <a:ext uri="{FF2B5EF4-FFF2-40B4-BE49-F238E27FC236}">
                <a16:creationId xmlns:a16="http://schemas.microsoft.com/office/drawing/2014/main" id="{17100F19-7FED-4FDF-79FD-6B4220B91DC1}"/>
              </a:ext>
            </a:extLst>
          </p:cNvPr>
          <p:cNvSpPr txBox="1"/>
          <p:nvPr/>
        </p:nvSpPr>
        <p:spPr>
          <a:xfrm>
            <a:off x="9308494" y="108950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01</a:t>
            </a:r>
          </a:p>
        </p:txBody>
      </p:sp>
      <p:sp>
        <p:nvSpPr>
          <p:cNvPr id="346" name="TextBox 345">
            <a:extLst>
              <a:ext uri="{FF2B5EF4-FFF2-40B4-BE49-F238E27FC236}">
                <a16:creationId xmlns:a16="http://schemas.microsoft.com/office/drawing/2014/main" id="{361733D8-AA45-88C5-8867-3DFAF9AF4E8B}"/>
              </a:ext>
            </a:extLst>
          </p:cNvPr>
          <p:cNvSpPr txBox="1"/>
          <p:nvPr/>
        </p:nvSpPr>
        <p:spPr>
          <a:xfrm>
            <a:off x="9760083" y="1045016"/>
            <a:ext cx="2145405" cy="387798"/>
          </a:xfrm>
          <a:prstGeom prst="rect">
            <a:avLst/>
          </a:prstGeom>
          <a:noFill/>
        </p:spPr>
        <p:txBody>
          <a:bodyPr wrap="square" lIns="36576" tIns="9144" rIns="36576" bIns="9144" anchor="ctr">
            <a:spAutoFit/>
          </a:bodyPr>
          <a:lstStyle>
            <a:defPPr>
              <a:defRPr lang="en-RW"/>
            </a:defPPr>
            <a:lvl1pPr marR="0" lvl="0" indent="0" algn="just" defTabSz="457200" fontAlgn="auto">
              <a:lnSpc>
                <a:spcPct val="100000"/>
              </a:lnSpc>
              <a:spcBef>
                <a:spcPts val="0"/>
              </a:spcBef>
              <a:spcAft>
                <a:spcPts val="0"/>
              </a:spcAft>
              <a:buClrTx/>
              <a:buSzTx/>
              <a:buFontTx/>
              <a:buNone/>
              <a:tabLst/>
              <a:defRPr kumimoji="0" sz="1200" b="1" i="0" u="none" strike="noStrike" cap="none" spc="0" normalizeH="0" baseline="0">
                <a:ln>
                  <a:noFill/>
                </a:ln>
                <a:solidFill>
                  <a:srgbClr val="1F372F"/>
                </a:solidFill>
                <a:effectLst/>
                <a:uLnTx/>
                <a:uFillTx/>
                <a:latin typeface="Aptos" panose="020B0004020202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PROTECT AVAILABILITY &amp; PRICE</a:t>
            </a:r>
          </a:p>
        </p:txBody>
      </p:sp>
      <p:sp>
        <p:nvSpPr>
          <p:cNvPr id="350" name="Rectangle 349">
            <a:extLst>
              <a:ext uri="{FF2B5EF4-FFF2-40B4-BE49-F238E27FC236}">
                <a16:creationId xmlns:a16="http://schemas.microsoft.com/office/drawing/2014/main" id="{C9085D2E-2566-FCDD-5678-08D7A6DD5B4F}"/>
              </a:ext>
            </a:extLst>
          </p:cNvPr>
          <p:cNvSpPr/>
          <p:nvPr/>
        </p:nvSpPr>
        <p:spPr>
          <a:xfrm>
            <a:off x="9308494" y="149173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54" name="TextBox 353">
            <a:extLst>
              <a:ext uri="{FF2B5EF4-FFF2-40B4-BE49-F238E27FC236}">
                <a16:creationId xmlns:a16="http://schemas.microsoft.com/office/drawing/2014/main" id="{72AF1033-7B2C-7BF8-DA21-DBFCB145A785}"/>
              </a:ext>
            </a:extLst>
          </p:cNvPr>
          <p:cNvSpPr txBox="1"/>
          <p:nvPr/>
        </p:nvSpPr>
        <p:spPr>
          <a:xfrm>
            <a:off x="9274488" y="1682273"/>
            <a:ext cx="2637602" cy="449354"/>
          </a:xfrm>
          <a:prstGeom prst="rect">
            <a:avLst/>
          </a:prstGeom>
          <a:noFill/>
        </p:spPr>
        <p:txBody>
          <a:bodyPr wrap="square" lIns="36576" tIns="9144" rIns="36576" bIns="9144" anchor="ctr">
            <a:spAutoFit/>
          </a:bodyPr>
          <a:lstStyle>
            <a:defPPr>
              <a:defRPr lang="en-RW"/>
            </a:defPPr>
            <a:lvl1pPr>
              <a:spcAft>
                <a:spcPts val="100"/>
              </a:spcAft>
              <a:defRPr sz="1400" b="1" i="1">
                <a:solidFill>
                  <a:srgbClr val="009152"/>
                </a:solidFill>
                <a:latin typeface="Aptos"/>
              </a:defRPr>
            </a:lvl1pPr>
          </a:lstStyle>
          <a:p>
            <a:pPr marL="0" marR="0" lvl="0" indent="0" algn="ctr" defTabSz="914400" rtl="0" eaLnBrk="1" fontAlgn="auto" latinLnBrk="0" hangingPunct="1">
              <a:lnSpc>
                <a:spcPct val="100000"/>
              </a:lnSpc>
              <a:spcBef>
                <a:spcPts val="0"/>
              </a:spcBef>
              <a:spcAft>
                <a:spcPts val="100"/>
              </a:spcAft>
              <a:buClrTx/>
              <a:buSzTx/>
              <a:buFontTx/>
              <a:buNone/>
              <a:tabLst/>
              <a:defRPr/>
            </a:pPr>
            <a:r>
              <a:rPr kumimoji="0" lang="en-US" sz="1400" b="1" i="1" u="none" strike="noStrike" kern="1200" cap="none" spc="0" normalizeH="0" baseline="0" noProof="0" dirty="0">
                <a:ln>
                  <a:noFill/>
                </a:ln>
                <a:solidFill>
                  <a:srgbClr val="009152"/>
                </a:solidFill>
                <a:effectLst/>
                <a:uLnTx/>
                <a:uFillTx/>
                <a:latin typeface="Aptos"/>
                <a:ea typeface="+mn-ea"/>
                <a:cs typeface="+mn-cs"/>
              </a:rPr>
              <a:t>Ensure availability and protect premium price positioning</a:t>
            </a:r>
          </a:p>
        </p:txBody>
      </p:sp>
      <p:sp>
        <p:nvSpPr>
          <p:cNvPr id="358" name="TextBox 357">
            <a:extLst>
              <a:ext uri="{FF2B5EF4-FFF2-40B4-BE49-F238E27FC236}">
                <a16:creationId xmlns:a16="http://schemas.microsoft.com/office/drawing/2014/main" id="{06900955-6274-1A39-A1C2-C03E37FD7B4F}"/>
              </a:ext>
            </a:extLst>
          </p:cNvPr>
          <p:cNvSpPr txBox="1"/>
          <p:nvPr/>
        </p:nvSpPr>
        <p:spPr>
          <a:xfrm>
            <a:off x="9352025" y="3584153"/>
            <a:ext cx="2587751" cy="172355"/>
          </a:xfrm>
          <a:prstGeom prst="rect">
            <a:avLst/>
          </a:prstGeom>
          <a:noFill/>
        </p:spPr>
        <p:txBody>
          <a:bodyPr wrap="square" lIns="36576" tIns="9144" rIns="36576" bIns="9144" anchor="ctr">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840" b="1" i="0">
                <a:solidFill>
                  <a:srgbClr val="009152"/>
                </a:solidFill>
                <a:latin typeface="Aptos"/>
              </a:defRPr>
            </a:pPr>
            <a:r>
              <a:rPr kumimoji="0" lang="en-US" sz="1000" b="1" i="0" u="none" strike="noStrike" kern="1200" cap="none" spc="0" normalizeH="0" baseline="0" noProof="0" dirty="0">
                <a:ln>
                  <a:noFill/>
                </a:ln>
                <a:solidFill>
                  <a:srgbClr val="009152"/>
                </a:solidFill>
                <a:effectLst/>
                <a:uLnTx/>
                <a:uFillTx/>
                <a:latin typeface="Aptos"/>
                <a:ea typeface="+mn-ea"/>
                <a:cs typeface="+mn-cs"/>
              </a:rPr>
              <a:t>EXPECTED OUTCOME</a:t>
            </a:r>
          </a:p>
        </p:txBody>
      </p:sp>
      <p:sp>
        <p:nvSpPr>
          <p:cNvPr id="362" name="TextBox 361">
            <a:extLst>
              <a:ext uri="{FF2B5EF4-FFF2-40B4-BE49-F238E27FC236}">
                <a16:creationId xmlns:a16="http://schemas.microsoft.com/office/drawing/2014/main" id="{B49F0AFC-8E8F-9630-08DD-4411AC0A33B6}"/>
              </a:ext>
            </a:extLst>
          </p:cNvPr>
          <p:cNvSpPr txBox="1"/>
          <p:nvPr/>
        </p:nvSpPr>
        <p:spPr>
          <a:xfrm>
            <a:off x="9390888" y="3800418"/>
            <a:ext cx="2414016" cy="307777"/>
          </a:xfrm>
          <a:prstGeom prst="rect">
            <a:avLst/>
          </a:prstGeom>
          <a:noFill/>
        </p:spPr>
        <p:txBody>
          <a:bodyPr wrap="square" lIns="0" tIns="0" rIns="0" bIns="0" anchor="t">
            <a:spAutoFit/>
          </a:bodyPr>
          <a:lstStyle>
            <a:defPPr>
              <a:defRPr lang="en-RW"/>
            </a:defPPr>
            <a:lvl1pPr>
              <a:spcBef>
                <a:spcPts val="0"/>
              </a:spcBef>
              <a:spcAft>
                <a:spcPts val="100"/>
              </a:spcAft>
              <a:defRPr sz="1000" b="0" i="0">
                <a:solidFill>
                  <a:srgbClr val="1B3A30"/>
                </a:solidFill>
                <a:latin typeface="Aptos"/>
              </a:defRPr>
            </a:lvl1p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1000" b="0" i="0" u="none" strike="noStrike" kern="1200" cap="none" spc="0" normalizeH="0" baseline="0" noProof="0" dirty="0">
                <a:ln>
                  <a:noFill/>
                </a:ln>
                <a:solidFill>
                  <a:srgbClr val="1B3A30"/>
                </a:solidFill>
                <a:effectLst/>
                <a:uLnTx/>
                <a:uFillTx/>
                <a:latin typeface="Aptos"/>
                <a:ea typeface="+mn-ea"/>
                <a:cs typeface="+mn-cs"/>
              </a:rPr>
              <a:t>Consistent availability and premium price positioning.</a:t>
            </a:r>
          </a:p>
        </p:txBody>
      </p:sp>
      <p:sp>
        <p:nvSpPr>
          <p:cNvPr id="366" name="TextBox 365">
            <a:extLst>
              <a:ext uri="{FF2B5EF4-FFF2-40B4-BE49-F238E27FC236}">
                <a16:creationId xmlns:a16="http://schemas.microsoft.com/office/drawing/2014/main" id="{7F7CCC14-BE0A-BD25-6A08-B7E8C482C045}"/>
              </a:ext>
            </a:extLst>
          </p:cNvPr>
          <p:cNvSpPr txBox="1"/>
          <p:nvPr/>
        </p:nvSpPr>
        <p:spPr>
          <a:xfrm>
            <a:off x="9352025" y="2140434"/>
            <a:ext cx="2562214" cy="1297278"/>
          </a:xfrm>
          <a:prstGeom prst="rect">
            <a:avLst/>
          </a:prstGeom>
          <a:noFill/>
        </p:spPr>
        <p:txBody>
          <a:bodyPr wrap="square" lIns="13716" tIns="13716" rIns="13716" bIns="13716"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910" b="0" i="0">
                <a:solidFill>
                  <a:srgbClr val="191F1D"/>
                </a:solidFill>
                <a:latin typeface="Aptos"/>
              </a:defRPr>
            </a:pPr>
            <a:r>
              <a:rPr kumimoji="0" lang="en-US" sz="1000" b="1" i="0" u="sng" strike="noStrike" kern="1200" cap="none" spc="0" normalizeH="0" baseline="0" noProof="0" dirty="0">
                <a:ln>
                  <a:noFill/>
                </a:ln>
                <a:solidFill>
                  <a:srgbClr val="191F1D"/>
                </a:solidFill>
                <a:effectLst/>
                <a:uLnTx/>
                <a:uFillTx/>
                <a:latin typeface="Aptos" panose="020B0004020202020204" pitchFamily="34" charset="0"/>
                <a:ea typeface="+mn-ea"/>
                <a:cs typeface="+mn-cs"/>
              </a:rPr>
              <a:t>Target &amp; process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sz="1000" b="0" i="0" u="none" strike="noStrike" kern="1200" cap="none" spc="0" normalizeH="0" baseline="0" noProof="0" dirty="0">
                <a:ln>
                  <a:noFill/>
                </a:ln>
                <a:solidFill>
                  <a:srgbClr val="191F1D"/>
                </a:solidFill>
                <a:effectLst/>
                <a:uLnTx/>
                <a:uFillTx/>
                <a:latin typeface="Aptos"/>
                <a:ea typeface="+mn-ea"/>
                <a:cs typeface="+mn-cs"/>
              </a:rPr>
              <a:t>Maintain minimum stock by outlet: CAT A 7 crates | CAT B 4 | CAT C 3.</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M</a:t>
            </a:r>
            <a:r>
              <a:rPr kumimoji="0" sz="1000" b="0" i="0" u="none" strike="noStrike" kern="1200" cap="none" spc="0" normalizeH="0" baseline="0" noProof="0" dirty="0">
                <a:ln>
                  <a:noFill/>
                </a:ln>
                <a:solidFill>
                  <a:srgbClr val="191F1D"/>
                </a:solidFill>
                <a:effectLst/>
                <a:uLnTx/>
                <a:uFillTx/>
                <a:latin typeface="Aptos"/>
                <a:ea typeface="+mn-ea"/>
                <a:cs typeface="+mn-cs"/>
              </a:rPr>
              <a:t>onitor price compliance vs competition; prevent discounting that weakens premium cues.</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C</a:t>
            </a:r>
            <a:r>
              <a:rPr kumimoji="0" sz="1000" b="0" i="0" u="none" strike="noStrike" kern="1200" cap="none" spc="0" normalizeH="0" baseline="0" noProof="0" dirty="0">
                <a:ln>
                  <a:noFill/>
                </a:ln>
                <a:solidFill>
                  <a:srgbClr val="191F1D"/>
                </a:solidFill>
                <a:effectLst/>
                <a:uLnTx/>
                <a:uFillTx/>
                <a:latin typeface="Aptos"/>
                <a:ea typeface="+mn-ea"/>
                <a:cs typeface="+mn-cs"/>
              </a:rPr>
              <a:t>onduct monthly outlet checks</a:t>
            </a:r>
            <a:r>
              <a:rPr kumimoji="0" lang="en-US" sz="1000" b="0" i="0" u="none" strike="noStrike" kern="1200" cap="none" spc="0" normalizeH="0" baseline="0" noProof="0" dirty="0">
                <a:ln>
                  <a:noFill/>
                </a:ln>
                <a:solidFill>
                  <a:srgbClr val="191F1D"/>
                </a:solidFill>
                <a:effectLst/>
                <a:uLnTx/>
                <a:uFillTx/>
                <a:latin typeface="Aptos"/>
                <a:ea typeface="+mn-ea"/>
                <a:cs typeface="+mn-cs"/>
              </a:rPr>
              <a:t> on availability and price position</a:t>
            </a:r>
            <a:endParaRPr kumimoji="0" sz="1000" b="0" i="0" u="none" strike="noStrike" kern="1200" cap="none" spc="0" normalizeH="0" baseline="0" noProof="0" dirty="0">
              <a:ln>
                <a:noFill/>
              </a:ln>
              <a:solidFill>
                <a:srgbClr val="191F1D"/>
              </a:solidFill>
              <a:effectLst/>
              <a:uLnTx/>
              <a:uFillTx/>
              <a:latin typeface="Aptos"/>
              <a:ea typeface="+mn-ea"/>
              <a:cs typeface="+mn-cs"/>
            </a:endParaRPr>
          </a:p>
        </p:txBody>
      </p:sp>
      <p:sp>
        <p:nvSpPr>
          <p:cNvPr id="370" name="TextBox 369">
            <a:extLst>
              <a:ext uri="{FF2B5EF4-FFF2-40B4-BE49-F238E27FC236}">
                <a16:creationId xmlns:a16="http://schemas.microsoft.com/office/drawing/2014/main" id="{ECA44B3F-0867-65F1-D249-6214CB0A0146}"/>
              </a:ext>
            </a:extLst>
          </p:cNvPr>
          <p:cNvSpPr txBox="1"/>
          <p:nvPr/>
        </p:nvSpPr>
        <p:spPr>
          <a:xfrm>
            <a:off x="9601199" y="4390099"/>
            <a:ext cx="1490472" cy="173736"/>
          </a:xfrm>
          <a:prstGeom prst="rect">
            <a:avLst/>
          </a:prstGeom>
          <a:noFill/>
        </p:spPr>
        <p:txBody>
          <a:bodyPr wrap="square" lIns="22860" tIns="4572" rIns="22860" bIns="4572" anchor="ctr">
            <a:spAutoFit/>
          </a:bodyPr>
          <a:lstStyle>
            <a:defPPr>
              <a:defRPr lang="en-RW"/>
            </a:defPPr>
            <a:lvl1pPr marR="0" lvl="0" indent="0" algn="just" defTabSz="457200" fontAlgn="auto">
              <a:lnSpc>
                <a:spcPct val="100000"/>
              </a:lnSpc>
              <a:spcBef>
                <a:spcPts val="0"/>
              </a:spcBef>
              <a:spcAft>
                <a:spcPts val="0"/>
              </a:spcAft>
              <a:buClrTx/>
              <a:buSzTx/>
              <a:buFontTx/>
              <a:buNone/>
              <a:tabLst/>
              <a:defRPr kumimoji="0" sz="1000" b="1" i="0" u="sng" strike="noStrike" cap="none" spc="0" normalizeH="0" baseline="0">
                <a:ln>
                  <a:noFill/>
                </a:ln>
                <a:solidFill>
                  <a:prstClr val="black"/>
                </a:solidFill>
                <a:effectLst/>
                <a:uLnTx/>
                <a:uFillTx/>
                <a:latin typeface="Aptos" panose="020B0004020202020204" pitchFamily="34" charset="0"/>
              </a:defRPr>
            </a:lvl1p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VISIBILITY</a:t>
            </a:r>
          </a:p>
        </p:txBody>
      </p:sp>
      <p:pic>
        <p:nvPicPr>
          <p:cNvPr id="8" name="Picture 7">
            <a:extLst>
              <a:ext uri="{FF2B5EF4-FFF2-40B4-BE49-F238E27FC236}">
                <a16:creationId xmlns:a16="http://schemas.microsoft.com/office/drawing/2014/main" id="{049AC54C-E127-2C53-ED5E-63F307FACB3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726727" y="5106880"/>
            <a:ext cx="542780" cy="152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64583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C9664-AD02-DB29-0B3A-25B440212B0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A85C175-CF62-2445-019C-51C20352799E}"/>
              </a:ext>
            </a:extLst>
          </p:cNvPr>
          <p:cNvSpPr txBox="1">
            <a:spLocks/>
          </p:cNvSpPr>
          <p:nvPr/>
        </p:nvSpPr>
        <p:spPr>
          <a:xfrm>
            <a:off x="205882" y="56731"/>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EXECUTION PLAN – 2027</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1F372F"/>
                </a:solidFill>
                <a:effectLst/>
                <a:uLnTx/>
                <a:uFillTx/>
                <a:latin typeface="Aptos" panose="020B0004020202020204" pitchFamily="34" charset="0"/>
                <a:ea typeface="+mj-ea"/>
                <a:cs typeface="+mj-cs"/>
              </a:rPr>
              <a:t>GATANU</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How to win at the point of sale</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US" sz="18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CCA174AF-A280-9CF8-ABBD-4CE3A78061D3}"/>
              </a:ext>
            </a:extLst>
          </p:cNvPr>
          <p:cNvPicPr>
            <a:picLocks noChangeAspect="1"/>
          </p:cNvPicPr>
          <p:nvPr/>
        </p:nvPicPr>
        <p:blipFill>
          <a:blip r:embed="rId3"/>
          <a:stretch>
            <a:fillRect/>
          </a:stretch>
        </p:blipFill>
        <p:spPr>
          <a:xfrm>
            <a:off x="11356258" y="27559"/>
            <a:ext cx="687311" cy="644355"/>
          </a:xfrm>
          <a:prstGeom prst="rect">
            <a:avLst/>
          </a:prstGeom>
        </p:spPr>
      </p:pic>
      <p:sp>
        <p:nvSpPr>
          <p:cNvPr id="16" name="Rounded Rectangle 5">
            <a:extLst>
              <a:ext uri="{FF2B5EF4-FFF2-40B4-BE49-F238E27FC236}">
                <a16:creationId xmlns:a16="http://schemas.microsoft.com/office/drawing/2014/main" id="{40C6FC34-300D-2F9B-F3D5-D8A2B6813633}"/>
              </a:ext>
            </a:extLst>
          </p:cNvPr>
          <p:cNvSpPr/>
          <p:nvPr/>
        </p:nvSpPr>
        <p:spPr>
          <a:xfrm>
            <a:off x="251216" y="910533"/>
            <a:ext cx="2615184" cy="3346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 name="Rectangle 19">
            <a:extLst>
              <a:ext uri="{FF2B5EF4-FFF2-40B4-BE49-F238E27FC236}">
                <a16:creationId xmlns:a16="http://schemas.microsoft.com/office/drawing/2014/main" id="{47D4D115-7F46-90F6-98B6-742FF3938B4E}"/>
              </a:ext>
            </a:extLst>
          </p:cNvPr>
          <p:cNvSpPr/>
          <p:nvPr/>
        </p:nvSpPr>
        <p:spPr>
          <a:xfrm>
            <a:off x="268331" y="847146"/>
            <a:ext cx="2582719" cy="91440"/>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 name="TextBox 27">
            <a:extLst>
              <a:ext uri="{FF2B5EF4-FFF2-40B4-BE49-F238E27FC236}">
                <a16:creationId xmlns:a16="http://schemas.microsoft.com/office/drawing/2014/main" id="{E712B09E-3C86-790E-3AC0-66E73E09E6BF}"/>
              </a:ext>
            </a:extLst>
          </p:cNvPr>
          <p:cNvSpPr txBox="1"/>
          <p:nvPr/>
        </p:nvSpPr>
        <p:spPr>
          <a:xfrm>
            <a:off x="786140" y="1077888"/>
            <a:ext cx="2014522" cy="276999"/>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MAXIMIZE AVAILABILITY</a:t>
            </a:r>
          </a:p>
        </p:txBody>
      </p:sp>
      <p:sp>
        <p:nvSpPr>
          <p:cNvPr id="31" name="TextBox 30">
            <a:extLst>
              <a:ext uri="{FF2B5EF4-FFF2-40B4-BE49-F238E27FC236}">
                <a16:creationId xmlns:a16="http://schemas.microsoft.com/office/drawing/2014/main" id="{BFACE182-E687-1E4D-0FBA-8030BEC5743B}"/>
              </a:ext>
            </a:extLst>
          </p:cNvPr>
          <p:cNvSpPr txBox="1"/>
          <p:nvPr/>
        </p:nvSpPr>
        <p:spPr>
          <a:xfrm>
            <a:off x="406664" y="1446327"/>
            <a:ext cx="2368296" cy="307777"/>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Be present. Be in stock.</a:t>
            </a:r>
          </a:p>
        </p:txBody>
      </p:sp>
      <p:sp>
        <p:nvSpPr>
          <p:cNvPr id="33" name="TextBox 32">
            <a:extLst>
              <a:ext uri="{FF2B5EF4-FFF2-40B4-BE49-F238E27FC236}">
                <a16:creationId xmlns:a16="http://schemas.microsoft.com/office/drawing/2014/main" id="{215D13B7-FB2F-7523-1C45-2F9DAEFE33C0}"/>
              </a:ext>
            </a:extLst>
          </p:cNvPr>
          <p:cNvSpPr txBox="1"/>
          <p:nvPr/>
        </p:nvSpPr>
        <p:spPr>
          <a:xfrm>
            <a:off x="370088" y="1910408"/>
            <a:ext cx="2412286" cy="876522"/>
          </a:xfrm>
          <a:prstGeom prst="rect">
            <a:avLst/>
          </a:prstGeom>
          <a:noFill/>
        </p:spPr>
        <p:txBody>
          <a:bodyPr wrap="square" lIns="45720" r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Set outlet-level stock standards by category</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Drive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Gatanu</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availability of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Gatanu</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everywhere Primus is available, regardless of the outlet channel</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37" name="Rectangle 36">
            <a:extLst>
              <a:ext uri="{FF2B5EF4-FFF2-40B4-BE49-F238E27FC236}">
                <a16:creationId xmlns:a16="http://schemas.microsoft.com/office/drawing/2014/main" id="{378E4002-A1DC-8013-F20D-96065332CE8F}"/>
              </a:ext>
            </a:extLst>
          </p:cNvPr>
          <p:cNvSpPr/>
          <p:nvPr/>
        </p:nvSpPr>
        <p:spPr>
          <a:xfrm>
            <a:off x="392507" y="3334807"/>
            <a:ext cx="2334379" cy="16459"/>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 name="TextBox 40">
            <a:extLst>
              <a:ext uri="{FF2B5EF4-FFF2-40B4-BE49-F238E27FC236}">
                <a16:creationId xmlns:a16="http://schemas.microsoft.com/office/drawing/2014/main" id="{EF835BD7-2C04-C4F9-7847-5B3CCDB351D3}"/>
              </a:ext>
            </a:extLst>
          </p:cNvPr>
          <p:cNvSpPr txBox="1"/>
          <p:nvPr/>
        </p:nvSpPr>
        <p:spPr>
          <a:xfrm>
            <a:off x="388376" y="3464888"/>
            <a:ext cx="2578608"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SCALE-UP TARGETS</a:t>
            </a:r>
            <a:r>
              <a:rPr kumimoji="0" lang="en-US"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 BY POS CATEGORY</a:t>
            </a:r>
            <a:endPar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endParaRPr>
          </a:p>
        </p:txBody>
      </p:sp>
      <p:sp>
        <p:nvSpPr>
          <p:cNvPr id="45" name="TextBox 44">
            <a:extLst>
              <a:ext uri="{FF2B5EF4-FFF2-40B4-BE49-F238E27FC236}">
                <a16:creationId xmlns:a16="http://schemas.microsoft.com/office/drawing/2014/main" id="{A11C2D34-6198-20E6-C161-873F2C6BBB14}"/>
              </a:ext>
            </a:extLst>
          </p:cNvPr>
          <p:cNvSpPr txBox="1"/>
          <p:nvPr/>
        </p:nvSpPr>
        <p:spPr>
          <a:xfrm>
            <a:off x="388376" y="3702632"/>
            <a:ext cx="2412286" cy="384048"/>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3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CAT A: 3 crates  |  CAT B: 2 crates  |  CAT C: 1 crate</a:t>
            </a:r>
          </a:p>
        </p:txBody>
      </p:sp>
      <p:sp>
        <p:nvSpPr>
          <p:cNvPr id="48" name="Rounded Rectangle 14">
            <a:extLst>
              <a:ext uri="{FF2B5EF4-FFF2-40B4-BE49-F238E27FC236}">
                <a16:creationId xmlns:a16="http://schemas.microsoft.com/office/drawing/2014/main" id="{A44887DD-BBCE-E320-E1C7-9D0D37FBB512}"/>
              </a:ext>
            </a:extLst>
          </p:cNvPr>
          <p:cNvSpPr/>
          <p:nvPr/>
        </p:nvSpPr>
        <p:spPr>
          <a:xfrm>
            <a:off x="3247008" y="910533"/>
            <a:ext cx="2615184" cy="3346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0" name="Rectangle 49">
            <a:extLst>
              <a:ext uri="{FF2B5EF4-FFF2-40B4-BE49-F238E27FC236}">
                <a16:creationId xmlns:a16="http://schemas.microsoft.com/office/drawing/2014/main" id="{A50A00FF-97EA-B3EC-CC5A-DA0044A983DC}"/>
              </a:ext>
            </a:extLst>
          </p:cNvPr>
          <p:cNvSpPr/>
          <p:nvPr/>
        </p:nvSpPr>
        <p:spPr>
          <a:xfrm>
            <a:off x="3264123" y="847146"/>
            <a:ext cx="2582719" cy="91440"/>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7" name="TextBox 56">
            <a:extLst>
              <a:ext uri="{FF2B5EF4-FFF2-40B4-BE49-F238E27FC236}">
                <a16:creationId xmlns:a16="http://schemas.microsoft.com/office/drawing/2014/main" id="{A2E2D4AE-2D08-AC50-038C-2DE12F87F186}"/>
              </a:ext>
            </a:extLst>
          </p:cNvPr>
          <p:cNvSpPr txBox="1"/>
          <p:nvPr/>
        </p:nvSpPr>
        <p:spPr>
          <a:xfrm>
            <a:off x="3815268" y="1082426"/>
            <a:ext cx="1990726" cy="276999"/>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PROTECT</a:t>
            </a:r>
            <a:r>
              <a:rPr kumimoji="0" lang="en-US"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 </a:t>
            </a:r>
            <a:r>
              <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AFFORDABILITY</a:t>
            </a:r>
          </a:p>
        </p:txBody>
      </p:sp>
      <p:sp>
        <p:nvSpPr>
          <p:cNvPr id="61" name="TextBox 60">
            <a:extLst>
              <a:ext uri="{FF2B5EF4-FFF2-40B4-BE49-F238E27FC236}">
                <a16:creationId xmlns:a16="http://schemas.microsoft.com/office/drawing/2014/main" id="{33195E91-5C84-7D9B-3851-2536D51D59A5}"/>
              </a:ext>
            </a:extLst>
          </p:cNvPr>
          <p:cNvSpPr txBox="1"/>
          <p:nvPr/>
        </p:nvSpPr>
        <p:spPr>
          <a:xfrm>
            <a:off x="3384168" y="1446884"/>
            <a:ext cx="2421826" cy="307777"/>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Build price confidence.</a:t>
            </a:r>
          </a:p>
        </p:txBody>
      </p:sp>
      <p:sp>
        <p:nvSpPr>
          <p:cNvPr id="65" name="TextBox 64">
            <a:extLst>
              <a:ext uri="{FF2B5EF4-FFF2-40B4-BE49-F238E27FC236}">
                <a16:creationId xmlns:a16="http://schemas.microsoft.com/office/drawing/2014/main" id="{BC75F59C-21DF-34FC-175A-C4A7642E4AB8}"/>
              </a:ext>
            </a:extLst>
          </p:cNvPr>
          <p:cNvSpPr txBox="1"/>
          <p:nvPr/>
        </p:nvSpPr>
        <p:spPr>
          <a:xfrm>
            <a:off x="3365880" y="1910408"/>
            <a:ext cx="2421826" cy="707886"/>
          </a:xfrm>
          <a:prstGeom prst="rect">
            <a:avLst/>
          </a:prstGeom>
          <a:noFill/>
        </p:spPr>
        <p:txBody>
          <a:bodyPr wrap="square" lIns="45720" r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Display RRP tariffs in 328 basic POS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U</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se Magic Price Promotion selectively</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heck market prices and correct gaps monthly</a:t>
            </a:r>
          </a:p>
        </p:txBody>
      </p:sp>
      <p:sp>
        <p:nvSpPr>
          <p:cNvPr id="68" name="Rectangle 67">
            <a:extLst>
              <a:ext uri="{FF2B5EF4-FFF2-40B4-BE49-F238E27FC236}">
                <a16:creationId xmlns:a16="http://schemas.microsoft.com/office/drawing/2014/main" id="{880C22C7-8461-137D-5170-7E52C61BABC6}"/>
              </a:ext>
            </a:extLst>
          </p:cNvPr>
          <p:cNvSpPr/>
          <p:nvPr/>
        </p:nvSpPr>
        <p:spPr>
          <a:xfrm>
            <a:off x="3388299" y="3334807"/>
            <a:ext cx="2334379" cy="16459"/>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0" name="TextBox 69">
            <a:extLst>
              <a:ext uri="{FF2B5EF4-FFF2-40B4-BE49-F238E27FC236}">
                <a16:creationId xmlns:a16="http://schemas.microsoft.com/office/drawing/2014/main" id="{0FBC4C77-2D9C-F12A-A96F-24A01DA52028}"/>
              </a:ext>
            </a:extLst>
          </p:cNvPr>
          <p:cNvSpPr txBox="1"/>
          <p:nvPr/>
        </p:nvSpPr>
        <p:spPr>
          <a:xfrm>
            <a:off x="3384168" y="3464888"/>
            <a:ext cx="2578608"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3522D"/>
                </a:solidFill>
                <a:effectLst/>
                <a:uLnTx/>
                <a:uFillTx/>
                <a:latin typeface="Aptos" panose="020B0004020202020204" pitchFamily="34" charset="0"/>
                <a:ea typeface="+mn-ea"/>
                <a:cs typeface="+mn-cs"/>
              </a:rPr>
              <a:t>CONTROL &amp; DISCIPLINE</a:t>
            </a:r>
          </a:p>
        </p:txBody>
      </p:sp>
      <p:sp>
        <p:nvSpPr>
          <p:cNvPr id="73" name="TextBox 72">
            <a:extLst>
              <a:ext uri="{FF2B5EF4-FFF2-40B4-BE49-F238E27FC236}">
                <a16:creationId xmlns:a16="http://schemas.microsoft.com/office/drawing/2014/main" id="{F97EC0B0-76FC-8DF4-8E31-364FB70E9916}"/>
              </a:ext>
            </a:extLst>
          </p:cNvPr>
          <p:cNvSpPr txBox="1"/>
          <p:nvPr/>
        </p:nvSpPr>
        <p:spPr>
          <a:xfrm>
            <a:off x="3384168" y="3702632"/>
            <a:ext cx="2403538" cy="384048"/>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3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Track price compliance and promo execution; avoid unplanned discounting.</a:t>
            </a:r>
          </a:p>
        </p:txBody>
      </p:sp>
      <p:sp>
        <p:nvSpPr>
          <p:cNvPr id="75" name="Rounded Rectangle 23">
            <a:extLst>
              <a:ext uri="{FF2B5EF4-FFF2-40B4-BE49-F238E27FC236}">
                <a16:creationId xmlns:a16="http://schemas.microsoft.com/office/drawing/2014/main" id="{9A226DA2-6237-AB96-21B4-83929EBEEF52}"/>
              </a:ext>
            </a:extLst>
          </p:cNvPr>
          <p:cNvSpPr/>
          <p:nvPr/>
        </p:nvSpPr>
        <p:spPr>
          <a:xfrm>
            <a:off x="6291960" y="910533"/>
            <a:ext cx="2615184" cy="3346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7" name="Rectangle 76">
            <a:extLst>
              <a:ext uri="{FF2B5EF4-FFF2-40B4-BE49-F238E27FC236}">
                <a16:creationId xmlns:a16="http://schemas.microsoft.com/office/drawing/2014/main" id="{7E02DA6A-DD1F-D479-B210-7A4C0B182275}"/>
              </a:ext>
            </a:extLst>
          </p:cNvPr>
          <p:cNvSpPr/>
          <p:nvPr/>
        </p:nvSpPr>
        <p:spPr>
          <a:xfrm>
            <a:off x="6309075" y="847146"/>
            <a:ext cx="2582719" cy="91440"/>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1" name="TextBox 80">
            <a:extLst>
              <a:ext uri="{FF2B5EF4-FFF2-40B4-BE49-F238E27FC236}">
                <a16:creationId xmlns:a16="http://schemas.microsoft.com/office/drawing/2014/main" id="{2A2D6E38-5577-1754-76FD-77186EDB83DD}"/>
              </a:ext>
            </a:extLst>
          </p:cNvPr>
          <p:cNvSpPr txBox="1"/>
          <p:nvPr/>
        </p:nvSpPr>
        <p:spPr>
          <a:xfrm>
            <a:off x="6913752" y="1066842"/>
            <a:ext cx="1909670" cy="276999"/>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WIN VISIBILITY</a:t>
            </a:r>
          </a:p>
        </p:txBody>
      </p:sp>
      <p:sp>
        <p:nvSpPr>
          <p:cNvPr id="83" name="TextBox 82">
            <a:extLst>
              <a:ext uri="{FF2B5EF4-FFF2-40B4-BE49-F238E27FC236}">
                <a16:creationId xmlns:a16="http://schemas.microsoft.com/office/drawing/2014/main" id="{450206BB-50BB-3AA1-6244-143F2C73C6EC}"/>
              </a:ext>
            </a:extLst>
          </p:cNvPr>
          <p:cNvSpPr txBox="1"/>
          <p:nvPr/>
        </p:nvSpPr>
        <p:spPr>
          <a:xfrm>
            <a:off x="6429120" y="1446884"/>
            <a:ext cx="2338510" cy="307777"/>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Own the point of sale.</a:t>
            </a:r>
          </a:p>
        </p:txBody>
      </p:sp>
      <p:sp>
        <p:nvSpPr>
          <p:cNvPr id="85" name="TextBox 84">
            <a:extLst>
              <a:ext uri="{FF2B5EF4-FFF2-40B4-BE49-F238E27FC236}">
                <a16:creationId xmlns:a16="http://schemas.microsoft.com/office/drawing/2014/main" id="{2135F353-9897-196D-BCD1-81F1EB91CF6E}"/>
              </a:ext>
            </a:extLst>
          </p:cNvPr>
          <p:cNvSpPr txBox="1"/>
          <p:nvPr/>
        </p:nvSpPr>
        <p:spPr>
          <a:xfrm>
            <a:off x="6410832" y="1812670"/>
            <a:ext cx="2394302" cy="1477328"/>
          </a:xfrm>
          <a:prstGeom prst="rect">
            <a:avLst/>
          </a:prstGeom>
          <a:noFill/>
        </p:spPr>
        <p:txBody>
          <a:bodyPr wrap="square" lIns="45720" r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Refresh 60 pylons / billboards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eploy tables &amp; chairs in 42 basic POS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efresh branding on 47 distributor trucks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and brand 16 sales reps cars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Activate 800 UPC wholesalers with ABS communication the distribution depot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Deploy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Gatanu</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outdoor signs on 50 POS</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87" name="Rectangle 86">
            <a:extLst>
              <a:ext uri="{FF2B5EF4-FFF2-40B4-BE49-F238E27FC236}">
                <a16:creationId xmlns:a16="http://schemas.microsoft.com/office/drawing/2014/main" id="{C6CD8E4B-CE4A-AC9A-A80E-9D52BE594967}"/>
              </a:ext>
            </a:extLst>
          </p:cNvPr>
          <p:cNvSpPr/>
          <p:nvPr/>
        </p:nvSpPr>
        <p:spPr>
          <a:xfrm>
            <a:off x="6419289" y="3334807"/>
            <a:ext cx="2332800" cy="16459"/>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9" name="TextBox 88">
            <a:extLst>
              <a:ext uri="{FF2B5EF4-FFF2-40B4-BE49-F238E27FC236}">
                <a16:creationId xmlns:a16="http://schemas.microsoft.com/office/drawing/2014/main" id="{93DAD161-E2D5-94D4-C3C9-23FC0CE2CC21}"/>
              </a:ext>
            </a:extLst>
          </p:cNvPr>
          <p:cNvSpPr txBox="1"/>
          <p:nvPr/>
        </p:nvSpPr>
        <p:spPr>
          <a:xfrm>
            <a:off x="6431672" y="3432933"/>
            <a:ext cx="2334379"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EXECUTION STANDARD</a:t>
            </a:r>
          </a:p>
        </p:txBody>
      </p:sp>
      <p:sp>
        <p:nvSpPr>
          <p:cNvPr id="91" name="TextBox 90">
            <a:extLst>
              <a:ext uri="{FF2B5EF4-FFF2-40B4-BE49-F238E27FC236}">
                <a16:creationId xmlns:a16="http://schemas.microsoft.com/office/drawing/2014/main" id="{F43D28B5-C0F2-1E96-46ED-74357A6B88A5}"/>
              </a:ext>
            </a:extLst>
          </p:cNvPr>
          <p:cNvSpPr txBox="1"/>
          <p:nvPr/>
        </p:nvSpPr>
        <p:spPr>
          <a:xfrm>
            <a:off x="6429120" y="3673206"/>
            <a:ext cx="2376014" cy="384048"/>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3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Deploy • Maintain • Verify — with photo evidence and outlet-level tracking.</a:t>
            </a:r>
          </a:p>
        </p:txBody>
      </p:sp>
      <p:sp>
        <p:nvSpPr>
          <p:cNvPr id="94" name="Rounded Rectangle 32">
            <a:extLst>
              <a:ext uri="{FF2B5EF4-FFF2-40B4-BE49-F238E27FC236}">
                <a16:creationId xmlns:a16="http://schemas.microsoft.com/office/drawing/2014/main" id="{25944617-F535-5D65-9768-15BA13EB398A}"/>
              </a:ext>
            </a:extLst>
          </p:cNvPr>
          <p:cNvSpPr/>
          <p:nvPr/>
        </p:nvSpPr>
        <p:spPr>
          <a:xfrm>
            <a:off x="9317248" y="910533"/>
            <a:ext cx="2615184" cy="3346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8" name="Rectangle 97">
            <a:extLst>
              <a:ext uri="{FF2B5EF4-FFF2-40B4-BE49-F238E27FC236}">
                <a16:creationId xmlns:a16="http://schemas.microsoft.com/office/drawing/2014/main" id="{197C6A84-9859-B6D2-5E9F-0FF7F9BFB511}"/>
              </a:ext>
            </a:extLst>
          </p:cNvPr>
          <p:cNvSpPr/>
          <p:nvPr/>
        </p:nvSpPr>
        <p:spPr>
          <a:xfrm>
            <a:off x="9354027" y="847146"/>
            <a:ext cx="2582719" cy="91440"/>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9" name="TextBox 108">
            <a:extLst>
              <a:ext uri="{FF2B5EF4-FFF2-40B4-BE49-F238E27FC236}">
                <a16:creationId xmlns:a16="http://schemas.microsoft.com/office/drawing/2014/main" id="{08E012FA-9325-DB7A-5B37-4F5F42FACED6}"/>
              </a:ext>
            </a:extLst>
          </p:cNvPr>
          <p:cNvSpPr txBox="1"/>
          <p:nvPr/>
        </p:nvSpPr>
        <p:spPr>
          <a:xfrm>
            <a:off x="9902267" y="1066842"/>
            <a:ext cx="1994313" cy="276999"/>
          </a:xfrm>
          <a:prstGeom prst="rect">
            <a:avLst/>
          </a:prstGeom>
          <a:noFill/>
        </p:spPr>
        <p:txBody>
          <a:bodyPr wrap="square" lIns="45720" rIns="45720" anchor="ctr">
            <a:spAutoFit/>
          </a:bodyPr>
          <a:lstStyle>
            <a:defPPr>
              <a:defRPr lang="en-RW"/>
            </a:defPPr>
            <a:lvl1pPr>
              <a:defRPr sz="1200" b="1" i="0">
                <a:solidFill>
                  <a:srgbClr val="1B462F"/>
                </a:solidFill>
                <a:latin typeface="Aptos" panose="020B00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RW"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WIN VALUE AT SCALE</a:t>
            </a:r>
            <a:endPar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endParaRPr>
          </a:p>
        </p:txBody>
      </p:sp>
      <p:sp>
        <p:nvSpPr>
          <p:cNvPr id="113" name="TextBox 112">
            <a:extLst>
              <a:ext uri="{FF2B5EF4-FFF2-40B4-BE49-F238E27FC236}">
                <a16:creationId xmlns:a16="http://schemas.microsoft.com/office/drawing/2014/main" id="{59B4BC1F-6232-A14C-8BBE-F82DFC49C518}"/>
              </a:ext>
            </a:extLst>
          </p:cNvPr>
          <p:cNvSpPr txBox="1"/>
          <p:nvPr/>
        </p:nvSpPr>
        <p:spPr>
          <a:xfrm>
            <a:off x="9470335" y="1387188"/>
            <a:ext cx="2338510" cy="523220"/>
          </a:xfrm>
          <a:prstGeom prst="rect">
            <a:avLst/>
          </a:prstGeom>
          <a:noFill/>
        </p:spPr>
        <p:txBody>
          <a:bodyPr wrap="square" lIns="45720" rIns="45720" anchor="t">
            <a:spAutoFit/>
          </a:bodyPr>
          <a:lstStyle>
            <a:defPPr>
              <a:defRPr lang="en-RW"/>
            </a:defPPr>
            <a:lvl1pPr algn="ctr">
              <a:defRPr sz="1400" b="1" i="1">
                <a:solidFill>
                  <a:schemeClr val="accent6">
                    <a:lumMod val="50000"/>
                  </a:schemeClr>
                </a:solidFill>
                <a:latin typeface="Aptos" panose="020B00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RW"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Make </a:t>
            </a:r>
            <a:r>
              <a:rPr kumimoji="0" lang="en-RW" sz="1400" b="1" i="1" u="none" strike="noStrike" kern="1200" cap="none" spc="0" normalizeH="0" baseline="0" noProof="0" dirty="0" err="1">
                <a:ln>
                  <a:noFill/>
                </a:ln>
                <a:solidFill>
                  <a:srgbClr val="70AD47">
                    <a:lumMod val="50000"/>
                  </a:srgbClr>
                </a:solidFill>
                <a:effectLst/>
                <a:uLnTx/>
                <a:uFillTx/>
                <a:latin typeface="Aptos" panose="020B0004020202020204" pitchFamily="34" charset="0"/>
                <a:ea typeface="+mn-ea"/>
                <a:cs typeface="+mn-cs"/>
              </a:rPr>
              <a:t>Gatanu</a:t>
            </a:r>
            <a:r>
              <a:rPr kumimoji="0" lang="en-RW"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 the go-to value beer</a:t>
            </a:r>
            <a:endParaRPr kumimoji="0" lang="en-US"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endParaRPr>
          </a:p>
        </p:txBody>
      </p:sp>
      <p:sp>
        <p:nvSpPr>
          <p:cNvPr id="117" name="TextBox 116">
            <a:extLst>
              <a:ext uri="{FF2B5EF4-FFF2-40B4-BE49-F238E27FC236}">
                <a16:creationId xmlns:a16="http://schemas.microsoft.com/office/drawing/2014/main" id="{54268E00-3E68-8E7D-1DC9-BD04FDB9E486}"/>
              </a:ext>
            </a:extLst>
          </p:cNvPr>
          <p:cNvSpPr txBox="1"/>
          <p:nvPr/>
        </p:nvSpPr>
        <p:spPr>
          <a:xfrm>
            <a:off x="9455784" y="1910408"/>
            <a:ext cx="2440796" cy="1323439"/>
          </a:xfrm>
          <a:prstGeom prst="rect">
            <a:avLst/>
          </a:prstGeom>
          <a:noFill/>
        </p:spPr>
        <p:txBody>
          <a:bodyPr wrap="square" lIns="45720" r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a:ea typeface="+mn-ea"/>
                <a:cs typeface="+mn-cs"/>
              </a:rPr>
              <a:t>Drive B2B promo with the deployment of “magic boxes” in basic POS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Activate t</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rade fairs / expos in selected markets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Activate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u</a:t>
            </a:r>
            <a:r>
              <a:rPr kumimoji="0"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muganura</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and seasonal consumer moments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U</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se approved mechanics and clear ROI measures</a:t>
            </a:r>
          </a:p>
        </p:txBody>
      </p:sp>
      <p:sp>
        <p:nvSpPr>
          <p:cNvPr id="121" name="Rectangle 120">
            <a:extLst>
              <a:ext uri="{FF2B5EF4-FFF2-40B4-BE49-F238E27FC236}">
                <a16:creationId xmlns:a16="http://schemas.microsoft.com/office/drawing/2014/main" id="{9F3074CE-39BD-7D25-68CD-9E79E5174328}"/>
              </a:ext>
            </a:extLst>
          </p:cNvPr>
          <p:cNvSpPr/>
          <p:nvPr/>
        </p:nvSpPr>
        <p:spPr>
          <a:xfrm>
            <a:off x="9478203" y="3334807"/>
            <a:ext cx="2334379" cy="16459"/>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25" name="TextBox 124">
            <a:extLst>
              <a:ext uri="{FF2B5EF4-FFF2-40B4-BE49-F238E27FC236}">
                <a16:creationId xmlns:a16="http://schemas.microsoft.com/office/drawing/2014/main" id="{574DC59F-3866-9516-5251-153D90643C8E}"/>
              </a:ext>
            </a:extLst>
          </p:cNvPr>
          <p:cNvSpPr txBox="1"/>
          <p:nvPr/>
        </p:nvSpPr>
        <p:spPr>
          <a:xfrm>
            <a:off x="9470335" y="3435704"/>
            <a:ext cx="2440796"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PROVE THE IMPACT</a:t>
            </a:r>
          </a:p>
        </p:txBody>
      </p:sp>
      <p:sp>
        <p:nvSpPr>
          <p:cNvPr id="193" name="TextBox 192">
            <a:extLst>
              <a:ext uri="{FF2B5EF4-FFF2-40B4-BE49-F238E27FC236}">
                <a16:creationId xmlns:a16="http://schemas.microsoft.com/office/drawing/2014/main" id="{8100FEB1-CAE6-85D1-AF5D-F64E5EF958B4}"/>
              </a:ext>
            </a:extLst>
          </p:cNvPr>
          <p:cNvSpPr txBox="1"/>
          <p:nvPr/>
        </p:nvSpPr>
        <p:spPr>
          <a:xfrm>
            <a:off x="9474072" y="3673206"/>
            <a:ext cx="2422508" cy="384048"/>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3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Pre-approval, outlet execution, sales uplift and post-activity review.</a:t>
            </a:r>
          </a:p>
        </p:txBody>
      </p:sp>
      <p:sp>
        <p:nvSpPr>
          <p:cNvPr id="197" name="Rounded Rectangle 41">
            <a:extLst>
              <a:ext uri="{FF2B5EF4-FFF2-40B4-BE49-F238E27FC236}">
                <a16:creationId xmlns:a16="http://schemas.microsoft.com/office/drawing/2014/main" id="{018494DE-6CC5-46DF-0A70-6BC39DF49803}"/>
              </a:ext>
            </a:extLst>
          </p:cNvPr>
          <p:cNvSpPr/>
          <p:nvPr/>
        </p:nvSpPr>
        <p:spPr>
          <a:xfrm>
            <a:off x="320040" y="4315968"/>
            <a:ext cx="11591091" cy="658368"/>
          </a:xfrm>
          <a:prstGeom prst="roundRect">
            <a:avLst>
              <a:gd name="adj" fmla="val 8000"/>
            </a:avLst>
          </a:prstGeom>
          <a:solidFill>
            <a:srgbClr val="F6F7F1"/>
          </a:solidFill>
          <a:ln>
            <a:solidFill>
              <a:srgbClr val="F6F7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1" name="TextBox 200">
            <a:extLst>
              <a:ext uri="{FF2B5EF4-FFF2-40B4-BE49-F238E27FC236}">
                <a16:creationId xmlns:a16="http://schemas.microsoft.com/office/drawing/2014/main" id="{2EE393B8-1366-96DE-4D7F-78D0D300C7DC}"/>
              </a:ext>
            </a:extLst>
          </p:cNvPr>
          <p:cNvSpPr txBox="1"/>
          <p:nvPr/>
        </p:nvSpPr>
        <p:spPr>
          <a:xfrm>
            <a:off x="438912" y="4348851"/>
            <a:ext cx="1993392" cy="400110"/>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MONTHLY PERFORMANCE SCORECARD</a:t>
            </a:r>
          </a:p>
        </p:txBody>
      </p:sp>
      <p:sp>
        <p:nvSpPr>
          <p:cNvPr id="205" name="TextBox 204">
            <a:extLst>
              <a:ext uri="{FF2B5EF4-FFF2-40B4-BE49-F238E27FC236}">
                <a16:creationId xmlns:a16="http://schemas.microsoft.com/office/drawing/2014/main" id="{D66252EA-6B17-1F0F-492D-3D374B789A3A}"/>
              </a:ext>
            </a:extLst>
          </p:cNvPr>
          <p:cNvSpPr txBox="1"/>
          <p:nvPr/>
        </p:nvSpPr>
        <p:spPr>
          <a:xfrm>
            <a:off x="475488" y="4734847"/>
            <a:ext cx="1993392"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Track execution + business impact</a:t>
            </a:r>
          </a:p>
        </p:txBody>
      </p:sp>
      <p:sp>
        <p:nvSpPr>
          <p:cNvPr id="209" name="TextBox 208">
            <a:extLst>
              <a:ext uri="{FF2B5EF4-FFF2-40B4-BE49-F238E27FC236}">
                <a16:creationId xmlns:a16="http://schemas.microsoft.com/office/drawing/2014/main" id="{71917018-996A-B02C-55C0-874031B354E1}"/>
              </a:ext>
            </a:extLst>
          </p:cNvPr>
          <p:cNvSpPr txBox="1"/>
          <p:nvPr/>
        </p:nvSpPr>
        <p:spPr>
          <a:xfrm>
            <a:off x="2633472" y="4407408"/>
            <a:ext cx="2103120"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srgbClr val="202822"/>
                </a:solidFill>
                <a:effectLst/>
                <a:uLnTx/>
                <a:uFillTx/>
                <a:latin typeface="Aptos" panose="020B0004020202020204" pitchFamily="34" charset="0"/>
                <a:ea typeface="+mn-ea"/>
                <a:cs typeface="+mn-cs"/>
              </a:rPr>
              <a:t>AVAILABILITY</a:t>
            </a:r>
          </a:p>
        </p:txBody>
      </p:sp>
      <p:sp>
        <p:nvSpPr>
          <p:cNvPr id="213" name="TextBox 212">
            <a:extLst>
              <a:ext uri="{FF2B5EF4-FFF2-40B4-BE49-F238E27FC236}">
                <a16:creationId xmlns:a16="http://schemas.microsoft.com/office/drawing/2014/main" id="{DB6FF7AB-6AE3-BA0A-1229-30F2450CEE38}"/>
              </a:ext>
            </a:extLst>
          </p:cNvPr>
          <p:cNvSpPr txBox="1"/>
          <p:nvPr/>
        </p:nvSpPr>
        <p:spPr>
          <a:xfrm>
            <a:off x="2633472" y="4645152"/>
            <a:ext cx="2121408" cy="37228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19"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Stock </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compliance</a:t>
            </a:r>
            <a:r>
              <a:rPr kumimoji="0" sz="819"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 numeric / weighted distribution</a:t>
            </a:r>
          </a:p>
        </p:txBody>
      </p:sp>
      <p:sp>
        <p:nvSpPr>
          <p:cNvPr id="217" name="Rectangle 216">
            <a:extLst>
              <a:ext uri="{FF2B5EF4-FFF2-40B4-BE49-F238E27FC236}">
                <a16:creationId xmlns:a16="http://schemas.microsoft.com/office/drawing/2014/main" id="{F43E9E25-7AB6-91F9-22AB-644E0C52EA0D}"/>
              </a:ext>
            </a:extLst>
          </p:cNvPr>
          <p:cNvSpPr/>
          <p:nvPr/>
        </p:nvSpPr>
        <p:spPr>
          <a:xfrm>
            <a:off x="4855464" y="4416552"/>
            <a:ext cx="13716" cy="438912"/>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1" name="TextBox 220">
            <a:extLst>
              <a:ext uri="{FF2B5EF4-FFF2-40B4-BE49-F238E27FC236}">
                <a16:creationId xmlns:a16="http://schemas.microsoft.com/office/drawing/2014/main" id="{9F17D722-61A1-9B7A-475F-5F4C66B38D8A}"/>
              </a:ext>
            </a:extLst>
          </p:cNvPr>
          <p:cNvSpPr txBox="1"/>
          <p:nvPr/>
        </p:nvSpPr>
        <p:spPr>
          <a:xfrm>
            <a:off x="4965192" y="4407408"/>
            <a:ext cx="2103120"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srgbClr val="202822"/>
                </a:solidFill>
                <a:effectLst/>
                <a:uLnTx/>
                <a:uFillTx/>
                <a:latin typeface="Aptos" panose="020B0004020202020204" pitchFamily="34" charset="0"/>
                <a:ea typeface="+mn-ea"/>
                <a:cs typeface="+mn-cs"/>
              </a:rPr>
              <a:t>AFFORDABILITY</a:t>
            </a:r>
          </a:p>
        </p:txBody>
      </p:sp>
      <p:sp>
        <p:nvSpPr>
          <p:cNvPr id="225" name="TextBox 224">
            <a:extLst>
              <a:ext uri="{FF2B5EF4-FFF2-40B4-BE49-F238E27FC236}">
                <a16:creationId xmlns:a16="http://schemas.microsoft.com/office/drawing/2014/main" id="{C81DA109-3F3B-0870-6C07-63C83963320C}"/>
              </a:ext>
            </a:extLst>
          </p:cNvPr>
          <p:cNvSpPr txBox="1"/>
          <p:nvPr/>
        </p:nvSpPr>
        <p:spPr>
          <a:xfrm>
            <a:off x="4965192" y="4645152"/>
            <a:ext cx="2121408" cy="400110"/>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RRP visibility • price index vs. competition</a:t>
            </a:r>
          </a:p>
        </p:txBody>
      </p:sp>
      <p:sp>
        <p:nvSpPr>
          <p:cNvPr id="229" name="Rectangle 228">
            <a:extLst>
              <a:ext uri="{FF2B5EF4-FFF2-40B4-BE49-F238E27FC236}">
                <a16:creationId xmlns:a16="http://schemas.microsoft.com/office/drawing/2014/main" id="{C2669ED0-8B01-14E2-2A9C-6ABC3BE6D348}"/>
              </a:ext>
            </a:extLst>
          </p:cNvPr>
          <p:cNvSpPr/>
          <p:nvPr/>
        </p:nvSpPr>
        <p:spPr>
          <a:xfrm>
            <a:off x="7187183" y="4416552"/>
            <a:ext cx="13716" cy="438912"/>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3" name="TextBox 232">
            <a:extLst>
              <a:ext uri="{FF2B5EF4-FFF2-40B4-BE49-F238E27FC236}">
                <a16:creationId xmlns:a16="http://schemas.microsoft.com/office/drawing/2014/main" id="{76F0421E-E4EA-3A37-8B46-BB104E458661}"/>
              </a:ext>
            </a:extLst>
          </p:cNvPr>
          <p:cNvSpPr txBox="1"/>
          <p:nvPr/>
        </p:nvSpPr>
        <p:spPr>
          <a:xfrm>
            <a:off x="7296912" y="4407408"/>
            <a:ext cx="2103120"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srgbClr val="202822"/>
                </a:solidFill>
                <a:effectLst/>
                <a:uLnTx/>
                <a:uFillTx/>
                <a:latin typeface="Aptos" panose="020B0004020202020204" pitchFamily="34" charset="0"/>
                <a:ea typeface="+mn-ea"/>
                <a:cs typeface="+mn-cs"/>
              </a:rPr>
              <a:t>VISIBILITY</a:t>
            </a:r>
          </a:p>
        </p:txBody>
      </p:sp>
      <p:sp>
        <p:nvSpPr>
          <p:cNvPr id="237" name="TextBox 236">
            <a:extLst>
              <a:ext uri="{FF2B5EF4-FFF2-40B4-BE49-F238E27FC236}">
                <a16:creationId xmlns:a16="http://schemas.microsoft.com/office/drawing/2014/main" id="{AE605DD1-3535-3EFC-1FC0-7067BEFDCF12}"/>
              </a:ext>
            </a:extLst>
          </p:cNvPr>
          <p:cNvSpPr txBox="1"/>
          <p:nvPr/>
        </p:nvSpPr>
        <p:spPr>
          <a:xfrm>
            <a:off x="7296912" y="4645152"/>
            <a:ext cx="2121408" cy="400110"/>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Assets deployed • refreshed • compliant</a:t>
            </a:r>
          </a:p>
        </p:txBody>
      </p:sp>
      <p:sp>
        <p:nvSpPr>
          <p:cNvPr id="242" name="Rectangle 241">
            <a:extLst>
              <a:ext uri="{FF2B5EF4-FFF2-40B4-BE49-F238E27FC236}">
                <a16:creationId xmlns:a16="http://schemas.microsoft.com/office/drawing/2014/main" id="{F2704AE2-8B79-D1B4-1A51-FB4A9A91779D}"/>
              </a:ext>
            </a:extLst>
          </p:cNvPr>
          <p:cNvSpPr/>
          <p:nvPr/>
        </p:nvSpPr>
        <p:spPr>
          <a:xfrm>
            <a:off x="9518904" y="4416552"/>
            <a:ext cx="13716" cy="438912"/>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47" name="TextBox 246">
            <a:extLst>
              <a:ext uri="{FF2B5EF4-FFF2-40B4-BE49-F238E27FC236}">
                <a16:creationId xmlns:a16="http://schemas.microsoft.com/office/drawing/2014/main" id="{07179DD5-81CD-5A14-2635-F36705BA2BB2}"/>
              </a:ext>
            </a:extLst>
          </p:cNvPr>
          <p:cNvSpPr txBox="1"/>
          <p:nvPr/>
        </p:nvSpPr>
        <p:spPr>
          <a:xfrm>
            <a:off x="9628632" y="4407408"/>
            <a:ext cx="2103120"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srgbClr val="202822"/>
                </a:solidFill>
                <a:effectLst/>
                <a:uLnTx/>
                <a:uFillTx/>
                <a:latin typeface="Aptos" panose="020B0004020202020204" pitchFamily="34" charset="0"/>
                <a:ea typeface="+mn-ea"/>
                <a:cs typeface="+mn-cs"/>
              </a:rPr>
              <a:t>BUSINESS IMPACT</a:t>
            </a:r>
          </a:p>
        </p:txBody>
      </p:sp>
      <p:sp>
        <p:nvSpPr>
          <p:cNvPr id="253" name="TextBox 252">
            <a:extLst>
              <a:ext uri="{FF2B5EF4-FFF2-40B4-BE49-F238E27FC236}">
                <a16:creationId xmlns:a16="http://schemas.microsoft.com/office/drawing/2014/main" id="{8245DB9B-5795-CBAA-AF46-C5637365E931}"/>
              </a:ext>
            </a:extLst>
          </p:cNvPr>
          <p:cNvSpPr txBox="1"/>
          <p:nvPr/>
        </p:nvSpPr>
        <p:spPr>
          <a:xfrm>
            <a:off x="9628632" y="4645152"/>
            <a:ext cx="2121408" cy="400110"/>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Incremental volume • promo ROI • outlet growth</a:t>
            </a:r>
          </a:p>
        </p:txBody>
      </p:sp>
      <p:sp>
        <p:nvSpPr>
          <p:cNvPr id="257" name="Rectangle 256">
            <a:extLst>
              <a:ext uri="{FF2B5EF4-FFF2-40B4-BE49-F238E27FC236}">
                <a16:creationId xmlns:a16="http://schemas.microsoft.com/office/drawing/2014/main" id="{B2B33F92-CAFD-A74E-AB83-02B9C225C281}"/>
              </a:ext>
            </a:extLst>
          </p:cNvPr>
          <p:cNvSpPr/>
          <p:nvPr/>
        </p:nvSpPr>
        <p:spPr>
          <a:xfrm>
            <a:off x="320039" y="5080590"/>
            <a:ext cx="9276148" cy="221372"/>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3" name="TextBox 262">
            <a:extLst>
              <a:ext uri="{FF2B5EF4-FFF2-40B4-BE49-F238E27FC236}">
                <a16:creationId xmlns:a16="http://schemas.microsoft.com/office/drawing/2014/main" id="{B10B99E8-1732-CD81-77A0-7EED649EC757}"/>
              </a:ext>
            </a:extLst>
          </p:cNvPr>
          <p:cNvSpPr txBox="1"/>
          <p:nvPr/>
        </p:nvSpPr>
        <p:spPr>
          <a:xfrm>
            <a:off x="475488" y="5087594"/>
            <a:ext cx="4572000" cy="246221"/>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ptos" panose="020B0004020202020204" pitchFamily="34" charset="0"/>
                <a:ea typeface="+mn-ea"/>
                <a:cs typeface="+mn-cs"/>
              </a:rPr>
              <a:t>2027 EXECUTION CALENDAR</a:t>
            </a:r>
          </a:p>
        </p:txBody>
      </p:sp>
      <p:sp>
        <p:nvSpPr>
          <p:cNvPr id="269" name="TextBox 268">
            <a:extLst>
              <a:ext uri="{FF2B5EF4-FFF2-40B4-BE49-F238E27FC236}">
                <a16:creationId xmlns:a16="http://schemas.microsoft.com/office/drawing/2014/main" id="{EB71496F-91E3-01D5-20EC-B5AEC4E76485}"/>
              </a:ext>
            </a:extLst>
          </p:cNvPr>
          <p:cNvSpPr txBox="1"/>
          <p:nvPr/>
        </p:nvSpPr>
        <p:spPr>
          <a:xfrm>
            <a:off x="1570216"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Jan</a:t>
            </a:r>
          </a:p>
        </p:txBody>
      </p:sp>
      <p:sp>
        <p:nvSpPr>
          <p:cNvPr id="273" name="TextBox 272">
            <a:extLst>
              <a:ext uri="{FF2B5EF4-FFF2-40B4-BE49-F238E27FC236}">
                <a16:creationId xmlns:a16="http://schemas.microsoft.com/office/drawing/2014/main" id="{19AA2929-E626-9828-E2C1-A6D932BE3AFA}"/>
              </a:ext>
            </a:extLst>
          </p:cNvPr>
          <p:cNvSpPr txBox="1"/>
          <p:nvPr/>
        </p:nvSpPr>
        <p:spPr>
          <a:xfrm>
            <a:off x="2175296"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Feb</a:t>
            </a:r>
          </a:p>
        </p:txBody>
      </p:sp>
      <p:sp>
        <p:nvSpPr>
          <p:cNvPr id="275" name="TextBox 274">
            <a:extLst>
              <a:ext uri="{FF2B5EF4-FFF2-40B4-BE49-F238E27FC236}">
                <a16:creationId xmlns:a16="http://schemas.microsoft.com/office/drawing/2014/main" id="{013ADA68-F899-F1F5-EC76-C6F9AA592CA3}"/>
              </a:ext>
            </a:extLst>
          </p:cNvPr>
          <p:cNvSpPr txBox="1"/>
          <p:nvPr/>
        </p:nvSpPr>
        <p:spPr>
          <a:xfrm>
            <a:off x="2770536"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Mar</a:t>
            </a:r>
          </a:p>
        </p:txBody>
      </p:sp>
      <p:sp>
        <p:nvSpPr>
          <p:cNvPr id="280" name="TextBox 279">
            <a:extLst>
              <a:ext uri="{FF2B5EF4-FFF2-40B4-BE49-F238E27FC236}">
                <a16:creationId xmlns:a16="http://schemas.microsoft.com/office/drawing/2014/main" id="{4E987191-6591-F342-0A5F-DA14853250EC}"/>
              </a:ext>
            </a:extLst>
          </p:cNvPr>
          <p:cNvSpPr txBox="1"/>
          <p:nvPr/>
        </p:nvSpPr>
        <p:spPr>
          <a:xfrm>
            <a:off x="3306787"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Apr</a:t>
            </a:r>
          </a:p>
        </p:txBody>
      </p:sp>
      <p:sp>
        <p:nvSpPr>
          <p:cNvPr id="282" name="TextBox 281">
            <a:extLst>
              <a:ext uri="{FF2B5EF4-FFF2-40B4-BE49-F238E27FC236}">
                <a16:creationId xmlns:a16="http://schemas.microsoft.com/office/drawing/2014/main" id="{A55ACF36-506C-11D6-5A80-2BDA6FCB3F0A}"/>
              </a:ext>
            </a:extLst>
          </p:cNvPr>
          <p:cNvSpPr txBox="1"/>
          <p:nvPr/>
        </p:nvSpPr>
        <p:spPr>
          <a:xfrm>
            <a:off x="4020019"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May</a:t>
            </a:r>
          </a:p>
        </p:txBody>
      </p:sp>
      <p:sp>
        <p:nvSpPr>
          <p:cNvPr id="285" name="TextBox 284">
            <a:extLst>
              <a:ext uri="{FF2B5EF4-FFF2-40B4-BE49-F238E27FC236}">
                <a16:creationId xmlns:a16="http://schemas.microsoft.com/office/drawing/2014/main" id="{BA6648E2-3F35-2189-9890-9B9B9C87F9C1}"/>
              </a:ext>
            </a:extLst>
          </p:cNvPr>
          <p:cNvSpPr txBox="1"/>
          <p:nvPr/>
        </p:nvSpPr>
        <p:spPr>
          <a:xfrm>
            <a:off x="4733251"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Jun</a:t>
            </a:r>
          </a:p>
        </p:txBody>
      </p:sp>
      <p:sp>
        <p:nvSpPr>
          <p:cNvPr id="289" name="TextBox 288">
            <a:extLst>
              <a:ext uri="{FF2B5EF4-FFF2-40B4-BE49-F238E27FC236}">
                <a16:creationId xmlns:a16="http://schemas.microsoft.com/office/drawing/2014/main" id="{AF70DD9F-BB3D-A2C8-729D-B5E68CBD8769}"/>
              </a:ext>
            </a:extLst>
          </p:cNvPr>
          <p:cNvSpPr txBox="1"/>
          <p:nvPr/>
        </p:nvSpPr>
        <p:spPr>
          <a:xfrm>
            <a:off x="5446483"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Jul</a:t>
            </a:r>
          </a:p>
        </p:txBody>
      </p:sp>
      <p:sp>
        <p:nvSpPr>
          <p:cNvPr id="291" name="TextBox 290">
            <a:extLst>
              <a:ext uri="{FF2B5EF4-FFF2-40B4-BE49-F238E27FC236}">
                <a16:creationId xmlns:a16="http://schemas.microsoft.com/office/drawing/2014/main" id="{C3FAFEB6-1718-6CA5-23B7-74E76B72825A}"/>
              </a:ext>
            </a:extLst>
          </p:cNvPr>
          <p:cNvSpPr txBox="1"/>
          <p:nvPr/>
        </p:nvSpPr>
        <p:spPr>
          <a:xfrm>
            <a:off x="6159715"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Aug</a:t>
            </a:r>
          </a:p>
        </p:txBody>
      </p:sp>
      <p:sp>
        <p:nvSpPr>
          <p:cNvPr id="295" name="TextBox 294">
            <a:extLst>
              <a:ext uri="{FF2B5EF4-FFF2-40B4-BE49-F238E27FC236}">
                <a16:creationId xmlns:a16="http://schemas.microsoft.com/office/drawing/2014/main" id="{3D7BE697-42A6-569C-AEC9-FF5E2D51EF09}"/>
              </a:ext>
            </a:extLst>
          </p:cNvPr>
          <p:cNvSpPr txBox="1"/>
          <p:nvPr/>
        </p:nvSpPr>
        <p:spPr>
          <a:xfrm>
            <a:off x="6872947"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Sep</a:t>
            </a:r>
          </a:p>
        </p:txBody>
      </p:sp>
      <p:sp>
        <p:nvSpPr>
          <p:cNvPr id="297" name="TextBox 296">
            <a:extLst>
              <a:ext uri="{FF2B5EF4-FFF2-40B4-BE49-F238E27FC236}">
                <a16:creationId xmlns:a16="http://schemas.microsoft.com/office/drawing/2014/main" id="{AF2D9773-BB37-C80E-F4DF-9DFCF15F581B}"/>
              </a:ext>
            </a:extLst>
          </p:cNvPr>
          <p:cNvSpPr txBox="1"/>
          <p:nvPr/>
        </p:nvSpPr>
        <p:spPr>
          <a:xfrm>
            <a:off x="7586179"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Oct</a:t>
            </a:r>
          </a:p>
        </p:txBody>
      </p:sp>
      <p:sp>
        <p:nvSpPr>
          <p:cNvPr id="300" name="TextBox 299">
            <a:extLst>
              <a:ext uri="{FF2B5EF4-FFF2-40B4-BE49-F238E27FC236}">
                <a16:creationId xmlns:a16="http://schemas.microsoft.com/office/drawing/2014/main" id="{3E2AD47A-84D4-79CB-4AD9-5F2C78CAE471}"/>
              </a:ext>
            </a:extLst>
          </p:cNvPr>
          <p:cNvSpPr txBox="1"/>
          <p:nvPr/>
        </p:nvSpPr>
        <p:spPr>
          <a:xfrm>
            <a:off x="8299411"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Nov</a:t>
            </a:r>
          </a:p>
        </p:txBody>
      </p:sp>
      <p:sp>
        <p:nvSpPr>
          <p:cNvPr id="302" name="TextBox 301">
            <a:extLst>
              <a:ext uri="{FF2B5EF4-FFF2-40B4-BE49-F238E27FC236}">
                <a16:creationId xmlns:a16="http://schemas.microsoft.com/office/drawing/2014/main" id="{D9DE8B13-101F-FA88-DF92-D435DE8A9A23}"/>
              </a:ext>
            </a:extLst>
          </p:cNvPr>
          <p:cNvSpPr txBox="1"/>
          <p:nvPr/>
        </p:nvSpPr>
        <p:spPr>
          <a:xfrm>
            <a:off x="9712243" y="5474779"/>
            <a:ext cx="713232" cy="223138"/>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23522D"/>
                </a:solidFill>
                <a:effectLst/>
                <a:uLnTx/>
                <a:uFillTx/>
                <a:latin typeface="Aptos" panose="020B0004020202020204" pitchFamily="34" charset="0"/>
                <a:ea typeface="+mn-ea"/>
                <a:cs typeface="+mn-cs"/>
              </a:rPr>
              <a:t>Dec</a:t>
            </a:r>
          </a:p>
        </p:txBody>
      </p:sp>
      <p:sp>
        <p:nvSpPr>
          <p:cNvPr id="304" name="Rectangle 303">
            <a:extLst>
              <a:ext uri="{FF2B5EF4-FFF2-40B4-BE49-F238E27FC236}">
                <a16:creationId xmlns:a16="http://schemas.microsoft.com/office/drawing/2014/main" id="{B6461896-6434-C85E-5F36-97947DC65A23}"/>
              </a:ext>
            </a:extLst>
          </p:cNvPr>
          <p:cNvSpPr/>
          <p:nvPr/>
        </p:nvSpPr>
        <p:spPr>
          <a:xfrm>
            <a:off x="328075" y="5600699"/>
            <a:ext cx="9260244" cy="253225"/>
          </a:xfrm>
          <a:prstGeom prst="rect">
            <a:avLst/>
          </a:prstGeom>
          <a:solidFill>
            <a:srgbClr val="F6F7F1"/>
          </a:solidFill>
          <a:ln>
            <a:solidFill>
              <a:srgbClr val="F6F7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07" name="TextBox 306">
            <a:extLst>
              <a:ext uri="{FF2B5EF4-FFF2-40B4-BE49-F238E27FC236}">
                <a16:creationId xmlns:a16="http://schemas.microsoft.com/office/drawing/2014/main" id="{140460C7-F842-5807-7CFF-7295966CA6EE}"/>
              </a:ext>
            </a:extLst>
          </p:cNvPr>
          <p:cNvSpPr txBox="1"/>
          <p:nvPr/>
        </p:nvSpPr>
        <p:spPr>
          <a:xfrm>
            <a:off x="363207" y="5594287"/>
            <a:ext cx="1092609" cy="221957"/>
          </a:xfrm>
          <a:prstGeom prst="rect">
            <a:avLst/>
          </a:prstGeom>
          <a:noFill/>
        </p:spPr>
        <p:txBody>
          <a:bodyPr wrap="square" lIns="45720" rIns="45720" anchor="ctr">
            <a:spAutoFit/>
          </a:bodyPr>
          <a:lstStyle>
            <a:defPPr>
              <a:defRPr lang="en-RW"/>
            </a:defPPr>
            <a:lvl1pPr>
              <a:defRPr sz="850" b="1" i="0">
                <a:solidFill>
                  <a:srgbClr val="1B462F"/>
                </a:solidFill>
                <a:latin typeface="Aptos" panose="020B00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Wheel of Fortune</a:t>
            </a:r>
          </a:p>
        </p:txBody>
      </p:sp>
      <p:sp>
        <p:nvSpPr>
          <p:cNvPr id="309" name="Rectangle 308">
            <a:extLst>
              <a:ext uri="{FF2B5EF4-FFF2-40B4-BE49-F238E27FC236}">
                <a16:creationId xmlns:a16="http://schemas.microsoft.com/office/drawing/2014/main" id="{E214FE16-6F9B-428C-6F71-30EB899E4C0C}"/>
              </a:ext>
            </a:extLst>
          </p:cNvPr>
          <p:cNvSpPr/>
          <p:nvPr/>
        </p:nvSpPr>
        <p:spPr>
          <a:xfrm>
            <a:off x="1684614" y="5636779"/>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endParaRPr>
          </a:p>
        </p:txBody>
      </p:sp>
      <p:sp>
        <p:nvSpPr>
          <p:cNvPr id="311" name="Rectangle 310">
            <a:extLst>
              <a:ext uri="{FF2B5EF4-FFF2-40B4-BE49-F238E27FC236}">
                <a16:creationId xmlns:a16="http://schemas.microsoft.com/office/drawing/2014/main" id="{52B1196C-5735-B975-CD01-A77B59317C59}"/>
              </a:ext>
            </a:extLst>
          </p:cNvPr>
          <p:cNvSpPr/>
          <p:nvPr/>
        </p:nvSpPr>
        <p:spPr>
          <a:xfrm>
            <a:off x="2279859" y="5636779"/>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13" name="Rectangle 312">
            <a:extLst>
              <a:ext uri="{FF2B5EF4-FFF2-40B4-BE49-F238E27FC236}">
                <a16:creationId xmlns:a16="http://schemas.microsoft.com/office/drawing/2014/main" id="{2EA28AA4-9BC0-7907-2E69-487AAFBD9F1F}"/>
              </a:ext>
            </a:extLst>
          </p:cNvPr>
          <p:cNvSpPr/>
          <p:nvPr/>
        </p:nvSpPr>
        <p:spPr>
          <a:xfrm>
            <a:off x="2884934"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16" name="Rectangle 315">
            <a:extLst>
              <a:ext uri="{FF2B5EF4-FFF2-40B4-BE49-F238E27FC236}">
                <a16:creationId xmlns:a16="http://schemas.microsoft.com/office/drawing/2014/main" id="{7E5E4F61-47A6-6214-F261-5176B98D49FE}"/>
              </a:ext>
            </a:extLst>
          </p:cNvPr>
          <p:cNvSpPr/>
          <p:nvPr/>
        </p:nvSpPr>
        <p:spPr>
          <a:xfrm>
            <a:off x="3490013"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19" name="Rectangle 318">
            <a:extLst>
              <a:ext uri="{FF2B5EF4-FFF2-40B4-BE49-F238E27FC236}">
                <a16:creationId xmlns:a16="http://schemas.microsoft.com/office/drawing/2014/main" id="{089E541F-1BA3-45ED-F2D9-98A72B70EB59}"/>
              </a:ext>
            </a:extLst>
          </p:cNvPr>
          <p:cNvSpPr/>
          <p:nvPr/>
        </p:nvSpPr>
        <p:spPr>
          <a:xfrm>
            <a:off x="4095090"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1" name="Rectangle 320">
            <a:extLst>
              <a:ext uri="{FF2B5EF4-FFF2-40B4-BE49-F238E27FC236}">
                <a16:creationId xmlns:a16="http://schemas.microsoft.com/office/drawing/2014/main" id="{A5E038A4-150F-7143-2648-0A7D2FD03177}"/>
              </a:ext>
            </a:extLst>
          </p:cNvPr>
          <p:cNvSpPr/>
          <p:nvPr/>
        </p:nvSpPr>
        <p:spPr>
          <a:xfrm>
            <a:off x="4837821"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4" name="Rectangle 323">
            <a:extLst>
              <a:ext uri="{FF2B5EF4-FFF2-40B4-BE49-F238E27FC236}">
                <a16:creationId xmlns:a16="http://schemas.microsoft.com/office/drawing/2014/main" id="{A2139EBF-0E93-CD09-487B-DD7D88011E3A}"/>
              </a:ext>
            </a:extLst>
          </p:cNvPr>
          <p:cNvSpPr/>
          <p:nvPr/>
        </p:nvSpPr>
        <p:spPr>
          <a:xfrm>
            <a:off x="5511721"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6" name="Rectangle 325">
            <a:extLst>
              <a:ext uri="{FF2B5EF4-FFF2-40B4-BE49-F238E27FC236}">
                <a16:creationId xmlns:a16="http://schemas.microsoft.com/office/drawing/2014/main" id="{0CC419A7-6504-8492-32CE-ABAB93311625}"/>
              </a:ext>
            </a:extLst>
          </p:cNvPr>
          <p:cNvSpPr/>
          <p:nvPr/>
        </p:nvSpPr>
        <p:spPr>
          <a:xfrm>
            <a:off x="6274114" y="5636779"/>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8" name="Rectangle 327">
            <a:extLst>
              <a:ext uri="{FF2B5EF4-FFF2-40B4-BE49-F238E27FC236}">
                <a16:creationId xmlns:a16="http://schemas.microsoft.com/office/drawing/2014/main" id="{99718EAA-598B-2824-E4C0-FB8B4CAD5F97}"/>
              </a:ext>
            </a:extLst>
          </p:cNvPr>
          <p:cNvSpPr/>
          <p:nvPr/>
        </p:nvSpPr>
        <p:spPr>
          <a:xfrm>
            <a:off x="6938185" y="5636779"/>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1" name="Rectangle 330">
            <a:extLst>
              <a:ext uri="{FF2B5EF4-FFF2-40B4-BE49-F238E27FC236}">
                <a16:creationId xmlns:a16="http://schemas.microsoft.com/office/drawing/2014/main" id="{26B05DE7-0917-0BDA-7F1D-D87DF4DD5055}"/>
              </a:ext>
            </a:extLst>
          </p:cNvPr>
          <p:cNvSpPr/>
          <p:nvPr/>
        </p:nvSpPr>
        <p:spPr>
          <a:xfrm>
            <a:off x="7680912"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3" name="Rectangle 332">
            <a:extLst>
              <a:ext uri="{FF2B5EF4-FFF2-40B4-BE49-F238E27FC236}">
                <a16:creationId xmlns:a16="http://schemas.microsoft.com/office/drawing/2014/main" id="{BC127A7D-4B47-E84D-EA10-B2B645D14F73}"/>
              </a:ext>
            </a:extLst>
          </p:cNvPr>
          <p:cNvSpPr/>
          <p:nvPr/>
        </p:nvSpPr>
        <p:spPr>
          <a:xfrm>
            <a:off x="8443308"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6" name="Rectangle 335">
            <a:extLst>
              <a:ext uri="{FF2B5EF4-FFF2-40B4-BE49-F238E27FC236}">
                <a16:creationId xmlns:a16="http://schemas.microsoft.com/office/drawing/2014/main" id="{B41E43DA-259A-9A28-C695-679F9315C44A}"/>
              </a:ext>
            </a:extLst>
          </p:cNvPr>
          <p:cNvSpPr/>
          <p:nvPr/>
        </p:nvSpPr>
        <p:spPr>
          <a:xfrm>
            <a:off x="9826640" y="5698806"/>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9" name="TextBox 338">
            <a:extLst>
              <a:ext uri="{FF2B5EF4-FFF2-40B4-BE49-F238E27FC236}">
                <a16:creationId xmlns:a16="http://schemas.microsoft.com/office/drawing/2014/main" id="{597EFCD5-87AE-246F-D1E0-5EDDA5C741AE}"/>
              </a:ext>
            </a:extLst>
          </p:cNvPr>
          <p:cNvSpPr txBox="1"/>
          <p:nvPr/>
        </p:nvSpPr>
        <p:spPr>
          <a:xfrm>
            <a:off x="363207" y="5841175"/>
            <a:ext cx="1101803" cy="223138"/>
          </a:xfrm>
          <a:prstGeom prst="rect">
            <a:avLst/>
          </a:prstGeom>
          <a:noFill/>
        </p:spPr>
        <p:txBody>
          <a:bodyPr wrap="square" lIns="45720" rIns="45720" anchor="ctr">
            <a:spAutoFit/>
          </a:bodyPr>
          <a:lstStyle>
            <a:defPPr>
              <a:defRPr lang="en-RW"/>
            </a:defPPr>
            <a:lvl1pPr>
              <a:defRPr sz="850" b="1" i="0">
                <a:solidFill>
                  <a:srgbClr val="1B462F"/>
                </a:solidFill>
                <a:latin typeface="Aptos" panose="020B00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Trade fairs / expos</a:t>
            </a:r>
          </a:p>
        </p:txBody>
      </p:sp>
      <p:sp>
        <p:nvSpPr>
          <p:cNvPr id="341" name="Rectangle 340">
            <a:extLst>
              <a:ext uri="{FF2B5EF4-FFF2-40B4-BE49-F238E27FC236}">
                <a16:creationId xmlns:a16="http://schemas.microsoft.com/office/drawing/2014/main" id="{FE9278C5-D1C3-5050-8591-D305D50ADED0}"/>
              </a:ext>
            </a:extLst>
          </p:cNvPr>
          <p:cNvSpPr/>
          <p:nvPr/>
        </p:nvSpPr>
        <p:spPr>
          <a:xfrm>
            <a:off x="1684614"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44" name="Rectangle 343">
            <a:extLst>
              <a:ext uri="{FF2B5EF4-FFF2-40B4-BE49-F238E27FC236}">
                <a16:creationId xmlns:a16="http://schemas.microsoft.com/office/drawing/2014/main" id="{6D456B02-9681-DE5F-061D-DA8D2ACE3A67}"/>
              </a:ext>
            </a:extLst>
          </p:cNvPr>
          <p:cNvSpPr/>
          <p:nvPr/>
        </p:nvSpPr>
        <p:spPr>
          <a:xfrm>
            <a:off x="2279859"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47" name="Rectangle 346">
            <a:extLst>
              <a:ext uri="{FF2B5EF4-FFF2-40B4-BE49-F238E27FC236}">
                <a16:creationId xmlns:a16="http://schemas.microsoft.com/office/drawing/2014/main" id="{57EB145C-0F4E-8EA8-1924-C2E7B3D69E6C}"/>
              </a:ext>
            </a:extLst>
          </p:cNvPr>
          <p:cNvSpPr/>
          <p:nvPr/>
        </p:nvSpPr>
        <p:spPr>
          <a:xfrm>
            <a:off x="2884934" y="5883668"/>
            <a:ext cx="484436" cy="146304"/>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49" name="Rectangle 348">
            <a:extLst>
              <a:ext uri="{FF2B5EF4-FFF2-40B4-BE49-F238E27FC236}">
                <a16:creationId xmlns:a16="http://schemas.microsoft.com/office/drawing/2014/main" id="{BEBE76E7-CD98-8CB5-58F5-FE02999CF6CD}"/>
              </a:ext>
            </a:extLst>
          </p:cNvPr>
          <p:cNvSpPr/>
          <p:nvPr/>
        </p:nvSpPr>
        <p:spPr>
          <a:xfrm>
            <a:off x="3490013"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52" name="Rectangle 351">
            <a:extLst>
              <a:ext uri="{FF2B5EF4-FFF2-40B4-BE49-F238E27FC236}">
                <a16:creationId xmlns:a16="http://schemas.microsoft.com/office/drawing/2014/main" id="{1EE1558F-2151-BD01-E01C-1A4023108FB4}"/>
              </a:ext>
            </a:extLst>
          </p:cNvPr>
          <p:cNvSpPr/>
          <p:nvPr/>
        </p:nvSpPr>
        <p:spPr>
          <a:xfrm>
            <a:off x="4095090"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55" name="Rectangle 354">
            <a:extLst>
              <a:ext uri="{FF2B5EF4-FFF2-40B4-BE49-F238E27FC236}">
                <a16:creationId xmlns:a16="http://schemas.microsoft.com/office/drawing/2014/main" id="{8746A66E-6471-F811-B3AC-FF8664CF1364}"/>
              </a:ext>
            </a:extLst>
          </p:cNvPr>
          <p:cNvSpPr/>
          <p:nvPr/>
        </p:nvSpPr>
        <p:spPr>
          <a:xfrm>
            <a:off x="4837821" y="5883668"/>
            <a:ext cx="484436" cy="146304"/>
          </a:xfrm>
          <a:prstGeom prst="rect">
            <a:avLst/>
          </a:prstGeom>
          <a:solidFill>
            <a:schemeClr val="accent6">
              <a:lumMod val="50000"/>
            </a:schemeClr>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57" name="Rectangle 356">
            <a:extLst>
              <a:ext uri="{FF2B5EF4-FFF2-40B4-BE49-F238E27FC236}">
                <a16:creationId xmlns:a16="http://schemas.microsoft.com/office/drawing/2014/main" id="{35483749-0C77-B7CD-3C88-2FD9040F870C}"/>
              </a:ext>
            </a:extLst>
          </p:cNvPr>
          <p:cNvSpPr/>
          <p:nvPr/>
        </p:nvSpPr>
        <p:spPr>
          <a:xfrm>
            <a:off x="5511721" y="5883668"/>
            <a:ext cx="484436" cy="146304"/>
          </a:xfrm>
          <a:prstGeom prst="rect">
            <a:avLst/>
          </a:prstGeom>
          <a:solidFill>
            <a:schemeClr val="accent6">
              <a:lumMod val="50000"/>
            </a:schemeClr>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60" name="Rectangle 359">
            <a:extLst>
              <a:ext uri="{FF2B5EF4-FFF2-40B4-BE49-F238E27FC236}">
                <a16:creationId xmlns:a16="http://schemas.microsoft.com/office/drawing/2014/main" id="{CAFD368B-05C8-708B-EF69-E96376EDBEFE}"/>
              </a:ext>
            </a:extLst>
          </p:cNvPr>
          <p:cNvSpPr/>
          <p:nvPr/>
        </p:nvSpPr>
        <p:spPr>
          <a:xfrm>
            <a:off x="6274114" y="5883668"/>
            <a:ext cx="484436" cy="146304"/>
          </a:xfrm>
          <a:prstGeom prst="rect">
            <a:avLst/>
          </a:prstGeom>
          <a:solidFill>
            <a:schemeClr val="accent6">
              <a:lumMod val="50000"/>
            </a:schemeClr>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63" name="Rectangle 362">
            <a:extLst>
              <a:ext uri="{FF2B5EF4-FFF2-40B4-BE49-F238E27FC236}">
                <a16:creationId xmlns:a16="http://schemas.microsoft.com/office/drawing/2014/main" id="{6873A07B-293A-50B5-E9E0-E2E40E7A9600}"/>
              </a:ext>
            </a:extLst>
          </p:cNvPr>
          <p:cNvSpPr/>
          <p:nvPr/>
        </p:nvSpPr>
        <p:spPr>
          <a:xfrm>
            <a:off x="6938185"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65" name="Rectangle 364">
            <a:extLst>
              <a:ext uri="{FF2B5EF4-FFF2-40B4-BE49-F238E27FC236}">
                <a16:creationId xmlns:a16="http://schemas.microsoft.com/office/drawing/2014/main" id="{D3A93CF0-9828-DF48-5B2F-B0E8BFE4388B}"/>
              </a:ext>
            </a:extLst>
          </p:cNvPr>
          <p:cNvSpPr/>
          <p:nvPr/>
        </p:nvSpPr>
        <p:spPr>
          <a:xfrm>
            <a:off x="7680912"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68" name="Rectangle 367">
            <a:extLst>
              <a:ext uri="{FF2B5EF4-FFF2-40B4-BE49-F238E27FC236}">
                <a16:creationId xmlns:a16="http://schemas.microsoft.com/office/drawing/2014/main" id="{71D02490-ECD1-C8EE-4241-AA9B67044BB7}"/>
              </a:ext>
            </a:extLst>
          </p:cNvPr>
          <p:cNvSpPr/>
          <p:nvPr/>
        </p:nvSpPr>
        <p:spPr>
          <a:xfrm>
            <a:off x="8443308"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71" name="Rectangle 370">
            <a:extLst>
              <a:ext uri="{FF2B5EF4-FFF2-40B4-BE49-F238E27FC236}">
                <a16:creationId xmlns:a16="http://schemas.microsoft.com/office/drawing/2014/main" id="{154AAF4A-355B-4CB5-08D1-6532F84027BC}"/>
              </a:ext>
            </a:extLst>
          </p:cNvPr>
          <p:cNvSpPr/>
          <p:nvPr/>
        </p:nvSpPr>
        <p:spPr>
          <a:xfrm>
            <a:off x="9826640" y="594569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73" name="Rectangle 372">
            <a:extLst>
              <a:ext uri="{FF2B5EF4-FFF2-40B4-BE49-F238E27FC236}">
                <a16:creationId xmlns:a16="http://schemas.microsoft.com/office/drawing/2014/main" id="{D2237E12-34A7-699E-3DFD-6A96764F564F}"/>
              </a:ext>
            </a:extLst>
          </p:cNvPr>
          <p:cNvSpPr/>
          <p:nvPr/>
        </p:nvSpPr>
        <p:spPr>
          <a:xfrm>
            <a:off x="320848" y="6094476"/>
            <a:ext cx="9251916" cy="228600"/>
          </a:xfrm>
          <a:prstGeom prst="rect">
            <a:avLst/>
          </a:prstGeom>
          <a:solidFill>
            <a:srgbClr val="F6F7F1"/>
          </a:solidFill>
          <a:ln>
            <a:solidFill>
              <a:srgbClr val="F6F7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75" name="TextBox 374">
            <a:extLst>
              <a:ext uri="{FF2B5EF4-FFF2-40B4-BE49-F238E27FC236}">
                <a16:creationId xmlns:a16="http://schemas.microsoft.com/office/drawing/2014/main" id="{BA7161B5-3DD9-DDCB-A3AB-4F2A35BF4336}"/>
              </a:ext>
            </a:extLst>
          </p:cNvPr>
          <p:cNvSpPr txBox="1"/>
          <p:nvPr/>
        </p:nvSpPr>
        <p:spPr>
          <a:xfrm>
            <a:off x="363207" y="6088063"/>
            <a:ext cx="1207009" cy="223138"/>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Magic Price Promotion</a:t>
            </a:r>
          </a:p>
        </p:txBody>
      </p:sp>
      <p:sp>
        <p:nvSpPr>
          <p:cNvPr id="377" name="Rectangle 376">
            <a:extLst>
              <a:ext uri="{FF2B5EF4-FFF2-40B4-BE49-F238E27FC236}">
                <a16:creationId xmlns:a16="http://schemas.microsoft.com/office/drawing/2014/main" id="{824235AD-C7C1-4C87-E075-6EDB969D799C}"/>
              </a:ext>
            </a:extLst>
          </p:cNvPr>
          <p:cNvSpPr/>
          <p:nvPr/>
        </p:nvSpPr>
        <p:spPr>
          <a:xfrm>
            <a:off x="1684614"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79" name="Rectangle 378">
            <a:extLst>
              <a:ext uri="{FF2B5EF4-FFF2-40B4-BE49-F238E27FC236}">
                <a16:creationId xmlns:a16="http://schemas.microsoft.com/office/drawing/2014/main" id="{AA01AA8E-2C86-563F-F3DF-CFBA7DD04C2A}"/>
              </a:ext>
            </a:extLst>
          </p:cNvPr>
          <p:cNvSpPr/>
          <p:nvPr/>
        </p:nvSpPr>
        <p:spPr>
          <a:xfrm>
            <a:off x="2279859" y="6130555"/>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1" name="Rectangle 380">
            <a:extLst>
              <a:ext uri="{FF2B5EF4-FFF2-40B4-BE49-F238E27FC236}">
                <a16:creationId xmlns:a16="http://schemas.microsoft.com/office/drawing/2014/main" id="{E8808AEE-9DAF-E8C5-4429-613BABD61EE5}"/>
              </a:ext>
            </a:extLst>
          </p:cNvPr>
          <p:cNvSpPr/>
          <p:nvPr/>
        </p:nvSpPr>
        <p:spPr>
          <a:xfrm>
            <a:off x="2884934"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3" name="Rectangle 382">
            <a:extLst>
              <a:ext uri="{FF2B5EF4-FFF2-40B4-BE49-F238E27FC236}">
                <a16:creationId xmlns:a16="http://schemas.microsoft.com/office/drawing/2014/main" id="{4395C92C-B915-CEF3-562C-E41CAB96CE4F}"/>
              </a:ext>
            </a:extLst>
          </p:cNvPr>
          <p:cNvSpPr/>
          <p:nvPr/>
        </p:nvSpPr>
        <p:spPr>
          <a:xfrm>
            <a:off x="3490013"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5" name="Rectangle 384">
            <a:extLst>
              <a:ext uri="{FF2B5EF4-FFF2-40B4-BE49-F238E27FC236}">
                <a16:creationId xmlns:a16="http://schemas.microsoft.com/office/drawing/2014/main" id="{F3CDD994-5455-F55B-64E7-BF682312A74E}"/>
              </a:ext>
            </a:extLst>
          </p:cNvPr>
          <p:cNvSpPr/>
          <p:nvPr/>
        </p:nvSpPr>
        <p:spPr>
          <a:xfrm>
            <a:off x="4095090" y="6130555"/>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7" name="Rectangle 386">
            <a:extLst>
              <a:ext uri="{FF2B5EF4-FFF2-40B4-BE49-F238E27FC236}">
                <a16:creationId xmlns:a16="http://schemas.microsoft.com/office/drawing/2014/main" id="{9B51A021-AF42-D203-A2C8-F2C353E5E014}"/>
              </a:ext>
            </a:extLst>
          </p:cNvPr>
          <p:cNvSpPr/>
          <p:nvPr/>
        </p:nvSpPr>
        <p:spPr>
          <a:xfrm>
            <a:off x="4837821"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9" name="Rectangle 388">
            <a:extLst>
              <a:ext uri="{FF2B5EF4-FFF2-40B4-BE49-F238E27FC236}">
                <a16:creationId xmlns:a16="http://schemas.microsoft.com/office/drawing/2014/main" id="{86584E30-3045-DAF9-FC54-6F7256463A4B}"/>
              </a:ext>
            </a:extLst>
          </p:cNvPr>
          <p:cNvSpPr/>
          <p:nvPr/>
        </p:nvSpPr>
        <p:spPr>
          <a:xfrm>
            <a:off x="5511721" y="6130555"/>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1" name="Rectangle 390">
            <a:extLst>
              <a:ext uri="{FF2B5EF4-FFF2-40B4-BE49-F238E27FC236}">
                <a16:creationId xmlns:a16="http://schemas.microsoft.com/office/drawing/2014/main" id="{30D2C9DF-C60D-800F-D362-769EB435EF3F}"/>
              </a:ext>
            </a:extLst>
          </p:cNvPr>
          <p:cNvSpPr/>
          <p:nvPr/>
        </p:nvSpPr>
        <p:spPr>
          <a:xfrm>
            <a:off x="6274114"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3" name="Rectangle 392">
            <a:extLst>
              <a:ext uri="{FF2B5EF4-FFF2-40B4-BE49-F238E27FC236}">
                <a16:creationId xmlns:a16="http://schemas.microsoft.com/office/drawing/2014/main" id="{9F5911B0-AEE7-BFB9-6F7E-4308D2EFE76F}"/>
              </a:ext>
            </a:extLst>
          </p:cNvPr>
          <p:cNvSpPr/>
          <p:nvPr/>
        </p:nvSpPr>
        <p:spPr>
          <a:xfrm>
            <a:off x="6938185"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5" name="Rectangle 394">
            <a:extLst>
              <a:ext uri="{FF2B5EF4-FFF2-40B4-BE49-F238E27FC236}">
                <a16:creationId xmlns:a16="http://schemas.microsoft.com/office/drawing/2014/main" id="{BFAE778D-5F56-4F6E-D4BE-4CE9C95AC40C}"/>
              </a:ext>
            </a:extLst>
          </p:cNvPr>
          <p:cNvSpPr/>
          <p:nvPr/>
        </p:nvSpPr>
        <p:spPr>
          <a:xfrm>
            <a:off x="7680912"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7" name="Rectangle 396">
            <a:extLst>
              <a:ext uri="{FF2B5EF4-FFF2-40B4-BE49-F238E27FC236}">
                <a16:creationId xmlns:a16="http://schemas.microsoft.com/office/drawing/2014/main" id="{23A80BDD-90DA-7479-6CD5-BBF8B5E4547D}"/>
              </a:ext>
            </a:extLst>
          </p:cNvPr>
          <p:cNvSpPr/>
          <p:nvPr/>
        </p:nvSpPr>
        <p:spPr>
          <a:xfrm>
            <a:off x="8443308" y="6130555"/>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9" name="Rectangle 398">
            <a:extLst>
              <a:ext uri="{FF2B5EF4-FFF2-40B4-BE49-F238E27FC236}">
                <a16:creationId xmlns:a16="http://schemas.microsoft.com/office/drawing/2014/main" id="{3630A36A-1017-1C60-0E85-AB426B9BFB45}"/>
              </a:ext>
            </a:extLst>
          </p:cNvPr>
          <p:cNvSpPr/>
          <p:nvPr/>
        </p:nvSpPr>
        <p:spPr>
          <a:xfrm>
            <a:off x="9826640" y="6192582"/>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1" name="TextBox 400">
            <a:extLst>
              <a:ext uri="{FF2B5EF4-FFF2-40B4-BE49-F238E27FC236}">
                <a16:creationId xmlns:a16="http://schemas.microsoft.com/office/drawing/2014/main" id="{5085FA64-C1E6-45DD-4624-AF3F041037AD}"/>
              </a:ext>
            </a:extLst>
          </p:cNvPr>
          <p:cNvSpPr txBox="1"/>
          <p:nvPr/>
        </p:nvSpPr>
        <p:spPr>
          <a:xfrm>
            <a:off x="363207" y="6334950"/>
            <a:ext cx="1207009" cy="223138"/>
          </a:xfrm>
          <a:prstGeom prst="rect">
            <a:avLst/>
          </a:prstGeom>
          <a:noFill/>
        </p:spPr>
        <p:txBody>
          <a:bodyPr wrap="square" lIns="45720" rIns="45720" anchor="ctr">
            <a:spAutoFit/>
          </a:bodyPr>
          <a:lstStyle>
            <a:defPPr>
              <a:defRPr lang="en-RW"/>
            </a:defPPr>
            <a:lvl1pPr>
              <a:defRPr sz="850" b="1" i="0">
                <a:solidFill>
                  <a:srgbClr val="1B462F"/>
                </a:solidFill>
                <a:latin typeface="Aptos" panose="020B00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err="1">
                <a:ln>
                  <a:noFill/>
                </a:ln>
                <a:solidFill>
                  <a:srgbClr val="1B462F"/>
                </a:solidFill>
                <a:effectLst/>
                <a:uLnTx/>
                <a:uFillTx/>
                <a:latin typeface="Aptos" panose="020B0004020202020204" pitchFamily="34" charset="0"/>
                <a:ea typeface="+mn-ea"/>
                <a:cs typeface="+mn-cs"/>
              </a:rPr>
              <a:t>Umuganura</a:t>
            </a:r>
            <a:endParaRPr kumimoji="0" sz="850" b="1" i="0" u="none" strike="noStrike" kern="1200" cap="none" spc="0" normalizeH="0" baseline="0" noProof="0" dirty="0">
              <a:ln>
                <a:noFill/>
              </a:ln>
              <a:solidFill>
                <a:srgbClr val="1B462F"/>
              </a:solidFill>
              <a:effectLst/>
              <a:uLnTx/>
              <a:uFillTx/>
              <a:latin typeface="Aptos" panose="020B0004020202020204" pitchFamily="34" charset="0"/>
              <a:ea typeface="+mn-ea"/>
              <a:cs typeface="+mn-cs"/>
            </a:endParaRPr>
          </a:p>
        </p:txBody>
      </p:sp>
      <p:sp>
        <p:nvSpPr>
          <p:cNvPr id="403" name="Rectangle 402">
            <a:extLst>
              <a:ext uri="{FF2B5EF4-FFF2-40B4-BE49-F238E27FC236}">
                <a16:creationId xmlns:a16="http://schemas.microsoft.com/office/drawing/2014/main" id="{1AD767CC-BAB3-230B-3CBB-1C06804B1A83}"/>
              </a:ext>
            </a:extLst>
          </p:cNvPr>
          <p:cNvSpPr/>
          <p:nvPr/>
        </p:nvSpPr>
        <p:spPr>
          <a:xfrm>
            <a:off x="1684614"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5" name="Rectangle 404">
            <a:extLst>
              <a:ext uri="{FF2B5EF4-FFF2-40B4-BE49-F238E27FC236}">
                <a16:creationId xmlns:a16="http://schemas.microsoft.com/office/drawing/2014/main" id="{4B29C326-0B66-F219-CF0E-66A1CE8F5514}"/>
              </a:ext>
            </a:extLst>
          </p:cNvPr>
          <p:cNvSpPr/>
          <p:nvPr/>
        </p:nvSpPr>
        <p:spPr>
          <a:xfrm>
            <a:off x="2279859"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7" name="Rectangle 406">
            <a:extLst>
              <a:ext uri="{FF2B5EF4-FFF2-40B4-BE49-F238E27FC236}">
                <a16:creationId xmlns:a16="http://schemas.microsoft.com/office/drawing/2014/main" id="{10FDAB4B-C938-7B8B-0117-B0356EDD5CB8}"/>
              </a:ext>
            </a:extLst>
          </p:cNvPr>
          <p:cNvSpPr/>
          <p:nvPr/>
        </p:nvSpPr>
        <p:spPr>
          <a:xfrm>
            <a:off x="2884934"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9" name="Rectangle 408">
            <a:extLst>
              <a:ext uri="{FF2B5EF4-FFF2-40B4-BE49-F238E27FC236}">
                <a16:creationId xmlns:a16="http://schemas.microsoft.com/office/drawing/2014/main" id="{FEC6263A-9A26-D13B-30EC-D285CE68E193}"/>
              </a:ext>
            </a:extLst>
          </p:cNvPr>
          <p:cNvSpPr/>
          <p:nvPr/>
        </p:nvSpPr>
        <p:spPr>
          <a:xfrm>
            <a:off x="3490013"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1" name="Rectangle 410">
            <a:extLst>
              <a:ext uri="{FF2B5EF4-FFF2-40B4-BE49-F238E27FC236}">
                <a16:creationId xmlns:a16="http://schemas.microsoft.com/office/drawing/2014/main" id="{507AE101-F7BB-1CAA-0C28-8B8C6FC88F38}"/>
              </a:ext>
            </a:extLst>
          </p:cNvPr>
          <p:cNvSpPr/>
          <p:nvPr/>
        </p:nvSpPr>
        <p:spPr>
          <a:xfrm>
            <a:off x="4095090"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3" name="Rectangle 412">
            <a:extLst>
              <a:ext uri="{FF2B5EF4-FFF2-40B4-BE49-F238E27FC236}">
                <a16:creationId xmlns:a16="http://schemas.microsoft.com/office/drawing/2014/main" id="{EC98FCCA-86B0-CC76-4E34-8DAEE10BCE55}"/>
              </a:ext>
            </a:extLst>
          </p:cNvPr>
          <p:cNvSpPr/>
          <p:nvPr/>
        </p:nvSpPr>
        <p:spPr>
          <a:xfrm>
            <a:off x="4837821"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5" name="Rectangle 414">
            <a:extLst>
              <a:ext uri="{FF2B5EF4-FFF2-40B4-BE49-F238E27FC236}">
                <a16:creationId xmlns:a16="http://schemas.microsoft.com/office/drawing/2014/main" id="{C0A38FE5-A197-9B63-EE0E-9D630516A685}"/>
              </a:ext>
            </a:extLst>
          </p:cNvPr>
          <p:cNvSpPr/>
          <p:nvPr/>
        </p:nvSpPr>
        <p:spPr>
          <a:xfrm>
            <a:off x="5511721"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7" name="Rectangle 416">
            <a:extLst>
              <a:ext uri="{FF2B5EF4-FFF2-40B4-BE49-F238E27FC236}">
                <a16:creationId xmlns:a16="http://schemas.microsoft.com/office/drawing/2014/main" id="{D61D5A5B-AF60-B08B-2B61-F52A813D9648}"/>
              </a:ext>
            </a:extLst>
          </p:cNvPr>
          <p:cNvSpPr/>
          <p:nvPr/>
        </p:nvSpPr>
        <p:spPr>
          <a:xfrm>
            <a:off x="6274114" y="6377443"/>
            <a:ext cx="484436" cy="146304"/>
          </a:xfrm>
          <a:prstGeom prst="rect">
            <a:avLst/>
          </a:prstGeom>
          <a:solidFill>
            <a:schemeClr val="accent6">
              <a:lumMod val="50000"/>
            </a:schemeClr>
          </a:solidFill>
          <a:ln>
            <a:solidFill>
              <a:srgbClr val="1B462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9" name="Rectangle 418">
            <a:extLst>
              <a:ext uri="{FF2B5EF4-FFF2-40B4-BE49-F238E27FC236}">
                <a16:creationId xmlns:a16="http://schemas.microsoft.com/office/drawing/2014/main" id="{4C23C8CC-4864-1F37-7FB6-1B72DE131413}"/>
              </a:ext>
            </a:extLst>
          </p:cNvPr>
          <p:cNvSpPr/>
          <p:nvPr/>
        </p:nvSpPr>
        <p:spPr>
          <a:xfrm>
            <a:off x="6938185"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21" name="Rectangle 420">
            <a:extLst>
              <a:ext uri="{FF2B5EF4-FFF2-40B4-BE49-F238E27FC236}">
                <a16:creationId xmlns:a16="http://schemas.microsoft.com/office/drawing/2014/main" id="{2BAE20B7-BA2D-31FC-43D3-23A05C700E82}"/>
              </a:ext>
            </a:extLst>
          </p:cNvPr>
          <p:cNvSpPr/>
          <p:nvPr/>
        </p:nvSpPr>
        <p:spPr>
          <a:xfrm>
            <a:off x="7680912"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23" name="Rectangle 422">
            <a:extLst>
              <a:ext uri="{FF2B5EF4-FFF2-40B4-BE49-F238E27FC236}">
                <a16:creationId xmlns:a16="http://schemas.microsoft.com/office/drawing/2014/main" id="{4C2E2311-9E34-209E-B442-EB199A0A083E}"/>
              </a:ext>
            </a:extLst>
          </p:cNvPr>
          <p:cNvSpPr/>
          <p:nvPr/>
        </p:nvSpPr>
        <p:spPr>
          <a:xfrm>
            <a:off x="8443308"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26" name="Rectangle 425">
            <a:extLst>
              <a:ext uri="{FF2B5EF4-FFF2-40B4-BE49-F238E27FC236}">
                <a16:creationId xmlns:a16="http://schemas.microsoft.com/office/drawing/2014/main" id="{D74D3791-BF0C-CAFB-D2C6-2368CED1E882}"/>
              </a:ext>
            </a:extLst>
          </p:cNvPr>
          <p:cNvSpPr/>
          <p:nvPr/>
        </p:nvSpPr>
        <p:spPr>
          <a:xfrm>
            <a:off x="9826640" y="6439470"/>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30" name="Oval 429">
            <a:extLst>
              <a:ext uri="{FF2B5EF4-FFF2-40B4-BE49-F238E27FC236}">
                <a16:creationId xmlns:a16="http://schemas.microsoft.com/office/drawing/2014/main" id="{7270269D-EB92-16B6-305D-FB6B3579B710}"/>
              </a:ext>
            </a:extLst>
          </p:cNvPr>
          <p:cNvSpPr/>
          <p:nvPr/>
        </p:nvSpPr>
        <p:spPr>
          <a:xfrm>
            <a:off x="6391639" y="1000234"/>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34" name="TextBox 433">
            <a:extLst>
              <a:ext uri="{FF2B5EF4-FFF2-40B4-BE49-F238E27FC236}">
                <a16:creationId xmlns:a16="http://schemas.microsoft.com/office/drawing/2014/main" id="{01EED696-5754-AD33-A6C8-8491D652FBA9}"/>
              </a:ext>
            </a:extLst>
          </p:cNvPr>
          <p:cNvSpPr txBox="1"/>
          <p:nvPr/>
        </p:nvSpPr>
        <p:spPr>
          <a:xfrm>
            <a:off x="6391639" y="1089708"/>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3</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37" name="Oval 436">
            <a:extLst>
              <a:ext uri="{FF2B5EF4-FFF2-40B4-BE49-F238E27FC236}">
                <a16:creationId xmlns:a16="http://schemas.microsoft.com/office/drawing/2014/main" id="{F824152F-1C7F-96F8-139F-BFC8646448E3}"/>
              </a:ext>
            </a:extLst>
          </p:cNvPr>
          <p:cNvSpPr/>
          <p:nvPr/>
        </p:nvSpPr>
        <p:spPr>
          <a:xfrm>
            <a:off x="3328895" y="1000234"/>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39" name="TextBox 438">
            <a:extLst>
              <a:ext uri="{FF2B5EF4-FFF2-40B4-BE49-F238E27FC236}">
                <a16:creationId xmlns:a16="http://schemas.microsoft.com/office/drawing/2014/main" id="{2B826526-DA77-68BB-BCDF-2E2361D7D513}"/>
              </a:ext>
            </a:extLst>
          </p:cNvPr>
          <p:cNvSpPr txBox="1"/>
          <p:nvPr/>
        </p:nvSpPr>
        <p:spPr>
          <a:xfrm>
            <a:off x="3328895" y="1089708"/>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2</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41" name="Oval 440">
            <a:extLst>
              <a:ext uri="{FF2B5EF4-FFF2-40B4-BE49-F238E27FC236}">
                <a16:creationId xmlns:a16="http://schemas.microsoft.com/office/drawing/2014/main" id="{80D724AF-5B31-810A-B43F-44E74E7F8675}"/>
              </a:ext>
            </a:extLst>
          </p:cNvPr>
          <p:cNvSpPr/>
          <p:nvPr/>
        </p:nvSpPr>
        <p:spPr>
          <a:xfrm>
            <a:off x="348372" y="1029790"/>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43" name="TextBox 442">
            <a:extLst>
              <a:ext uri="{FF2B5EF4-FFF2-40B4-BE49-F238E27FC236}">
                <a16:creationId xmlns:a16="http://schemas.microsoft.com/office/drawing/2014/main" id="{F11B1EA8-FF8F-682D-2A49-B4A02F84B8D7}"/>
              </a:ext>
            </a:extLst>
          </p:cNvPr>
          <p:cNvSpPr txBox="1"/>
          <p:nvPr/>
        </p:nvSpPr>
        <p:spPr>
          <a:xfrm>
            <a:off x="348372" y="1119264"/>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45" name="Oval 444">
            <a:extLst>
              <a:ext uri="{FF2B5EF4-FFF2-40B4-BE49-F238E27FC236}">
                <a16:creationId xmlns:a16="http://schemas.microsoft.com/office/drawing/2014/main" id="{826213C3-523A-CD4A-30A3-E4FB3F5FE800}"/>
              </a:ext>
            </a:extLst>
          </p:cNvPr>
          <p:cNvSpPr/>
          <p:nvPr/>
        </p:nvSpPr>
        <p:spPr>
          <a:xfrm>
            <a:off x="9455981" y="990194"/>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447" name="TextBox 446">
            <a:extLst>
              <a:ext uri="{FF2B5EF4-FFF2-40B4-BE49-F238E27FC236}">
                <a16:creationId xmlns:a16="http://schemas.microsoft.com/office/drawing/2014/main" id="{941ED8E4-79EE-836F-50CF-1DFC00AE32FF}"/>
              </a:ext>
            </a:extLst>
          </p:cNvPr>
          <p:cNvSpPr txBox="1"/>
          <p:nvPr/>
        </p:nvSpPr>
        <p:spPr>
          <a:xfrm>
            <a:off x="9455981" y="1079668"/>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01</a:t>
            </a:r>
          </a:p>
        </p:txBody>
      </p:sp>
      <p:sp>
        <p:nvSpPr>
          <p:cNvPr id="451" name="Rounded Rectangle 157">
            <a:extLst>
              <a:ext uri="{FF2B5EF4-FFF2-40B4-BE49-F238E27FC236}">
                <a16:creationId xmlns:a16="http://schemas.microsoft.com/office/drawing/2014/main" id="{DDDB57E2-61F8-6B66-04A3-17922AA16A37}"/>
              </a:ext>
            </a:extLst>
          </p:cNvPr>
          <p:cNvSpPr/>
          <p:nvPr/>
        </p:nvSpPr>
        <p:spPr>
          <a:xfrm>
            <a:off x="9689923" y="5080590"/>
            <a:ext cx="2221208" cy="1645921"/>
          </a:xfrm>
          <a:prstGeom prst="roundRect">
            <a:avLst>
              <a:gd name="adj" fmla="val 7000"/>
            </a:avLst>
          </a:prstGeom>
          <a:solidFill>
            <a:srgbClr val="EDF2EE"/>
          </a:solidFill>
          <a:ln>
            <a:solidFill>
              <a:srgbClr val="EDF2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53" name="TextBox 452">
            <a:extLst>
              <a:ext uri="{FF2B5EF4-FFF2-40B4-BE49-F238E27FC236}">
                <a16:creationId xmlns:a16="http://schemas.microsoft.com/office/drawing/2014/main" id="{B2DCBEC9-E265-C237-35EC-D2A7390862BA}"/>
              </a:ext>
            </a:extLst>
          </p:cNvPr>
          <p:cNvSpPr txBox="1"/>
          <p:nvPr/>
        </p:nvSpPr>
        <p:spPr>
          <a:xfrm>
            <a:off x="10583261" y="5195093"/>
            <a:ext cx="1361152" cy="193899"/>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rPr>
              <a:t>GATANU</a:t>
            </a:r>
            <a:endParaRPr kumimoji="0"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endParaRPr>
          </a:p>
        </p:txBody>
      </p:sp>
      <p:sp>
        <p:nvSpPr>
          <p:cNvPr id="455" name="TextBox 454">
            <a:extLst>
              <a:ext uri="{FF2B5EF4-FFF2-40B4-BE49-F238E27FC236}">
                <a16:creationId xmlns:a16="http://schemas.microsoft.com/office/drawing/2014/main" id="{3B69540D-5A04-B49B-422C-8703CF32EC23}"/>
              </a:ext>
            </a:extLst>
          </p:cNvPr>
          <p:cNvSpPr txBox="1"/>
          <p:nvPr/>
        </p:nvSpPr>
        <p:spPr>
          <a:xfrm>
            <a:off x="10583261" y="5432788"/>
            <a:ext cx="1361153"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STRATEGIC FOCUS</a:t>
            </a:r>
            <a:endParaRPr kumimoji="0" sz="10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endParaRPr>
          </a:p>
        </p:txBody>
      </p:sp>
      <p:sp>
        <p:nvSpPr>
          <p:cNvPr id="457" name="TextBox 456">
            <a:extLst>
              <a:ext uri="{FF2B5EF4-FFF2-40B4-BE49-F238E27FC236}">
                <a16:creationId xmlns:a16="http://schemas.microsoft.com/office/drawing/2014/main" id="{8EA3D967-446E-770C-E412-693D961E9659}"/>
              </a:ext>
            </a:extLst>
          </p:cNvPr>
          <p:cNvSpPr txBox="1"/>
          <p:nvPr/>
        </p:nvSpPr>
        <p:spPr>
          <a:xfrm>
            <a:off x="10621643" y="5704578"/>
            <a:ext cx="1278957" cy="624786"/>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Promotion</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Persuasion</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Visibility</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a:t>
            </a:r>
            <a:endPar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63" name="Rectangle 462">
            <a:extLst>
              <a:ext uri="{FF2B5EF4-FFF2-40B4-BE49-F238E27FC236}">
                <a16:creationId xmlns:a16="http://schemas.microsoft.com/office/drawing/2014/main" id="{654163F7-A5D6-8716-2DF9-E0646BF75B86}"/>
              </a:ext>
            </a:extLst>
          </p:cNvPr>
          <p:cNvSpPr/>
          <p:nvPr/>
        </p:nvSpPr>
        <p:spPr>
          <a:xfrm>
            <a:off x="9059445" y="5641848"/>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5" name="Rectangle 464">
            <a:extLst>
              <a:ext uri="{FF2B5EF4-FFF2-40B4-BE49-F238E27FC236}">
                <a16:creationId xmlns:a16="http://schemas.microsoft.com/office/drawing/2014/main" id="{3845412F-C048-5CE9-47A9-3A8AE2F27B1A}"/>
              </a:ext>
            </a:extLst>
          </p:cNvPr>
          <p:cNvSpPr/>
          <p:nvPr/>
        </p:nvSpPr>
        <p:spPr>
          <a:xfrm>
            <a:off x="9059445" y="5888737"/>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7" name="Rectangle 466">
            <a:extLst>
              <a:ext uri="{FF2B5EF4-FFF2-40B4-BE49-F238E27FC236}">
                <a16:creationId xmlns:a16="http://schemas.microsoft.com/office/drawing/2014/main" id="{28D18360-3717-187D-52B2-3A5A713EFD39}"/>
              </a:ext>
            </a:extLst>
          </p:cNvPr>
          <p:cNvSpPr/>
          <p:nvPr/>
        </p:nvSpPr>
        <p:spPr>
          <a:xfrm>
            <a:off x="9059445" y="6135624"/>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9" name="Rectangle 468">
            <a:extLst>
              <a:ext uri="{FF2B5EF4-FFF2-40B4-BE49-F238E27FC236}">
                <a16:creationId xmlns:a16="http://schemas.microsoft.com/office/drawing/2014/main" id="{3F29DE38-943B-1791-A131-A28C4C6409C8}"/>
              </a:ext>
            </a:extLst>
          </p:cNvPr>
          <p:cNvSpPr/>
          <p:nvPr/>
        </p:nvSpPr>
        <p:spPr>
          <a:xfrm>
            <a:off x="9059445" y="6382512"/>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71" name="TextBox 470">
            <a:extLst>
              <a:ext uri="{FF2B5EF4-FFF2-40B4-BE49-F238E27FC236}">
                <a16:creationId xmlns:a16="http://schemas.microsoft.com/office/drawing/2014/main" id="{6F50CF91-2701-62B6-4558-6490E67C37BE}"/>
              </a:ext>
            </a:extLst>
          </p:cNvPr>
          <p:cNvSpPr txBox="1"/>
          <p:nvPr/>
        </p:nvSpPr>
        <p:spPr>
          <a:xfrm>
            <a:off x="8927744" y="5405770"/>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Dec</a:t>
            </a:r>
            <a:endPar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endParaRPr>
          </a:p>
        </p:txBody>
      </p:sp>
      <p:pic>
        <p:nvPicPr>
          <p:cNvPr id="472" name="Picture 471">
            <a:extLst>
              <a:ext uri="{FF2B5EF4-FFF2-40B4-BE49-F238E27FC236}">
                <a16:creationId xmlns:a16="http://schemas.microsoft.com/office/drawing/2014/main" id="{BB16295E-525C-A353-D21A-9E71599FE11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858697" y="5152103"/>
            <a:ext cx="566776" cy="1576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92387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ADB8A-4886-4051-3775-03A5F77DD73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B1790E1-1774-4633-5EF9-D351782B82C0}"/>
              </a:ext>
            </a:extLst>
          </p:cNvPr>
          <p:cNvSpPr txBox="1">
            <a:spLocks/>
          </p:cNvSpPr>
          <p:nvPr/>
        </p:nvSpPr>
        <p:spPr>
          <a:xfrm>
            <a:off x="292607" y="46695"/>
            <a:ext cx="11654958"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ACTIVITY PLAN – 2027</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must we deliver</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 to win at the POS?</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105" name="TextBox 104">
            <a:extLst>
              <a:ext uri="{FF2B5EF4-FFF2-40B4-BE49-F238E27FC236}">
                <a16:creationId xmlns:a16="http://schemas.microsoft.com/office/drawing/2014/main" id="{C5586B8C-867E-0895-07E9-ED9641CC9146}"/>
              </a:ext>
            </a:extLst>
          </p:cNvPr>
          <p:cNvSpPr txBox="1"/>
          <p:nvPr/>
        </p:nvSpPr>
        <p:spPr>
          <a:xfrm>
            <a:off x="9619781" y="509216"/>
            <a:ext cx="2185122" cy="184666"/>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C58C00"/>
                </a:solidFill>
                <a:effectLst/>
                <a:uLnTx/>
                <a:uFillTx/>
                <a:latin typeface="Aptos"/>
                <a:ea typeface="+mn-ea"/>
                <a:cs typeface="+mn-cs"/>
              </a:rPr>
              <a:t>FOCUS: SCALE WHAT WORKS</a:t>
            </a:r>
          </a:p>
        </p:txBody>
      </p:sp>
      <p:sp>
        <p:nvSpPr>
          <p:cNvPr id="5" name="Rectangle 4">
            <a:extLst>
              <a:ext uri="{FF2B5EF4-FFF2-40B4-BE49-F238E27FC236}">
                <a16:creationId xmlns:a16="http://schemas.microsoft.com/office/drawing/2014/main" id="{343C3342-F224-10CB-3DAA-DE3C25D273C7}"/>
              </a:ext>
            </a:extLst>
          </p:cNvPr>
          <p:cNvSpPr/>
          <p:nvPr/>
        </p:nvSpPr>
        <p:spPr>
          <a:xfrm>
            <a:off x="1572768" y="758952"/>
            <a:ext cx="10076688" cy="22860"/>
          </a:xfrm>
          <a:prstGeom prst="rect">
            <a:avLst/>
          </a:prstGeom>
          <a:solidFill>
            <a:srgbClr val="F4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41">
            <a:extLst>
              <a:ext uri="{FF2B5EF4-FFF2-40B4-BE49-F238E27FC236}">
                <a16:creationId xmlns:a16="http://schemas.microsoft.com/office/drawing/2014/main" id="{4BF15098-D703-FF33-E67F-C151E2505C8B}"/>
              </a:ext>
            </a:extLst>
          </p:cNvPr>
          <p:cNvSpPr/>
          <p:nvPr/>
        </p:nvSpPr>
        <p:spPr>
          <a:xfrm>
            <a:off x="292608" y="914400"/>
            <a:ext cx="2295144" cy="402336"/>
          </a:xfrm>
          <a:prstGeom prst="roundRect">
            <a:avLst/>
          </a:prstGeom>
          <a:solidFill>
            <a:srgbClr val="F4B700"/>
          </a:solidFill>
          <a:ln>
            <a:solidFill>
              <a:srgbClr val="C58C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3705FFE2-80E6-A803-C187-980CD0841B55}"/>
              </a:ext>
            </a:extLst>
          </p:cNvPr>
          <p:cNvSpPr txBox="1"/>
          <p:nvPr/>
        </p:nvSpPr>
        <p:spPr>
          <a:xfrm>
            <a:off x="363579" y="964937"/>
            <a:ext cx="2129443" cy="264688"/>
          </a:xfrm>
          <a:prstGeom prst="rect">
            <a:avLst/>
          </a:prstGeom>
          <a:noFill/>
        </p:spPr>
        <p:txBody>
          <a:bodyPr wrap="square" lIns="9144" tIns="9144" rIns="9144"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91F23"/>
                </a:solidFill>
                <a:effectLst/>
                <a:uLnTx/>
                <a:uFillTx/>
                <a:latin typeface="Aptos"/>
                <a:ea typeface="+mn-ea"/>
                <a:cs typeface="+mn-cs"/>
              </a:rPr>
              <a:t>PURCHASE DRIVER</a:t>
            </a:r>
            <a:endParaRPr kumimoji="0" sz="1600" b="1" i="0" u="none" strike="noStrike" kern="1200" cap="none" spc="0" normalizeH="0" baseline="0" noProof="0" dirty="0">
              <a:ln>
                <a:noFill/>
              </a:ln>
              <a:solidFill>
                <a:srgbClr val="191F23"/>
              </a:solidFill>
              <a:effectLst/>
              <a:uLnTx/>
              <a:uFillTx/>
              <a:latin typeface="Aptos"/>
              <a:ea typeface="+mn-ea"/>
              <a:cs typeface="+mn-cs"/>
            </a:endParaRPr>
          </a:p>
        </p:txBody>
      </p:sp>
      <p:sp>
        <p:nvSpPr>
          <p:cNvPr id="17" name="Rounded Rectangle 43">
            <a:extLst>
              <a:ext uri="{FF2B5EF4-FFF2-40B4-BE49-F238E27FC236}">
                <a16:creationId xmlns:a16="http://schemas.microsoft.com/office/drawing/2014/main" id="{77BC275D-BB6C-D780-2A72-9BB2837EE4E1}"/>
              </a:ext>
            </a:extLst>
          </p:cNvPr>
          <p:cNvSpPr/>
          <p:nvPr/>
        </p:nvSpPr>
        <p:spPr>
          <a:xfrm>
            <a:off x="2743200" y="914400"/>
            <a:ext cx="4288536" cy="402336"/>
          </a:xfrm>
          <a:prstGeom prst="roundRect">
            <a:avLst/>
          </a:prstGeom>
          <a:solidFill>
            <a:srgbClr val="F4B700"/>
          </a:solidFill>
          <a:ln>
            <a:solidFill>
              <a:srgbClr val="C58C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A66932CA-D492-FD95-7EBE-E4E360E58EAD}"/>
              </a:ext>
            </a:extLst>
          </p:cNvPr>
          <p:cNvSpPr txBox="1"/>
          <p:nvPr/>
        </p:nvSpPr>
        <p:spPr>
          <a:xfrm>
            <a:off x="3121004" y="964937"/>
            <a:ext cx="3377768" cy="264688"/>
          </a:xfrm>
          <a:prstGeom prst="rect">
            <a:avLst/>
          </a:prstGeom>
          <a:noFill/>
        </p:spPr>
        <p:txBody>
          <a:bodyPr wrap="square" lIns="9144" tIns="9144" rIns="9144"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91F23"/>
                </a:solidFill>
                <a:effectLst/>
                <a:uLnTx/>
                <a:uFillTx/>
                <a:latin typeface="Aptos"/>
                <a:ea typeface="+mn-ea"/>
                <a:cs typeface="+mn-cs"/>
              </a:rPr>
              <a:t>2027 PRIORITY ACTIVITIES</a:t>
            </a:r>
          </a:p>
        </p:txBody>
      </p:sp>
      <p:sp>
        <p:nvSpPr>
          <p:cNvPr id="25" name="Rounded Rectangle 45">
            <a:extLst>
              <a:ext uri="{FF2B5EF4-FFF2-40B4-BE49-F238E27FC236}">
                <a16:creationId xmlns:a16="http://schemas.microsoft.com/office/drawing/2014/main" id="{ABD3841F-357B-CA22-D0AF-CFBF8A4BC2A9}"/>
              </a:ext>
            </a:extLst>
          </p:cNvPr>
          <p:cNvSpPr/>
          <p:nvPr/>
        </p:nvSpPr>
        <p:spPr>
          <a:xfrm>
            <a:off x="7187184" y="914400"/>
            <a:ext cx="4617720" cy="402336"/>
          </a:xfrm>
          <a:prstGeom prst="roundRect">
            <a:avLst/>
          </a:prstGeom>
          <a:solidFill>
            <a:srgbClr val="F4B700"/>
          </a:solidFill>
          <a:ln>
            <a:solidFill>
              <a:srgbClr val="C58C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DDECF5F3-EF4F-23AA-4314-3D5B98DB1D3E}"/>
              </a:ext>
            </a:extLst>
          </p:cNvPr>
          <p:cNvSpPr txBox="1"/>
          <p:nvPr/>
        </p:nvSpPr>
        <p:spPr>
          <a:xfrm>
            <a:off x="8602562" y="964937"/>
            <a:ext cx="1786964" cy="264688"/>
          </a:xfrm>
          <a:prstGeom prst="rect">
            <a:avLst/>
          </a:prstGeom>
          <a:noFill/>
        </p:spPr>
        <p:txBody>
          <a:bodyPr wrap="none" lIns="9144" tIns="9144" rIns="9144"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191F23"/>
                </a:solidFill>
                <a:effectLst/>
                <a:uLnTx/>
                <a:uFillTx/>
                <a:latin typeface="Aptos"/>
                <a:ea typeface="+mn-ea"/>
                <a:cs typeface="+mn-cs"/>
              </a:rPr>
              <a:t>STRATEGIC INTENT</a:t>
            </a:r>
          </a:p>
        </p:txBody>
      </p:sp>
      <p:sp>
        <p:nvSpPr>
          <p:cNvPr id="32" name="Rectangle 31">
            <a:extLst>
              <a:ext uri="{FF2B5EF4-FFF2-40B4-BE49-F238E27FC236}">
                <a16:creationId xmlns:a16="http://schemas.microsoft.com/office/drawing/2014/main" id="{45AC02BA-3444-E78A-F92B-1635102D88AE}"/>
              </a:ext>
            </a:extLst>
          </p:cNvPr>
          <p:cNvSpPr/>
          <p:nvPr/>
        </p:nvSpPr>
        <p:spPr>
          <a:xfrm>
            <a:off x="292608" y="1380744"/>
            <a:ext cx="2295144" cy="832104"/>
          </a:xfrm>
          <a:prstGeom prst="rect">
            <a:avLst/>
          </a:prstGeom>
          <a:solidFill>
            <a:srgbClr val="EBF1F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D8B27A59-AC61-D73F-0BA2-5A52BB4AFED3}"/>
              </a:ext>
            </a:extLst>
          </p:cNvPr>
          <p:cNvSpPr/>
          <p:nvPr/>
        </p:nvSpPr>
        <p:spPr>
          <a:xfrm>
            <a:off x="2743200" y="1380744"/>
            <a:ext cx="4288536" cy="832104"/>
          </a:xfrm>
          <a:prstGeom prst="rect">
            <a:avLst/>
          </a:prstGeom>
          <a:solidFill>
            <a:srgbClr val="EBF1F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9EA6299B-51C1-BF05-92FF-08B05554541E}"/>
              </a:ext>
            </a:extLst>
          </p:cNvPr>
          <p:cNvSpPr/>
          <p:nvPr/>
        </p:nvSpPr>
        <p:spPr>
          <a:xfrm>
            <a:off x="7187184" y="1380744"/>
            <a:ext cx="4617720" cy="832104"/>
          </a:xfrm>
          <a:prstGeom prst="rect">
            <a:avLst/>
          </a:prstGeom>
          <a:solidFill>
            <a:srgbClr val="EBF1F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96F18B28-2C32-B159-3FF3-895CF23FC254}"/>
              </a:ext>
            </a:extLst>
          </p:cNvPr>
          <p:cNvSpPr txBox="1"/>
          <p:nvPr/>
        </p:nvSpPr>
        <p:spPr>
          <a:xfrm>
            <a:off x="420624" y="1688986"/>
            <a:ext cx="1631947" cy="233910"/>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13D"/>
                </a:solidFill>
                <a:effectLst/>
                <a:uLnTx/>
                <a:uFillTx/>
                <a:latin typeface="Aptos"/>
                <a:ea typeface="+mn-ea"/>
                <a:cs typeface="+mn-cs"/>
              </a:rPr>
              <a:t>1. </a:t>
            </a:r>
            <a:r>
              <a:rPr kumimoji="0" sz="1400" b="1" i="0" u="none" strike="noStrike" kern="1200" cap="none" spc="0" normalizeH="0" baseline="0" noProof="0" dirty="0">
                <a:ln>
                  <a:noFill/>
                </a:ln>
                <a:solidFill>
                  <a:srgbClr val="1F313D"/>
                </a:solidFill>
                <a:effectLst/>
                <a:uLnTx/>
                <a:uFillTx/>
                <a:latin typeface="Aptos"/>
                <a:ea typeface="+mn-ea"/>
                <a:cs typeface="+mn-cs"/>
              </a:rPr>
              <a:t>PERSUASION</a:t>
            </a:r>
          </a:p>
        </p:txBody>
      </p:sp>
      <p:sp>
        <p:nvSpPr>
          <p:cNvPr id="43" name="TextBox 42">
            <a:extLst>
              <a:ext uri="{FF2B5EF4-FFF2-40B4-BE49-F238E27FC236}">
                <a16:creationId xmlns:a16="http://schemas.microsoft.com/office/drawing/2014/main" id="{BFB721D5-C2F1-C512-85AF-34FEF4D75A51}"/>
              </a:ext>
            </a:extLst>
          </p:cNvPr>
          <p:cNvSpPr txBox="1"/>
          <p:nvPr/>
        </p:nvSpPr>
        <p:spPr>
          <a:xfrm>
            <a:off x="2852964" y="1453896"/>
            <a:ext cx="4050756"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Waiters Incentive Program</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Magic Box Initiative</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Hostess Persuasion Program</a:t>
            </a:r>
          </a:p>
        </p:txBody>
      </p:sp>
      <p:sp>
        <p:nvSpPr>
          <p:cNvPr id="46" name="TextBox 45">
            <a:extLst>
              <a:ext uri="{FF2B5EF4-FFF2-40B4-BE49-F238E27FC236}">
                <a16:creationId xmlns:a16="http://schemas.microsoft.com/office/drawing/2014/main" id="{FB987FB0-6DCB-0FCE-B060-426269605AAE}"/>
              </a:ext>
            </a:extLst>
          </p:cNvPr>
          <p:cNvSpPr txBox="1"/>
          <p:nvPr/>
        </p:nvSpPr>
        <p:spPr>
          <a:xfrm>
            <a:off x="7315200" y="1453896"/>
            <a:ext cx="4361688"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Maintain proven persuasion programs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Scale coverage across Basic POS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Convert outlet engagement into sell-out</a:t>
            </a:r>
          </a:p>
        </p:txBody>
      </p:sp>
      <p:sp>
        <p:nvSpPr>
          <p:cNvPr id="48" name="Rectangle 47">
            <a:extLst>
              <a:ext uri="{FF2B5EF4-FFF2-40B4-BE49-F238E27FC236}">
                <a16:creationId xmlns:a16="http://schemas.microsoft.com/office/drawing/2014/main" id="{7547D4C3-B53D-FB2D-D367-6E13268C024B}"/>
              </a:ext>
            </a:extLst>
          </p:cNvPr>
          <p:cNvSpPr/>
          <p:nvPr/>
        </p:nvSpPr>
        <p:spPr>
          <a:xfrm>
            <a:off x="292608" y="2286000"/>
            <a:ext cx="2295144" cy="832104"/>
          </a:xfrm>
          <a:prstGeom prst="rect">
            <a:avLst/>
          </a:prstGeom>
          <a:solidFill>
            <a:srgbClr val="EDF5E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Rectangle 50">
            <a:extLst>
              <a:ext uri="{FF2B5EF4-FFF2-40B4-BE49-F238E27FC236}">
                <a16:creationId xmlns:a16="http://schemas.microsoft.com/office/drawing/2014/main" id="{E96E2094-0D2A-4158-69EE-95D00358478F}"/>
              </a:ext>
            </a:extLst>
          </p:cNvPr>
          <p:cNvSpPr/>
          <p:nvPr/>
        </p:nvSpPr>
        <p:spPr>
          <a:xfrm>
            <a:off x="2743200" y="2286000"/>
            <a:ext cx="4288536" cy="832104"/>
          </a:xfrm>
          <a:prstGeom prst="rect">
            <a:avLst/>
          </a:prstGeom>
          <a:solidFill>
            <a:srgbClr val="EDF5E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8A16EFC8-430E-DA6D-F94C-5F485391768C}"/>
              </a:ext>
            </a:extLst>
          </p:cNvPr>
          <p:cNvSpPr/>
          <p:nvPr/>
        </p:nvSpPr>
        <p:spPr>
          <a:xfrm>
            <a:off x="7187184" y="2286000"/>
            <a:ext cx="4617720" cy="832104"/>
          </a:xfrm>
          <a:prstGeom prst="rect">
            <a:avLst/>
          </a:prstGeom>
          <a:solidFill>
            <a:srgbClr val="EDF5E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TextBox 55">
            <a:extLst>
              <a:ext uri="{FF2B5EF4-FFF2-40B4-BE49-F238E27FC236}">
                <a16:creationId xmlns:a16="http://schemas.microsoft.com/office/drawing/2014/main" id="{5BF4D72F-D6DF-DF3F-EF90-A38A5D08FDBF}"/>
              </a:ext>
            </a:extLst>
          </p:cNvPr>
          <p:cNvSpPr txBox="1"/>
          <p:nvPr/>
        </p:nvSpPr>
        <p:spPr>
          <a:xfrm>
            <a:off x="420624" y="2518524"/>
            <a:ext cx="2145692" cy="449354"/>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313D"/>
                </a:solidFill>
                <a:effectLst/>
                <a:uLnTx/>
                <a:uFillTx/>
                <a:latin typeface="Aptos"/>
                <a:ea typeface="+mn-ea"/>
                <a:cs typeface="+mn-cs"/>
              </a:rPr>
              <a:t>2</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CONSUMER</a:t>
            </a:r>
            <a:r>
              <a:rPr kumimoji="0" lang="en-US" sz="1400" b="1" i="0" u="none" strike="noStrike" kern="1200" cap="none" spc="0" normalizeH="0" baseline="0" noProof="0" dirty="0">
                <a:ln>
                  <a:noFill/>
                </a:ln>
                <a:solidFill>
                  <a:srgbClr val="1F313D"/>
                </a:solidFill>
                <a:effectLst/>
                <a:uLnTx/>
                <a:uFillTx/>
                <a:latin typeface="Aptos"/>
                <a:ea typeface="+mn-ea"/>
                <a:cs typeface="+mn-cs"/>
              </a:rPr>
              <a:t> FACING</a:t>
            </a:r>
            <a:r>
              <a:rPr kumimoji="0" sz="1400" b="1" i="0" u="none" strike="noStrike" kern="1200" cap="none" spc="0" normalizeH="0" baseline="0" noProof="0" dirty="0">
                <a:ln>
                  <a:noFill/>
                </a:ln>
                <a:solidFill>
                  <a:srgbClr val="1F313D"/>
                </a:solidFill>
                <a:effectLst/>
                <a:uLnTx/>
                <a:uFillTx/>
                <a:latin typeface="Aptos"/>
                <a:ea typeface="+mn-ea"/>
                <a:cs typeface="+mn-cs"/>
              </a:rPr>
              <a:t> </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ACTIVATION</a:t>
            </a:r>
          </a:p>
        </p:txBody>
      </p:sp>
      <p:sp>
        <p:nvSpPr>
          <p:cNvPr id="59" name="TextBox 58">
            <a:extLst>
              <a:ext uri="{FF2B5EF4-FFF2-40B4-BE49-F238E27FC236}">
                <a16:creationId xmlns:a16="http://schemas.microsoft.com/office/drawing/2014/main" id="{B188062B-2AA5-D2C6-D119-C658D89B0305}"/>
              </a:ext>
            </a:extLst>
          </p:cNvPr>
          <p:cNvSpPr txBox="1"/>
          <p:nvPr/>
        </p:nvSpPr>
        <p:spPr>
          <a:xfrm>
            <a:off x="2852964" y="2359152"/>
            <a:ext cx="4050756" cy="736740"/>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Football &amp; AFCON activations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RPL in-bar activities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Flagship POS experiences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B2B/B2C volume promotions</a:t>
            </a:r>
          </a:p>
        </p:txBody>
      </p:sp>
      <p:sp>
        <p:nvSpPr>
          <p:cNvPr id="62" name="TextBox 61">
            <a:extLst>
              <a:ext uri="{FF2B5EF4-FFF2-40B4-BE49-F238E27FC236}">
                <a16:creationId xmlns:a16="http://schemas.microsoft.com/office/drawing/2014/main" id="{70ACBB67-2509-7C95-EFE2-410EB249F417}"/>
              </a:ext>
            </a:extLst>
          </p:cNvPr>
          <p:cNvSpPr txBox="1"/>
          <p:nvPr/>
        </p:nvSpPr>
        <p:spPr>
          <a:xfrm>
            <a:off x="7315200" y="2359152"/>
            <a:ext cx="4361688" cy="736740"/>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Own peak football occasions and drive switching</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Build countrywide presence ahead of AFCON</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Concentrate experiential investment on flagship POS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Drive incremental volume across POS &amp; wholesale</a:t>
            </a:r>
          </a:p>
        </p:txBody>
      </p:sp>
      <p:sp>
        <p:nvSpPr>
          <p:cNvPr id="64" name="Rectangle 63">
            <a:extLst>
              <a:ext uri="{FF2B5EF4-FFF2-40B4-BE49-F238E27FC236}">
                <a16:creationId xmlns:a16="http://schemas.microsoft.com/office/drawing/2014/main" id="{9C8D6ED5-C7EE-4F1B-FE77-DB4D555A0B86}"/>
              </a:ext>
            </a:extLst>
          </p:cNvPr>
          <p:cNvSpPr/>
          <p:nvPr/>
        </p:nvSpPr>
        <p:spPr>
          <a:xfrm>
            <a:off x="292608" y="3191256"/>
            <a:ext cx="2295144" cy="832104"/>
          </a:xfrm>
          <a:prstGeom prst="rect">
            <a:avLst/>
          </a:prstGeom>
          <a:solidFill>
            <a:srgbClr val="F2F3F4"/>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66">
            <a:extLst>
              <a:ext uri="{FF2B5EF4-FFF2-40B4-BE49-F238E27FC236}">
                <a16:creationId xmlns:a16="http://schemas.microsoft.com/office/drawing/2014/main" id="{3822E51A-8083-62D9-A8D4-5EFDF435AB9B}"/>
              </a:ext>
            </a:extLst>
          </p:cNvPr>
          <p:cNvSpPr/>
          <p:nvPr/>
        </p:nvSpPr>
        <p:spPr>
          <a:xfrm>
            <a:off x="2743200" y="3191256"/>
            <a:ext cx="4288536" cy="832104"/>
          </a:xfrm>
          <a:prstGeom prst="rect">
            <a:avLst/>
          </a:prstGeom>
          <a:solidFill>
            <a:srgbClr val="F2F3F4"/>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Rectangle 69">
            <a:extLst>
              <a:ext uri="{FF2B5EF4-FFF2-40B4-BE49-F238E27FC236}">
                <a16:creationId xmlns:a16="http://schemas.microsoft.com/office/drawing/2014/main" id="{6037D20E-69A3-C0F1-E123-5147C086150D}"/>
              </a:ext>
            </a:extLst>
          </p:cNvPr>
          <p:cNvSpPr/>
          <p:nvPr/>
        </p:nvSpPr>
        <p:spPr>
          <a:xfrm>
            <a:off x="7187184" y="3191256"/>
            <a:ext cx="4617720" cy="832104"/>
          </a:xfrm>
          <a:prstGeom prst="rect">
            <a:avLst/>
          </a:prstGeom>
          <a:solidFill>
            <a:srgbClr val="F2F3F4"/>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737B5536-299D-7457-771F-6FB762524EB0}"/>
              </a:ext>
            </a:extLst>
          </p:cNvPr>
          <p:cNvSpPr txBox="1"/>
          <p:nvPr/>
        </p:nvSpPr>
        <p:spPr>
          <a:xfrm>
            <a:off x="420624" y="3499498"/>
            <a:ext cx="1865274" cy="233910"/>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313D"/>
                </a:solidFill>
                <a:effectLst/>
                <a:uLnTx/>
                <a:uFillTx/>
                <a:latin typeface="Aptos"/>
                <a:ea typeface="+mn-ea"/>
                <a:cs typeface="+mn-cs"/>
              </a:rPr>
              <a:t>3</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AFFORDABILITY</a:t>
            </a:r>
          </a:p>
        </p:txBody>
      </p:sp>
      <p:sp>
        <p:nvSpPr>
          <p:cNvPr id="75" name="TextBox 74">
            <a:extLst>
              <a:ext uri="{FF2B5EF4-FFF2-40B4-BE49-F238E27FC236}">
                <a16:creationId xmlns:a16="http://schemas.microsoft.com/office/drawing/2014/main" id="{1E8924FC-A1EF-5572-0DB2-F84CB2D45E8B}"/>
              </a:ext>
            </a:extLst>
          </p:cNvPr>
          <p:cNvSpPr txBox="1"/>
          <p:nvPr/>
        </p:nvSpPr>
        <p:spPr>
          <a:xfrm>
            <a:off x="2852964" y="3264408"/>
            <a:ext cx="4050756"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Tariff deployment</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Price compliance campaign</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Price communication POSM</a:t>
            </a:r>
          </a:p>
        </p:txBody>
      </p:sp>
      <p:sp>
        <p:nvSpPr>
          <p:cNvPr id="78" name="TextBox 77">
            <a:extLst>
              <a:ext uri="{FF2B5EF4-FFF2-40B4-BE49-F238E27FC236}">
                <a16:creationId xmlns:a16="http://schemas.microsoft.com/office/drawing/2014/main" id="{C8E2864E-8FE8-0E2D-DB24-513BA8BB9A67}"/>
              </a:ext>
            </a:extLst>
          </p:cNvPr>
          <p:cNvSpPr txBox="1"/>
          <p:nvPr/>
        </p:nvSpPr>
        <p:spPr>
          <a:xfrm>
            <a:off x="7315200" y="3264408"/>
            <a:ext cx="4361688"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Ensure consistent price execution across POS &amp; wholesale</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Close price gaps vs. competitors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Reinforce value through clear in-outlet price communication</a:t>
            </a:r>
          </a:p>
        </p:txBody>
      </p:sp>
      <p:sp>
        <p:nvSpPr>
          <p:cNvPr id="80" name="Rectangle 79">
            <a:extLst>
              <a:ext uri="{FF2B5EF4-FFF2-40B4-BE49-F238E27FC236}">
                <a16:creationId xmlns:a16="http://schemas.microsoft.com/office/drawing/2014/main" id="{FC1C5582-29D7-1705-557B-0E2A3F1F8B6F}"/>
              </a:ext>
            </a:extLst>
          </p:cNvPr>
          <p:cNvSpPr/>
          <p:nvPr/>
        </p:nvSpPr>
        <p:spPr>
          <a:xfrm>
            <a:off x="292608" y="4096511"/>
            <a:ext cx="2295144" cy="832104"/>
          </a:xfrm>
          <a:prstGeom prst="rect">
            <a:avLst/>
          </a:prstGeom>
          <a:solidFill>
            <a:srgbClr val="FAEFE5"/>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1098A783-03FD-35E7-3D3C-9879F43FC7A3}"/>
              </a:ext>
            </a:extLst>
          </p:cNvPr>
          <p:cNvSpPr/>
          <p:nvPr/>
        </p:nvSpPr>
        <p:spPr>
          <a:xfrm>
            <a:off x="2743200" y="4096511"/>
            <a:ext cx="4288536" cy="832104"/>
          </a:xfrm>
          <a:prstGeom prst="rect">
            <a:avLst/>
          </a:prstGeom>
          <a:solidFill>
            <a:srgbClr val="FAEFE5"/>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96654B13-518E-FDEE-F155-D7F674D24B91}"/>
              </a:ext>
            </a:extLst>
          </p:cNvPr>
          <p:cNvSpPr/>
          <p:nvPr/>
        </p:nvSpPr>
        <p:spPr>
          <a:xfrm>
            <a:off x="7187184" y="4096511"/>
            <a:ext cx="4617720" cy="832104"/>
          </a:xfrm>
          <a:prstGeom prst="rect">
            <a:avLst/>
          </a:prstGeom>
          <a:solidFill>
            <a:srgbClr val="FAEFE5"/>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TextBox 87">
            <a:extLst>
              <a:ext uri="{FF2B5EF4-FFF2-40B4-BE49-F238E27FC236}">
                <a16:creationId xmlns:a16="http://schemas.microsoft.com/office/drawing/2014/main" id="{594608E4-ACFE-197B-791D-2452FCA7D899}"/>
              </a:ext>
            </a:extLst>
          </p:cNvPr>
          <p:cNvSpPr txBox="1"/>
          <p:nvPr/>
        </p:nvSpPr>
        <p:spPr>
          <a:xfrm>
            <a:off x="420623" y="4404753"/>
            <a:ext cx="1329677" cy="233910"/>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313D"/>
                </a:solidFill>
                <a:effectLst/>
                <a:uLnTx/>
                <a:uFillTx/>
                <a:latin typeface="Aptos"/>
                <a:ea typeface="+mn-ea"/>
                <a:cs typeface="+mn-cs"/>
              </a:rPr>
              <a:t>4</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VISIBILITY</a:t>
            </a:r>
          </a:p>
        </p:txBody>
      </p:sp>
      <p:sp>
        <p:nvSpPr>
          <p:cNvPr id="91" name="TextBox 90">
            <a:extLst>
              <a:ext uri="{FF2B5EF4-FFF2-40B4-BE49-F238E27FC236}">
                <a16:creationId xmlns:a16="http://schemas.microsoft.com/office/drawing/2014/main" id="{AE20D230-497B-AB12-A343-F7010552C798}"/>
              </a:ext>
            </a:extLst>
          </p:cNvPr>
          <p:cNvSpPr txBox="1"/>
          <p:nvPr/>
        </p:nvSpPr>
        <p:spPr>
          <a:xfrm>
            <a:off x="2852964" y="4169663"/>
            <a:ext cx="4050756"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Secondary distribution truck branding</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Outlet visibility refresh</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High-impact POSM refresh</a:t>
            </a:r>
          </a:p>
        </p:txBody>
      </p:sp>
      <p:sp>
        <p:nvSpPr>
          <p:cNvPr id="94" name="TextBox 93">
            <a:extLst>
              <a:ext uri="{FF2B5EF4-FFF2-40B4-BE49-F238E27FC236}">
                <a16:creationId xmlns:a16="http://schemas.microsoft.com/office/drawing/2014/main" id="{7216550B-E7F1-B66B-2B99-887247A9EA87}"/>
              </a:ext>
            </a:extLst>
          </p:cNvPr>
          <p:cNvSpPr txBox="1"/>
          <p:nvPr/>
        </p:nvSpPr>
        <p:spPr>
          <a:xfrm>
            <a:off x="7315200" y="4169663"/>
            <a:ext cx="4361688"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Strengthen brand presence across priority outlets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Refresh existing visibility before adding new POS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New POS only with management approval</a:t>
            </a:r>
          </a:p>
        </p:txBody>
      </p:sp>
      <p:sp>
        <p:nvSpPr>
          <p:cNvPr id="96" name="Rectangle 95">
            <a:extLst>
              <a:ext uri="{FF2B5EF4-FFF2-40B4-BE49-F238E27FC236}">
                <a16:creationId xmlns:a16="http://schemas.microsoft.com/office/drawing/2014/main" id="{D97BDF3A-58CB-2CD7-5FC7-5494DBB995B3}"/>
              </a:ext>
            </a:extLst>
          </p:cNvPr>
          <p:cNvSpPr/>
          <p:nvPr/>
        </p:nvSpPr>
        <p:spPr>
          <a:xfrm>
            <a:off x="292608" y="5001768"/>
            <a:ext cx="2295144" cy="832104"/>
          </a:xfrm>
          <a:prstGeom prst="rect">
            <a:avLst/>
          </a:prstGeom>
          <a:solidFill>
            <a:srgbClr val="FFF8DE"/>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98">
            <a:extLst>
              <a:ext uri="{FF2B5EF4-FFF2-40B4-BE49-F238E27FC236}">
                <a16:creationId xmlns:a16="http://schemas.microsoft.com/office/drawing/2014/main" id="{81BD3174-DEEE-0ACF-59E3-EB2257FCDAA1}"/>
              </a:ext>
            </a:extLst>
          </p:cNvPr>
          <p:cNvSpPr/>
          <p:nvPr/>
        </p:nvSpPr>
        <p:spPr>
          <a:xfrm>
            <a:off x="2743200" y="5001768"/>
            <a:ext cx="4288536" cy="832104"/>
          </a:xfrm>
          <a:prstGeom prst="rect">
            <a:avLst/>
          </a:prstGeom>
          <a:solidFill>
            <a:srgbClr val="FFF8DE"/>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101">
            <a:extLst>
              <a:ext uri="{FF2B5EF4-FFF2-40B4-BE49-F238E27FC236}">
                <a16:creationId xmlns:a16="http://schemas.microsoft.com/office/drawing/2014/main" id="{E05A8D0D-44A5-2422-92AA-326D8CDE9AB2}"/>
              </a:ext>
            </a:extLst>
          </p:cNvPr>
          <p:cNvSpPr/>
          <p:nvPr/>
        </p:nvSpPr>
        <p:spPr>
          <a:xfrm>
            <a:off x="7187184" y="5001768"/>
            <a:ext cx="4617720" cy="832104"/>
          </a:xfrm>
          <a:prstGeom prst="rect">
            <a:avLst/>
          </a:prstGeom>
          <a:solidFill>
            <a:srgbClr val="FFF8DE"/>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TextBox 103">
            <a:extLst>
              <a:ext uri="{FF2B5EF4-FFF2-40B4-BE49-F238E27FC236}">
                <a16:creationId xmlns:a16="http://schemas.microsoft.com/office/drawing/2014/main" id="{84A05D21-B560-66D1-E60D-80F737C8E8EE}"/>
              </a:ext>
            </a:extLst>
          </p:cNvPr>
          <p:cNvSpPr txBox="1"/>
          <p:nvPr/>
        </p:nvSpPr>
        <p:spPr>
          <a:xfrm>
            <a:off x="420623" y="5310009"/>
            <a:ext cx="1622515" cy="233910"/>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313D"/>
                </a:solidFill>
                <a:effectLst/>
                <a:uLnTx/>
                <a:uFillTx/>
                <a:latin typeface="Aptos"/>
                <a:ea typeface="+mn-ea"/>
                <a:cs typeface="+mn-cs"/>
              </a:rPr>
              <a:t>5</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AVAILABILITY</a:t>
            </a:r>
          </a:p>
        </p:txBody>
      </p:sp>
      <p:sp>
        <p:nvSpPr>
          <p:cNvPr id="107" name="TextBox 106">
            <a:extLst>
              <a:ext uri="{FF2B5EF4-FFF2-40B4-BE49-F238E27FC236}">
                <a16:creationId xmlns:a16="http://schemas.microsoft.com/office/drawing/2014/main" id="{21A336ED-0AE0-B6B6-6467-51E84BAC72C9}"/>
              </a:ext>
            </a:extLst>
          </p:cNvPr>
          <p:cNvSpPr txBox="1"/>
          <p:nvPr/>
        </p:nvSpPr>
        <p:spPr>
          <a:xfrm>
            <a:off x="2852964" y="5074920"/>
            <a:ext cx="4050756"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dirty="0">
                <a:ln>
                  <a:noFill/>
                </a:ln>
                <a:solidFill>
                  <a:srgbClr val="262B2F"/>
                </a:solidFill>
                <a:effectLst/>
                <a:uLnTx/>
                <a:uFillTx/>
                <a:latin typeface="Aptos"/>
                <a:ea typeface="+mn-ea"/>
                <a:cs typeface="+mn-cs"/>
              </a:rPr>
              <a:t>•  Wedding Venue Development Program</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dirty="0">
                <a:ln>
                  <a:noFill/>
                </a:ln>
                <a:solidFill>
                  <a:srgbClr val="262B2F"/>
                </a:solidFill>
                <a:effectLst/>
                <a:uLnTx/>
                <a:uFillTx/>
                <a:latin typeface="Aptos"/>
                <a:ea typeface="+mn-ea"/>
                <a:cs typeface="+mn-cs"/>
              </a:rPr>
              <a:t>•  Countrywide 10+1 Wedding Venue Promotion</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dirty="0">
                <a:ln>
                  <a:noFill/>
                </a:ln>
                <a:solidFill>
                  <a:srgbClr val="262B2F"/>
                </a:solidFill>
                <a:effectLst/>
                <a:uLnTx/>
                <a:uFillTx/>
                <a:latin typeface="Aptos"/>
                <a:ea typeface="+mn-ea"/>
                <a:cs typeface="+mn-cs"/>
              </a:rPr>
              <a:t>•  Wedding venue coverage &amp; database management</a:t>
            </a:r>
          </a:p>
        </p:txBody>
      </p:sp>
      <p:sp>
        <p:nvSpPr>
          <p:cNvPr id="109" name="TextBox 108">
            <a:extLst>
              <a:ext uri="{FF2B5EF4-FFF2-40B4-BE49-F238E27FC236}">
                <a16:creationId xmlns:a16="http://schemas.microsoft.com/office/drawing/2014/main" id="{3D6714EB-C7B9-4F30-721E-A319CE887A86}"/>
              </a:ext>
            </a:extLst>
          </p:cNvPr>
          <p:cNvSpPr txBox="1"/>
          <p:nvPr/>
        </p:nvSpPr>
        <p:spPr>
          <a:xfrm>
            <a:off x="7315200" y="5074920"/>
            <a:ext cx="4361688"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Build availability in high-frequency wedding venues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Activate the 265-venue database countrywide</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Target incremental volume of 7,420 crates/month</a:t>
            </a:r>
          </a:p>
        </p:txBody>
      </p:sp>
      <p:sp>
        <p:nvSpPr>
          <p:cNvPr id="111" name="Rounded Rectangle 77">
            <a:extLst>
              <a:ext uri="{FF2B5EF4-FFF2-40B4-BE49-F238E27FC236}">
                <a16:creationId xmlns:a16="http://schemas.microsoft.com/office/drawing/2014/main" id="{EF40B0C7-1968-8057-DAD1-A556D756E746}"/>
              </a:ext>
            </a:extLst>
          </p:cNvPr>
          <p:cNvSpPr/>
          <p:nvPr/>
        </p:nvSpPr>
        <p:spPr>
          <a:xfrm>
            <a:off x="263110" y="6091578"/>
            <a:ext cx="11603736" cy="548640"/>
          </a:xfrm>
          <a:prstGeom prst="roundRect">
            <a:avLst/>
          </a:prstGeom>
          <a:solidFill>
            <a:srgbClr val="1F313D"/>
          </a:solidFill>
          <a:ln>
            <a:solidFill>
              <a:srgbClr val="1F313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TextBox 112">
            <a:extLst>
              <a:ext uri="{FF2B5EF4-FFF2-40B4-BE49-F238E27FC236}">
                <a16:creationId xmlns:a16="http://schemas.microsoft.com/office/drawing/2014/main" id="{9B105611-2166-8E03-0E63-D34BF7EC8C72}"/>
              </a:ext>
            </a:extLst>
          </p:cNvPr>
          <p:cNvSpPr txBox="1"/>
          <p:nvPr/>
        </p:nvSpPr>
        <p:spPr>
          <a:xfrm>
            <a:off x="1502626" y="6264331"/>
            <a:ext cx="9186747" cy="203133"/>
          </a:xfrm>
          <a:prstGeom prst="rect">
            <a:avLst/>
          </a:prstGeom>
          <a:noFill/>
        </p:spPr>
        <p:txBody>
          <a:bodyPr wrap="none" lIns="9144" tIns="9144" rIns="9144"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ptos"/>
                <a:ea typeface="+mn-ea"/>
                <a:cs typeface="+mn-cs"/>
              </a:rPr>
              <a:t>2027 EXECUTION ROAD MAP   |   COVERAGE  →  AVAILABILITY  →  SELL-OUT  →  PERSUASION  →  ACTIVATION  →  INCREMENTAL VOLUME</a:t>
            </a:r>
          </a:p>
        </p:txBody>
      </p:sp>
    </p:spTree>
    <p:extLst>
      <p:ext uri="{BB962C8B-B14F-4D97-AF65-F5344CB8AC3E}">
        <p14:creationId xmlns:p14="http://schemas.microsoft.com/office/powerpoint/2010/main" val="11318250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11B56-C5BE-E1D6-D933-A38C06B245F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4EDEBB9-2528-9E6F-9997-21C5732905C6}"/>
              </a:ext>
            </a:extLst>
          </p:cNvPr>
          <p:cNvSpPr txBox="1">
            <a:spLocks/>
          </p:cNvSpPr>
          <p:nvPr/>
        </p:nvSpPr>
        <p:spPr>
          <a:xfrm>
            <a:off x="177156" y="46695"/>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&amp; EVENT BUDGET</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nl-NL" sz="18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2027 BUDGET ALLOCATION</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must we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Spend?</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20" name="TextBox 19">
            <a:extLst>
              <a:ext uri="{FF2B5EF4-FFF2-40B4-BE49-F238E27FC236}">
                <a16:creationId xmlns:a16="http://schemas.microsoft.com/office/drawing/2014/main" id="{41467E7E-3C92-615A-59BD-5FF931CF34AD}"/>
              </a:ext>
            </a:extLst>
          </p:cNvPr>
          <p:cNvSpPr txBox="1"/>
          <p:nvPr/>
        </p:nvSpPr>
        <p:spPr>
          <a:xfrm>
            <a:off x="7561007" y="3577713"/>
            <a:ext cx="4296518" cy="2966884"/>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RW"/>
            </a:defPPr>
            <a:lvl1pPr indent="0" defTabSz="457200">
              <a:defRPr sz="1200" b="1" u="sng">
                <a:solidFill>
                  <a:prstClr val="black"/>
                </a:solidFill>
                <a:latin typeface="Aptos" panose="020B0004020202020204" pitchFamily="34" charset="0"/>
              </a:defRPr>
            </a:lvl1pPr>
            <a:lvl2pPr indent="0" defTabSz="457200">
              <a:defRPr>
                <a:solidFill>
                  <a:sysClr val="window" lastClr="FFFFFF"/>
                </a:solidFill>
                <a:latin typeface="Calibri" panose="020F0502020204030204"/>
              </a:defRPr>
            </a:lvl2pPr>
            <a:lvl3pPr indent="0" defTabSz="457200">
              <a:defRPr>
                <a:solidFill>
                  <a:sysClr val="window" lastClr="FFFFFF"/>
                </a:solidFill>
                <a:latin typeface="Calibri" panose="020F0502020204030204"/>
              </a:defRPr>
            </a:lvl3pPr>
            <a:lvl4pPr indent="0" defTabSz="457200">
              <a:defRPr>
                <a:solidFill>
                  <a:sysClr val="window" lastClr="FFFFFF"/>
                </a:solidFill>
                <a:latin typeface="Calibri" panose="020F0502020204030204"/>
              </a:defRPr>
            </a:lvl4pPr>
            <a:lvl5pPr indent="0" defTabSz="457200">
              <a:defRPr>
                <a:solidFill>
                  <a:sysClr val="window" lastClr="FFFFFF"/>
                </a:solidFill>
                <a:latin typeface="Calibri" panose="020F0502020204030204"/>
              </a:defRPr>
            </a:lvl5pPr>
            <a:lvl6pPr indent="0" defTabSz="457200">
              <a:defRPr>
                <a:solidFill>
                  <a:sysClr val="window" lastClr="FFFFFF"/>
                </a:solidFill>
                <a:latin typeface="Calibri" panose="020F0502020204030204"/>
              </a:defRPr>
            </a:lvl6pPr>
            <a:lvl7pPr indent="0" defTabSz="457200">
              <a:defRPr>
                <a:solidFill>
                  <a:sysClr val="window" lastClr="FFFFFF"/>
                </a:solidFill>
                <a:latin typeface="Calibri" panose="020F0502020204030204"/>
              </a:defRPr>
            </a:lvl7pPr>
            <a:lvl8pPr indent="0" defTabSz="457200">
              <a:defRPr>
                <a:solidFill>
                  <a:sysClr val="window" lastClr="FFFFFF"/>
                </a:solidFill>
                <a:latin typeface="Calibri" panose="020F0502020204030204"/>
              </a:defRPr>
            </a:lvl8pPr>
            <a:lvl9pPr indent="0" defTabSz="457200">
              <a:defRPr>
                <a:solidFill>
                  <a:sysClr val="window" lastClr="FFFFFF"/>
                </a:solidFill>
                <a:latin typeface="Calibri" panose="020F050202020403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RW"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Key observation</a:t>
            </a:r>
            <a:endParaRPr kumimoji="0" lang="en-US"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CAPEX budget decreased by </a:t>
            </a: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-17%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 2027 vs LE Q3 2026)</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BTL budget increased by </a:t>
            </a: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+5%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 2027 vs LE Q3 2026)</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Budget mix</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by category</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Beer represents 95% of the budget, while LONO represents 5%.</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Domestic volume mix by category: </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Beer represents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87</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of the budget, while LONO represents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13</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The budget allocation by brand is in correlation with the brand volume contribution. </a:t>
            </a:r>
          </a:p>
        </p:txBody>
      </p:sp>
      <p:sp>
        <p:nvSpPr>
          <p:cNvPr id="7" name="TextBox 6">
            <a:extLst>
              <a:ext uri="{FF2B5EF4-FFF2-40B4-BE49-F238E27FC236}">
                <a16:creationId xmlns:a16="http://schemas.microsoft.com/office/drawing/2014/main" id="{C05FEF90-0173-7ADF-C1E9-333640FD5947}"/>
              </a:ext>
            </a:extLst>
          </p:cNvPr>
          <p:cNvSpPr txBox="1"/>
          <p:nvPr/>
        </p:nvSpPr>
        <p:spPr>
          <a:xfrm>
            <a:off x="1758629" y="5175242"/>
            <a:ext cx="309967" cy="209288"/>
          </a:xfrm>
          <a:prstGeom prst="rect">
            <a:avLst/>
          </a:prstGeom>
          <a:noFill/>
        </p:spPr>
        <p:txBody>
          <a:bodyPr wrap="square" lIns="27432" tIns="27432" rIns="27432"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37%</a:t>
            </a:r>
          </a:p>
        </p:txBody>
      </p:sp>
      <p:sp>
        <p:nvSpPr>
          <p:cNvPr id="9" name="TextBox 8">
            <a:extLst>
              <a:ext uri="{FF2B5EF4-FFF2-40B4-BE49-F238E27FC236}">
                <a16:creationId xmlns:a16="http://schemas.microsoft.com/office/drawing/2014/main" id="{87ACD304-7A3D-4CFF-9BFA-5442D36032AA}"/>
              </a:ext>
            </a:extLst>
          </p:cNvPr>
          <p:cNvSpPr txBox="1"/>
          <p:nvPr/>
        </p:nvSpPr>
        <p:spPr>
          <a:xfrm>
            <a:off x="2911679" y="5393123"/>
            <a:ext cx="309967" cy="209288"/>
          </a:xfrm>
          <a:prstGeom prst="rect">
            <a:avLst/>
          </a:prstGeom>
          <a:noFill/>
        </p:spPr>
        <p:txBody>
          <a:bodyPr wrap="square" lIns="27432" tIns="27432" rIns="27432"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33%</a:t>
            </a:r>
          </a:p>
        </p:txBody>
      </p:sp>
      <p:sp>
        <p:nvSpPr>
          <p:cNvPr id="12" name="TextBox 11">
            <a:extLst>
              <a:ext uri="{FF2B5EF4-FFF2-40B4-BE49-F238E27FC236}">
                <a16:creationId xmlns:a16="http://schemas.microsoft.com/office/drawing/2014/main" id="{36376399-8FA4-522A-19A4-4FEE4BDFC6D3}"/>
              </a:ext>
            </a:extLst>
          </p:cNvPr>
          <p:cNvSpPr txBox="1"/>
          <p:nvPr/>
        </p:nvSpPr>
        <p:spPr>
          <a:xfrm>
            <a:off x="4084393" y="5543752"/>
            <a:ext cx="309967" cy="209288"/>
          </a:xfrm>
          <a:prstGeom prst="rect">
            <a:avLst/>
          </a:prstGeom>
          <a:noFill/>
        </p:spPr>
        <p:txBody>
          <a:bodyPr wrap="square" lIns="27432" tIns="27432" rIns="27432"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25%</a:t>
            </a:r>
          </a:p>
        </p:txBody>
      </p:sp>
      <p:sp>
        <p:nvSpPr>
          <p:cNvPr id="18" name="TextBox 17">
            <a:extLst>
              <a:ext uri="{FF2B5EF4-FFF2-40B4-BE49-F238E27FC236}">
                <a16:creationId xmlns:a16="http://schemas.microsoft.com/office/drawing/2014/main" id="{144BA68A-6757-56DD-A727-E033832B650E}"/>
              </a:ext>
            </a:extLst>
          </p:cNvPr>
          <p:cNvSpPr txBox="1"/>
          <p:nvPr/>
        </p:nvSpPr>
        <p:spPr>
          <a:xfrm>
            <a:off x="5249516" y="6014383"/>
            <a:ext cx="309967" cy="209288"/>
          </a:xfrm>
          <a:prstGeom prst="rect">
            <a:avLst/>
          </a:prstGeom>
          <a:noFill/>
        </p:spPr>
        <p:txBody>
          <a:bodyPr wrap="square" lIns="27432" tIns="27432" rIns="27432"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white"/>
                </a:solidFill>
                <a:effectLst/>
                <a:uLnTx/>
                <a:uFillTx/>
                <a:latin typeface="Aptos" panose="020B0004020202020204" pitchFamily="34" charset="0"/>
                <a:ea typeface="+mn-ea"/>
                <a:cs typeface="+mn-cs"/>
              </a:rPr>
              <a:t>5%</a:t>
            </a:r>
          </a:p>
        </p:txBody>
      </p:sp>
      <p:graphicFrame>
        <p:nvGraphicFramePr>
          <p:cNvPr id="2" name="Table 1">
            <a:extLst>
              <a:ext uri="{FF2B5EF4-FFF2-40B4-BE49-F238E27FC236}">
                <a16:creationId xmlns:a16="http://schemas.microsoft.com/office/drawing/2014/main" id="{4CB3EEAE-B48D-A1E7-2ED7-02EE6891E192}"/>
              </a:ext>
            </a:extLst>
          </p:cNvPr>
          <p:cNvGraphicFramePr>
            <a:graphicFrameLocks noGrp="1"/>
          </p:cNvGraphicFramePr>
          <p:nvPr/>
        </p:nvGraphicFramePr>
        <p:xfrm>
          <a:off x="442627" y="956024"/>
          <a:ext cx="11414898" cy="2300764"/>
        </p:xfrm>
        <a:graphic>
          <a:graphicData uri="http://schemas.openxmlformats.org/drawingml/2006/table">
            <a:tbl>
              <a:tblPr/>
              <a:tblGrid>
                <a:gridCol w="3050807">
                  <a:extLst>
                    <a:ext uri="{9D8B030D-6E8A-4147-A177-3AD203B41FA5}">
                      <a16:colId xmlns:a16="http://schemas.microsoft.com/office/drawing/2014/main" val="1155846937"/>
                    </a:ext>
                  </a:extLst>
                </a:gridCol>
                <a:gridCol w="1343745">
                  <a:extLst>
                    <a:ext uri="{9D8B030D-6E8A-4147-A177-3AD203B41FA5}">
                      <a16:colId xmlns:a16="http://schemas.microsoft.com/office/drawing/2014/main" val="1212363615"/>
                    </a:ext>
                  </a:extLst>
                </a:gridCol>
                <a:gridCol w="1343745">
                  <a:extLst>
                    <a:ext uri="{9D8B030D-6E8A-4147-A177-3AD203B41FA5}">
                      <a16:colId xmlns:a16="http://schemas.microsoft.com/office/drawing/2014/main" val="2449358603"/>
                    </a:ext>
                  </a:extLst>
                </a:gridCol>
                <a:gridCol w="1343745">
                  <a:extLst>
                    <a:ext uri="{9D8B030D-6E8A-4147-A177-3AD203B41FA5}">
                      <a16:colId xmlns:a16="http://schemas.microsoft.com/office/drawing/2014/main" val="1496567724"/>
                    </a:ext>
                  </a:extLst>
                </a:gridCol>
                <a:gridCol w="1343745">
                  <a:extLst>
                    <a:ext uri="{9D8B030D-6E8A-4147-A177-3AD203B41FA5}">
                      <a16:colId xmlns:a16="http://schemas.microsoft.com/office/drawing/2014/main" val="3772062239"/>
                    </a:ext>
                  </a:extLst>
                </a:gridCol>
                <a:gridCol w="1653168">
                  <a:extLst>
                    <a:ext uri="{9D8B030D-6E8A-4147-A177-3AD203B41FA5}">
                      <a16:colId xmlns:a16="http://schemas.microsoft.com/office/drawing/2014/main" val="2176010452"/>
                    </a:ext>
                  </a:extLst>
                </a:gridCol>
                <a:gridCol w="1335943">
                  <a:extLst>
                    <a:ext uri="{9D8B030D-6E8A-4147-A177-3AD203B41FA5}">
                      <a16:colId xmlns:a16="http://schemas.microsoft.com/office/drawing/2014/main" val="1941575921"/>
                    </a:ext>
                  </a:extLst>
                </a:gridCol>
              </a:tblGrid>
              <a:tr h="289860">
                <a:tc>
                  <a:txBody>
                    <a:bodyPr/>
                    <a:lstStyle/>
                    <a:p>
                      <a:pPr algn="l" fontAlgn="ctr">
                        <a:buNone/>
                      </a:pPr>
                      <a:r>
                        <a:rPr lang="en-RW" sz="1400" b="1" i="0" u="none" strike="noStrike">
                          <a:solidFill>
                            <a:srgbClr val="000000"/>
                          </a:solidFill>
                          <a:effectLst/>
                          <a:latin typeface="Aptos Narrow" panose="020B0004020202020204" pitchFamily="34" charset="0"/>
                        </a:rPr>
                        <a:t>DESCRIPTION</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B 2026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YTD 2026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LE Q3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B 2027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DIFF: B 2027-B2026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 B27 Vs. LE Q3</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2282978"/>
                  </a:ext>
                </a:extLst>
              </a:tr>
              <a:tr h="289860">
                <a:tc>
                  <a:txBody>
                    <a:bodyPr/>
                    <a:lstStyle/>
                    <a:p>
                      <a:pPr algn="l" fontAlgn="ctr">
                        <a:buNone/>
                      </a:pPr>
                      <a:r>
                        <a:rPr lang="en-RW" sz="1400" b="1" i="0" u="none" strike="noStrike">
                          <a:solidFill>
                            <a:srgbClr val="000000"/>
                          </a:solidFill>
                          <a:effectLst/>
                          <a:latin typeface="Arial" panose="020B0604020202020204" pitchFamily="34" charset="0"/>
                        </a:rPr>
                        <a:t> TOTAL BUDGET: BTL - RWF</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2,225,933,968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r" fontAlgn="ctr">
                        <a:buNone/>
                      </a:pPr>
                      <a:r>
                        <a:rPr lang="en-RW" sz="1400" b="1" i="0" u="none" strike="noStrike">
                          <a:solidFill>
                            <a:srgbClr val="000000"/>
                          </a:solidFill>
                          <a:effectLst/>
                          <a:latin typeface="Arial" panose="020B0604020202020204" pitchFamily="34" charset="0"/>
                        </a:rPr>
                        <a:t>1,684,623,689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r" fontAlgn="ctr">
                        <a:buNone/>
                      </a:pPr>
                      <a:r>
                        <a:rPr lang="en-RW" sz="1400" b="1" i="0" u="none" strike="noStrike">
                          <a:solidFill>
                            <a:srgbClr val="000000"/>
                          </a:solidFill>
                          <a:effectLst/>
                          <a:latin typeface="Arial" panose="020B0604020202020204" pitchFamily="34" charset="0"/>
                        </a:rPr>
                        <a:t>2,630,290,168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2,757,252,566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126,962,398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5%</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9813105"/>
                  </a:ext>
                </a:extLst>
              </a:tr>
              <a:tr h="289860">
                <a:tc gridSpan="7">
                  <a:txBody>
                    <a:bodyPr/>
                    <a:lstStyle/>
                    <a:p>
                      <a:pPr algn="ctr" fontAlgn="ctr">
                        <a:buNone/>
                      </a:pPr>
                      <a:r>
                        <a:rPr lang="en-RW" sz="1400" b="1" i="0" u="none" strike="noStrike" dirty="0">
                          <a:solidFill>
                            <a:srgbClr val="000000"/>
                          </a:solidFill>
                          <a:effectLst/>
                          <a:latin typeface="Arial" panose="020B0604020202020204" pitchFamily="34" charset="0"/>
                        </a:rPr>
                        <a:t>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RW"/>
                    </a:p>
                  </a:txBody>
                  <a:tcPr/>
                </a:tc>
                <a:tc hMerge="1">
                  <a:txBody>
                    <a:bodyPr/>
                    <a:lstStyle/>
                    <a:p>
                      <a:endParaRPr lang="en-RW"/>
                    </a:p>
                  </a:txBody>
                  <a:tcPr/>
                </a:tc>
                <a:tc hMerge="1">
                  <a:txBody>
                    <a:bodyPr/>
                    <a:lstStyle/>
                    <a:p>
                      <a:endParaRPr lang="en-RW"/>
                    </a:p>
                  </a:txBody>
                  <a:tcPr/>
                </a:tc>
                <a:tc hMerge="1">
                  <a:txBody>
                    <a:bodyPr/>
                    <a:lstStyle/>
                    <a:p>
                      <a:endParaRPr lang="en-RW"/>
                    </a:p>
                  </a:txBody>
                  <a:tcPr/>
                </a:tc>
                <a:tc hMerge="1">
                  <a:txBody>
                    <a:bodyPr/>
                    <a:lstStyle/>
                    <a:p>
                      <a:endParaRPr lang="en-RW"/>
                    </a:p>
                  </a:txBody>
                  <a:tcPr/>
                </a:tc>
                <a:tc hMerge="1">
                  <a:txBody>
                    <a:bodyPr/>
                    <a:lstStyle/>
                    <a:p>
                      <a:endParaRPr lang="en-RW"/>
                    </a:p>
                  </a:txBody>
                  <a:tcPr/>
                </a:tc>
                <a:extLst>
                  <a:ext uri="{0D108BD9-81ED-4DB2-BD59-A6C34878D82A}">
                    <a16:rowId xmlns:a16="http://schemas.microsoft.com/office/drawing/2014/main" val="2322300500"/>
                  </a:ext>
                </a:extLst>
              </a:tr>
              <a:tr h="289860">
                <a:tc>
                  <a:txBody>
                    <a:bodyPr/>
                    <a:lstStyle/>
                    <a:p>
                      <a:pPr algn="l" fontAlgn="ctr">
                        <a:buNone/>
                      </a:pPr>
                      <a:r>
                        <a:rPr lang="en-RW" sz="1400" b="1" i="0" u="none" strike="noStrike">
                          <a:solidFill>
                            <a:srgbClr val="000000"/>
                          </a:solidFill>
                          <a:effectLst/>
                          <a:latin typeface="Arial" panose="020B0604020202020204" pitchFamily="34" charset="0"/>
                        </a:rPr>
                        <a:t>TOTAL BUDGET: CAPEX - RWF</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1,688,270,483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r" fontAlgn="ctr">
                        <a:buNone/>
                      </a:pPr>
                      <a:r>
                        <a:rPr lang="en-RW" sz="1400" b="1" i="0" u="none" strike="noStrike">
                          <a:solidFill>
                            <a:srgbClr val="000000"/>
                          </a:solidFill>
                          <a:effectLst/>
                          <a:latin typeface="Arial" panose="020B0604020202020204" pitchFamily="34" charset="0"/>
                        </a:rPr>
                        <a:t>1,193,546,223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r" fontAlgn="ctr">
                        <a:buNone/>
                      </a:pPr>
                      <a:r>
                        <a:rPr lang="en-RW" sz="1400" b="1" i="0" u="none" strike="noStrike">
                          <a:solidFill>
                            <a:srgbClr val="000000"/>
                          </a:solidFill>
                          <a:effectLst/>
                          <a:latin typeface="Arial" panose="020B0604020202020204" pitchFamily="34" charset="0"/>
                        </a:rPr>
                        <a:t>1,710,944,218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1,411,907,862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FF0000"/>
                          </a:solidFill>
                          <a:effectLst/>
                          <a:latin typeface="Arial" panose="020B0604020202020204" pitchFamily="34" charset="0"/>
                        </a:rPr>
                        <a:t>-299,036,357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FF0000"/>
                          </a:solidFill>
                          <a:effectLst/>
                          <a:latin typeface="Arial" panose="020B0604020202020204" pitchFamily="34" charset="0"/>
                        </a:rPr>
                        <a:t>-17%</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0665237"/>
                  </a:ext>
                </a:extLst>
              </a:tr>
              <a:tr h="289860">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2722738"/>
                  </a:ext>
                </a:extLst>
              </a:tr>
              <a:tr h="289860">
                <a:tc>
                  <a:txBody>
                    <a:bodyPr/>
                    <a:lstStyle/>
                    <a:p>
                      <a:pPr algn="l" fontAlgn="ctr">
                        <a:buNone/>
                      </a:pPr>
                      <a:r>
                        <a:rPr lang="en-RW" sz="1400" b="1" i="0" u="none" strike="noStrike">
                          <a:solidFill>
                            <a:srgbClr val="000000"/>
                          </a:solidFill>
                          <a:effectLst/>
                          <a:latin typeface="Arial" panose="020B0604020202020204" pitchFamily="34" charset="0"/>
                        </a:rPr>
                        <a:t>TOTAL VOLUME- HL</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743,082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484,364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660,266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760,583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100,317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15%</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7580139"/>
                  </a:ext>
                </a:extLst>
              </a:tr>
              <a:tr h="280802">
                <a:tc>
                  <a:txBody>
                    <a:bodyPr/>
                    <a:lstStyle/>
                    <a:p>
                      <a:pPr algn="r" fontAlgn="ctr">
                        <a:buNone/>
                      </a:pPr>
                      <a:r>
                        <a:rPr lang="en-RW" sz="1400" b="1" i="1" u="none" strike="noStrike">
                          <a:solidFill>
                            <a:srgbClr val="000000"/>
                          </a:solidFill>
                          <a:effectLst/>
                          <a:latin typeface="Arial" panose="020B0604020202020204" pitchFamily="34" charset="0"/>
                        </a:rPr>
                        <a:t>Volume Beers</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609,327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406,221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558,626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658,354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99,728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18%</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3221376"/>
                  </a:ext>
                </a:extLst>
              </a:tr>
              <a:tr h="280802">
                <a:tc>
                  <a:txBody>
                    <a:bodyPr/>
                    <a:lstStyle/>
                    <a:p>
                      <a:pPr algn="r" fontAlgn="ctr">
                        <a:buNone/>
                      </a:pPr>
                      <a:r>
                        <a:rPr lang="en-RW" sz="1400" b="1" i="1" u="none" strike="noStrike">
                          <a:solidFill>
                            <a:srgbClr val="000000"/>
                          </a:solidFill>
                          <a:effectLst/>
                          <a:latin typeface="Arial" panose="020B0604020202020204" pitchFamily="34" charset="0"/>
                        </a:rPr>
                        <a:t>Volume LONO</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dirty="0">
                          <a:solidFill>
                            <a:srgbClr val="000000"/>
                          </a:solidFill>
                          <a:effectLst/>
                          <a:latin typeface="Arial" panose="020B0604020202020204" pitchFamily="34" charset="0"/>
                        </a:rPr>
                        <a:t>133,755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78,144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101,641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102,229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588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dirty="0">
                          <a:solidFill>
                            <a:srgbClr val="000000"/>
                          </a:solidFill>
                          <a:effectLst/>
                          <a:latin typeface="Arial" panose="020B0604020202020204" pitchFamily="34" charset="0"/>
                        </a:rPr>
                        <a:t>1%</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9517405"/>
                  </a:ext>
                </a:extLst>
              </a:tr>
            </a:tbl>
          </a:graphicData>
        </a:graphic>
      </p:graphicFrame>
      <p:sp>
        <p:nvSpPr>
          <p:cNvPr id="6" name="Rectangle 5">
            <a:extLst>
              <a:ext uri="{FF2B5EF4-FFF2-40B4-BE49-F238E27FC236}">
                <a16:creationId xmlns:a16="http://schemas.microsoft.com/office/drawing/2014/main" id="{AE2D8E83-2076-755C-D541-82B7F1B5E6FF}"/>
              </a:ext>
            </a:extLst>
          </p:cNvPr>
          <p:cNvSpPr/>
          <p:nvPr/>
        </p:nvSpPr>
        <p:spPr>
          <a:xfrm>
            <a:off x="7578950" y="890324"/>
            <a:ext cx="1222642" cy="24435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8" name="Chart 7">
            <a:extLst>
              <a:ext uri="{FF2B5EF4-FFF2-40B4-BE49-F238E27FC236}">
                <a16:creationId xmlns:a16="http://schemas.microsoft.com/office/drawing/2014/main" id="{87C70EA5-A7BE-B7ED-02E9-6879A338E3EF}"/>
              </a:ext>
            </a:extLst>
          </p:cNvPr>
          <p:cNvGraphicFramePr>
            <a:graphicFrameLocks/>
          </p:cNvGraphicFramePr>
          <p:nvPr/>
        </p:nvGraphicFramePr>
        <p:xfrm>
          <a:off x="471213" y="3375827"/>
          <a:ext cx="6814489" cy="31687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a:extLst>
              <a:ext uri="{FF2B5EF4-FFF2-40B4-BE49-F238E27FC236}">
                <a16:creationId xmlns:a16="http://schemas.microsoft.com/office/drawing/2014/main" id="{58B742DD-AAFE-15AB-867A-9F6FCAD68C3A}"/>
              </a:ext>
            </a:extLst>
          </p:cNvPr>
          <p:cNvGraphicFramePr>
            <a:graphicFrameLocks noGrp="1"/>
          </p:cNvGraphicFramePr>
          <p:nvPr/>
        </p:nvGraphicFramePr>
        <p:xfrm>
          <a:off x="1852380" y="5077342"/>
          <a:ext cx="389275" cy="182880"/>
        </p:xfrm>
        <a:graphic>
          <a:graphicData uri="http://schemas.openxmlformats.org/drawingml/2006/table">
            <a:tbl>
              <a:tblPr/>
              <a:tblGrid>
                <a:gridCol w="389275">
                  <a:extLst>
                    <a:ext uri="{9D8B030D-6E8A-4147-A177-3AD203B41FA5}">
                      <a16:colId xmlns:a16="http://schemas.microsoft.com/office/drawing/2014/main" val="1446997854"/>
                    </a:ext>
                  </a:extLst>
                </a:gridCol>
              </a:tblGrid>
              <a:tr h="182880">
                <a:tc>
                  <a:txBody>
                    <a:bodyPr/>
                    <a:lstStyle/>
                    <a:p>
                      <a:pPr algn="ctr" fontAlgn="b">
                        <a:buNone/>
                      </a:pPr>
                      <a:r>
                        <a:rPr lang="en-RW" sz="1100" b="1" i="0" u="none" strike="noStrike" dirty="0">
                          <a:solidFill>
                            <a:srgbClr val="000000"/>
                          </a:solidFill>
                          <a:effectLst/>
                          <a:latin typeface="Aptos Narrow" panose="020B0004020202020204" pitchFamily="34" charset="0"/>
                        </a:rPr>
                        <a:t>37%</a:t>
                      </a:r>
                    </a:p>
                  </a:txBody>
                  <a:tcPr marL="7250" marR="7250" marT="7620" marB="0" anchor="b">
                    <a:lnL>
                      <a:noFill/>
                    </a:lnL>
                    <a:lnR>
                      <a:noFill/>
                    </a:lnR>
                    <a:lnT>
                      <a:noFill/>
                    </a:lnT>
                    <a:lnB>
                      <a:noFill/>
                    </a:lnB>
                    <a:noFill/>
                  </a:tcPr>
                </a:tc>
                <a:extLst>
                  <a:ext uri="{0D108BD9-81ED-4DB2-BD59-A6C34878D82A}">
                    <a16:rowId xmlns:a16="http://schemas.microsoft.com/office/drawing/2014/main" val="3200282707"/>
                  </a:ext>
                </a:extLst>
              </a:tr>
            </a:tbl>
          </a:graphicData>
        </a:graphic>
      </p:graphicFrame>
      <p:graphicFrame>
        <p:nvGraphicFramePr>
          <p:cNvPr id="14" name="Table 13">
            <a:extLst>
              <a:ext uri="{FF2B5EF4-FFF2-40B4-BE49-F238E27FC236}">
                <a16:creationId xmlns:a16="http://schemas.microsoft.com/office/drawing/2014/main" id="{0C14080D-C470-C672-9498-35266751ECCB}"/>
              </a:ext>
            </a:extLst>
          </p:cNvPr>
          <p:cNvGraphicFramePr>
            <a:graphicFrameLocks noGrp="1"/>
          </p:cNvGraphicFramePr>
          <p:nvPr/>
        </p:nvGraphicFramePr>
        <p:xfrm>
          <a:off x="2957455" y="5282019"/>
          <a:ext cx="397398" cy="182880"/>
        </p:xfrm>
        <a:graphic>
          <a:graphicData uri="http://schemas.openxmlformats.org/drawingml/2006/table">
            <a:tbl>
              <a:tblPr/>
              <a:tblGrid>
                <a:gridCol w="397398">
                  <a:extLst>
                    <a:ext uri="{9D8B030D-6E8A-4147-A177-3AD203B41FA5}">
                      <a16:colId xmlns:a16="http://schemas.microsoft.com/office/drawing/2014/main" val="1677609462"/>
                    </a:ext>
                  </a:extLst>
                </a:gridCol>
              </a:tblGrid>
              <a:tr h="182880">
                <a:tc>
                  <a:txBody>
                    <a:bodyPr/>
                    <a:lstStyle/>
                    <a:p>
                      <a:pPr algn="ctr" fontAlgn="b">
                        <a:buNone/>
                      </a:pPr>
                      <a:r>
                        <a:rPr lang="en-RW" sz="1100" b="1" i="0" u="none" strike="noStrike" dirty="0">
                          <a:solidFill>
                            <a:srgbClr val="000000"/>
                          </a:solidFill>
                          <a:effectLst/>
                          <a:latin typeface="Aptos Narrow" panose="020B0004020202020204" pitchFamily="34" charset="0"/>
                        </a:rPr>
                        <a:t>33%</a:t>
                      </a:r>
                    </a:p>
                  </a:txBody>
                  <a:tcPr marL="4967" marR="4967" marT="7620" marB="0" anchor="b">
                    <a:lnL>
                      <a:noFill/>
                    </a:lnL>
                    <a:lnR>
                      <a:noFill/>
                    </a:lnR>
                    <a:lnT>
                      <a:noFill/>
                    </a:lnT>
                    <a:lnB>
                      <a:noFill/>
                    </a:lnB>
                    <a:noFill/>
                  </a:tcPr>
                </a:tc>
                <a:extLst>
                  <a:ext uri="{0D108BD9-81ED-4DB2-BD59-A6C34878D82A}">
                    <a16:rowId xmlns:a16="http://schemas.microsoft.com/office/drawing/2014/main" val="1655721544"/>
                  </a:ext>
                </a:extLst>
              </a:tr>
            </a:tbl>
          </a:graphicData>
        </a:graphic>
      </p:graphicFrame>
      <p:graphicFrame>
        <p:nvGraphicFramePr>
          <p:cNvPr id="15" name="Table 14">
            <a:extLst>
              <a:ext uri="{FF2B5EF4-FFF2-40B4-BE49-F238E27FC236}">
                <a16:creationId xmlns:a16="http://schemas.microsoft.com/office/drawing/2014/main" id="{1DBBF8ED-9252-BA6A-4A53-61CCEEDD5186}"/>
              </a:ext>
            </a:extLst>
          </p:cNvPr>
          <p:cNvGraphicFramePr>
            <a:graphicFrameLocks noGrp="1"/>
          </p:cNvGraphicFramePr>
          <p:nvPr/>
        </p:nvGraphicFramePr>
        <p:xfrm>
          <a:off x="4143443" y="5570160"/>
          <a:ext cx="349176" cy="182880"/>
        </p:xfrm>
        <a:graphic>
          <a:graphicData uri="http://schemas.openxmlformats.org/drawingml/2006/table">
            <a:tbl>
              <a:tblPr/>
              <a:tblGrid>
                <a:gridCol w="349176">
                  <a:extLst>
                    <a:ext uri="{9D8B030D-6E8A-4147-A177-3AD203B41FA5}">
                      <a16:colId xmlns:a16="http://schemas.microsoft.com/office/drawing/2014/main" val="106896454"/>
                    </a:ext>
                  </a:extLst>
                </a:gridCol>
              </a:tblGrid>
              <a:tr h="182880">
                <a:tc>
                  <a:txBody>
                    <a:bodyPr/>
                    <a:lstStyle/>
                    <a:p>
                      <a:pPr algn="ctr" fontAlgn="b">
                        <a:buNone/>
                      </a:pPr>
                      <a:r>
                        <a:rPr lang="en-RW" sz="1100" b="1" i="0" u="none" strike="noStrike" dirty="0">
                          <a:solidFill>
                            <a:srgbClr val="000000"/>
                          </a:solidFill>
                          <a:effectLst/>
                          <a:latin typeface="Aptos Narrow" panose="020B0004020202020204" pitchFamily="34" charset="0"/>
                        </a:rPr>
                        <a:t>25%</a:t>
                      </a:r>
                    </a:p>
                  </a:txBody>
                  <a:tcPr marL="4364" marR="4364" marT="7620" marB="0" anchor="b">
                    <a:lnL>
                      <a:noFill/>
                    </a:lnL>
                    <a:lnR>
                      <a:noFill/>
                    </a:lnR>
                    <a:lnT>
                      <a:noFill/>
                    </a:lnT>
                    <a:lnB>
                      <a:noFill/>
                    </a:lnB>
                    <a:noFill/>
                  </a:tcPr>
                </a:tc>
                <a:extLst>
                  <a:ext uri="{0D108BD9-81ED-4DB2-BD59-A6C34878D82A}">
                    <a16:rowId xmlns:a16="http://schemas.microsoft.com/office/drawing/2014/main" val="3654577163"/>
                  </a:ext>
                </a:extLst>
              </a:tr>
            </a:tbl>
          </a:graphicData>
        </a:graphic>
      </p:graphicFrame>
      <p:graphicFrame>
        <p:nvGraphicFramePr>
          <p:cNvPr id="16" name="Table 15">
            <a:extLst>
              <a:ext uri="{FF2B5EF4-FFF2-40B4-BE49-F238E27FC236}">
                <a16:creationId xmlns:a16="http://schemas.microsoft.com/office/drawing/2014/main" id="{3C21F363-8B13-0E0F-6B7E-18A614D5D62D}"/>
              </a:ext>
            </a:extLst>
          </p:cNvPr>
          <p:cNvGraphicFramePr>
            <a:graphicFrameLocks noGrp="1"/>
          </p:cNvGraphicFramePr>
          <p:nvPr/>
        </p:nvGraphicFramePr>
        <p:xfrm>
          <a:off x="5266476" y="5975055"/>
          <a:ext cx="374366" cy="182880"/>
        </p:xfrm>
        <a:graphic>
          <a:graphicData uri="http://schemas.openxmlformats.org/drawingml/2006/table">
            <a:tbl>
              <a:tblPr/>
              <a:tblGrid>
                <a:gridCol w="374366">
                  <a:extLst>
                    <a:ext uri="{9D8B030D-6E8A-4147-A177-3AD203B41FA5}">
                      <a16:colId xmlns:a16="http://schemas.microsoft.com/office/drawing/2014/main" val="1660325472"/>
                    </a:ext>
                  </a:extLst>
                </a:gridCol>
              </a:tblGrid>
              <a:tr h="182880">
                <a:tc>
                  <a:txBody>
                    <a:bodyPr/>
                    <a:lstStyle/>
                    <a:p>
                      <a:pPr algn="ctr" fontAlgn="b">
                        <a:buNone/>
                      </a:pPr>
                      <a:r>
                        <a:rPr lang="en-RW" sz="1100" b="1" i="0" u="none" strike="noStrike" dirty="0">
                          <a:solidFill>
                            <a:srgbClr val="000000"/>
                          </a:solidFill>
                          <a:effectLst/>
                          <a:latin typeface="Aptos Narrow" panose="020B0004020202020204" pitchFamily="34" charset="0"/>
                        </a:rPr>
                        <a:t>5%</a:t>
                      </a:r>
                    </a:p>
                  </a:txBody>
                  <a:tcPr marL="4679" marR="4679" marT="7620" marB="0" anchor="b">
                    <a:lnL>
                      <a:noFill/>
                    </a:lnL>
                    <a:lnR>
                      <a:noFill/>
                    </a:lnR>
                    <a:lnT>
                      <a:noFill/>
                    </a:lnT>
                    <a:lnB>
                      <a:noFill/>
                    </a:lnB>
                    <a:noFill/>
                  </a:tcPr>
                </a:tc>
                <a:extLst>
                  <a:ext uri="{0D108BD9-81ED-4DB2-BD59-A6C34878D82A}">
                    <a16:rowId xmlns:a16="http://schemas.microsoft.com/office/drawing/2014/main" val="990440072"/>
                  </a:ext>
                </a:extLst>
              </a:tr>
            </a:tbl>
          </a:graphicData>
        </a:graphic>
      </p:graphicFrame>
    </p:spTree>
    <p:extLst>
      <p:ext uri="{BB962C8B-B14F-4D97-AF65-F5344CB8AC3E}">
        <p14:creationId xmlns:p14="http://schemas.microsoft.com/office/powerpoint/2010/main" val="1309819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A9BA5-4440-C7AE-93E8-30A3ADAD137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FC8C786-07AD-0568-2502-472239DCE2A6}"/>
              </a:ext>
            </a:extLst>
          </p:cNvPr>
          <p:cNvSpPr txBox="1">
            <a:spLocks/>
          </p:cNvSpPr>
          <p:nvPr/>
        </p:nvSpPr>
        <p:spPr>
          <a:xfrm>
            <a:off x="177156" y="46695"/>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&amp; EVENT BUDGET</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nl-NL" sz="18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2027 BUDGET ALLOCATION</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must we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Spend?</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graphicFrame>
        <p:nvGraphicFramePr>
          <p:cNvPr id="2" name="Chart 1">
            <a:extLst>
              <a:ext uri="{FF2B5EF4-FFF2-40B4-BE49-F238E27FC236}">
                <a16:creationId xmlns:a16="http://schemas.microsoft.com/office/drawing/2014/main" id="{D31F0E2A-11EA-7DA7-6E33-3EBAD738EC03}"/>
              </a:ext>
            </a:extLst>
          </p:cNvPr>
          <p:cNvGraphicFramePr>
            <a:graphicFrameLocks/>
          </p:cNvGraphicFramePr>
          <p:nvPr/>
        </p:nvGraphicFramePr>
        <p:xfrm>
          <a:off x="255640" y="855409"/>
          <a:ext cx="5712717" cy="3942736"/>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C231A9D6-3300-4334-8731-140AEB7BAD64}"/>
              </a:ext>
            </a:extLst>
          </p:cNvPr>
          <p:cNvSpPr txBox="1"/>
          <p:nvPr/>
        </p:nvSpPr>
        <p:spPr>
          <a:xfrm>
            <a:off x="221408" y="5022051"/>
            <a:ext cx="5747550" cy="1398413"/>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RW"/>
            </a:defPPr>
            <a:lvl1pPr indent="0" defTabSz="457200">
              <a:defRPr sz="1200" b="1" u="sng">
                <a:solidFill>
                  <a:prstClr val="black"/>
                </a:solidFill>
                <a:latin typeface="Aptos" panose="020B0004020202020204" pitchFamily="34" charset="0"/>
              </a:defRPr>
            </a:lvl1pPr>
            <a:lvl2pPr indent="0" defTabSz="457200">
              <a:defRPr>
                <a:solidFill>
                  <a:sysClr val="window" lastClr="FFFFFF"/>
                </a:solidFill>
                <a:latin typeface="Calibri" panose="020F0502020204030204"/>
              </a:defRPr>
            </a:lvl2pPr>
            <a:lvl3pPr indent="0" defTabSz="457200">
              <a:defRPr>
                <a:solidFill>
                  <a:sysClr val="window" lastClr="FFFFFF"/>
                </a:solidFill>
                <a:latin typeface="Calibri" panose="020F0502020204030204"/>
              </a:defRPr>
            </a:lvl3pPr>
            <a:lvl4pPr indent="0" defTabSz="457200">
              <a:defRPr>
                <a:solidFill>
                  <a:sysClr val="window" lastClr="FFFFFF"/>
                </a:solidFill>
                <a:latin typeface="Calibri" panose="020F0502020204030204"/>
              </a:defRPr>
            </a:lvl4pPr>
            <a:lvl5pPr indent="0" defTabSz="457200">
              <a:defRPr>
                <a:solidFill>
                  <a:sysClr val="window" lastClr="FFFFFF"/>
                </a:solidFill>
                <a:latin typeface="Calibri" panose="020F0502020204030204"/>
              </a:defRPr>
            </a:lvl5pPr>
            <a:lvl6pPr indent="0" defTabSz="457200">
              <a:defRPr>
                <a:solidFill>
                  <a:sysClr val="window" lastClr="FFFFFF"/>
                </a:solidFill>
                <a:latin typeface="Calibri" panose="020F0502020204030204"/>
              </a:defRPr>
            </a:lvl6pPr>
            <a:lvl7pPr indent="0" defTabSz="457200">
              <a:defRPr>
                <a:solidFill>
                  <a:sysClr val="window" lastClr="FFFFFF"/>
                </a:solidFill>
                <a:latin typeface="Calibri" panose="020F0502020204030204"/>
              </a:defRPr>
            </a:lvl7pPr>
            <a:lvl8pPr indent="0" defTabSz="457200">
              <a:defRPr>
                <a:solidFill>
                  <a:sysClr val="window" lastClr="FFFFFF"/>
                </a:solidFill>
                <a:latin typeface="Calibri" panose="020F0502020204030204"/>
              </a:defRPr>
            </a:lvl8pPr>
            <a:lvl9pPr indent="0" defTabSz="457200">
              <a:defRPr>
                <a:solidFill>
                  <a:sysClr val="window" lastClr="FFFFFF"/>
                </a:solidFill>
                <a:latin typeface="Calibri" panose="020F050202020403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RW"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Key observation</a:t>
            </a:r>
            <a:endParaRPr kumimoji="0" lang="en-US"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RW"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BTL budget allocation</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Classy (34%), Premium (27%) and Basic (26%) account for 87% of spending.</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RW"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Return on investment</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Monitor the impact of BTL activities on outlet performance</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and incremental sales.</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2" name="TextBox 21">
            <a:extLst>
              <a:ext uri="{FF2B5EF4-FFF2-40B4-BE49-F238E27FC236}">
                <a16:creationId xmlns:a16="http://schemas.microsoft.com/office/drawing/2014/main" id="{88C581B3-A13C-FCEB-AAEB-CEE63DE879AD}"/>
              </a:ext>
            </a:extLst>
          </p:cNvPr>
          <p:cNvSpPr txBox="1"/>
          <p:nvPr/>
        </p:nvSpPr>
        <p:spPr>
          <a:xfrm>
            <a:off x="563879" y="6507289"/>
            <a:ext cx="11064240" cy="264688"/>
          </a:xfrm>
          <a:prstGeom prst="rect">
            <a:avLst/>
          </a:prstGeom>
          <a:noFill/>
        </p:spPr>
        <p:txBody>
          <a:bodyPr wrap="square" lIns="54864" tIns="54864" rIns="54864" bIns="5486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1" i="1" u="none">
                <a:solidFill>
                  <a:srgbClr val="225B3E"/>
                </a:solidFill>
                <a:latin typeface="Arial"/>
              </a:defRPr>
            </a:pPr>
            <a:r>
              <a:rPr kumimoji="0" lang="en-US" sz="1000" b="1" i="1" u="none" strike="noStrike" kern="1200" cap="none" spc="0" normalizeH="0" baseline="0" noProof="0" dirty="0">
                <a:ln>
                  <a:noFill/>
                </a:ln>
                <a:solidFill>
                  <a:srgbClr val="225B3E"/>
                </a:solidFill>
                <a:effectLst/>
                <a:uLnTx/>
                <a:uFillTx/>
                <a:latin typeface="Arial"/>
                <a:ea typeface="+mn-ea"/>
                <a:cs typeface="+mn-cs"/>
              </a:rPr>
              <a:t>Management takeaway: Concentrate investment where outlet importance and execution potential are highest; prioritize trackable activities that can generate incremental sales.</a:t>
            </a:r>
          </a:p>
        </p:txBody>
      </p:sp>
      <p:graphicFrame>
        <p:nvGraphicFramePr>
          <p:cNvPr id="5" name="Chart 4">
            <a:extLst>
              <a:ext uri="{FF2B5EF4-FFF2-40B4-BE49-F238E27FC236}">
                <a16:creationId xmlns:a16="http://schemas.microsoft.com/office/drawing/2014/main" id="{D2E795EC-1FAF-33DB-D7C8-5CC42703E7BB}"/>
              </a:ext>
            </a:extLst>
          </p:cNvPr>
          <p:cNvGraphicFramePr>
            <a:graphicFrameLocks/>
          </p:cNvGraphicFramePr>
          <p:nvPr/>
        </p:nvGraphicFramePr>
        <p:xfrm>
          <a:off x="6223644" y="855410"/>
          <a:ext cx="5712717" cy="13961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e 5">
            <a:extLst>
              <a:ext uri="{FF2B5EF4-FFF2-40B4-BE49-F238E27FC236}">
                <a16:creationId xmlns:a16="http://schemas.microsoft.com/office/drawing/2014/main" id="{B6B1EE10-B17D-C677-D2F9-FA0EF88C823B}"/>
              </a:ext>
            </a:extLst>
          </p:cNvPr>
          <p:cNvGraphicFramePr>
            <a:graphicFrameLocks noGrp="1"/>
          </p:cNvGraphicFramePr>
          <p:nvPr/>
        </p:nvGraphicFramePr>
        <p:xfrm>
          <a:off x="8710501" y="1816681"/>
          <a:ext cx="1397936" cy="192266"/>
        </p:xfrm>
        <a:graphic>
          <a:graphicData uri="http://schemas.openxmlformats.org/drawingml/2006/table">
            <a:tbl>
              <a:tblPr/>
              <a:tblGrid>
                <a:gridCol w="349484">
                  <a:extLst>
                    <a:ext uri="{9D8B030D-6E8A-4147-A177-3AD203B41FA5}">
                      <a16:colId xmlns:a16="http://schemas.microsoft.com/office/drawing/2014/main" val="1467310614"/>
                    </a:ext>
                  </a:extLst>
                </a:gridCol>
                <a:gridCol w="349484">
                  <a:extLst>
                    <a:ext uri="{9D8B030D-6E8A-4147-A177-3AD203B41FA5}">
                      <a16:colId xmlns:a16="http://schemas.microsoft.com/office/drawing/2014/main" val="883148942"/>
                    </a:ext>
                  </a:extLst>
                </a:gridCol>
                <a:gridCol w="349484">
                  <a:extLst>
                    <a:ext uri="{9D8B030D-6E8A-4147-A177-3AD203B41FA5}">
                      <a16:colId xmlns:a16="http://schemas.microsoft.com/office/drawing/2014/main" val="2720006092"/>
                    </a:ext>
                  </a:extLst>
                </a:gridCol>
                <a:gridCol w="349484">
                  <a:extLst>
                    <a:ext uri="{9D8B030D-6E8A-4147-A177-3AD203B41FA5}">
                      <a16:colId xmlns:a16="http://schemas.microsoft.com/office/drawing/2014/main" val="1265555182"/>
                    </a:ext>
                  </a:extLst>
                </a:gridCol>
              </a:tblGrid>
              <a:tr h="192266">
                <a:tc>
                  <a:txBody>
                    <a:bodyPr/>
                    <a:lstStyle/>
                    <a:p>
                      <a:pPr algn="ctr" fontAlgn="ctr">
                        <a:buNone/>
                      </a:pPr>
                      <a:endParaRPr lang="en-RW" sz="1200" b="0" i="0" u="none" strike="noStrike" dirty="0">
                        <a:solidFill>
                          <a:schemeClr val="tx1"/>
                        </a:solidFill>
                        <a:effectLst/>
                        <a:latin typeface="Times New Roman" panose="02020603050405020304" pitchFamily="18" charset="0"/>
                      </a:endParaRPr>
                    </a:p>
                  </a:txBody>
                  <a:tcPr marL="8335" marR="8335" marT="5710" marB="0" anchor="ctr">
                    <a:lnL>
                      <a:noFill/>
                    </a:lnL>
                    <a:lnR>
                      <a:noFill/>
                    </a:lnR>
                    <a:lnT>
                      <a:noFill/>
                    </a:lnT>
                    <a:lnB>
                      <a:noFill/>
                    </a:lnB>
                    <a:noFill/>
                  </a:tcPr>
                </a:tc>
                <a:tc>
                  <a:txBody>
                    <a:bodyPr/>
                    <a:lstStyle/>
                    <a:p>
                      <a:pPr algn="ctr" fontAlgn="ctr">
                        <a:buNone/>
                      </a:pPr>
                      <a:r>
                        <a:rPr lang="en-RW" sz="1200" b="0" i="0" u="none" strike="noStrike" dirty="0">
                          <a:solidFill>
                            <a:schemeClr val="tx1"/>
                          </a:solidFill>
                          <a:effectLst/>
                          <a:latin typeface="Times New Roman" panose="02020603050405020304" pitchFamily="18" charset="0"/>
                        </a:rPr>
                        <a:t>44%</a:t>
                      </a:r>
                    </a:p>
                  </a:txBody>
                  <a:tcPr marL="8335" marR="8335" marT="5710" marB="0" anchor="ctr">
                    <a:lnL>
                      <a:noFill/>
                    </a:lnL>
                    <a:lnR>
                      <a:noFill/>
                    </a:lnR>
                    <a:lnT>
                      <a:noFill/>
                    </a:lnT>
                    <a:lnB>
                      <a:noFill/>
                    </a:lnB>
                    <a:noFill/>
                  </a:tcPr>
                </a:tc>
                <a:tc>
                  <a:txBody>
                    <a:bodyPr/>
                    <a:lstStyle/>
                    <a:p>
                      <a:pPr algn="ctr" fontAlgn="ctr">
                        <a:buNone/>
                      </a:pPr>
                      <a:endParaRPr lang="en-RW" sz="1200" b="0" i="0" u="none" strike="noStrike" dirty="0">
                        <a:solidFill>
                          <a:schemeClr val="tx1"/>
                        </a:solidFill>
                        <a:effectLst/>
                        <a:latin typeface="Times New Roman" panose="02020603050405020304" pitchFamily="18" charset="0"/>
                      </a:endParaRPr>
                    </a:p>
                  </a:txBody>
                  <a:tcPr marL="8335" marR="8335" marT="5710" marB="0" anchor="ctr">
                    <a:lnL>
                      <a:noFill/>
                    </a:lnL>
                    <a:lnR>
                      <a:noFill/>
                    </a:lnR>
                    <a:lnT>
                      <a:noFill/>
                    </a:lnT>
                    <a:lnB>
                      <a:noFill/>
                    </a:lnB>
                    <a:noFill/>
                  </a:tcPr>
                </a:tc>
                <a:tc>
                  <a:txBody>
                    <a:bodyPr/>
                    <a:lstStyle/>
                    <a:p>
                      <a:pPr algn="ctr" fontAlgn="ctr">
                        <a:buNone/>
                      </a:pPr>
                      <a:endParaRPr lang="en-RW" sz="1200" b="0" i="0" u="none" strike="noStrike" dirty="0">
                        <a:solidFill>
                          <a:schemeClr val="tx1"/>
                        </a:solidFill>
                        <a:effectLst/>
                        <a:latin typeface="Times New Roman" panose="02020603050405020304" pitchFamily="18" charset="0"/>
                      </a:endParaRPr>
                    </a:p>
                  </a:txBody>
                  <a:tcPr marL="8335" marR="8335" marT="5710" marB="0" anchor="ctr">
                    <a:lnL>
                      <a:noFill/>
                    </a:lnL>
                    <a:lnR>
                      <a:noFill/>
                    </a:lnR>
                    <a:lnT>
                      <a:noFill/>
                    </a:lnT>
                    <a:lnB>
                      <a:noFill/>
                    </a:lnB>
                    <a:noFill/>
                  </a:tcPr>
                </a:tc>
                <a:extLst>
                  <a:ext uri="{0D108BD9-81ED-4DB2-BD59-A6C34878D82A}">
                    <a16:rowId xmlns:a16="http://schemas.microsoft.com/office/drawing/2014/main" val="4087530379"/>
                  </a:ext>
                </a:extLst>
              </a:tr>
            </a:tbl>
          </a:graphicData>
        </a:graphic>
      </p:graphicFrame>
      <p:graphicFrame>
        <p:nvGraphicFramePr>
          <p:cNvPr id="8" name="Table 7">
            <a:extLst>
              <a:ext uri="{FF2B5EF4-FFF2-40B4-BE49-F238E27FC236}">
                <a16:creationId xmlns:a16="http://schemas.microsoft.com/office/drawing/2014/main" id="{2D5C3937-5D40-478A-35F7-0C883F9CBAEB}"/>
              </a:ext>
            </a:extLst>
          </p:cNvPr>
          <p:cNvGraphicFramePr>
            <a:graphicFrameLocks noGrp="1"/>
          </p:cNvGraphicFramePr>
          <p:nvPr/>
        </p:nvGraphicFramePr>
        <p:xfrm>
          <a:off x="8710501" y="1386847"/>
          <a:ext cx="1092200" cy="228600"/>
        </p:xfrm>
        <a:graphic>
          <a:graphicData uri="http://schemas.openxmlformats.org/drawingml/2006/table">
            <a:tbl>
              <a:tblPr/>
              <a:tblGrid>
                <a:gridCol w="1092200">
                  <a:extLst>
                    <a:ext uri="{9D8B030D-6E8A-4147-A177-3AD203B41FA5}">
                      <a16:colId xmlns:a16="http://schemas.microsoft.com/office/drawing/2014/main" val="3070934424"/>
                    </a:ext>
                  </a:extLst>
                </a:gridCol>
              </a:tblGrid>
              <a:tr h="228600">
                <a:tc>
                  <a:txBody>
                    <a:bodyPr/>
                    <a:lstStyle/>
                    <a:p>
                      <a:pPr algn="ctr" fontAlgn="ctr">
                        <a:buNone/>
                      </a:pPr>
                      <a:r>
                        <a:rPr lang="en-RW" sz="1200" b="0" i="0" u="none" strike="noStrike" dirty="0">
                          <a:solidFill>
                            <a:schemeClr val="tx1"/>
                          </a:solidFill>
                          <a:effectLst/>
                          <a:latin typeface="Times New Roman" panose="02020603050405020304" pitchFamily="18" charset="0"/>
                        </a:rPr>
                        <a:t>56%</a:t>
                      </a:r>
                    </a:p>
                  </a:txBody>
                  <a:tcPr marL="7620" marR="7620" marT="7620" marB="0" anchor="ctr">
                    <a:lnL>
                      <a:noFill/>
                    </a:lnL>
                    <a:lnR>
                      <a:noFill/>
                    </a:lnR>
                    <a:lnT>
                      <a:noFill/>
                    </a:lnT>
                    <a:lnB>
                      <a:noFill/>
                    </a:lnB>
                    <a:noFill/>
                  </a:tcPr>
                </a:tc>
                <a:extLst>
                  <a:ext uri="{0D108BD9-81ED-4DB2-BD59-A6C34878D82A}">
                    <a16:rowId xmlns:a16="http://schemas.microsoft.com/office/drawing/2014/main" val="952171879"/>
                  </a:ext>
                </a:extLst>
              </a:tr>
            </a:tbl>
          </a:graphicData>
        </a:graphic>
      </p:graphicFrame>
      <p:graphicFrame>
        <p:nvGraphicFramePr>
          <p:cNvPr id="10" name="Chart 9">
            <a:extLst>
              <a:ext uri="{FF2B5EF4-FFF2-40B4-BE49-F238E27FC236}">
                <a16:creationId xmlns:a16="http://schemas.microsoft.com/office/drawing/2014/main" id="{19F6C9E4-81A1-D64F-701F-FAD69D26C2E2}"/>
              </a:ext>
            </a:extLst>
          </p:cNvPr>
          <p:cNvGraphicFramePr>
            <a:graphicFrameLocks/>
          </p:cNvGraphicFramePr>
          <p:nvPr/>
        </p:nvGraphicFramePr>
        <p:xfrm>
          <a:off x="6223644" y="2371022"/>
          <a:ext cx="5712717" cy="2427123"/>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16">
            <a:extLst>
              <a:ext uri="{FF2B5EF4-FFF2-40B4-BE49-F238E27FC236}">
                <a16:creationId xmlns:a16="http://schemas.microsoft.com/office/drawing/2014/main" id="{C3DFB85A-7F5E-74BA-640C-3FF5A31F6FEB}"/>
              </a:ext>
            </a:extLst>
          </p:cNvPr>
          <p:cNvSpPr txBox="1"/>
          <p:nvPr/>
        </p:nvSpPr>
        <p:spPr>
          <a:xfrm>
            <a:off x="6223644" y="5022051"/>
            <a:ext cx="5712717" cy="1398413"/>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RW"/>
            </a:defPPr>
            <a:lvl1pPr indent="0" defTabSz="457200">
              <a:defRPr sz="1200" b="1" u="sng">
                <a:solidFill>
                  <a:prstClr val="black"/>
                </a:solidFill>
                <a:latin typeface="Aptos" panose="020B0004020202020204" pitchFamily="34" charset="0"/>
              </a:defRPr>
            </a:lvl1pPr>
            <a:lvl2pPr indent="0" defTabSz="457200">
              <a:defRPr>
                <a:solidFill>
                  <a:sysClr val="window" lastClr="FFFFFF"/>
                </a:solidFill>
                <a:latin typeface="Calibri" panose="020F0502020204030204"/>
              </a:defRPr>
            </a:lvl2pPr>
            <a:lvl3pPr indent="0" defTabSz="457200">
              <a:defRPr>
                <a:solidFill>
                  <a:sysClr val="window" lastClr="FFFFFF"/>
                </a:solidFill>
                <a:latin typeface="Calibri" panose="020F0502020204030204"/>
              </a:defRPr>
            </a:lvl3pPr>
            <a:lvl4pPr indent="0" defTabSz="457200">
              <a:defRPr>
                <a:solidFill>
                  <a:sysClr val="window" lastClr="FFFFFF"/>
                </a:solidFill>
                <a:latin typeface="Calibri" panose="020F0502020204030204"/>
              </a:defRPr>
            </a:lvl4pPr>
            <a:lvl5pPr indent="0" defTabSz="457200">
              <a:defRPr>
                <a:solidFill>
                  <a:sysClr val="window" lastClr="FFFFFF"/>
                </a:solidFill>
                <a:latin typeface="Calibri" panose="020F0502020204030204"/>
              </a:defRPr>
            </a:lvl5pPr>
            <a:lvl6pPr indent="0" defTabSz="457200">
              <a:defRPr>
                <a:solidFill>
                  <a:sysClr val="window" lastClr="FFFFFF"/>
                </a:solidFill>
                <a:latin typeface="Calibri" panose="020F0502020204030204"/>
              </a:defRPr>
            </a:lvl6pPr>
            <a:lvl7pPr indent="0" defTabSz="457200">
              <a:defRPr>
                <a:solidFill>
                  <a:sysClr val="window" lastClr="FFFFFF"/>
                </a:solidFill>
                <a:latin typeface="Calibri" panose="020F0502020204030204"/>
              </a:defRPr>
            </a:lvl7pPr>
            <a:lvl8pPr indent="0" defTabSz="457200">
              <a:defRPr>
                <a:solidFill>
                  <a:sysClr val="window" lastClr="FFFFFF"/>
                </a:solidFill>
                <a:latin typeface="Calibri" panose="020F0502020204030204"/>
              </a:defRPr>
            </a:lvl8pPr>
            <a:lvl9pPr indent="0" defTabSz="457200">
              <a:defRPr>
                <a:solidFill>
                  <a:sysClr val="window" lastClr="FFFFFF"/>
                </a:solidFill>
                <a:latin typeface="Calibri" panose="020F050202020403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RW"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Key observation</a:t>
            </a:r>
            <a:endParaRPr kumimoji="0" lang="en-US"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Budget split: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Trade Marketing represents 56% and Events 44% of the total budget.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Execution control</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Track POSM deployment, outlet compliance and asset utilization to protect SBL Investment in POS.</a:t>
            </a:r>
          </a:p>
        </p:txBody>
      </p:sp>
    </p:spTree>
    <p:extLst>
      <p:ext uri="{BB962C8B-B14F-4D97-AF65-F5344CB8AC3E}">
        <p14:creationId xmlns:p14="http://schemas.microsoft.com/office/powerpoint/2010/main" val="40303902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62D81A7F-5D05-41DC-9C59-EF2472CD6F20}"/>
              </a:ext>
            </a:extLst>
          </p:cNvPr>
          <p:cNvSpPr txBox="1">
            <a:spLocks/>
          </p:cNvSpPr>
          <p:nvPr/>
        </p:nvSpPr>
        <p:spPr>
          <a:xfrm>
            <a:off x="418322" y="1079298"/>
            <a:ext cx="11355355" cy="5468986"/>
          </a:xfrm>
          <a:prstGeom prst="rect">
            <a:avLst/>
          </a:prstGeom>
        </p:spPr>
        <p:txBody>
          <a:bodyPr vert="horz" lIns="68580" tIns="34290" rIns="68580" bIns="34290" rtlCol="0" anchor="t">
            <a:noAutofit/>
          </a:bodyPr>
          <a:lstStyle>
            <a:lvl1pPr algn="ctr" defTabSz="457200" rtl="0" eaLnBrk="1" latinLnBrk="0" hangingPunct="1">
              <a:spcBef>
                <a:spcPct val="0"/>
              </a:spcBef>
              <a:buNone/>
              <a:defRPr sz="8000" b="0" i="0" kern="1200">
                <a:solidFill>
                  <a:srgbClr val="D22418"/>
                </a:solidFill>
                <a:latin typeface="HelveticaNeueLT Std Bold"/>
                <a:ea typeface="+mj-ea"/>
                <a:cs typeface="HelveticaNeueLT Std Bold"/>
              </a:defRPr>
            </a:lvl1pPr>
          </a:lstStyle>
          <a:p>
            <a:pPr marL="0" marR="0" lvl="0" indent="0" algn="ctr" defTabSz="457200" rtl="0" eaLnBrk="1" fontAlgn="auto" latinLnBrk="0" hangingPunct="1">
              <a:lnSpc>
                <a:spcPct val="15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endParaRPr>
          </a:p>
          <a:p>
            <a:pPr marL="0" marR="0" lvl="0" indent="0" algn="ctr" defTabSz="457200" rtl="0" eaLnBrk="1" fontAlgn="auto" latinLnBrk="0" hangingPunct="1">
              <a:lnSpc>
                <a:spcPct val="15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EVENT</a:t>
            </a:r>
          </a:p>
          <a:p>
            <a:pPr marL="0" marR="0" lvl="0" indent="0" algn="ctr" defTabSz="457200" rtl="0" eaLnBrk="1" fontAlgn="auto" latinLnBrk="0" hangingPunct="1">
              <a:lnSpc>
                <a:spcPct val="150000"/>
              </a:lnSpc>
              <a:spcBef>
                <a:spcPct val="0"/>
              </a:spcBef>
              <a:spcAft>
                <a:spcPts val="0"/>
              </a:spcAft>
              <a:buClrTx/>
              <a:buSzTx/>
              <a:buFontTx/>
              <a:buNone/>
              <a:tabLst/>
              <a:defRPr/>
            </a:pPr>
            <a:endParaRPr lang="en-US" sz="40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Calibri" panose="020F0502020204030204" pitchFamily="34" charset="0"/>
            </a:endParaRPr>
          </a:p>
          <a:p>
            <a:pPr marL="0" marR="0" lvl="0" indent="0" algn="ctr" defTabSz="457200" rtl="0" eaLnBrk="1" fontAlgn="auto" latinLnBrk="0" hangingPunct="1">
              <a:lnSpc>
                <a:spcPct val="15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QRM</a:t>
            </a:r>
            <a:r>
              <a:rPr lang="en-US" sz="18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Calibri" panose="020F0502020204030204" pitchFamily="34" charset="0"/>
              </a:rPr>
              <a:t> </a:t>
            </a:r>
            <a:r>
              <a:rPr kumimoji="0" lang="en-US" sz="18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October</a:t>
            </a:r>
            <a:r>
              <a:rPr lang="en-US" sz="18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Calibri" panose="020F0502020204030204" pitchFamily="34" charset="0"/>
              </a:rPr>
              <a:t> </a:t>
            </a:r>
            <a:r>
              <a:rPr kumimoji="0" lang="en-US" sz="18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2026</a:t>
            </a:r>
            <a:endPar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27936842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23900" y="254546"/>
            <a:ext cx="10744200" cy="489365"/>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700" b="1">
                <a:solidFill>
                  <a:srgbClr val="122A4B"/>
                </a:solidFill>
                <a:latin typeface="Aptos"/>
              </a:defRPr>
            </a:pPr>
            <a:r>
              <a:rPr kumimoji="0" lang="en-US" sz="2700" b="1" i="0" u="none" strike="noStrike" kern="1200" cap="none" spc="0" normalizeH="0" baseline="0" noProof="0" dirty="0">
                <a:ln>
                  <a:noFill/>
                </a:ln>
                <a:solidFill>
                  <a:srgbClr val="002060"/>
                </a:solidFill>
                <a:effectLst/>
                <a:uLnTx/>
                <a:uFillTx/>
                <a:latin typeface="Aptos"/>
                <a:ea typeface="+mn-ea"/>
                <a:cs typeface="+mn-cs"/>
              </a:rPr>
              <a:t>AGENDA</a:t>
            </a:r>
            <a:endParaRPr kumimoji="0" sz="2700" b="1" i="0" u="none" strike="noStrike" kern="1200" cap="none" spc="0" normalizeH="0" baseline="0" noProof="0" dirty="0">
              <a:ln>
                <a:noFill/>
              </a:ln>
              <a:solidFill>
                <a:srgbClr val="002060"/>
              </a:solidFill>
              <a:effectLst/>
              <a:uLnTx/>
              <a:uFillTx/>
              <a:latin typeface="Aptos"/>
              <a:ea typeface="+mn-ea"/>
              <a:cs typeface="+mn-cs"/>
            </a:endParaRPr>
          </a:p>
        </p:txBody>
      </p:sp>
      <p:sp>
        <p:nvSpPr>
          <p:cNvPr id="34" name="Rectangle 33">
            <a:extLst>
              <a:ext uri="{FF2B5EF4-FFF2-40B4-BE49-F238E27FC236}">
                <a16:creationId xmlns:a16="http://schemas.microsoft.com/office/drawing/2014/main" id="{669A06BB-C994-3B36-FDD4-D95C5B817A82}"/>
              </a:ext>
            </a:extLst>
          </p:cNvPr>
          <p:cNvSpPr/>
          <p:nvPr/>
        </p:nvSpPr>
        <p:spPr>
          <a:xfrm>
            <a:off x="646175" y="438659"/>
            <a:ext cx="10005753" cy="4969298"/>
          </a:xfrm>
          <a:prstGeom prst="rect">
            <a:avLst/>
          </a:prstGeom>
          <a:noFill/>
          <a:ln w="9525"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r>
              <a:rPr kumimoji="0" lang="en-RW"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Q3 2026</a:t>
            </a:r>
            <a:r>
              <a:rPr kumimoji="0" lang="en-US"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 </a:t>
            </a:r>
            <a:r>
              <a:rPr kumimoji="0" lang="en-RW"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PRIORITY ACTIVIT</a:t>
            </a:r>
            <a:r>
              <a:rPr kumimoji="0" lang="en-US"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IES REPORT </a:t>
            </a:r>
            <a:r>
              <a:rPr kumimoji="0" lang="nl-NL"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a:t>
            </a:r>
            <a:r>
              <a:rPr kumimoji="0" lang="en-US"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 </a:t>
            </a:r>
            <a:r>
              <a:rPr kumimoji="0" lang="en-RW" sz="1800" b="0" i="1" u="none" strike="noStrike" kern="1200" cap="none" spc="0" normalizeH="0" baseline="0" noProof="0" dirty="0">
                <a:ln>
                  <a:noFill/>
                </a:ln>
                <a:solidFill>
                  <a:srgbClr val="002060"/>
                </a:solidFill>
                <a:effectLst/>
                <a:uLnTx/>
                <a:uFillTx/>
                <a:latin typeface="Calibri" panose="020F0502020204030204"/>
                <a:ea typeface="+mn-ea"/>
                <a:cs typeface="+mn-cs"/>
              </a:rPr>
              <a:t>What did we deliver?</a:t>
            </a:r>
            <a:endParaRPr kumimoji="0" lang="en-US" sz="1800" b="0" i="1"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endParaRPr>
          </a:p>
          <a:p>
            <a:pPr marL="742950" marR="0" lvl="0" indent="-7429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endParaRPr kumimoji="0" lang="en-US"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endParaRP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r>
              <a:rPr kumimoji="0" lang="en-US"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Q4 2026: PRIORITY ACTIVITIES PLAN </a:t>
            </a:r>
            <a:r>
              <a:rPr kumimoji="0" lang="nl-NL"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 </a:t>
            </a:r>
            <a:r>
              <a:rPr kumimoji="0" lang="en-RW" sz="1800" b="0" i="1" u="none" strike="noStrike" kern="1200" cap="none" spc="0" normalizeH="0" baseline="0" noProof="0" dirty="0">
                <a:ln>
                  <a:noFill/>
                </a:ln>
                <a:solidFill>
                  <a:srgbClr val="002060"/>
                </a:solidFill>
                <a:effectLst/>
                <a:uLnTx/>
                <a:uFillTx/>
                <a:latin typeface="Calibri" panose="020F0502020204030204"/>
                <a:ea typeface="+mn-ea"/>
                <a:cs typeface="+mn-cs"/>
              </a:rPr>
              <a:t>What must we deliver to close 2026 strongly?</a:t>
            </a:r>
            <a:endParaRPr kumimoji="0" lang="nl-NL" sz="1800" b="1" i="1"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endParaRPr>
          </a:p>
          <a:p>
            <a:pPr marL="742950" marR="0" lvl="0" indent="-7429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endParaRPr kumimoji="0" lang="nl-NL"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endParaRP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r>
              <a:rPr kumimoji="0" lang="nl-NL"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HOW TO WIN AND WHAT TO DO IN 2027 –  </a:t>
            </a:r>
            <a:r>
              <a:rPr kumimoji="0" lang="nl-NL" sz="1800" b="0" i="1" u="none" strike="noStrike" kern="1200" cap="none" spc="0" normalizeH="0" baseline="0" noProof="0" dirty="0">
                <a:ln>
                  <a:noFill/>
                </a:ln>
                <a:solidFill>
                  <a:srgbClr val="002060"/>
                </a:solidFill>
                <a:effectLst/>
                <a:uLnTx/>
                <a:uFillTx/>
                <a:latin typeface="Calibri" panose="020F0502020204030204"/>
                <a:ea typeface="+mn-ea"/>
                <a:cs typeface="+mn-cs"/>
              </a:rPr>
              <a:t>Events Strategy</a:t>
            </a:r>
          </a:p>
          <a:p>
            <a:pPr marL="742950" marR="0" lvl="0" indent="-7429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endParaRPr kumimoji="0" lang="nl-NL"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endParaRP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r>
              <a:rPr kumimoji="0" lang="nl-NL" sz="1800" b="1" i="0" u="none" strike="noStrike" kern="1200" cap="none" spc="0" normalizeH="0" baseline="0" noProof="0" dirty="0">
                <a:ln>
                  <a:noFill/>
                </a:ln>
                <a:solidFill>
                  <a:srgbClr val="002060"/>
                </a:solidFill>
                <a:effectLst/>
                <a:uLnTx/>
                <a:uFillTx/>
                <a:latin typeface="Aptos" panose="020B0004020202020204" pitchFamily="34" charset="0"/>
                <a:ea typeface="Verdana" panose="020B0604030504040204" pitchFamily="34" charset="0"/>
                <a:cs typeface="Arial" panose="020B0604020202020204" pitchFamily="34" charset="0"/>
              </a:rPr>
              <a:t>BUDGET ALLOCATION IN 2027 – </a:t>
            </a:r>
            <a:r>
              <a:rPr kumimoji="0" lang="en-RW" sz="1800" b="0" i="1" u="none" strike="noStrike" kern="1200" cap="none" spc="0" normalizeH="0" baseline="0" noProof="0" dirty="0">
                <a:ln>
                  <a:noFill/>
                </a:ln>
                <a:solidFill>
                  <a:srgbClr val="002060"/>
                </a:solidFill>
                <a:effectLst/>
                <a:uLnTx/>
                <a:uFillTx/>
                <a:latin typeface="Calibri" panose="020F0502020204030204"/>
                <a:ea typeface="+mn-ea"/>
                <a:cs typeface="+mn-cs"/>
              </a:rPr>
              <a:t>By SKU × Brand × Category × Activity</a:t>
            </a:r>
            <a:endParaRPr kumimoji="0" lang="nl-NL" sz="1800" b="0" i="1"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C75F7FD2-98CF-B7FA-36DF-04394A114A8F}"/>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38" name="Straight Connector 37">
            <a:extLst>
              <a:ext uri="{FF2B5EF4-FFF2-40B4-BE49-F238E27FC236}">
                <a16:creationId xmlns:a16="http://schemas.microsoft.com/office/drawing/2014/main" id="{3A7FFC15-ECAA-68F0-5928-C7DB60E0D8E0}"/>
              </a:ext>
            </a:extLst>
          </p:cNvPr>
          <p:cNvCxnSpPr>
            <a:cxnSpLocks/>
          </p:cNvCxnSpPr>
          <p:nvPr/>
        </p:nvCxnSpPr>
        <p:spPr>
          <a:xfrm flipV="1">
            <a:off x="1184413" y="740664"/>
            <a:ext cx="10858235" cy="83429"/>
          </a:xfrm>
          <a:prstGeom prst="line">
            <a:avLst/>
          </a:prstGeom>
          <a:ln w="28575">
            <a:solidFill>
              <a:srgbClr val="FCF000"/>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7600" y="121158"/>
            <a:ext cx="4754880" cy="274320"/>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B9232A"/>
                </a:solidFill>
                <a:latin typeface="Aptos"/>
              </a:defRPr>
            </a:pPr>
            <a:r>
              <a:rPr kumimoji="0" sz="1100" b="1" i="0" u="none" strike="noStrike" kern="1200" cap="none" spc="0" normalizeH="0" baseline="0" noProof="0" dirty="0">
                <a:ln>
                  <a:noFill/>
                </a:ln>
                <a:solidFill>
                  <a:srgbClr val="B9232A"/>
                </a:solidFill>
                <a:effectLst/>
                <a:uLnTx/>
                <a:uFillTx/>
                <a:latin typeface="Aptos"/>
                <a:ea typeface="+mn-ea"/>
                <a:cs typeface="+mn-cs"/>
              </a:rPr>
              <a:t>Q3 RESULTS  /  Q4 PRIORITIES · 2026</a:t>
            </a:r>
          </a:p>
        </p:txBody>
      </p:sp>
      <p:sp>
        <p:nvSpPr>
          <p:cNvPr id="5" name="TextBox 4"/>
          <p:cNvSpPr txBox="1"/>
          <p:nvPr/>
        </p:nvSpPr>
        <p:spPr>
          <a:xfrm>
            <a:off x="723900" y="310896"/>
            <a:ext cx="10744200" cy="443198"/>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700" b="1">
                <a:solidFill>
                  <a:srgbClr val="122A4B"/>
                </a:solidFill>
                <a:latin typeface="Aptos"/>
              </a:defRPr>
            </a:pPr>
            <a:r>
              <a:rPr kumimoji="0" sz="2400" b="1" i="0" u="none" strike="noStrike" kern="1200" cap="none" spc="0" normalizeH="0" baseline="0" noProof="0" dirty="0">
                <a:ln>
                  <a:noFill/>
                </a:ln>
                <a:solidFill>
                  <a:srgbClr val="C00000"/>
                </a:solidFill>
                <a:effectLst/>
                <a:uLnTx/>
                <a:uFillTx/>
                <a:latin typeface="Aptos"/>
                <a:ea typeface="+mn-ea"/>
                <a:cs typeface="+mn-cs"/>
              </a:rPr>
              <a:t>SKOL MALT  </a:t>
            </a:r>
            <a:r>
              <a:rPr kumimoji="0" lang="en-US" sz="2400" b="1" i="0" u="none" strike="noStrike" kern="1200" cap="none" spc="0" normalizeH="0" baseline="0" noProof="0" dirty="0">
                <a:ln>
                  <a:noFill/>
                </a:ln>
                <a:solidFill>
                  <a:srgbClr val="C00000"/>
                </a:solidFill>
                <a:effectLst/>
                <a:uLnTx/>
                <a:uFillTx/>
                <a:latin typeface="Aptos"/>
                <a:ea typeface="+mn-ea"/>
                <a:cs typeface="+mn-cs"/>
              </a:rPr>
              <a:t>-</a:t>
            </a:r>
            <a:r>
              <a:rPr kumimoji="0" sz="2400" b="1" i="0" u="none" strike="noStrike" kern="1200" cap="none" spc="0" normalizeH="0" baseline="0" noProof="0" dirty="0">
                <a:ln>
                  <a:noFill/>
                </a:ln>
                <a:solidFill>
                  <a:srgbClr val="C00000"/>
                </a:solidFill>
                <a:effectLst/>
                <a:uLnTx/>
                <a:uFillTx/>
                <a:latin typeface="Aptos"/>
                <a:ea typeface="+mn-ea"/>
                <a:cs typeface="+mn-cs"/>
              </a:rPr>
              <a:t>  FOOTBALL AS A SALES ENGINE</a:t>
            </a:r>
          </a:p>
        </p:txBody>
      </p:sp>
      <p:sp>
        <p:nvSpPr>
          <p:cNvPr id="8" name="TextBox 7"/>
          <p:cNvSpPr txBox="1"/>
          <p:nvPr/>
        </p:nvSpPr>
        <p:spPr>
          <a:xfrm>
            <a:off x="640080" y="6537960"/>
            <a:ext cx="8229600" cy="210312"/>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566370"/>
                </a:solidFill>
                <a:latin typeface="Aptos"/>
              </a:defRPr>
            </a:pPr>
            <a:r>
              <a:rPr kumimoji="0" sz="900" b="0" i="0" u="none" strike="noStrike" kern="1200" cap="none" spc="0" normalizeH="0" baseline="0" noProof="0" dirty="0">
                <a:ln>
                  <a:noFill/>
                </a:ln>
                <a:solidFill>
                  <a:srgbClr val="566370"/>
                </a:solidFill>
                <a:effectLst/>
                <a:uLnTx/>
                <a:uFillTx/>
                <a:latin typeface="Aptos"/>
                <a:ea typeface="+mn-ea"/>
                <a:cs typeface="+mn-cs"/>
              </a:rPr>
              <a:t>EVENTS &amp; SPONSORSHIP  ·  </a:t>
            </a:r>
            <a:r>
              <a:rPr kumimoji="0" lang="en-US" sz="900" b="0" i="0" u="none" strike="noStrike" kern="1200" cap="none" spc="0" normalizeH="0" baseline="0" noProof="0" dirty="0">
                <a:ln>
                  <a:noFill/>
                </a:ln>
                <a:solidFill>
                  <a:srgbClr val="566370"/>
                </a:solidFill>
                <a:effectLst/>
                <a:uLnTx/>
                <a:uFillTx/>
                <a:latin typeface="Aptos"/>
                <a:ea typeface="+mn-ea"/>
                <a:cs typeface="+mn-cs"/>
              </a:rPr>
              <a:t>QRM</a:t>
            </a:r>
            <a:endParaRPr kumimoji="0" sz="900" b="0" i="0" u="none" strike="noStrike" kern="1200" cap="none" spc="0" normalizeH="0" baseline="0" noProof="0" dirty="0">
              <a:ln>
                <a:noFill/>
              </a:ln>
              <a:solidFill>
                <a:srgbClr val="566370"/>
              </a:solidFill>
              <a:effectLst/>
              <a:uLnTx/>
              <a:uFillTx/>
              <a:latin typeface="Aptos"/>
              <a:ea typeface="+mn-ea"/>
              <a:cs typeface="+mn-cs"/>
            </a:endParaRPr>
          </a:p>
        </p:txBody>
      </p:sp>
      <p:sp>
        <p:nvSpPr>
          <p:cNvPr id="11" name="Rounded Rectangle 10"/>
          <p:cNvSpPr/>
          <p:nvPr/>
        </p:nvSpPr>
        <p:spPr>
          <a:xfrm>
            <a:off x="340268" y="4378917"/>
            <a:ext cx="5515525" cy="1887902"/>
          </a:xfrm>
          <a:prstGeom prst="round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514004" y="4506932"/>
            <a:ext cx="5154163" cy="335476"/>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700" b="1">
                <a:solidFill>
                  <a:srgbClr val="122A4B"/>
                </a:solidFill>
                <a:latin typeface="Aptos"/>
              </a:defRPr>
            </a:pPr>
            <a:r>
              <a:rPr kumimoji="0" sz="1700" b="1" i="0" u="none" strike="noStrike" kern="1200" cap="none" spc="0" normalizeH="0" baseline="0" noProof="0" dirty="0">
                <a:ln>
                  <a:noFill/>
                </a:ln>
                <a:solidFill>
                  <a:srgbClr val="002060"/>
                </a:solidFill>
                <a:effectLst/>
                <a:uLnTx/>
                <a:uFillTx/>
                <a:latin typeface="Aptos"/>
                <a:ea typeface="+mn-ea"/>
                <a:cs typeface="+mn-cs"/>
              </a:rPr>
              <a:t>Q3 · WORLD CUP VILLAGE</a:t>
            </a:r>
          </a:p>
        </p:txBody>
      </p:sp>
      <p:sp>
        <p:nvSpPr>
          <p:cNvPr id="13" name="TextBox 12"/>
          <p:cNvSpPr txBox="1"/>
          <p:nvPr/>
        </p:nvSpPr>
        <p:spPr>
          <a:xfrm>
            <a:off x="514004" y="4954989"/>
            <a:ext cx="5154163" cy="1274195"/>
          </a:xfrm>
          <a:prstGeom prst="rect">
            <a:avLst/>
          </a:prstGeom>
          <a:noFill/>
        </p:spPr>
        <p:txBody>
          <a:bodyPr wrap="square" lIns="45720" tIns="27432">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sz="1300" b="1" i="0" u="none" strike="noStrike" kern="1200" cap="none" spc="0" normalizeH="0" baseline="0" noProof="0" dirty="0">
                <a:ln>
                  <a:noFill/>
                </a:ln>
                <a:solidFill>
                  <a:srgbClr val="002060"/>
                </a:solidFill>
                <a:effectLst/>
                <a:uLnTx/>
                <a:uFillTx/>
                <a:latin typeface="Aptos"/>
                <a:ea typeface="+mn-ea"/>
                <a:cs typeface="+mn-cs"/>
              </a:rPr>
              <a:t>14,682 consumers</a:t>
            </a:r>
            <a:endParaRPr kumimoji="0" lang="en-US" sz="1300" b="1" i="0" u="none" strike="noStrike" kern="1200" cap="none" spc="0" normalizeH="0" baseline="0" noProof="0" dirty="0">
              <a:ln>
                <a:noFill/>
              </a:ln>
              <a:solidFill>
                <a:srgbClr val="002060"/>
              </a:solidFill>
              <a:effectLst/>
              <a:uLnTx/>
              <a:uFillTx/>
              <a:latin typeface="Aptos"/>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sz="1300" b="1" i="0" u="none" strike="noStrike" kern="1200" cap="none" spc="0" normalizeH="0" baseline="0" noProof="0" dirty="0">
                <a:ln>
                  <a:noFill/>
                </a:ln>
                <a:solidFill>
                  <a:srgbClr val="002060"/>
                </a:solidFill>
                <a:effectLst/>
                <a:uLnTx/>
                <a:uFillTx/>
                <a:latin typeface="Aptos"/>
                <a:ea typeface="+mn-ea"/>
                <a:cs typeface="+mn-cs"/>
              </a:rPr>
              <a:t>1,268 crates </a:t>
            </a:r>
            <a:r>
              <a:rPr kumimoji="0" sz="1300" b="0" i="0" u="none" strike="noStrike" kern="1200" cap="none" spc="0" normalizeH="0" baseline="0" noProof="0" dirty="0">
                <a:ln>
                  <a:noFill/>
                </a:ln>
                <a:solidFill>
                  <a:srgbClr val="002060"/>
                </a:solidFill>
                <a:effectLst/>
                <a:uLnTx/>
                <a:uFillTx/>
                <a:latin typeface="Aptos"/>
                <a:ea typeface="+mn-ea"/>
                <a:cs typeface="+mn-cs"/>
              </a:rPr>
              <a:t>total across the SBL portfolio</a:t>
            </a:r>
            <a:r>
              <a:rPr kumimoji="0" lang="en-US" sz="1300" b="0" i="0" u="none" strike="noStrike" kern="1200" cap="none" spc="0" normalizeH="0" baseline="0" noProof="0" dirty="0">
                <a:ln>
                  <a:noFill/>
                </a:ln>
                <a:solidFill>
                  <a:srgbClr val="002060"/>
                </a:solidFill>
                <a:effectLst/>
                <a:uLnTx/>
                <a:uFillTx/>
                <a:latin typeface="Aptos"/>
                <a:ea typeface="+mn-ea"/>
                <a:cs typeface="+mn-cs"/>
              </a:rPr>
              <a:t>, with the top sales:</a:t>
            </a:r>
            <a:endParaRPr kumimoji="0" sz="1300" b="0" i="0" u="none" strike="noStrike" kern="1200" cap="none" spc="0" normalizeH="0" baseline="0" noProof="0" dirty="0">
              <a:ln>
                <a:noFill/>
              </a:ln>
              <a:solidFill>
                <a:srgbClr val="002060"/>
              </a:solidFill>
              <a:effectLst/>
              <a:uLnTx/>
              <a:uFillTx/>
              <a:latin typeface="Aptos"/>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sz="1300" b="0">
                <a:solidFill>
                  <a:srgbClr val="566370"/>
                </a:solidFill>
                <a:latin typeface="Aptos"/>
              </a:defRPr>
            </a:pPr>
            <a:r>
              <a:rPr kumimoji="0" sz="1300" b="0" i="1" u="none" strike="noStrike" kern="1200" cap="none" spc="0" normalizeH="0" baseline="0" noProof="0" dirty="0">
                <a:ln>
                  <a:noFill/>
                </a:ln>
                <a:solidFill>
                  <a:srgbClr val="002060"/>
                </a:solidFill>
                <a:effectLst/>
                <a:uLnTx/>
                <a:uFillTx/>
                <a:latin typeface="Aptos"/>
                <a:ea typeface="+mn-ea"/>
                <a:cs typeface="+mn-cs"/>
              </a:rPr>
              <a:t>Skol Malt: 296 crates.</a:t>
            </a:r>
            <a:endParaRPr kumimoji="0" lang="en-US" sz="1300" b="0" i="1" u="none" strike="noStrike" kern="1200" cap="none" spc="0" normalizeH="0" baseline="0" noProof="0" dirty="0">
              <a:ln>
                <a:noFill/>
              </a:ln>
              <a:solidFill>
                <a:srgbClr val="002060"/>
              </a:solidFill>
              <a:effectLst/>
              <a:uLnTx/>
              <a:uFillTx/>
              <a:latin typeface="Aptos"/>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sz="1300" b="0">
                <a:solidFill>
                  <a:srgbClr val="566370"/>
                </a:solidFill>
                <a:latin typeface="Aptos"/>
              </a:defRPr>
            </a:pPr>
            <a:r>
              <a:rPr kumimoji="0" lang="en-US" sz="1300" b="0" i="1" u="none" strike="noStrike" kern="1200" cap="none" spc="0" normalizeH="0" baseline="0" noProof="0" dirty="0">
                <a:ln>
                  <a:noFill/>
                </a:ln>
                <a:solidFill>
                  <a:srgbClr val="002060"/>
                </a:solidFill>
                <a:effectLst/>
                <a:uLnTx/>
                <a:uFillTx/>
                <a:latin typeface="Aptos"/>
                <a:ea typeface="+mn-ea"/>
                <a:cs typeface="+mn-cs"/>
              </a:rPr>
              <a:t>Virunga Mist: 309 crates.</a:t>
            </a:r>
          </a:p>
          <a:p>
            <a:pPr marL="742950" marR="0" lvl="1"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sz="1300" b="0">
                <a:solidFill>
                  <a:srgbClr val="566370"/>
                </a:solidFill>
                <a:latin typeface="Aptos"/>
              </a:defRPr>
            </a:pPr>
            <a:r>
              <a:rPr kumimoji="0" lang="en-US" sz="1300" b="0" i="1" u="none" strike="noStrike" kern="1200" cap="none" spc="0" normalizeH="0" baseline="0" noProof="0" dirty="0">
                <a:ln>
                  <a:noFill/>
                </a:ln>
                <a:solidFill>
                  <a:srgbClr val="002060"/>
                </a:solidFill>
                <a:effectLst/>
                <a:uLnTx/>
                <a:uFillTx/>
                <a:latin typeface="Aptos"/>
                <a:ea typeface="+mn-ea"/>
                <a:cs typeface="+mn-cs"/>
              </a:rPr>
              <a:t>Panache: 428 crates.</a:t>
            </a:r>
            <a:endParaRPr kumimoji="0" sz="1300" b="0" i="0" u="none" strike="noStrike" kern="1200" cap="none" spc="0" normalizeH="0" baseline="0" noProof="0" dirty="0">
              <a:ln>
                <a:noFill/>
              </a:ln>
              <a:solidFill>
                <a:srgbClr val="002060"/>
              </a:solidFill>
              <a:effectLst/>
              <a:uLnTx/>
              <a:uFillTx/>
              <a:latin typeface="Apto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1300" b="0">
                <a:solidFill>
                  <a:srgbClr val="566370"/>
                </a:solidFill>
                <a:latin typeface="Aptos"/>
              </a:defRPr>
            </a:pPr>
            <a:r>
              <a:rPr kumimoji="0" sz="1300" b="0" i="0" u="none" strike="noStrike" kern="1200" cap="none" spc="0" normalizeH="0" baseline="0" noProof="0" dirty="0">
                <a:ln>
                  <a:noFill/>
                </a:ln>
                <a:solidFill>
                  <a:srgbClr val="002060"/>
                </a:solidFill>
                <a:effectLst/>
                <a:uLnTx/>
                <a:uFillTx/>
                <a:latin typeface="Aptos"/>
                <a:ea typeface="+mn-ea"/>
                <a:cs typeface="+mn-cs"/>
              </a:rPr>
              <a:t>Final day: </a:t>
            </a:r>
            <a:r>
              <a:rPr kumimoji="0" sz="1300" b="1" i="0" u="none" strike="noStrike" kern="1200" cap="none" spc="0" normalizeH="0" baseline="0" noProof="0" dirty="0">
                <a:ln>
                  <a:noFill/>
                </a:ln>
                <a:solidFill>
                  <a:srgbClr val="002060"/>
                </a:solidFill>
                <a:effectLst/>
                <a:uLnTx/>
                <a:uFillTx/>
                <a:latin typeface="Aptos"/>
                <a:ea typeface="+mn-ea"/>
                <a:cs typeface="+mn-cs"/>
              </a:rPr>
              <a:t>3,000+ attendees</a:t>
            </a:r>
            <a:r>
              <a:rPr kumimoji="0" lang="en-US" sz="1300" b="1" i="0" u="none" strike="noStrike" kern="1200" cap="none" spc="0" normalizeH="0" baseline="0" noProof="0" dirty="0">
                <a:ln>
                  <a:noFill/>
                </a:ln>
                <a:solidFill>
                  <a:srgbClr val="002060"/>
                </a:solidFill>
                <a:effectLst/>
                <a:uLnTx/>
                <a:uFillTx/>
                <a:latin typeface="Aptos"/>
                <a:ea typeface="+mn-ea"/>
                <a:cs typeface="+mn-cs"/>
              </a:rPr>
              <a:t>.</a:t>
            </a:r>
            <a:endParaRPr kumimoji="0" sz="1300" b="0" i="0" u="none" strike="noStrike" kern="1200" cap="none" spc="0" normalizeH="0" baseline="0" noProof="0" dirty="0">
              <a:ln>
                <a:noFill/>
              </a:ln>
              <a:solidFill>
                <a:srgbClr val="002060"/>
              </a:solidFill>
              <a:effectLst/>
              <a:uLnTx/>
              <a:uFillTx/>
              <a:latin typeface="Aptos"/>
              <a:ea typeface="+mn-ea"/>
              <a:cs typeface="+mn-cs"/>
            </a:endParaRPr>
          </a:p>
        </p:txBody>
      </p:sp>
      <p:sp>
        <p:nvSpPr>
          <p:cNvPr id="15" name="Rounded Rectangle 14"/>
          <p:cNvSpPr/>
          <p:nvPr/>
        </p:nvSpPr>
        <p:spPr>
          <a:xfrm>
            <a:off x="6816336" y="1059326"/>
            <a:ext cx="4839544" cy="2002522"/>
          </a:xfrm>
          <a:prstGeom prst="round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6978988" y="1162504"/>
            <a:ext cx="4561992" cy="342512"/>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700" b="1">
                <a:solidFill>
                  <a:srgbClr val="122A4B"/>
                </a:solidFill>
                <a:latin typeface="Aptos"/>
              </a:defRPr>
            </a:pPr>
            <a:r>
              <a:rPr kumimoji="0" sz="1700" b="1" i="0" u="none" strike="noStrike" kern="1200" cap="none" spc="0" normalizeH="0" baseline="0" noProof="0" dirty="0">
                <a:ln>
                  <a:noFill/>
                </a:ln>
                <a:solidFill>
                  <a:srgbClr val="002060"/>
                </a:solidFill>
                <a:effectLst/>
                <a:uLnTx/>
                <a:uFillTx/>
                <a:latin typeface="Aptos"/>
                <a:ea typeface="+mn-ea"/>
                <a:cs typeface="+mn-cs"/>
              </a:rPr>
              <a:t>RPL · </a:t>
            </a:r>
            <a:r>
              <a:rPr kumimoji="0" lang="en-US" sz="1700" b="1" i="0" u="none" strike="noStrike" kern="1200" cap="none" spc="0" normalizeH="0" baseline="0" noProof="0" dirty="0">
                <a:ln>
                  <a:noFill/>
                </a:ln>
                <a:solidFill>
                  <a:srgbClr val="002060"/>
                </a:solidFill>
                <a:effectLst/>
                <a:uLnTx/>
                <a:uFillTx/>
                <a:latin typeface="Aptos"/>
                <a:ea typeface="+mn-ea"/>
                <a:cs typeface="+mn-cs"/>
              </a:rPr>
              <a:t>SEASON KICK OFF</a:t>
            </a:r>
            <a:r>
              <a:rPr kumimoji="0" sz="1700" b="1" i="0" u="none" strike="noStrike" kern="1200" cap="none" spc="0" normalizeH="0" baseline="0" noProof="0" dirty="0">
                <a:ln>
                  <a:noFill/>
                </a:ln>
                <a:solidFill>
                  <a:srgbClr val="002060"/>
                </a:solidFill>
                <a:effectLst/>
                <a:uLnTx/>
                <a:uFillTx/>
                <a:latin typeface="Aptos"/>
                <a:ea typeface="+mn-ea"/>
                <a:cs typeface="+mn-cs"/>
              </a:rPr>
              <a:t> IN SEPTEMBER</a:t>
            </a:r>
            <a:r>
              <a:rPr kumimoji="0" lang="en-US" sz="1700" b="1" i="0" u="none" strike="noStrike" kern="1200" cap="none" spc="0" normalizeH="0" baseline="0" noProof="0" dirty="0">
                <a:ln>
                  <a:noFill/>
                </a:ln>
                <a:solidFill>
                  <a:srgbClr val="002060"/>
                </a:solidFill>
                <a:effectLst/>
                <a:uLnTx/>
                <a:uFillTx/>
                <a:latin typeface="Aptos"/>
                <a:ea typeface="+mn-ea"/>
                <a:cs typeface="+mn-cs"/>
              </a:rPr>
              <a:t> </a:t>
            </a:r>
            <a:endParaRPr kumimoji="0" lang="en-US" sz="1700" b="1" i="1" u="none" strike="noStrike" kern="1200" cap="none" spc="0" normalizeH="0" baseline="0" noProof="0" dirty="0">
              <a:ln>
                <a:noFill/>
              </a:ln>
              <a:solidFill>
                <a:srgbClr val="002060"/>
              </a:solidFill>
              <a:effectLst/>
              <a:uLnTx/>
              <a:uFillTx/>
              <a:latin typeface="Aptos"/>
              <a:ea typeface="+mn-ea"/>
              <a:cs typeface="+mn-cs"/>
            </a:endParaRPr>
          </a:p>
        </p:txBody>
      </p:sp>
      <p:sp>
        <p:nvSpPr>
          <p:cNvPr id="17" name="TextBox 16"/>
          <p:cNvSpPr txBox="1"/>
          <p:nvPr/>
        </p:nvSpPr>
        <p:spPr>
          <a:xfrm>
            <a:off x="6990072" y="1635399"/>
            <a:ext cx="4696195" cy="1300918"/>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0">
                <a:solidFill>
                  <a:srgbClr val="566370"/>
                </a:solidFill>
                <a:latin typeface="Aptos"/>
              </a:defRPr>
            </a:pPr>
            <a:r>
              <a:rPr kumimoji="0" lang="en-US" sz="1300" b="1" i="0" u="none" strike="noStrike" kern="1200" cap="none" spc="0" normalizeH="0" baseline="0" noProof="0" dirty="0">
                <a:ln>
                  <a:noFill/>
                </a:ln>
                <a:solidFill>
                  <a:srgbClr val="002060"/>
                </a:solidFill>
                <a:effectLst/>
                <a:uLnTx/>
                <a:uFillTx/>
                <a:latin typeface="Aptos"/>
                <a:ea typeface="+mn-ea"/>
                <a:cs typeface="+mn-cs"/>
              </a:rPr>
              <a:t>Season kick off cocktail with key partners of the league and Rwandan football world at RG Sports Center</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sz="1300" b="0" i="0" u="none" strike="noStrike" kern="1200" cap="none" spc="0" normalizeH="0" baseline="0" noProof="0" dirty="0">
                <a:ln>
                  <a:noFill/>
                </a:ln>
                <a:solidFill>
                  <a:srgbClr val="002060"/>
                </a:solidFill>
                <a:effectLst/>
                <a:uLnTx/>
                <a:uFillTx/>
                <a:latin typeface="Aptos"/>
                <a:ea typeface="+mn-ea"/>
                <a:cs typeface="+mn-cs"/>
              </a:rPr>
              <a:t>306 matches / 9 stadiums. </a:t>
            </a:r>
            <a:endParaRPr kumimoji="0" lang="en-US" sz="1300" b="0" i="0" u="none" strike="noStrike" kern="1200" cap="none" spc="0" normalizeH="0" baseline="0" noProof="0" dirty="0">
              <a:ln>
                <a:noFill/>
              </a:ln>
              <a:solidFill>
                <a:srgbClr val="002060"/>
              </a:solidFill>
              <a:effectLst/>
              <a:uLnTx/>
              <a:uFillTx/>
              <a:latin typeface="Apto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1300" b="0">
                <a:solidFill>
                  <a:srgbClr val="566370"/>
                </a:solidFill>
                <a:latin typeface="Aptos"/>
              </a:defRPr>
            </a:pPr>
            <a:endParaRPr kumimoji="0" lang="en-US" sz="1300" b="0" i="0" u="none" strike="noStrike" kern="1200" cap="none" spc="0" normalizeH="0" baseline="0" noProof="0" dirty="0">
              <a:ln>
                <a:noFill/>
              </a:ln>
              <a:solidFill>
                <a:srgbClr val="002060"/>
              </a:solidFill>
              <a:effectLst/>
              <a:uLnTx/>
              <a:uFillTx/>
              <a:latin typeface="Apto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1300" b="0">
                <a:solidFill>
                  <a:srgbClr val="566370"/>
                </a:solidFill>
                <a:latin typeface="Aptos"/>
              </a:defRPr>
            </a:pPr>
            <a:r>
              <a:rPr kumimoji="0" sz="1300" b="0" i="0" u="none" strike="noStrike" kern="1200" cap="none" spc="0" normalizeH="0" baseline="0" noProof="0" dirty="0">
                <a:ln>
                  <a:noFill/>
                </a:ln>
                <a:solidFill>
                  <a:srgbClr val="002060"/>
                </a:solidFill>
                <a:effectLst/>
                <a:uLnTx/>
                <a:uFillTx/>
                <a:latin typeface="Aptos"/>
                <a:ea typeface="+mn-ea"/>
                <a:cs typeface="+mn-cs"/>
              </a:rPr>
              <a:t>Q4: launch approved branding, stadium sales, fan engagement and selected upcountry fan zones.</a:t>
            </a:r>
          </a:p>
        </p:txBody>
      </p:sp>
      <p:pic>
        <p:nvPicPr>
          <p:cNvPr id="18" name="Picture 17">
            <a:extLst>
              <a:ext uri="{FF2B5EF4-FFF2-40B4-BE49-F238E27FC236}">
                <a16:creationId xmlns:a16="http://schemas.microsoft.com/office/drawing/2014/main" id="{2FF2677C-16BF-9B5B-11AC-CF63D1D9C201}"/>
              </a:ext>
            </a:extLst>
          </p:cNvPr>
          <p:cNvPicPr>
            <a:picLocks noChangeAspect="1"/>
          </p:cNvPicPr>
          <p:nvPr/>
        </p:nvPicPr>
        <p:blipFill>
          <a:blip r:embed="rId3"/>
          <a:stretch>
            <a:fillRect/>
          </a:stretch>
        </p:blipFill>
        <p:spPr>
          <a:xfrm>
            <a:off x="107938" y="71513"/>
            <a:ext cx="1076475" cy="752580"/>
          </a:xfrm>
          <a:prstGeom prst="rect">
            <a:avLst/>
          </a:prstGeom>
        </p:spPr>
      </p:pic>
      <p:cxnSp>
        <p:nvCxnSpPr>
          <p:cNvPr id="19" name="Straight Connector 18">
            <a:extLst>
              <a:ext uri="{FF2B5EF4-FFF2-40B4-BE49-F238E27FC236}">
                <a16:creationId xmlns:a16="http://schemas.microsoft.com/office/drawing/2014/main" id="{C677E5F4-4245-25E6-56B1-62DFA8B7FFF1}"/>
              </a:ext>
            </a:extLst>
          </p:cNvPr>
          <p:cNvCxnSpPr>
            <a:cxnSpLocks/>
          </p:cNvCxnSpPr>
          <p:nvPr/>
        </p:nvCxnSpPr>
        <p:spPr>
          <a:xfrm flipV="1">
            <a:off x="1184413" y="740664"/>
            <a:ext cx="10858235" cy="83429"/>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A3BCEBB1-B8D6-29B4-49F8-920A85616797}"/>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rot="16200000">
            <a:off x="892961" y="2196229"/>
            <a:ext cx="1477041" cy="2582432"/>
          </a:xfrm>
          <a:prstGeom prst="rect">
            <a:avLst/>
          </a:prstGeom>
        </p:spPr>
      </p:pic>
      <p:pic>
        <p:nvPicPr>
          <p:cNvPr id="23" name="Picture 22">
            <a:extLst>
              <a:ext uri="{FF2B5EF4-FFF2-40B4-BE49-F238E27FC236}">
                <a16:creationId xmlns:a16="http://schemas.microsoft.com/office/drawing/2014/main" id="{B0A03839-7F44-1E17-D78D-D21C462CE327}"/>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340268" y="1101111"/>
            <a:ext cx="2582430" cy="1647812"/>
          </a:xfrm>
          <a:prstGeom prst="rect">
            <a:avLst/>
          </a:prstGeom>
        </p:spPr>
      </p:pic>
      <p:pic>
        <p:nvPicPr>
          <p:cNvPr id="27" name="Picture 26">
            <a:extLst>
              <a:ext uri="{FF2B5EF4-FFF2-40B4-BE49-F238E27FC236}">
                <a16:creationId xmlns:a16="http://schemas.microsoft.com/office/drawing/2014/main" id="{5FCF2BD5-9D7F-3637-2E99-E1A0151B416B}"/>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2922698" y="2554967"/>
            <a:ext cx="2933095" cy="1663370"/>
          </a:xfrm>
          <a:prstGeom prst="rect">
            <a:avLst/>
          </a:prstGeom>
        </p:spPr>
      </p:pic>
      <p:pic>
        <p:nvPicPr>
          <p:cNvPr id="29" name="Picture 28">
            <a:extLst>
              <a:ext uri="{FF2B5EF4-FFF2-40B4-BE49-F238E27FC236}">
                <a16:creationId xmlns:a16="http://schemas.microsoft.com/office/drawing/2014/main" id="{171A208C-01C8-B0BC-D49A-FC1854888C6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431735" y="4936982"/>
            <a:ext cx="2422871" cy="1610122"/>
          </a:xfrm>
          <a:prstGeom prst="rect">
            <a:avLst/>
          </a:prstGeom>
        </p:spPr>
      </p:pic>
      <p:pic>
        <p:nvPicPr>
          <p:cNvPr id="33" name="Picture 32">
            <a:extLst>
              <a:ext uri="{FF2B5EF4-FFF2-40B4-BE49-F238E27FC236}">
                <a16:creationId xmlns:a16="http://schemas.microsoft.com/office/drawing/2014/main" id="{8C2154AD-FA28-FFB6-F7E5-3F09098411F2}"/>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613530" y="5002338"/>
            <a:ext cx="2422871" cy="1592672"/>
          </a:xfrm>
          <a:prstGeom prst="rect">
            <a:avLst/>
          </a:prstGeom>
        </p:spPr>
      </p:pic>
      <p:pic>
        <p:nvPicPr>
          <p:cNvPr id="34" name="Picture 33">
            <a:extLst>
              <a:ext uri="{FF2B5EF4-FFF2-40B4-BE49-F238E27FC236}">
                <a16:creationId xmlns:a16="http://schemas.microsoft.com/office/drawing/2014/main" id="{DF9AF994-F480-DC3D-6445-B6D9A398BAF6}"/>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613530" y="3138940"/>
            <a:ext cx="2615400" cy="1720949"/>
          </a:xfrm>
          <a:prstGeom prst="rect">
            <a:avLst/>
          </a:prstGeom>
        </p:spPr>
      </p:pic>
      <p:pic>
        <p:nvPicPr>
          <p:cNvPr id="38" name="Picture 37">
            <a:extLst>
              <a:ext uri="{FF2B5EF4-FFF2-40B4-BE49-F238E27FC236}">
                <a16:creationId xmlns:a16="http://schemas.microsoft.com/office/drawing/2014/main" id="{374069CB-D915-2F71-08BA-47B35890B50E}"/>
              </a:ext>
            </a:extLst>
          </p:cNvPr>
          <p:cNvPicPr>
            <a:picLocks noChangeAspect="1"/>
          </p:cNvPicPr>
          <p:nvPr/>
        </p:nvPicPr>
        <p:blipFill>
          <a:blip r:embed="rId10" cstate="email">
            <a:extLst>
              <a:ext uri="{28A0092B-C50C-407E-A947-70E740481C1C}">
                <a14:useLocalDpi xmlns:a14="http://schemas.microsoft.com/office/drawing/2010/main"/>
              </a:ext>
            </a:extLst>
          </a:blip>
          <a:srcRect b="-1488"/>
          <a:stretch>
            <a:fillRect/>
          </a:stretch>
        </p:blipFill>
        <p:spPr>
          <a:xfrm>
            <a:off x="2922698" y="1102911"/>
            <a:ext cx="2939141" cy="1526880"/>
          </a:xfrm>
          <a:prstGeom prst="rect">
            <a:avLst/>
          </a:prstGeom>
        </p:spPr>
      </p:pic>
      <p:cxnSp>
        <p:nvCxnSpPr>
          <p:cNvPr id="39" name="Straight Connector 38">
            <a:extLst>
              <a:ext uri="{FF2B5EF4-FFF2-40B4-BE49-F238E27FC236}">
                <a16:creationId xmlns:a16="http://schemas.microsoft.com/office/drawing/2014/main" id="{54919E64-3D48-75C3-B462-09388B662139}"/>
              </a:ext>
            </a:extLst>
          </p:cNvPr>
          <p:cNvCxnSpPr>
            <a:cxnSpLocks/>
          </p:cNvCxnSpPr>
          <p:nvPr/>
        </p:nvCxnSpPr>
        <p:spPr>
          <a:xfrm flipV="1">
            <a:off x="6336792" y="1059326"/>
            <a:ext cx="0" cy="5575992"/>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1FDB4C69-523A-6079-9010-424A208559F7}"/>
              </a:ext>
            </a:extLst>
          </p:cNvPr>
          <p:cNvPicPr>
            <a:picLocks noChangeAspect="1"/>
          </p:cNvPicPr>
          <p:nvPr/>
        </p:nvPicPr>
        <p:blipFill>
          <a:blip r:embed="rId11"/>
          <a:stretch>
            <a:fillRect/>
          </a:stretch>
        </p:blipFill>
        <p:spPr>
          <a:xfrm>
            <a:off x="9882133" y="3030227"/>
            <a:ext cx="1522073" cy="178122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7600" y="120005"/>
            <a:ext cx="4754880" cy="243143"/>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B9232A"/>
                </a:solidFill>
                <a:latin typeface="Aptos"/>
              </a:defRPr>
            </a:pPr>
            <a:r>
              <a:rPr kumimoji="0" sz="1100" b="1" i="0" u="none" strike="noStrike" kern="1200" cap="none" spc="0" normalizeH="0" baseline="0" noProof="0" dirty="0">
                <a:ln>
                  <a:noFill/>
                </a:ln>
                <a:solidFill>
                  <a:srgbClr val="305B26"/>
                </a:solidFill>
                <a:effectLst/>
                <a:uLnTx/>
                <a:uFillTx/>
                <a:latin typeface="Aptos"/>
                <a:ea typeface="+mn-ea"/>
                <a:cs typeface="+mn-cs"/>
              </a:rPr>
              <a:t>Q3 RESULTS  /  Q4 PRIORITIES · 2026</a:t>
            </a:r>
          </a:p>
        </p:txBody>
      </p:sp>
      <p:sp>
        <p:nvSpPr>
          <p:cNvPr id="5" name="TextBox 4"/>
          <p:cNvSpPr txBox="1"/>
          <p:nvPr/>
        </p:nvSpPr>
        <p:spPr>
          <a:xfrm>
            <a:off x="731520" y="310896"/>
            <a:ext cx="10744200" cy="443198"/>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700" b="1">
                <a:solidFill>
                  <a:srgbClr val="122A4B"/>
                </a:solidFill>
                <a:latin typeface="Aptos"/>
              </a:defRPr>
            </a:pPr>
            <a:r>
              <a:rPr kumimoji="0" sz="2400" b="1" i="0" u="none" strike="noStrike" kern="1200" cap="none" spc="0" normalizeH="0" baseline="0" noProof="0" dirty="0">
                <a:ln>
                  <a:noFill/>
                </a:ln>
                <a:solidFill>
                  <a:srgbClr val="305B26"/>
                </a:solidFill>
                <a:effectLst/>
                <a:uLnTx/>
                <a:uFillTx/>
                <a:latin typeface="Aptos"/>
                <a:ea typeface="+mn-ea"/>
                <a:cs typeface="+mn-cs"/>
              </a:rPr>
              <a:t>VIRUNGA  </a:t>
            </a:r>
            <a:r>
              <a:rPr kumimoji="0" lang="en-US" sz="2400" b="1" i="0" u="none" strike="noStrike" kern="1200" cap="none" spc="0" normalizeH="0" baseline="0" noProof="0" dirty="0">
                <a:ln>
                  <a:noFill/>
                </a:ln>
                <a:solidFill>
                  <a:srgbClr val="305B26"/>
                </a:solidFill>
                <a:effectLst/>
                <a:uLnTx/>
                <a:uFillTx/>
                <a:latin typeface="Aptos"/>
                <a:ea typeface="+mn-ea"/>
                <a:cs typeface="+mn-cs"/>
              </a:rPr>
              <a:t>-</a:t>
            </a:r>
            <a:r>
              <a:rPr kumimoji="0" sz="2400" b="1" i="0" u="none" strike="noStrike" kern="1200" cap="none" spc="0" normalizeH="0" baseline="0" noProof="0" dirty="0">
                <a:ln>
                  <a:noFill/>
                </a:ln>
                <a:solidFill>
                  <a:srgbClr val="305B26"/>
                </a:solidFill>
                <a:effectLst/>
                <a:uLnTx/>
                <a:uFillTx/>
                <a:latin typeface="Aptos"/>
                <a:ea typeface="+mn-ea"/>
                <a:cs typeface="+mn-cs"/>
              </a:rPr>
              <a:t>  MUSIC, LIFESTYLE &amp; OUTLETS</a:t>
            </a:r>
          </a:p>
        </p:txBody>
      </p:sp>
      <p:sp>
        <p:nvSpPr>
          <p:cNvPr id="8" name="TextBox 7"/>
          <p:cNvSpPr txBox="1"/>
          <p:nvPr/>
        </p:nvSpPr>
        <p:spPr>
          <a:xfrm>
            <a:off x="640080" y="6537960"/>
            <a:ext cx="8229600" cy="210312"/>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566370"/>
                </a:solidFill>
                <a:latin typeface="Aptos"/>
              </a:defRPr>
            </a:pPr>
            <a:r>
              <a:rPr kumimoji="0" sz="900" b="0" i="0" u="none" strike="noStrike" kern="1200" cap="none" spc="0" normalizeH="0" baseline="0" noProof="0" dirty="0">
                <a:ln>
                  <a:noFill/>
                </a:ln>
                <a:solidFill>
                  <a:srgbClr val="566370"/>
                </a:solidFill>
                <a:effectLst/>
                <a:uLnTx/>
                <a:uFillTx/>
                <a:latin typeface="Aptos"/>
                <a:ea typeface="+mn-ea"/>
                <a:cs typeface="+mn-cs"/>
              </a:rPr>
              <a:t>EVENTS &amp; SPONSORSHIP  ·  </a:t>
            </a:r>
            <a:r>
              <a:rPr kumimoji="0" lang="en-US" sz="900" b="0" i="0" u="none" strike="noStrike" kern="1200" cap="none" spc="0" normalizeH="0" baseline="0" noProof="0" dirty="0">
                <a:ln>
                  <a:noFill/>
                </a:ln>
                <a:solidFill>
                  <a:srgbClr val="566370"/>
                </a:solidFill>
                <a:effectLst/>
                <a:uLnTx/>
                <a:uFillTx/>
                <a:latin typeface="Aptos"/>
                <a:ea typeface="+mn-ea"/>
                <a:cs typeface="+mn-cs"/>
              </a:rPr>
              <a:t>QRM</a:t>
            </a:r>
            <a:endParaRPr kumimoji="0" sz="900" b="0" i="0" u="none" strike="noStrike" kern="1200" cap="none" spc="0" normalizeH="0" baseline="0" noProof="0" dirty="0">
              <a:ln>
                <a:noFill/>
              </a:ln>
              <a:solidFill>
                <a:srgbClr val="566370"/>
              </a:solidFill>
              <a:effectLst/>
              <a:uLnTx/>
              <a:uFillTx/>
              <a:latin typeface="Aptos"/>
              <a:ea typeface="+mn-ea"/>
              <a:cs typeface="+mn-cs"/>
            </a:endParaRPr>
          </a:p>
        </p:txBody>
      </p:sp>
      <p:sp>
        <p:nvSpPr>
          <p:cNvPr id="11" name="Rounded Rectangle 10"/>
          <p:cNvSpPr/>
          <p:nvPr/>
        </p:nvSpPr>
        <p:spPr>
          <a:xfrm>
            <a:off x="4627999" y="1202025"/>
            <a:ext cx="7332353" cy="2540230"/>
          </a:xfrm>
          <a:prstGeom prst="round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4801736" y="1330041"/>
            <a:ext cx="6917726" cy="335476"/>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700" b="1">
                <a:solidFill>
                  <a:srgbClr val="122A4B"/>
                </a:solidFill>
                <a:latin typeface="Aptos"/>
              </a:defRPr>
            </a:pPr>
            <a:r>
              <a:rPr kumimoji="0" sz="1700" b="1" i="0" u="none" strike="noStrike" kern="1200" cap="none" spc="0" normalizeH="0" baseline="0" noProof="0" dirty="0">
                <a:ln>
                  <a:noFill/>
                </a:ln>
                <a:solidFill>
                  <a:srgbClr val="002060"/>
                </a:solidFill>
                <a:effectLst/>
                <a:uLnTx/>
                <a:uFillTx/>
                <a:latin typeface="Aptos"/>
                <a:ea typeface="+mn-ea"/>
                <a:cs typeface="+mn-cs"/>
              </a:rPr>
              <a:t>Q3 · </a:t>
            </a:r>
            <a:r>
              <a:rPr kumimoji="0" lang="en-US" sz="1700" b="1" i="0" u="none" strike="noStrike" kern="1200" cap="none" spc="0" normalizeH="0" baseline="0" noProof="0" dirty="0">
                <a:ln>
                  <a:noFill/>
                </a:ln>
                <a:solidFill>
                  <a:srgbClr val="002060"/>
                </a:solidFill>
                <a:effectLst/>
                <a:uLnTx/>
                <a:uFillTx/>
                <a:latin typeface="Aptos"/>
                <a:ea typeface="+mn-ea"/>
                <a:cs typeface="+mn-cs"/>
              </a:rPr>
              <a:t>THE </a:t>
            </a:r>
            <a:r>
              <a:rPr kumimoji="0" sz="1700" b="1" i="0" u="none" strike="noStrike" kern="1200" cap="none" spc="0" normalizeH="0" baseline="0" noProof="0" dirty="0">
                <a:ln>
                  <a:noFill/>
                </a:ln>
                <a:solidFill>
                  <a:srgbClr val="002060"/>
                </a:solidFill>
                <a:effectLst/>
                <a:uLnTx/>
                <a:uFillTx/>
                <a:latin typeface="Aptos"/>
                <a:ea typeface="+mn-ea"/>
                <a:cs typeface="+mn-cs"/>
              </a:rPr>
              <a:t>REMINISCE 2</a:t>
            </a:r>
            <a:r>
              <a:rPr kumimoji="0" lang="en-US" sz="1700" b="1" i="0" u="none" strike="noStrike" kern="1200" cap="none" spc="0" normalizeH="0" baseline="30000" noProof="0" dirty="0" err="1">
                <a:ln>
                  <a:noFill/>
                </a:ln>
                <a:solidFill>
                  <a:srgbClr val="002060"/>
                </a:solidFill>
                <a:effectLst/>
                <a:uLnTx/>
                <a:uFillTx/>
                <a:latin typeface="Aptos"/>
                <a:ea typeface="+mn-ea"/>
                <a:cs typeface="+mn-cs"/>
              </a:rPr>
              <a:t>nd</a:t>
            </a:r>
            <a:r>
              <a:rPr kumimoji="0" lang="en-US" sz="1700" b="1" i="0" u="none" strike="noStrike" kern="1200" cap="none" spc="0" normalizeH="0" baseline="30000" noProof="0" dirty="0">
                <a:ln>
                  <a:noFill/>
                </a:ln>
                <a:solidFill>
                  <a:srgbClr val="002060"/>
                </a:solidFill>
                <a:effectLst/>
                <a:uLnTx/>
                <a:uFillTx/>
                <a:latin typeface="Aptos"/>
                <a:ea typeface="+mn-ea"/>
                <a:cs typeface="+mn-cs"/>
              </a:rPr>
              <a:t> </a:t>
            </a:r>
            <a:r>
              <a:rPr kumimoji="0" lang="en-US" sz="1700" b="1" i="0" u="none" strike="noStrike" kern="1200" cap="none" spc="0" normalizeH="0" baseline="0" noProof="0" dirty="0">
                <a:ln>
                  <a:noFill/>
                </a:ln>
                <a:solidFill>
                  <a:srgbClr val="002060"/>
                </a:solidFill>
                <a:effectLst/>
                <a:uLnTx/>
                <a:uFillTx/>
                <a:latin typeface="Aptos"/>
                <a:ea typeface="+mn-ea"/>
                <a:cs typeface="+mn-cs"/>
              </a:rPr>
              <a:t> &amp; POP UP EVENTS</a:t>
            </a:r>
            <a:endParaRPr kumimoji="0" sz="1700" b="1" i="0" u="none" strike="noStrike" kern="1200" cap="none" spc="0" normalizeH="0" baseline="0" noProof="0" dirty="0">
              <a:ln>
                <a:noFill/>
              </a:ln>
              <a:solidFill>
                <a:srgbClr val="002060"/>
              </a:solidFill>
              <a:effectLst/>
              <a:uLnTx/>
              <a:uFillTx/>
              <a:latin typeface="Aptos"/>
              <a:ea typeface="+mn-ea"/>
              <a:cs typeface="+mn-cs"/>
            </a:endParaRPr>
          </a:p>
        </p:txBody>
      </p:sp>
      <p:sp>
        <p:nvSpPr>
          <p:cNvPr id="13" name="TextBox 12"/>
          <p:cNvSpPr txBox="1"/>
          <p:nvPr/>
        </p:nvSpPr>
        <p:spPr>
          <a:xfrm>
            <a:off x="4801736" y="1778097"/>
            <a:ext cx="6917726" cy="1874359"/>
          </a:xfrm>
          <a:prstGeom prst="rect">
            <a:avLst/>
          </a:prstGeom>
          <a:noFill/>
        </p:spPr>
        <p:txBody>
          <a:bodyPr wrap="square" lIns="45720" tIns="27432">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lang="en-US" sz="1300" b="1" i="0" u="none" strike="noStrike" kern="1200" cap="none" spc="0" normalizeH="0" baseline="0" noProof="0" dirty="0">
                <a:ln>
                  <a:noFill/>
                </a:ln>
                <a:solidFill>
                  <a:srgbClr val="002060"/>
                </a:solidFill>
                <a:effectLst/>
                <a:uLnTx/>
                <a:uFillTx/>
                <a:latin typeface="Aptos"/>
                <a:ea typeface="+mn-ea"/>
                <a:cs typeface="+mn-cs"/>
              </a:rPr>
              <a:t>The Reminisce 2</a:t>
            </a:r>
            <a:r>
              <a:rPr kumimoji="0" lang="en-US" sz="1300" b="1" i="0" u="none" strike="noStrike" kern="1200" cap="none" spc="0" normalizeH="0" baseline="30000" noProof="0" dirty="0">
                <a:ln>
                  <a:noFill/>
                </a:ln>
                <a:solidFill>
                  <a:srgbClr val="002060"/>
                </a:solidFill>
                <a:effectLst/>
                <a:uLnTx/>
                <a:uFillTx/>
                <a:latin typeface="Aptos"/>
                <a:ea typeface="+mn-ea"/>
                <a:cs typeface="+mn-cs"/>
              </a:rPr>
              <a:t>nd</a:t>
            </a:r>
            <a:r>
              <a:rPr kumimoji="0" lang="en-US" sz="1300" b="1" i="0" u="none" strike="noStrike" kern="1200" cap="none" spc="0" normalizeH="0" baseline="0" noProof="0" dirty="0">
                <a:ln>
                  <a:noFill/>
                </a:ln>
                <a:solidFill>
                  <a:srgbClr val="002060"/>
                </a:solidFill>
                <a:effectLst/>
                <a:uLnTx/>
                <a:uFillTx/>
                <a:latin typeface="Aptos"/>
                <a:ea typeface="+mn-ea"/>
                <a:cs typeface="+mn-cs"/>
              </a:rPr>
              <a:t> edition:</a:t>
            </a:r>
            <a:r>
              <a:rPr kumimoji="0" lang="en-US" sz="1300" b="0" i="0" u="none" strike="noStrike" kern="1200" cap="none" spc="0" normalizeH="0" baseline="0" noProof="0" dirty="0">
                <a:ln>
                  <a:noFill/>
                </a:ln>
                <a:solidFill>
                  <a:srgbClr val="002060"/>
                </a:solidFill>
                <a:effectLst/>
                <a:uLnTx/>
                <a:uFillTx/>
                <a:latin typeface="Aptos"/>
                <a:ea typeface="+mn-ea"/>
                <a:cs typeface="+mn-cs"/>
              </a:rPr>
              <a:t> </a:t>
            </a:r>
            <a:r>
              <a:rPr kumimoji="0" sz="1300" b="0" i="0" u="none" strike="noStrike" kern="1200" cap="none" spc="0" normalizeH="0" baseline="0" noProof="0" dirty="0">
                <a:ln>
                  <a:noFill/>
                </a:ln>
                <a:solidFill>
                  <a:srgbClr val="002060"/>
                </a:solidFill>
                <a:effectLst/>
                <a:uLnTx/>
                <a:uFillTx/>
                <a:latin typeface="Aptos"/>
                <a:ea typeface="+mn-ea"/>
                <a:cs typeface="+mn-cs"/>
              </a:rPr>
              <a:t>15 August</a:t>
            </a:r>
            <a:r>
              <a:rPr kumimoji="0" lang="en-US" sz="1300" b="0" i="0" u="none" strike="noStrike" kern="1200" cap="none" spc="0" normalizeH="0" baseline="0" noProof="0" dirty="0">
                <a:ln>
                  <a:noFill/>
                </a:ln>
                <a:solidFill>
                  <a:srgbClr val="002060"/>
                </a:solidFill>
                <a:effectLst/>
                <a:uLnTx/>
                <a:uFillTx/>
                <a:latin typeface="Aptos"/>
                <a:ea typeface="+mn-ea"/>
                <a:cs typeface="+mn-cs"/>
              </a:rPr>
              <a:t>,</a:t>
            </a:r>
            <a:r>
              <a:rPr kumimoji="0" sz="1300" b="0" i="0" u="none" strike="noStrike" kern="1200" cap="none" spc="0" normalizeH="0" baseline="0" noProof="0" dirty="0">
                <a:ln>
                  <a:noFill/>
                </a:ln>
                <a:solidFill>
                  <a:srgbClr val="002060"/>
                </a:solidFill>
                <a:effectLst/>
                <a:uLnTx/>
                <a:uFillTx/>
                <a:latin typeface="Aptos"/>
                <a:ea typeface="+mn-ea"/>
                <a:cs typeface="+mn-cs"/>
              </a:rPr>
              <a:t> approximately 1,000 guests and </a:t>
            </a:r>
            <a:r>
              <a:rPr kumimoji="0" lang="en-US" sz="1300" b="0" i="0" u="none" strike="noStrike" kern="1200" cap="none" spc="0" normalizeH="0" baseline="0" noProof="0" dirty="0">
                <a:ln>
                  <a:noFill/>
                </a:ln>
                <a:solidFill>
                  <a:srgbClr val="002060"/>
                </a:solidFill>
                <a:effectLst/>
                <a:uLnTx/>
                <a:uFillTx/>
                <a:latin typeface="Aptos"/>
                <a:ea typeface="+mn-ea"/>
                <a:cs typeface="+mn-cs"/>
              </a:rPr>
              <a:t>7</a:t>
            </a:r>
            <a:r>
              <a:rPr kumimoji="0" sz="1300" b="0" i="0" u="none" strike="noStrike" kern="1200" cap="none" spc="0" normalizeH="0" baseline="0" noProof="0" dirty="0">
                <a:ln>
                  <a:noFill/>
                </a:ln>
                <a:solidFill>
                  <a:srgbClr val="002060"/>
                </a:solidFill>
                <a:effectLst/>
                <a:uLnTx/>
                <a:uFillTx/>
                <a:latin typeface="Aptos"/>
                <a:ea typeface="+mn-ea"/>
                <a:cs typeface="+mn-cs"/>
              </a:rPr>
              <a:t>4 crates.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sz="1300" b="0" i="0" u="none" strike="noStrike" kern="1200" cap="none" spc="0" normalizeH="0" baseline="0" noProof="0" dirty="0">
                <a:ln>
                  <a:noFill/>
                </a:ln>
                <a:solidFill>
                  <a:srgbClr val="002060"/>
                </a:solidFill>
                <a:effectLst/>
                <a:uLnTx/>
                <a:uFillTx/>
                <a:latin typeface="Aptos"/>
                <a:ea typeface="+mn-ea"/>
                <a:cs typeface="+mn-cs"/>
              </a:rPr>
              <a:t>Virunga 3+1 offer drove portfolio engagement.</a:t>
            </a:r>
            <a:endParaRPr kumimoji="0" lang="en-US" sz="1300" b="0" i="0" u="none" strike="noStrike" kern="1200" cap="none" spc="0" normalizeH="0" baseline="0" noProof="0" dirty="0">
              <a:ln>
                <a:noFill/>
              </a:ln>
              <a:solidFill>
                <a:srgbClr val="002060"/>
              </a:solidFill>
              <a:effectLst/>
              <a:uLnTx/>
              <a:uFillTx/>
              <a:latin typeface="Aptos"/>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endParaRPr kumimoji="0" lang="en-US" sz="1300" b="0" i="0" u="none" strike="noStrike" kern="1200" cap="none" spc="0" normalizeH="0" baseline="0" noProof="0" dirty="0">
              <a:ln>
                <a:noFill/>
              </a:ln>
              <a:solidFill>
                <a:srgbClr val="002060"/>
              </a:solidFill>
              <a:effectLst/>
              <a:uLnTx/>
              <a:uFillTx/>
              <a:latin typeface="Aptos"/>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lang="en-US" sz="1300" b="1" i="0" u="none" strike="noStrike" kern="1200" cap="none" spc="0" normalizeH="0" baseline="0" noProof="0" dirty="0" err="1">
                <a:ln>
                  <a:noFill/>
                </a:ln>
                <a:solidFill>
                  <a:srgbClr val="002060"/>
                </a:solidFill>
                <a:effectLst/>
                <a:uLnTx/>
                <a:uFillTx/>
                <a:latin typeface="Aptos"/>
                <a:ea typeface="+mn-ea"/>
                <a:cs typeface="+mn-cs"/>
              </a:rPr>
              <a:t>TunaTaka</a:t>
            </a:r>
            <a:r>
              <a:rPr kumimoji="0" lang="en-US" sz="1300" b="1" i="0" u="none" strike="noStrike" kern="1200" cap="none" spc="0" normalizeH="0" baseline="0" noProof="0" dirty="0">
                <a:ln>
                  <a:noFill/>
                </a:ln>
                <a:solidFill>
                  <a:srgbClr val="002060"/>
                </a:solidFill>
                <a:effectLst/>
                <a:uLnTx/>
                <a:uFillTx/>
                <a:latin typeface="Aptos"/>
                <a:ea typeface="+mn-ea"/>
                <a:cs typeface="+mn-cs"/>
              </a:rPr>
              <a:t> Ku Enjoy: </a:t>
            </a:r>
            <a:r>
              <a:rPr kumimoji="0" lang="en-US" sz="1300" b="0" i="0" u="none" strike="noStrike" kern="1200" cap="none" spc="0" normalizeH="0" baseline="0" noProof="0" dirty="0">
                <a:ln>
                  <a:noFill/>
                </a:ln>
                <a:solidFill>
                  <a:srgbClr val="002060"/>
                </a:solidFill>
                <a:effectLst/>
                <a:uLnTx/>
                <a:uFillTx/>
                <a:latin typeface="Aptos"/>
                <a:ea typeface="+mn-ea"/>
                <a:cs typeface="+mn-cs"/>
              </a:rPr>
              <a:t>east African music festival,</a:t>
            </a:r>
            <a:r>
              <a:rPr kumimoji="0" lang="en-US" sz="1300" b="1" i="0" u="none" strike="noStrike" kern="1200" cap="none" spc="0" normalizeH="0" baseline="0" noProof="0" dirty="0">
                <a:ln>
                  <a:noFill/>
                </a:ln>
                <a:solidFill>
                  <a:srgbClr val="002060"/>
                </a:solidFill>
                <a:effectLst/>
                <a:uLnTx/>
                <a:uFillTx/>
                <a:latin typeface="Aptos"/>
                <a:ea typeface="+mn-ea"/>
                <a:cs typeface="+mn-cs"/>
              </a:rPr>
              <a:t> </a:t>
            </a:r>
            <a:r>
              <a:rPr kumimoji="0" lang="en-US" sz="1300" b="0" i="0" u="none" strike="noStrike" kern="1200" cap="none" spc="0" normalizeH="0" baseline="0" noProof="0" dirty="0">
                <a:ln>
                  <a:noFill/>
                </a:ln>
                <a:solidFill>
                  <a:srgbClr val="002060"/>
                </a:solidFill>
                <a:effectLst/>
                <a:uLnTx/>
                <a:uFillTx/>
                <a:latin typeface="Aptos"/>
                <a:ea typeface="+mn-ea"/>
                <a:cs typeface="+mn-cs"/>
              </a:rPr>
              <a:t>1,300+ guests, 64crates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endParaRPr kumimoji="0" lang="en-US" sz="1300" b="0" i="0" u="none" strike="noStrike" kern="1200" cap="none" spc="0" normalizeH="0" baseline="0" noProof="0" dirty="0">
              <a:ln>
                <a:noFill/>
              </a:ln>
              <a:solidFill>
                <a:srgbClr val="002060"/>
              </a:solidFill>
              <a:effectLst/>
              <a:uLnTx/>
              <a:uFillTx/>
              <a:latin typeface="Aptos"/>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lang="en-US" sz="1300" b="0" i="0" u="none" strike="noStrike" kern="1200" cap="none" spc="0" normalizeH="0" baseline="0" noProof="0" dirty="0">
                <a:ln>
                  <a:noFill/>
                </a:ln>
                <a:solidFill>
                  <a:srgbClr val="002060"/>
                </a:solidFill>
                <a:effectLst/>
                <a:uLnTx/>
                <a:uFillTx/>
                <a:latin typeface="Aptos"/>
                <a:ea typeface="+mn-ea"/>
                <a:cs typeface="+mn-cs"/>
              </a:rPr>
              <a:t>Outlet activation: </a:t>
            </a:r>
          </a:p>
          <a:p>
            <a:pPr marL="742950" marR="0" lvl="1"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sz="1300" b="0">
                <a:solidFill>
                  <a:srgbClr val="566370"/>
                </a:solidFill>
                <a:latin typeface="Aptos"/>
              </a:defRPr>
            </a:pPr>
            <a:r>
              <a:rPr kumimoji="0" lang="en-US" sz="1300" b="0" i="0" u="none" strike="noStrike" kern="1200" cap="none" spc="0" normalizeH="0" baseline="0" noProof="0" dirty="0">
                <a:ln>
                  <a:noFill/>
                </a:ln>
                <a:solidFill>
                  <a:srgbClr val="002060"/>
                </a:solidFill>
                <a:effectLst/>
                <a:uLnTx/>
                <a:uFillTx/>
                <a:latin typeface="Aptos"/>
                <a:ea typeface="+mn-ea"/>
                <a:cs typeface="+mn-cs"/>
              </a:rPr>
              <a:t>Azzurri &amp; La Creola (</a:t>
            </a:r>
            <a:r>
              <a:rPr kumimoji="0" lang="en-US" sz="1300" b="0" i="1" u="none" strike="noStrike" kern="1200" cap="none" spc="0" normalizeH="0" baseline="0" noProof="0" dirty="0">
                <a:ln>
                  <a:noFill/>
                </a:ln>
                <a:solidFill>
                  <a:srgbClr val="002060"/>
                </a:solidFill>
                <a:effectLst/>
                <a:uLnTx/>
                <a:uFillTx/>
                <a:latin typeface="Aptos"/>
                <a:ea typeface="+mn-ea"/>
                <a:cs typeface="+mn-cs"/>
              </a:rPr>
              <a:t>6 activation</a:t>
            </a:r>
            <a:r>
              <a:rPr kumimoji="0" lang="en-US" sz="1300" b="0" i="0" u="none" strike="noStrike" kern="1200" cap="none" spc="0" normalizeH="0" baseline="0" noProof="0" dirty="0">
                <a:ln>
                  <a:noFill/>
                </a:ln>
                <a:solidFill>
                  <a:srgbClr val="002060"/>
                </a:solidFill>
                <a:effectLst/>
                <a:uLnTx/>
                <a:uFillTx/>
                <a:latin typeface="Aptos"/>
                <a:ea typeface="+mn-ea"/>
                <a:cs typeface="+mn-cs"/>
              </a:rPr>
              <a:t>), </a:t>
            </a:r>
          </a:p>
          <a:p>
            <a:pPr marL="742950" marR="0" lvl="1"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sz="1300" b="0">
                <a:solidFill>
                  <a:srgbClr val="566370"/>
                </a:solidFill>
                <a:latin typeface="Aptos"/>
              </a:defRPr>
            </a:pPr>
            <a:r>
              <a:rPr kumimoji="0" lang="en-US" sz="1300" b="0" i="0" u="none" strike="noStrike" kern="1200" cap="none" spc="0" normalizeH="0" baseline="0" noProof="0" dirty="0" err="1">
                <a:ln>
                  <a:noFill/>
                </a:ln>
                <a:solidFill>
                  <a:srgbClr val="002060"/>
                </a:solidFill>
                <a:effectLst/>
                <a:uLnTx/>
                <a:uFillTx/>
                <a:latin typeface="Aptos"/>
                <a:ea typeface="+mn-ea"/>
                <a:cs typeface="+mn-cs"/>
              </a:rPr>
              <a:t>Kamahwa</a:t>
            </a:r>
            <a:r>
              <a:rPr kumimoji="0" lang="en-US" sz="1300" b="0" i="0" u="none" strike="noStrike" kern="1200" cap="none" spc="0" normalizeH="0" baseline="0" noProof="0" dirty="0">
                <a:ln>
                  <a:noFill/>
                </a:ln>
                <a:solidFill>
                  <a:srgbClr val="002060"/>
                </a:solidFill>
                <a:effectLst/>
                <a:uLnTx/>
                <a:uFillTx/>
                <a:latin typeface="Aptos"/>
                <a:ea typeface="+mn-ea"/>
                <a:cs typeface="+mn-cs"/>
              </a:rPr>
              <a:t> (</a:t>
            </a:r>
            <a:r>
              <a:rPr kumimoji="0" lang="en-US" sz="1300" b="0" i="1" u="none" strike="noStrike" kern="1200" cap="none" spc="0" normalizeH="0" baseline="0" noProof="0" dirty="0">
                <a:ln>
                  <a:noFill/>
                </a:ln>
                <a:solidFill>
                  <a:srgbClr val="002060"/>
                </a:solidFill>
                <a:effectLst/>
                <a:uLnTx/>
                <a:uFillTx/>
                <a:latin typeface="Aptos"/>
                <a:ea typeface="+mn-ea"/>
                <a:cs typeface="+mn-cs"/>
              </a:rPr>
              <a:t>4 activation</a:t>
            </a:r>
            <a:r>
              <a:rPr kumimoji="0" lang="en-US" sz="1300" b="0" i="0" u="none" strike="noStrike" kern="1200" cap="none" spc="0" normalizeH="0" baseline="0" noProof="0" dirty="0">
                <a:ln>
                  <a:noFill/>
                </a:ln>
                <a:solidFill>
                  <a:srgbClr val="002060"/>
                </a:solidFill>
                <a:effectLst/>
                <a:uLnTx/>
                <a:uFillTx/>
                <a:latin typeface="Aptos"/>
                <a:ea typeface="+mn-ea"/>
                <a:cs typeface="+mn-cs"/>
              </a:rPr>
              <a:t>), </a:t>
            </a:r>
          </a:p>
          <a:p>
            <a:pPr marL="742950" marR="0" lvl="1"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sz="1300" b="0">
                <a:solidFill>
                  <a:srgbClr val="566370"/>
                </a:solidFill>
                <a:latin typeface="Aptos"/>
              </a:defRPr>
            </a:pPr>
            <a:r>
              <a:rPr kumimoji="0" lang="en-US" sz="1300" b="0" i="0" u="none" strike="noStrike" kern="1200" cap="none" spc="0" normalizeH="0" baseline="0" noProof="0" dirty="0">
                <a:ln>
                  <a:noFill/>
                </a:ln>
                <a:solidFill>
                  <a:srgbClr val="002060"/>
                </a:solidFill>
                <a:effectLst/>
                <a:uLnTx/>
                <a:uFillTx/>
                <a:latin typeface="Aptos"/>
                <a:ea typeface="+mn-ea"/>
                <a:cs typeface="+mn-cs"/>
              </a:rPr>
              <a:t>Paddock (</a:t>
            </a:r>
            <a:r>
              <a:rPr kumimoji="0" lang="en-US" sz="1300" b="0" i="1" u="none" strike="noStrike" kern="1200" cap="none" spc="0" normalizeH="0" baseline="0" noProof="0" dirty="0">
                <a:ln>
                  <a:noFill/>
                </a:ln>
                <a:solidFill>
                  <a:srgbClr val="002060"/>
                </a:solidFill>
                <a:effectLst/>
                <a:uLnTx/>
                <a:uFillTx/>
                <a:latin typeface="Aptos"/>
                <a:ea typeface="+mn-ea"/>
                <a:cs typeface="+mn-cs"/>
              </a:rPr>
              <a:t>2 activation</a:t>
            </a:r>
            <a:r>
              <a:rPr kumimoji="0" lang="en-US" sz="1300" b="0" i="0" u="none" strike="noStrike" kern="1200" cap="none" spc="0" normalizeH="0" baseline="0" noProof="0" dirty="0">
                <a:ln>
                  <a:noFill/>
                </a:ln>
                <a:solidFill>
                  <a:srgbClr val="002060"/>
                </a:solidFill>
                <a:effectLst/>
                <a:uLnTx/>
                <a:uFillTx/>
                <a:latin typeface="Aptos"/>
                <a:ea typeface="+mn-ea"/>
                <a:cs typeface="+mn-cs"/>
              </a:rPr>
              <a:t>.</a:t>
            </a:r>
            <a:endParaRPr kumimoji="0" sz="1300" b="0" i="0" u="none" strike="noStrike" kern="1200" cap="none" spc="0" normalizeH="0" baseline="0" noProof="0" dirty="0">
              <a:ln>
                <a:noFill/>
              </a:ln>
              <a:solidFill>
                <a:srgbClr val="002060"/>
              </a:solidFill>
              <a:effectLst/>
              <a:uLnTx/>
              <a:uFillTx/>
              <a:latin typeface="Aptos"/>
              <a:ea typeface="+mn-ea"/>
              <a:cs typeface="+mn-cs"/>
            </a:endParaRPr>
          </a:p>
        </p:txBody>
      </p:sp>
      <p:pic>
        <p:nvPicPr>
          <p:cNvPr id="14" name="Picture 13" descr="brand_4slide_3_65.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38530" y="4625456"/>
            <a:ext cx="2328697" cy="998978"/>
          </a:xfrm>
          <a:prstGeom prst="rect">
            <a:avLst/>
          </a:prstGeom>
        </p:spPr>
      </p:pic>
      <p:sp>
        <p:nvSpPr>
          <p:cNvPr id="15" name="Rounded Rectangle 14"/>
          <p:cNvSpPr/>
          <p:nvPr/>
        </p:nvSpPr>
        <p:spPr>
          <a:xfrm>
            <a:off x="4627998" y="3893860"/>
            <a:ext cx="7332353" cy="1601763"/>
          </a:xfrm>
          <a:prstGeom prst="round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4801735" y="4021877"/>
            <a:ext cx="6999462" cy="343518"/>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700" b="1">
                <a:solidFill>
                  <a:srgbClr val="122A4B"/>
                </a:solidFill>
                <a:latin typeface="Aptos"/>
              </a:defRPr>
            </a:pPr>
            <a:r>
              <a:rPr kumimoji="0" sz="1700" b="1" i="0" u="none" strike="noStrike" kern="1200" cap="none" spc="0" normalizeH="0" baseline="0" noProof="0" dirty="0">
                <a:ln>
                  <a:noFill/>
                </a:ln>
                <a:solidFill>
                  <a:srgbClr val="002060"/>
                </a:solidFill>
                <a:effectLst/>
                <a:uLnTx/>
                <a:uFillTx/>
                <a:latin typeface="Aptos"/>
                <a:ea typeface="+mn-ea"/>
                <a:cs typeface="+mn-cs"/>
              </a:rPr>
              <a:t>Q4</a:t>
            </a:r>
            <a:r>
              <a:rPr kumimoji="0" lang="en-RW" sz="1700" b="1" i="0" u="none" strike="noStrike" kern="1200" cap="none" spc="0" normalizeH="0" baseline="0" noProof="0" dirty="0">
                <a:ln>
                  <a:noFill/>
                </a:ln>
                <a:solidFill>
                  <a:srgbClr val="002060"/>
                </a:solidFill>
                <a:effectLst/>
                <a:uLnTx/>
                <a:uFillTx/>
                <a:latin typeface="Aptos"/>
                <a:ea typeface="+mn-ea"/>
                <a:cs typeface="+mn-cs"/>
              </a:rPr>
              <a:t> ·</a:t>
            </a:r>
            <a:r>
              <a:rPr kumimoji="0" lang="en-US" sz="1700" b="1" i="0" u="none" strike="noStrike" kern="1200" cap="none" spc="0" normalizeH="0" baseline="0" noProof="0" dirty="0">
                <a:ln>
                  <a:noFill/>
                </a:ln>
                <a:solidFill>
                  <a:srgbClr val="002060"/>
                </a:solidFill>
                <a:effectLst/>
                <a:uLnTx/>
                <a:uFillTx/>
                <a:latin typeface="Aptos"/>
                <a:ea typeface="+mn-ea"/>
                <a:cs typeface="+mn-cs"/>
              </a:rPr>
              <a:t> REMINISCE 3</a:t>
            </a:r>
            <a:r>
              <a:rPr kumimoji="0" lang="en-US" sz="1700" b="1" i="0" u="none" strike="noStrike" kern="1200" cap="none" spc="0" normalizeH="0" baseline="30000" noProof="0" dirty="0">
                <a:ln>
                  <a:noFill/>
                </a:ln>
                <a:solidFill>
                  <a:srgbClr val="002060"/>
                </a:solidFill>
                <a:effectLst/>
                <a:uLnTx/>
                <a:uFillTx/>
                <a:latin typeface="Aptos"/>
                <a:ea typeface="+mn-ea"/>
                <a:cs typeface="+mn-cs"/>
              </a:rPr>
              <a:t>rd</a:t>
            </a:r>
            <a:r>
              <a:rPr kumimoji="0" lang="en-US" sz="1700" b="1" i="0" u="none" strike="noStrike" kern="1200" cap="none" spc="0" normalizeH="0" baseline="0" noProof="0" dirty="0">
                <a:ln>
                  <a:noFill/>
                </a:ln>
                <a:solidFill>
                  <a:srgbClr val="002060"/>
                </a:solidFill>
                <a:effectLst/>
                <a:uLnTx/>
                <a:uFillTx/>
                <a:latin typeface="Aptos"/>
                <a:ea typeface="+mn-ea"/>
                <a:cs typeface="+mn-cs"/>
              </a:rPr>
              <a:t> EDITION &amp; POP UP EVENTS  </a:t>
            </a:r>
            <a:endParaRPr kumimoji="0" sz="1700" b="1" i="0" u="none" strike="noStrike" kern="1200" cap="none" spc="0" normalizeH="0" baseline="0" noProof="0" dirty="0">
              <a:ln>
                <a:noFill/>
              </a:ln>
              <a:solidFill>
                <a:srgbClr val="002060"/>
              </a:solidFill>
              <a:effectLst/>
              <a:uLnTx/>
              <a:uFillTx/>
              <a:latin typeface="Aptos"/>
              <a:ea typeface="+mn-ea"/>
              <a:cs typeface="+mn-cs"/>
            </a:endParaRPr>
          </a:p>
        </p:txBody>
      </p:sp>
      <p:sp>
        <p:nvSpPr>
          <p:cNvPr id="17" name="TextBox 16"/>
          <p:cNvSpPr txBox="1"/>
          <p:nvPr/>
        </p:nvSpPr>
        <p:spPr>
          <a:xfrm>
            <a:off x="4801735" y="4469933"/>
            <a:ext cx="6999462" cy="874085"/>
          </a:xfrm>
          <a:prstGeom prst="rect">
            <a:avLst/>
          </a:prstGeom>
          <a:noFill/>
        </p:spPr>
        <p:txBody>
          <a:bodyPr wrap="square" lIns="45720" tIns="27432">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lang="en-US" sz="1300" b="1" i="0" u="none" strike="noStrike" kern="1200" cap="none" spc="0" normalizeH="0" baseline="0" noProof="0" dirty="0">
                <a:ln>
                  <a:noFill/>
                </a:ln>
                <a:solidFill>
                  <a:srgbClr val="002060"/>
                </a:solidFill>
                <a:effectLst/>
                <a:uLnTx/>
                <a:uFillTx/>
                <a:latin typeface="Aptos"/>
                <a:ea typeface="+mn-ea"/>
                <a:cs typeface="+mn-cs"/>
              </a:rPr>
              <a:t>The Reminisce 3</a:t>
            </a:r>
            <a:r>
              <a:rPr kumimoji="0" lang="en-US" sz="1300" b="1" i="0" u="none" strike="noStrike" kern="1200" cap="none" spc="0" normalizeH="0" baseline="30000" noProof="0" dirty="0">
                <a:ln>
                  <a:noFill/>
                </a:ln>
                <a:solidFill>
                  <a:srgbClr val="002060"/>
                </a:solidFill>
                <a:effectLst/>
                <a:uLnTx/>
                <a:uFillTx/>
                <a:latin typeface="Aptos"/>
                <a:ea typeface="+mn-ea"/>
                <a:cs typeface="+mn-cs"/>
              </a:rPr>
              <a:t>rd</a:t>
            </a:r>
            <a:r>
              <a:rPr kumimoji="0" lang="en-US" sz="1300" b="1" i="0" u="none" strike="noStrike" kern="1200" cap="none" spc="0" normalizeH="0" baseline="0" noProof="0" dirty="0">
                <a:ln>
                  <a:noFill/>
                </a:ln>
                <a:solidFill>
                  <a:srgbClr val="002060"/>
                </a:solidFill>
                <a:effectLst/>
                <a:uLnTx/>
                <a:uFillTx/>
                <a:latin typeface="Aptos"/>
                <a:ea typeface="+mn-ea"/>
                <a:cs typeface="+mn-cs"/>
              </a:rPr>
              <a:t> edition </a:t>
            </a:r>
            <a:r>
              <a:rPr kumimoji="0" lang="en-US" sz="1300" b="0" i="1" u="none" strike="noStrike" kern="1200" cap="none" spc="0" normalizeH="0" baseline="0" noProof="0" dirty="0">
                <a:ln>
                  <a:noFill/>
                </a:ln>
                <a:solidFill>
                  <a:srgbClr val="002060"/>
                </a:solidFill>
                <a:effectLst/>
                <a:uLnTx/>
                <a:uFillTx/>
                <a:latin typeface="Aptos"/>
                <a:ea typeface="+mn-ea"/>
                <a:cs typeface="+mn-cs"/>
              </a:rPr>
              <a:t>(~1,500 guests targeted</a:t>
            </a:r>
            <a:r>
              <a:rPr kumimoji="0" lang="en-US" sz="1300" b="0" i="0" u="none" strike="noStrike" kern="1200" cap="none" spc="0" normalizeH="0" baseline="0" noProof="0" dirty="0">
                <a:ln>
                  <a:noFill/>
                </a:ln>
                <a:solidFill>
                  <a:srgbClr val="002060"/>
                </a:solidFill>
                <a:effectLst/>
                <a:uLnTx/>
                <a:uFillTx/>
                <a:latin typeface="Aptos"/>
                <a:ea typeface="+mn-ea"/>
                <a:cs typeface="+mn-cs"/>
              </a:rPr>
              <a: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endParaRPr kumimoji="0" lang="en-US" sz="1300" b="0" i="0" u="none" strike="noStrike" kern="1200" cap="none" spc="0" normalizeH="0" baseline="0" noProof="0" dirty="0">
              <a:ln>
                <a:noFill/>
              </a:ln>
              <a:solidFill>
                <a:srgbClr val="002060"/>
              </a:solidFill>
              <a:effectLst/>
              <a:uLnTx/>
              <a:uFillTx/>
              <a:latin typeface="Aptos"/>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lang="en-US" sz="1300" b="1" i="0" u="none" strike="noStrike" kern="1200" cap="none" spc="0" normalizeH="0" baseline="0" noProof="0" dirty="0">
                <a:ln>
                  <a:noFill/>
                </a:ln>
                <a:solidFill>
                  <a:srgbClr val="002060"/>
                </a:solidFill>
                <a:effectLst/>
                <a:uLnTx/>
                <a:uFillTx/>
                <a:latin typeface="Aptos"/>
                <a:ea typeface="+mn-ea"/>
                <a:cs typeface="+mn-cs"/>
              </a:rPr>
              <a:t>12 outlet activation: </a:t>
            </a:r>
            <a:r>
              <a:rPr kumimoji="0" sz="1300" b="0" i="0" u="none" strike="noStrike" kern="1200" cap="none" spc="0" normalizeH="0" baseline="0" noProof="0" dirty="0">
                <a:ln>
                  <a:noFill/>
                </a:ln>
                <a:solidFill>
                  <a:srgbClr val="002060"/>
                </a:solidFill>
                <a:effectLst/>
                <a:uLnTx/>
                <a:uFillTx/>
                <a:latin typeface="Aptos"/>
                <a:ea typeface="+mn-ea"/>
                <a:cs typeface="+mn-cs"/>
              </a:rPr>
              <a:t>Azzurri, La Creola, Paradox, Paddock</a:t>
            </a:r>
            <a:r>
              <a:rPr kumimoji="0" lang="en-US" sz="1300" b="0" i="0" u="none" strike="noStrike" kern="1200" cap="none" spc="0" normalizeH="0" baseline="0" noProof="0" dirty="0">
                <a:ln>
                  <a:noFill/>
                </a:ln>
                <a:solidFill>
                  <a:srgbClr val="002060"/>
                </a:solidFill>
                <a:effectLst/>
                <a:uLnTx/>
                <a:uFillTx/>
                <a:latin typeface="Aptos"/>
                <a:ea typeface="+mn-ea"/>
                <a:cs typeface="+mn-cs"/>
              </a:rPr>
              <a:t> offering consumer premium experience. </a:t>
            </a:r>
          </a:p>
        </p:txBody>
      </p:sp>
      <p:pic>
        <p:nvPicPr>
          <p:cNvPr id="18" name="Picture 17">
            <a:extLst>
              <a:ext uri="{FF2B5EF4-FFF2-40B4-BE49-F238E27FC236}">
                <a16:creationId xmlns:a16="http://schemas.microsoft.com/office/drawing/2014/main" id="{850FC67D-9214-011A-716C-0BFBBA807C82}"/>
              </a:ext>
            </a:extLst>
          </p:cNvPr>
          <p:cNvPicPr>
            <a:picLocks noChangeAspect="1"/>
          </p:cNvPicPr>
          <p:nvPr/>
        </p:nvPicPr>
        <p:blipFill>
          <a:blip r:embed="rId3"/>
          <a:stretch>
            <a:fillRect/>
          </a:stretch>
        </p:blipFill>
        <p:spPr>
          <a:xfrm>
            <a:off x="107938" y="71513"/>
            <a:ext cx="1076475" cy="752580"/>
          </a:xfrm>
          <a:prstGeom prst="rect">
            <a:avLst/>
          </a:prstGeom>
        </p:spPr>
      </p:pic>
      <p:cxnSp>
        <p:nvCxnSpPr>
          <p:cNvPr id="19" name="Straight Connector 18">
            <a:extLst>
              <a:ext uri="{FF2B5EF4-FFF2-40B4-BE49-F238E27FC236}">
                <a16:creationId xmlns:a16="http://schemas.microsoft.com/office/drawing/2014/main" id="{FA9D55B0-916D-6772-9307-94174704534B}"/>
              </a:ext>
            </a:extLst>
          </p:cNvPr>
          <p:cNvCxnSpPr>
            <a:cxnSpLocks/>
          </p:cNvCxnSpPr>
          <p:nvPr/>
        </p:nvCxnSpPr>
        <p:spPr>
          <a:xfrm flipV="1">
            <a:off x="1184413" y="740664"/>
            <a:ext cx="10858235" cy="83429"/>
          </a:xfrm>
          <a:prstGeom prst="line">
            <a:avLst/>
          </a:prstGeom>
          <a:ln w="28575">
            <a:solidFill>
              <a:srgbClr val="305B26"/>
            </a:solidFill>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21F98726-8EB3-4709-6CE7-E0856CFACC0C}"/>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96028" y="1126880"/>
            <a:ext cx="2288045" cy="1918131"/>
          </a:xfrm>
          <a:prstGeom prst="rect">
            <a:avLst/>
          </a:prstGeom>
        </p:spPr>
      </p:pic>
      <p:pic>
        <p:nvPicPr>
          <p:cNvPr id="25" name="Picture 24">
            <a:extLst>
              <a:ext uri="{FF2B5EF4-FFF2-40B4-BE49-F238E27FC236}">
                <a16:creationId xmlns:a16="http://schemas.microsoft.com/office/drawing/2014/main" id="{92B2D51F-7409-3B1E-F2FE-B594A2188A5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96028" y="3045012"/>
            <a:ext cx="1642502" cy="2579422"/>
          </a:xfrm>
          <a:prstGeom prst="rect">
            <a:avLst/>
          </a:prstGeom>
        </p:spPr>
      </p:pic>
      <p:pic>
        <p:nvPicPr>
          <p:cNvPr id="29" name="Picture 28">
            <a:extLst>
              <a:ext uri="{FF2B5EF4-FFF2-40B4-BE49-F238E27FC236}">
                <a16:creationId xmlns:a16="http://schemas.microsoft.com/office/drawing/2014/main" id="{865490E1-9D0D-36D3-7E6E-AC889EA42499}"/>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3054004" y="3045012"/>
            <a:ext cx="1216679" cy="1601764"/>
          </a:xfrm>
          <a:prstGeom prst="rect">
            <a:avLst/>
          </a:prstGeom>
        </p:spPr>
      </p:pic>
      <p:pic>
        <p:nvPicPr>
          <p:cNvPr id="31" name="Picture 30">
            <a:extLst>
              <a:ext uri="{FF2B5EF4-FFF2-40B4-BE49-F238E27FC236}">
                <a16:creationId xmlns:a16="http://schemas.microsoft.com/office/drawing/2014/main" id="{2806AB45-96FE-D60B-5C05-4C5122E37C8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938530" y="3045011"/>
            <a:ext cx="1277614" cy="1591503"/>
          </a:xfrm>
          <a:prstGeom prst="rect">
            <a:avLst/>
          </a:prstGeom>
        </p:spPr>
      </p:pic>
      <p:pic>
        <p:nvPicPr>
          <p:cNvPr id="33" name="Picture 32">
            <a:extLst>
              <a:ext uri="{FF2B5EF4-FFF2-40B4-BE49-F238E27FC236}">
                <a16:creationId xmlns:a16="http://schemas.microsoft.com/office/drawing/2014/main" id="{2C5F9A42-3275-8AFE-FA7D-11659C6D551D}"/>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372950" y="1126977"/>
            <a:ext cx="1897733" cy="191803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7600" y="126883"/>
            <a:ext cx="4754880" cy="243143"/>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B9232A"/>
                </a:solidFill>
                <a:latin typeface="Aptos"/>
              </a:defRPr>
            </a:pPr>
            <a:r>
              <a:rPr kumimoji="0" sz="1100" b="1" i="0" u="none" strike="noStrike" kern="1200" cap="none" spc="0" normalizeH="0" baseline="0" noProof="0" dirty="0">
                <a:ln>
                  <a:noFill/>
                </a:ln>
                <a:solidFill>
                  <a:srgbClr val="0070C0"/>
                </a:solidFill>
                <a:effectLst/>
                <a:uLnTx/>
                <a:uFillTx/>
                <a:latin typeface="Aptos"/>
                <a:ea typeface="+mn-ea"/>
                <a:cs typeface="+mn-cs"/>
              </a:rPr>
              <a:t>Q3 RESULTS  /  Q4 PRIORITIES · 2026</a:t>
            </a:r>
          </a:p>
        </p:txBody>
      </p:sp>
      <p:sp>
        <p:nvSpPr>
          <p:cNvPr id="5" name="TextBox 4"/>
          <p:cNvSpPr txBox="1"/>
          <p:nvPr/>
        </p:nvSpPr>
        <p:spPr>
          <a:xfrm>
            <a:off x="731520" y="321173"/>
            <a:ext cx="10744200" cy="443198"/>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700" b="1">
                <a:solidFill>
                  <a:srgbClr val="122A4B"/>
                </a:solidFill>
                <a:latin typeface="Aptos"/>
              </a:defRPr>
            </a:pPr>
            <a:r>
              <a:rPr kumimoji="0" sz="2400" b="1" i="0" u="none" strike="noStrike" kern="1200" cap="none" spc="0" normalizeH="0" baseline="0" noProof="0" dirty="0">
                <a:ln>
                  <a:noFill/>
                </a:ln>
                <a:solidFill>
                  <a:srgbClr val="0070C0"/>
                </a:solidFill>
                <a:effectLst/>
                <a:uLnTx/>
                <a:uFillTx/>
                <a:latin typeface="Aptos"/>
                <a:ea typeface="+mn-ea"/>
                <a:cs typeface="+mn-cs"/>
              </a:rPr>
              <a:t>PANACHÉ  </a:t>
            </a:r>
            <a:r>
              <a:rPr kumimoji="0" lang="en-US" sz="2400" b="1" i="0" u="none" strike="noStrike" kern="1200" cap="none" spc="0" normalizeH="0" baseline="0" noProof="0" dirty="0">
                <a:ln>
                  <a:noFill/>
                </a:ln>
                <a:solidFill>
                  <a:srgbClr val="0070C0"/>
                </a:solidFill>
                <a:effectLst/>
                <a:uLnTx/>
                <a:uFillTx/>
                <a:latin typeface="Aptos"/>
                <a:ea typeface="+mn-ea"/>
                <a:cs typeface="+mn-cs"/>
              </a:rPr>
              <a:t>-</a:t>
            </a:r>
            <a:r>
              <a:rPr kumimoji="0" sz="2400" b="1" i="0" u="none" strike="noStrike" kern="1200" cap="none" spc="0" normalizeH="0" baseline="0" noProof="0" dirty="0">
                <a:ln>
                  <a:noFill/>
                </a:ln>
                <a:solidFill>
                  <a:srgbClr val="0070C0"/>
                </a:solidFill>
                <a:effectLst/>
                <a:uLnTx/>
                <a:uFillTx/>
                <a:latin typeface="Aptos"/>
                <a:ea typeface="+mn-ea"/>
                <a:cs typeface="+mn-cs"/>
              </a:rPr>
              <a:t>  </a:t>
            </a:r>
            <a:r>
              <a:rPr kumimoji="0" lang="en-US" sz="2400" b="1" i="0" u="none" strike="noStrike" kern="1200" cap="none" spc="0" normalizeH="0" baseline="0" noProof="0" dirty="0">
                <a:ln>
                  <a:noFill/>
                </a:ln>
                <a:solidFill>
                  <a:srgbClr val="0070C0"/>
                </a:solidFill>
                <a:effectLst/>
                <a:uLnTx/>
                <a:uFillTx/>
                <a:latin typeface="Aptos"/>
                <a:ea typeface="+mn-ea"/>
                <a:cs typeface="+mn-cs"/>
              </a:rPr>
              <a:t>LONO</a:t>
            </a:r>
            <a:r>
              <a:rPr kumimoji="0" sz="2400" b="1" i="0" u="none" strike="noStrike" kern="1200" cap="none" spc="0" normalizeH="0" baseline="0" noProof="0" dirty="0">
                <a:ln>
                  <a:noFill/>
                </a:ln>
                <a:solidFill>
                  <a:srgbClr val="0070C0"/>
                </a:solidFill>
                <a:effectLst/>
                <a:uLnTx/>
                <a:uFillTx/>
                <a:latin typeface="Aptos"/>
                <a:ea typeface="+mn-ea"/>
                <a:cs typeface="+mn-cs"/>
              </a:rPr>
              <a:t> &amp; MOTORSPORT</a:t>
            </a:r>
          </a:p>
        </p:txBody>
      </p:sp>
      <p:sp>
        <p:nvSpPr>
          <p:cNvPr id="8" name="TextBox 7"/>
          <p:cNvSpPr txBox="1"/>
          <p:nvPr/>
        </p:nvSpPr>
        <p:spPr>
          <a:xfrm>
            <a:off x="640080" y="6537960"/>
            <a:ext cx="8229600" cy="210312"/>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566370"/>
                </a:solidFill>
                <a:latin typeface="Aptos"/>
              </a:defRPr>
            </a:pPr>
            <a:r>
              <a:rPr kumimoji="0" sz="900" b="0" i="0" u="none" strike="noStrike" kern="1200" cap="none" spc="0" normalizeH="0" baseline="0" noProof="0" dirty="0">
                <a:ln>
                  <a:noFill/>
                </a:ln>
                <a:solidFill>
                  <a:srgbClr val="566370"/>
                </a:solidFill>
                <a:effectLst/>
                <a:uLnTx/>
                <a:uFillTx/>
                <a:latin typeface="Aptos"/>
                <a:ea typeface="+mn-ea"/>
                <a:cs typeface="+mn-cs"/>
              </a:rPr>
              <a:t>EVENTS &amp; SPONSORSHIP  · </a:t>
            </a:r>
            <a:r>
              <a:rPr kumimoji="0" lang="en-US" sz="900" b="0" i="0" u="none" strike="noStrike" kern="1200" cap="none" spc="0" normalizeH="0" baseline="0" noProof="0" dirty="0">
                <a:ln>
                  <a:noFill/>
                </a:ln>
                <a:solidFill>
                  <a:srgbClr val="566370"/>
                </a:solidFill>
                <a:effectLst/>
                <a:uLnTx/>
                <a:uFillTx/>
                <a:latin typeface="Aptos"/>
                <a:ea typeface="+mn-ea"/>
                <a:cs typeface="+mn-cs"/>
              </a:rPr>
              <a:t> QRM</a:t>
            </a:r>
            <a:endParaRPr kumimoji="0" sz="900" b="0" i="0" u="none" strike="noStrike" kern="1200" cap="none" spc="0" normalizeH="0" baseline="0" noProof="0" dirty="0">
              <a:ln>
                <a:noFill/>
              </a:ln>
              <a:solidFill>
                <a:srgbClr val="566370"/>
              </a:solidFill>
              <a:effectLst/>
              <a:uLnTx/>
              <a:uFillTx/>
              <a:latin typeface="Aptos"/>
              <a:ea typeface="+mn-ea"/>
              <a:cs typeface="+mn-cs"/>
            </a:endParaRPr>
          </a:p>
        </p:txBody>
      </p:sp>
      <p:sp>
        <p:nvSpPr>
          <p:cNvPr id="11" name="Rounded Rectangle 10"/>
          <p:cNvSpPr/>
          <p:nvPr/>
        </p:nvSpPr>
        <p:spPr>
          <a:xfrm>
            <a:off x="6253873" y="4494276"/>
            <a:ext cx="5578463" cy="1881045"/>
          </a:xfrm>
          <a:prstGeom prst="round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6411748" y="4622292"/>
            <a:ext cx="5148693" cy="335476"/>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700" b="1">
                <a:solidFill>
                  <a:srgbClr val="122A4B"/>
                </a:solidFill>
                <a:latin typeface="Aptos"/>
              </a:defRPr>
            </a:pPr>
            <a:r>
              <a:rPr kumimoji="0" sz="1700" b="1" i="0" u="none" strike="noStrike" kern="1200" cap="none" spc="0" normalizeH="0" baseline="0" noProof="0" dirty="0">
                <a:ln>
                  <a:noFill/>
                </a:ln>
                <a:solidFill>
                  <a:srgbClr val="002060"/>
                </a:solidFill>
                <a:effectLst/>
                <a:uLnTx/>
                <a:uFillTx/>
                <a:latin typeface="Aptos"/>
                <a:ea typeface="+mn-ea"/>
                <a:cs typeface="+mn-cs"/>
              </a:rPr>
              <a:t>Q</a:t>
            </a:r>
            <a:r>
              <a:rPr kumimoji="0" lang="en-US" sz="1700" b="1" i="0" u="none" strike="noStrike" kern="1200" cap="none" spc="0" normalizeH="0" baseline="0" noProof="0" dirty="0">
                <a:ln>
                  <a:noFill/>
                </a:ln>
                <a:solidFill>
                  <a:srgbClr val="002060"/>
                </a:solidFill>
                <a:effectLst/>
                <a:uLnTx/>
                <a:uFillTx/>
                <a:latin typeface="Aptos"/>
                <a:ea typeface="+mn-ea"/>
                <a:cs typeface="+mn-cs"/>
              </a:rPr>
              <a:t>4</a:t>
            </a:r>
            <a:r>
              <a:rPr kumimoji="0" sz="1700" b="1" i="0" u="none" strike="noStrike" kern="1200" cap="none" spc="0" normalizeH="0" baseline="0" noProof="0" dirty="0">
                <a:ln>
                  <a:noFill/>
                </a:ln>
                <a:solidFill>
                  <a:srgbClr val="002060"/>
                </a:solidFill>
                <a:effectLst/>
                <a:uLnTx/>
                <a:uFillTx/>
                <a:latin typeface="Aptos"/>
                <a:ea typeface="+mn-ea"/>
                <a:cs typeface="+mn-cs"/>
              </a:rPr>
              <a:t> · </a:t>
            </a:r>
            <a:r>
              <a:rPr kumimoji="0" lang="en-US" sz="1700" b="1" i="0" u="none" strike="noStrike" kern="1200" cap="none" spc="0" normalizeH="0" baseline="0" noProof="0" dirty="0">
                <a:ln>
                  <a:noFill/>
                </a:ln>
                <a:solidFill>
                  <a:srgbClr val="002060"/>
                </a:solidFill>
                <a:effectLst/>
                <a:uLnTx/>
                <a:uFillTx/>
                <a:latin typeface="Aptos"/>
                <a:ea typeface="+mn-ea"/>
                <a:cs typeface="+mn-cs"/>
              </a:rPr>
              <a:t>SHYORONGI ENDURO RACE</a:t>
            </a:r>
            <a:endParaRPr kumimoji="0" sz="1700" b="1" i="0" u="none" strike="noStrike" kern="1200" cap="none" spc="0" normalizeH="0" baseline="0" noProof="0" dirty="0">
              <a:ln>
                <a:noFill/>
              </a:ln>
              <a:solidFill>
                <a:srgbClr val="002060"/>
              </a:solidFill>
              <a:effectLst/>
              <a:uLnTx/>
              <a:uFillTx/>
              <a:latin typeface="Aptos"/>
              <a:ea typeface="+mn-ea"/>
              <a:cs typeface="+mn-cs"/>
            </a:endParaRPr>
          </a:p>
        </p:txBody>
      </p:sp>
      <p:sp>
        <p:nvSpPr>
          <p:cNvPr id="13" name="TextBox 12"/>
          <p:cNvSpPr txBox="1"/>
          <p:nvPr/>
        </p:nvSpPr>
        <p:spPr>
          <a:xfrm>
            <a:off x="6411748" y="5070348"/>
            <a:ext cx="5148693" cy="1397306"/>
          </a:xfrm>
          <a:prstGeom prst="rect">
            <a:avLst/>
          </a:prstGeom>
          <a:noFill/>
        </p:spPr>
        <p:txBody>
          <a:bodyPr wrap="square" lIns="45720" tIns="27432">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In response to Rwanda’s government alcohol-control framework, SBL is pushing this platform with </a:t>
            </a:r>
            <a:r>
              <a:rPr kumimoji="0" lang="en-US" sz="1200" b="0" i="0" u="none" strike="noStrike" kern="1200" cap="none" spc="0" normalizeH="0" baseline="0" noProof="0" dirty="0" err="1">
                <a:ln>
                  <a:noFill/>
                </a:ln>
                <a:solidFill>
                  <a:srgbClr val="002060"/>
                </a:solidFill>
                <a:effectLst/>
                <a:uLnTx/>
                <a:uFillTx/>
                <a:latin typeface="Aptos"/>
                <a:ea typeface="+mn-ea"/>
                <a:cs typeface="+mn-cs"/>
              </a:rPr>
              <a:t>Panaché</a:t>
            </a:r>
            <a:r>
              <a:rPr kumimoji="0" lang="en-US" sz="1200" b="0" i="0" u="none" strike="noStrike" kern="1200" cap="none" spc="0" normalizeH="0" baseline="0" noProof="0" dirty="0">
                <a:ln>
                  <a:noFill/>
                </a:ln>
                <a:solidFill>
                  <a:srgbClr val="002060"/>
                </a:solidFill>
                <a:effectLst/>
                <a:uLnTx/>
                <a:uFillTx/>
                <a:latin typeface="Aptos"/>
                <a:ea typeface="+mn-ea"/>
                <a:cs typeface="+mn-cs"/>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endParaRPr kumimoji="0" lang="en-US" sz="1200" b="0" i="0" u="none" strike="noStrike" kern="1200" cap="none" spc="0" normalizeH="0" baseline="0" noProof="0" dirty="0">
              <a:ln>
                <a:noFill/>
              </a:ln>
              <a:solidFill>
                <a:srgbClr val="002060"/>
              </a:solidFill>
              <a:effectLst/>
              <a:uLnTx/>
              <a:uFillTx/>
              <a:latin typeface="Aptos"/>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300" b="0">
                <a:solidFill>
                  <a:srgbClr val="566370"/>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4</a:t>
            </a:r>
            <a:r>
              <a:rPr kumimoji="0" lang="en-US" sz="1200" b="0" i="0" u="none" strike="noStrike" kern="1200" cap="none" spc="0" normalizeH="0" baseline="30000" noProof="0" dirty="0">
                <a:ln>
                  <a:noFill/>
                </a:ln>
                <a:solidFill>
                  <a:srgbClr val="002060"/>
                </a:solidFill>
                <a:effectLst/>
                <a:uLnTx/>
                <a:uFillTx/>
                <a:latin typeface="Aptos"/>
                <a:ea typeface="+mn-ea"/>
                <a:cs typeface="+mn-cs"/>
              </a:rPr>
              <a:t>th</a:t>
            </a:r>
            <a:r>
              <a:rPr kumimoji="0" lang="en-US" sz="1200" b="0" i="0" u="none" strike="noStrike" kern="1200" cap="none" spc="0" normalizeH="0" baseline="0" noProof="0" dirty="0">
                <a:ln>
                  <a:noFill/>
                </a:ln>
                <a:solidFill>
                  <a:srgbClr val="002060"/>
                </a:solidFill>
                <a:effectLst/>
                <a:uLnTx/>
                <a:uFillTx/>
                <a:latin typeface="Aptos"/>
                <a:ea typeface="+mn-ea"/>
                <a:cs typeface="+mn-cs"/>
              </a:rPr>
              <a:t> edition of the Enduro racewith cars and motorcycles</a:t>
            </a:r>
            <a:r>
              <a:rPr kumimoji="0" lang="en-US" sz="13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a:ln>
                  <a:noFill/>
                </a:ln>
                <a:solidFill>
                  <a:srgbClr val="002060"/>
                </a:solidFill>
                <a:effectLst/>
                <a:uLnTx/>
                <a:uFillTx/>
                <a:latin typeface="Aptos"/>
                <a:ea typeface="+mn-ea"/>
                <a:cs typeface="+mn-cs"/>
              </a:rPr>
              <a:t>Activate rally drivers, motorcycle riders and spectators to grow </a:t>
            </a:r>
            <a:r>
              <a:rPr kumimoji="0" lang="en-US" sz="1200" b="0" i="0" u="none" strike="noStrike" kern="1200" cap="none" spc="0" normalizeH="0" baseline="0" noProof="0" dirty="0" err="1">
                <a:ln>
                  <a:noFill/>
                </a:ln>
                <a:solidFill>
                  <a:srgbClr val="002060"/>
                </a:solidFill>
                <a:effectLst/>
                <a:uLnTx/>
                <a:uFillTx/>
                <a:latin typeface="Aptos"/>
                <a:ea typeface="+mn-ea"/>
                <a:cs typeface="+mn-cs"/>
              </a:rPr>
              <a:t>Panaché</a:t>
            </a:r>
            <a:r>
              <a:rPr kumimoji="0" lang="en-US" sz="1200" b="0" i="0" u="none" strike="noStrike" kern="1200" cap="none" spc="0" normalizeH="0" baseline="0" noProof="0" dirty="0">
                <a:ln>
                  <a:noFill/>
                </a:ln>
                <a:solidFill>
                  <a:srgbClr val="002060"/>
                </a:solidFill>
                <a:effectLst/>
                <a:uLnTx/>
                <a:uFillTx/>
                <a:latin typeface="Aptos"/>
                <a:ea typeface="+mn-ea"/>
                <a:cs typeface="+mn-cs"/>
              </a:rPr>
              <a:t> visibility, trial and sales.</a:t>
            </a:r>
          </a:p>
          <a:p>
            <a:pPr marL="0" marR="0" lvl="0" indent="0" algn="l" defTabSz="457200" rtl="0" eaLnBrk="1" fontAlgn="auto" latinLnBrk="0" hangingPunct="1">
              <a:lnSpc>
                <a:spcPct val="100000"/>
              </a:lnSpc>
              <a:spcBef>
                <a:spcPts val="0"/>
              </a:spcBef>
              <a:spcAft>
                <a:spcPts val="0"/>
              </a:spcAft>
              <a:buClrTx/>
              <a:buSzTx/>
              <a:buFontTx/>
              <a:buNone/>
              <a:tabLst/>
              <a:defRPr sz="1300" b="0">
                <a:solidFill>
                  <a:srgbClr val="566370"/>
                </a:solidFill>
                <a:latin typeface="Aptos"/>
              </a:defRPr>
            </a:pPr>
            <a:endParaRPr kumimoji="0" sz="1300" b="0" i="0" u="none" strike="noStrike" kern="1200" cap="none" spc="0" normalizeH="0" baseline="0" noProof="0" dirty="0">
              <a:ln>
                <a:noFill/>
              </a:ln>
              <a:solidFill>
                <a:srgbClr val="002060"/>
              </a:solidFill>
              <a:effectLst/>
              <a:uLnTx/>
              <a:uFillTx/>
              <a:latin typeface="Aptos"/>
              <a:ea typeface="+mn-ea"/>
              <a:cs typeface="+mn-cs"/>
            </a:endParaRPr>
          </a:p>
        </p:txBody>
      </p:sp>
      <p:pic>
        <p:nvPicPr>
          <p:cNvPr id="17" name="Picture 16">
            <a:extLst>
              <a:ext uri="{FF2B5EF4-FFF2-40B4-BE49-F238E27FC236}">
                <a16:creationId xmlns:a16="http://schemas.microsoft.com/office/drawing/2014/main" id="{63F6326D-75AC-3CD0-86C0-BCB7918EAB00}"/>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18" name="Straight Connector 17">
            <a:extLst>
              <a:ext uri="{FF2B5EF4-FFF2-40B4-BE49-F238E27FC236}">
                <a16:creationId xmlns:a16="http://schemas.microsoft.com/office/drawing/2014/main" id="{F75CC5A7-950B-323A-BE0C-45BAA14D4573}"/>
              </a:ext>
            </a:extLst>
          </p:cNvPr>
          <p:cNvCxnSpPr>
            <a:cxnSpLocks/>
          </p:cNvCxnSpPr>
          <p:nvPr/>
        </p:nvCxnSpPr>
        <p:spPr>
          <a:xfrm flipV="1">
            <a:off x="1184413" y="708354"/>
            <a:ext cx="10858235" cy="83429"/>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93F2F2B-424C-77C6-6737-B82ABF1D1ACA}"/>
              </a:ext>
            </a:extLst>
          </p:cNvPr>
          <p:cNvCxnSpPr>
            <a:cxnSpLocks/>
          </p:cNvCxnSpPr>
          <p:nvPr/>
        </p:nvCxnSpPr>
        <p:spPr>
          <a:xfrm flipV="1">
            <a:off x="6053328" y="1059326"/>
            <a:ext cx="0" cy="5575992"/>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sp>
        <p:nvSpPr>
          <p:cNvPr id="21" name="Rounded Rectangle 10">
            <a:extLst>
              <a:ext uri="{FF2B5EF4-FFF2-40B4-BE49-F238E27FC236}">
                <a16:creationId xmlns:a16="http://schemas.microsoft.com/office/drawing/2014/main" id="{DB155C5E-9BD4-C160-0913-2EF8AE15F483}"/>
              </a:ext>
            </a:extLst>
          </p:cNvPr>
          <p:cNvSpPr/>
          <p:nvPr/>
        </p:nvSpPr>
        <p:spPr>
          <a:xfrm>
            <a:off x="382284" y="1030224"/>
            <a:ext cx="5480304" cy="1234049"/>
          </a:xfrm>
          <a:prstGeom prst="round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9D29EBD2-0896-3ADA-5950-80FCDA563AAF}"/>
              </a:ext>
            </a:extLst>
          </p:cNvPr>
          <p:cNvSpPr txBox="1"/>
          <p:nvPr/>
        </p:nvSpPr>
        <p:spPr>
          <a:xfrm>
            <a:off x="511441" y="1158240"/>
            <a:ext cx="5148693" cy="335476"/>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700" b="1">
                <a:solidFill>
                  <a:srgbClr val="122A4B"/>
                </a:solidFill>
                <a:latin typeface="Aptos"/>
              </a:defRPr>
            </a:pPr>
            <a:r>
              <a:rPr kumimoji="0" sz="1700" b="1" i="0" u="none" strike="noStrike" kern="1200" cap="none" spc="0" normalizeH="0" baseline="0" noProof="0" dirty="0">
                <a:ln>
                  <a:noFill/>
                </a:ln>
                <a:solidFill>
                  <a:srgbClr val="002060"/>
                </a:solidFill>
                <a:effectLst/>
                <a:uLnTx/>
                <a:uFillTx/>
                <a:latin typeface="Aptos"/>
                <a:ea typeface="+mn-ea"/>
                <a:cs typeface="+mn-cs"/>
              </a:rPr>
              <a:t>Q3 · </a:t>
            </a:r>
            <a:r>
              <a:rPr kumimoji="0" lang="en-US" sz="1700" b="1" i="0" u="none" strike="noStrike" kern="1200" cap="none" spc="0" normalizeH="0" baseline="0" noProof="0" dirty="0">
                <a:ln>
                  <a:noFill/>
                </a:ln>
                <a:solidFill>
                  <a:srgbClr val="002060"/>
                </a:solidFill>
                <a:effectLst/>
                <a:uLnTx/>
                <a:uFillTx/>
                <a:latin typeface="Aptos"/>
                <a:ea typeface="+mn-ea"/>
                <a:cs typeface="+mn-cs"/>
              </a:rPr>
              <a:t>MOTORCYCLE ENDURO</a:t>
            </a:r>
            <a:endParaRPr kumimoji="0" sz="1700" b="1" i="0" u="none" strike="noStrike" kern="1200" cap="none" spc="0" normalizeH="0" baseline="0" noProof="0" dirty="0">
              <a:ln>
                <a:noFill/>
              </a:ln>
              <a:solidFill>
                <a:srgbClr val="002060"/>
              </a:solidFill>
              <a:effectLst/>
              <a:uLnTx/>
              <a:uFillTx/>
              <a:latin typeface="Aptos"/>
              <a:ea typeface="+mn-ea"/>
              <a:cs typeface="+mn-cs"/>
            </a:endParaRPr>
          </a:p>
        </p:txBody>
      </p:sp>
      <p:sp>
        <p:nvSpPr>
          <p:cNvPr id="25" name="TextBox 24">
            <a:extLst>
              <a:ext uri="{FF2B5EF4-FFF2-40B4-BE49-F238E27FC236}">
                <a16:creationId xmlns:a16="http://schemas.microsoft.com/office/drawing/2014/main" id="{AF8C1428-8F47-5DA8-C88C-23FF2360EC82}"/>
              </a:ext>
            </a:extLst>
          </p:cNvPr>
          <p:cNvSpPr txBox="1"/>
          <p:nvPr/>
        </p:nvSpPr>
        <p:spPr>
          <a:xfrm>
            <a:off x="511441" y="1606296"/>
            <a:ext cx="5148693" cy="473976"/>
          </a:xfrm>
          <a:prstGeom prst="rect">
            <a:avLst/>
          </a:prstGeom>
          <a:noFill/>
        </p:spPr>
        <p:txBody>
          <a:bodyPr wrap="square" lIns="45720" tIns="27432">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0">
                <a:solidFill>
                  <a:srgbClr val="566370"/>
                </a:solidFill>
                <a:latin typeface="Aptos"/>
              </a:defRPr>
            </a:pPr>
            <a:r>
              <a:rPr kumimoji="0" lang="en-US" sz="1300" b="0" i="0" u="none" strike="noStrike" kern="1200" cap="none" spc="0" normalizeH="0" baseline="0" noProof="0" dirty="0">
                <a:ln>
                  <a:noFill/>
                </a:ln>
                <a:solidFill>
                  <a:srgbClr val="002060"/>
                </a:solidFill>
                <a:effectLst/>
                <a:uLnTx/>
                <a:uFillTx/>
                <a:latin typeface="Aptos"/>
                <a:ea typeface="+mn-ea"/>
                <a:cs typeface="+mn-cs"/>
              </a:rPr>
              <a:t>2</a:t>
            </a:r>
            <a:r>
              <a:rPr kumimoji="0" lang="en-US" sz="1300" b="0" i="0" u="none" strike="noStrike" kern="1200" cap="none" spc="0" normalizeH="0" baseline="30000" noProof="0" dirty="0">
                <a:ln>
                  <a:noFill/>
                </a:ln>
                <a:solidFill>
                  <a:srgbClr val="002060"/>
                </a:solidFill>
                <a:effectLst/>
                <a:uLnTx/>
                <a:uFillTx/>
                <a:latin typeface="Aptos"/>
                <a:ea typeface="+mn-ea"/>
                <a:cs typeface="+mn-cs"/>
              </a:rPr>
              <a:t>nd</a:t>
            </a:r>
            <a:r>
              <a:rPr kumimoji="0" lang="en-US" sz="1300" b="0" i="0" u="none" strike="noStrike" kern="1200" cap="none" spc="0" normalizeH="0" baseline="0" noProof="0" dirty="0">
                <a:ln>
                  <a:noFill/>
                </a:ln>
                <a:solidFill>
                  <a:srgbClr val="002060"/>
                </a:solidFill>
                <a:effectLst/>
                <a:uLnTx/>
                <a:uFillTx/>
                <a:latin typeface="Aptos"/>
                <a:ea typeface="+mn-ea"/>
                <a:cs typeface="+mn-cs"/>
              </a:rPr>
              <a:t> edition of the Enduro racing happened at </a:t>
            </a:r>
            <a:r>
              <a:rPr kumimoji="0" lang="en-US" sz="1300" b="0" i="0" u="none" strike="noStrike" kern="1200" cap="none" spc="0" normalizeH="0" baseline="0" noProof="0" dirty="0" err="1">
                <a:ln>
                  <a:noFill/>
                </a:ln>
                <a:solidFill>
                  <a:srgbClr val="002060"/>
                </a:solidFill>
                <a:effectLst/>
                <a:uLnTx/>
                <a:uFillTx/>
                <a:latin typeface="Aptos"/>
                <a:ea typeface="+mn-ea"/>
                <a:cs typeface="+mn-cs"/>
              </a:rPr>
              <a:t>Umuko</a:t>
            </a:r>
            <a:r>
              <a:rPr kumimoji="0" lang="en-US" sz="1300" b="0" i="0" u="none" strike="noStrike" kern="1200" cap="none" spc="0" normalizeH="0" baseline="0" noProof="0" dirty="0">
                <a:ln>
                  <a:noFill/>
                </a:ln>
                <a:solidFill>
                  <a:srgbClr val="002060"/>
                </a:solidFill>
                <a:effectLst/>
                <a:uLnTx/>
                <a:uFillTx/>
                <a:latin typeface="Aptos"/>
                <a:ea typeface="+mn-ea"/>
                <a:cs typeface="+mn-cs"/>
              </a:rPr>
              <a:t> lodge featuring riders from all east Africa.</a:t>
            </a:r>
            <a:endParaRPr kumimoji="0" sz="1300" b="0" i="0" u="none" strike="noStrike" kern="1200" cap="none" spc="0" normalizeH="0" baseline="0" noProof="0" dirty="0">
              <a:ln>
                <a:noFill/>
              </a:ln>
              <a:solidFill>
                <a:srgbClr val="002060"/>
              </a:solidFill>
              <a:effectLst/>
              <a:uLnTx/>
              <a:uFillTx/>
              <a:latin typeface="Aptos"/>
              <a:ea typeface="+mn-ea"/>
              <a:cs typeface="+mn-cs"/>
            </a:endParaRPr>
          </a:p>
        </p:txBody>
      </p:sp>
      <p:pic>
        <p:nvPicPr>
          <p:cNvPr id="29" name="Picture 28">
            <a:extLst>
              <a:ext uri="{FF2B5EF4-FFF2-40B4-BE49-F238E27FC236}">
                <a16:creationId xmlns:a16="http://schemas.microsoft.com/office/drawing/2014/main" id="{6BF2764C-2DB9-37A6-45BD-2E6263307BE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73550" y="2470404"/>
            <a:ext cx="2589038" cy="3957827"/>
          </a:xfrm>
          <a:prstGeom prst="rect">
            <a:avLst/>
          </a:prstGeom>
        </p:spPr>
      </p:pic>
      <p:pic>
        <p:nvPicPr>
          <p:cNvPr id="31" name="Picture 30">
            <a:extLst>
              <a:ext uri="{FF2B5EF4-FFF2-40B4-BE49-F238E27FC236}">
                <a16:creationId xmlns:a16="http://schemas.microsoft.com/office/drawing/2014/main" id="{4CD4EFE9-7D1B-402A-4F57-FCE7416E571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73674" y="2470404"/>
            <a:ext cx="2936452" cy="1957635"/>
          </a:xfrm>
          <a:prstGeom prst="rect">
            <a:avLst/>
          </a:prstGeom>
        </p:spPr>
      </p:pic>
      <p:pic>
        <p:nvPicPr>
          <p:cNvPr id="33" name="Picture 32">
            <a:extLst>
              <a:ext uri="{FF2B5EF4-FFF2-40B4-BE49-F238E27FC236}">
                <a16:creationId xmlns:a16="http://schemas.microsoft.com/office/drawing/2014/main" id="{49E23969-89FB-B514-187C-25599B1337B5}"/>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373674" y="4331636"/>
            <a:ext cx="2946172" cy="2096595"/>
          </a:xfrm>
          <a:prstGeom prst="rect">
            <a:avLst/>
          </a:prstGeom>
        </p:spPr>
      </p:pic>
      <p:pic>
        <p:nvPicPr>
          <p:cNvPr id="3" name="Picture 2">
            <a:extLst>
              <a:ext uri="{FF2B5EF4-FFF2-40B4-BE49-F238E27FC236}">
                <a16:creationId xmlns:a16="http://schemas.microsoft.com/office/drawing/2014/main" id="{C91BB9A4-F349-DDDA-2A37-44A5C0895483}"/>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719703" y="962081"/>
            <a:ext cx="2277350" cy="3416026"/>
          </a:xfrm>
          <a:prstGeom prst="rect">
            <a:avLst/>
          </a:prstGeom>
        </p:spPr>
      </p:pic>
      <p:pic>
        <p:nvPicPr>
          <p:cNvPr id="7" name="Picture 6">
            <a:extLst>
              <a:ext uri="{FF2B5EF4-FFF2-40B4-BE49-F238E27FC236}">
                <a16:creationId xmlns:a16="http://schemas.microsoft.com/office/drawing/2014/main" id="{D7B031FA-DCE9-6E79-9298-4810EF91536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998486" y="962081"/>
            <a:ext cx="2277350" cy="341602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08660" y="286313"/>
            <a:ext cx="10744200" cy="433965"/>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lang="en-US" sz="2400" b="1" i="0" u="none" strike="noStrike" kern="1200" cap="none" spc="0" normalizeH="0" baseline="0" noProof="0" dirty="0">
                <a:ln>
                  <a:noFill/>
                </a:ln>
                <a:solidFill>
                  <a:srgbClr val="002060"/>
                </a:solidFill>
                <a:effectLst/>
                <a:uLnTx/>
                <a:uFillTx/>
                <a:latin typeface="Aptos"/>
                <a:ea typeface="+mn-ea"/>
                <a:cs typeface="+mn-cs"/>
              </a:rPr>
              <a:t>2027 </a:t>
            </a:r>
            <a:r>
              <a:rPr kumimoji="0" sz="2400" b="1" i="0" u="none" strike="noStrike" kern="1200" cap="none" spc="0" normalizeH="0" baseline="0" noProof="0" dirty="0">
                <a:ln>
                  <a:noFill/>
                </a:ln>
                <a:solidFill>
                  <a:srgbClr val="002060"/>
                </a:solidFill>
                <a:effectLst/>
                <a:uLnTx/>
                <a:uFillTx/>
                <a:latin typeface="Aptos"/>
                <a:ea typeface="+mn-ea"/>
                <a:cs typeface="+mn-cs"/>
              </a:rPr>
              <a:t>EXECUTION MODEL  </a:t>
            </a:r>
            <a:r>
              <a:rPr kumimoji="0" lang="en-US" sz="2400" b="1" i="0" u="none" strike="noStrike" kern="1200" cap="none" spc="0" normalizeH="0" baseline="0" noProof="0" dirty="0">
                <a:ln>
                  <a:noFill/>
                </a:ln>
                <a:solidFill>
                  <a:srgbClr val="002060"/>
                </a:solidFill>
                <a:effectLst/>
                <a:uLnTx/>
                <a:uFillTx/>
                <a:latin typeface="Aptos"/>
                <a:ea typeface="+mn-ea"/>
                <a:cs typeface="+mn-cs"/>
              </a:rPr>
              <a:t>-</a:t>
            </a:r>
            <a:r>
              <a:rPr kumimoji="0" sz="2400" b="1" i="0" u="none" strike="noStrike" kern="1200" cap="none" spc="0" normalizeH="0" baseline="0" noProof="0" dirty="0">
                <a:ln>
                  <a:noFill/>
                </a:ln>
                <a:solidFill>
                  <a:srgbClr val="002060"/>
                </a:solidFill>
                <a:effectLst/>
                <a:uLnTx/>
                <a:uFillTx/>
                <a:latin typeface="Aptos"/>
                <a:ea typeface="+mn-ea"/>
                <a:cs typeface="+mn-cs"/>
              </a:rPr>
              <a:t>  BIGGER IMPACT, SMARTER SPEND</a:t>
            </a:r>
          </a:p>
        </p:txBody>
      </p:sp>
      <p:sp>
        <p:nvSpPr>
          <p:cNvPr id="7" name="TextBox 6"/>
          <p:cNvSpPr txBox="1"/>
          <p:nvPr/>
        </p:nvSpPr>
        <p:spPr>
          <a:xfrm>
            <a:off x="859536" y="1198256"/>
            <a:ext cx="10515600" cy="280077"/>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200" b="0">
                <a:solidFill>
                  <a:srgbClr val="556371"/>
                </a:solidFill>
                <a:latin typeface="Aptos"/>
              </a:defRPr>
            </a:pPr>
            <a:r>
              <a:rPr kumimoji="0" sz="1400" b="0" i="0" u="none" strike="noStrike" kern="1200" cap="none" spc="0" normalizeH="0" baseline="0" noProof="0" dirty="0">
                <a:ln>
                  <a:noFill/>
                </a:ln>
                <a:solidFill>
                  <a:srgbClr val="002060"/>
                </a:solidFill>
                <a:effectLst/>
                <a:uLnTx/>
                <a:uFillTx/>
                <a:latin typeface="Aptos"/>
                <a:ea typeface="+mn-ea"/>
                <a:cs typeface="+mn-cs"/>
              </a:rPr>
              <a:t>Capitalize on acquired production assets while protecting compliance and commercial return</a:t>
            </a:r>
          </a:p>
        </p:txBody>
      </p:sp>
      <p:sp>
        <p:nvSpPr>
          <p:cNvPr id="8" name="TextBox 7"/>
          <p:cNvSpPr txBox="1"/>
          <p:nvPr/>
        </p:nvSpPr>
        <p:spPr>
          <a:xfrm>
            <a:off x="548640" y="6537960"/>
            <a:ext cx="7315200" cy="20116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900" b="0">
                <a:solidFill>
                  <a:srgbClr val="556371"/>
                </a:solidFill>
                <a:latin typeface="Aptos"/>
              </a:defRPr>
            </a:pPr>
            <a:r>
              <a:rPr kumimoji="0" sz="900" b="0" i="0" u="none" strike="noStrike" kern="1200" cap="none" spc="0" normalizeH="0" baseline="0" noProof="0" dirty="0">
                <a:ln>
                  <a:noFill/>
                </a:ln>
                <a:solidFill>
                  <a:srgbClr val="556371"/>
                </a:solidFill>
                <a:effectLst/>
                <a:uLnTx/>
                <a:uFillTx/>
                <a:latin typeface="Aptos"/>
                <a:ea typeface="+mn-ea"/>
                <a:cs typeface="+mn-cs"/>
              </a:rPr>
              <a:t>BRAND-LED PLAN  ·  </a:t>
            </a:r>
            <a:r>
              <a:rPr kumimoji="0" lang="en-US" sz="900" b="0" i="0" u="none" strike="noStrike" kern="1200" cap="none" spc="0" normalizeH="0" baseline="0" noProof="0" dirty="0">
                <a:ln>
                  <a:noFill/>
                </a:ln>
                <a:solidFill>
                  <a:srgbClr val="556371"/>
                </a:solidFill>
                <a:effectLst/>
                <a:uLnTx/>
                <a:uFillTx/>
                <a:latin typeface="Aptos"/>
                <a:ea typeface="+mn-ea"/>
                <a:cs typeface="+mn-cs"/>
              </a:rPr>
              <a:t>QRM</a:t>
            </a:r>
            <a:endParaRPr kumimoji="0" sz="900" b="0" i="0" u="none" strike="noStrike" kern="1200" cap="none" spc="0" normalizeH="0" baseline="0" noProof="0" dirty="0">
              <a:ln>
                <a:noFill/>
              </a:ln>
              <a:solidFill>
                <a:srgbClr val="556371"/>
              </a:solidFill>
              <a:effectLst/>
              <a:uLnTx/>
              <a:uFillTx/>
              <a:latin typeface="Aptos"/>
              <a:ea typeface="+mn-ea"/>
              <a:cs typeface="+mn-cs"/>
            </a:endParaRPr>
          </a:p>
        </p:txBody>
      </p:sp>
      <p:sp>
        <p:nvSpPr>
          <p:cNvPr id="10" name="Rounded Rectangle 9"/>
          <p:cNvSpPr/>
          <p:nvPr/>
        </p:nvSpPr>
        <p:spPr>
          <a:xfrm>
            <a:off x="676656" y="1690507"/>
            <a:ext cx="3547872" cy="2944368"/>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ounded Rectangle 10"/>
          <p:cNvSpPr/>
          <p:nvPr/>
        </p:nvSpPr>
        <p:spPr>
          <a:xfrm>
            <a:off x="676656" y="1690507"/>
            <a:ext cx="64008" cy="2944368"/>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859536" y="1818523"/>
            <a:ext cx="318211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600" b="1">
                <a:solidFill>
                  <a:srgbClr val="142B4C"/>
                </a:solidFill>
                <a:latin typeface="Aptos"/>
              </a:defRPr>
            </a:pPr>
            <a:r>
              <a:rPr kumimoji="0" sz="1600" b="1" i="0" u="none" strike="noStrike" kern="1200" cap="none" spc="0" normalizeH="0" baseline="0" noProof="0" dirty="0">
                <a:ln>
                  <a:noFill/>
                </a:ln>
                <a:solidFill>
                  <a:srgbClr val="002060"/>
                </a:solidFill>
                <a:effectLst/>
                <a:uLnTx/>
                <a:uFillTx/>
                <a:latin typeface="Aptos"/>
                <a:ea typeface="+mn-ea"/>
                <a:cs typeface="+mn-cs"/>
              </a:rPr>
              <a:t>OWN THE PRODUCTION</a:t>
            </a:r>
          </a:p>
        </p:txBody>
      </p:sp>
      <p:sp>
        <p:nvSpPr>
          <p:cNvPr id="13" name="TextBox 12"/>
          <p:cNvSpPr txBox="1"/>
          <p:nvPr/>
        </p:nvSpPr>
        <p:spPr>
          <a:xfrm>
            <a:off x="859536" y="2303155"/>
            <a:ext cx="3182112" cy="81560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20" b="0">
                <a:solidFill>
                  <a:srgbClr val="556371"/>
                </a:solidFill>
                <a:latin typeface="Aptos"/>
              </a:defRPr>
            </a:pPr>
            <a:r>
              <a:rPr kumimoji="0" sz="1220" b="0" i="0" u="none" strike="noStrike" kern="1200" cap="none" spc="0" normalizeH="0" baseline="0" noProof="0" dirty="0">
                <a:ln>
                  <a:noFill/>
                </a:ln>
                <a:solidFill>
                  <a:srgbClr val="002060"/>
                </a:solidFill>
                <a:effectLst/>
                <a:uLnTx/>
                <a:uFillTx/>
                <a:latin typeface="Aptos"/>
                <a:ea typeface="+mn-ea"/>
                <a:cs typeface="+mn-cs"/>
              </a:rPr>
              <a:t>Deploy SBL-owned sound, stage, lighting and screens. Negotiate stronger sponsorship value, reduce external rental dependence and produce our own events.</a:t>
            </a:r>
          </a:p>
        </p:txBody>
      </p:sp>
      <p:sp>
        <p:nvSpPr>
          <p:cNvPr id="14" name="Rounded Rectangle 13"/>
          <p:cNvSpPr/>
          <p:nvPr/>
        </p:nvSpPr>
        <p:spPr>
          <a:xfrm>
            <a:off x="4389120" y="1690507"/>
            <a:ext cx="3547872" cy="2944368"/>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ounded Rectangle 14"/>
          <p:cNvSpPr/>
          <p:nvPr/>
        </p:nvSpPr>
        <p:spPr>
          <a:xfrm>
            <a:off x="4389120" y="1690507"/>
            <a:ext cx="64008" cy="2944368"/>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4572000" y="1818523"/>
            <a:ext cx="318211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600" b="1">
                <a:solidFill>
                  <a:srgbClr val="142B4C"/>
                </a:solidFill>
                <a:latin typeface="Aptos"/>
              </a:defRPr>
            </a:pPr>
            <a:r>
              <a:rPr kumimoji="0" sz="1600" b="1" i="0" u="none" strike="noStrike" kern="1200" cap="none" spc="0" normalizeH="0" baseline="0" noProof="0" dirty="0">
                <a:ln>
                  <a:noFill/>
                </a:ln>
                <a:solidFill>
                  <a:srgbClr val="002060"/>
                </a:solidFill>
                <a:effectLst/>
                <a:uLnTx/>
                <a:uFillTx/>
                <a:latin typeface="Aptos"/>
                <a:ea typeface="+mn-ea"/>
                <a:cs typeface="+mn-cs"/>
              </a:rPr>
              <a:t>ADAPT TO REGULATION</a:t>
            </a:r>
          </a:p>
        </p:txBody>
      </p:sp>
      <p:sp>
        <p:nvSpPr>
          <p:cNvPr id="17" name="TextBox 16"/>
          <p:cNvSpPr txBox="1"/>
          <p:nvPr/>
        </p:nvSpPr>
        <p:spPr>
          <a:xfrm>
            <a:off x="4572000" y="2303155"/>
            <a:ext cx="3182112" cy="81560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20" b="0">
                <a:solidFill>
                  <a:srgbClr val="556371"/>
                </a:solidFill>
                <a:latin typeface="Aptos"/>
              </a:defRPr>
            </a:pPr>
            <a:r>
              <a:rPr kumimoji="0" sz="1220" b="0" i="0" u="none" strike="noStrike" kern="1200" cap="none" spc="0" normalizeH="0" baseline="0" noProof="0" dirty="0">
                <a:ln>
                  <a:noFill/>
                </a:ln>
                <a:solidFill>
                  <a:srgbClr val="002060"/>
                </a:solidFill>
                <a:effectLst/>
                <a:uLnTx/>
                <a:uFillTx/>
                <a:latin typeface="Aptos"/>
                <a:ea typeface="+mn-ea"/>
                <a:cs typeface="+mn-cs"/>
              </a:rPr>
              <a:t>Shift recurring alcohol-focused experiences into licensed bars and permitted venues. Verify approvals, age restrictions, service hours and stadium permissions.</a:t>
            </a:r>
          </a:p>
        </p:txBody>
      </p:sp>
      <p:sp>
        <p:nvSpPr>
          <p:cNvPr id="18" name="Rounded Rectangle 17"/>
          <p:cNvSpPr/>
          <p:nvPr/>
        </p:nvSpPr>
        <p:spPr>
          <a:xfrm>
            <a:off x="8101583" y="1690507"/>
            <a:ext cx="3547872" cy="2944368"/>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ounded Rectangle 18"/>
          <p:cNvSpPr/>
          <p:nvPr/>
        </p:nvSpPr>
        <p:spPr>
          <a:xfrm>
            <a:off x="8101583" y="1690507"/>
            <a:ext cx="64008" cy="2944368"/>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8284463" y="1818523"/>
            <a:ext cx="318211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600" b="1">
                <a:solidFill>
                  <a:srgbClr val="142B4C"/>
                </a:solidFill>
                <a:latin typeface="Aptos"/>
              </a:defRPr>
            </a:pPr>
            <a:r>
              <a:rPr kumimoji="0" sz="1600" b="1" i="0" u="none" strike="noStrike" kern="1200" cap="none" spc="0" normalizeH="0" baseline="0" noProof="0" dirty="0">
                <a:ln>
                  <a:noFill/>
                </a:ln>
                <a:solidFill>
                  <a:srgbClr val="002060"/>
                </a:solidFill>
                <a:effectLst/>
                <a:uLnTx/>
                <a:uFillTx/>
                <a:latin typeface="Aptos"/>
                <a:ea typeface="+mn-ea"/>
                <a:cs typeface="+mn-cs"/>
              </a:rPr>
              <a:t>MEASURE COMMERCIAL ROI</a:t>
            </a:r>
          </a:p>
        </p:txBody>
      </p:sp>
      <p:sp>
        <p:nvSpPr>
          <p:cNvPr id="21" name="TextBox 20"/>
          <p:cNvSpPr txBox="1"/>
          <p:nvPr/>
        </p:nvSpPr>
        <p:spPr>
          <a:xfrm>
            <a:off x="8284463" y="2303155"/>
            <a:ext cx="3182112" cy="62786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20" b="0">
                <a:solidFill>
                  <a:srgbClr val="556371"/>
                </a:solidFill>
                <a:latin typeface="Aptos"/>
              </a:defRPr>
            </a:pPr>
            <a:r>
              <a:rPr kumimoji="0" sz="1220" b="0" i="0" u="none" strike="noStrike" kern="1200" cap="none" spc="0" normalizeH="0" baseline="0" noProof="0" dirty="0">
                <a:ln>
                  <a:noFill/>
                </a:ln>
                <a:solidFill>
                  <a:srgbClr val="002060"/>
                </a:solidFill>
                <a:effectLst/>
                <a:uLnTx/>
                <a:uFillTx/>
                <a:latin typeface="Aptos"/>
                <a:ea typeface="+mn-ea"/>
                <a:cs typeface="+mn-cs"/>
              </a:rPr>
              <a:t>Track attendance, direct sell-out, crates sold, brand reach, cost per event, production savings and post-event reconciliation.</a:t>
            </a:r>
          </a:p>
        </p:txBody>
      </p:sp>
      <p:pic>
        <p:nvPicPr>
          <p:cNvPr id="25" name="Picture 24">
            <a:extLst>
              <a:ext uri="{FF2B5EF4-FFF2-40B4-BE49-F238E27FC236}">
                <a16:creationId xmlns:a16="http://schemas.microsoft.com/office/drawing/2014/main" id="{F8924644-2B5B-36E2-DB89-A709844A30FB}"/>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26" name="Straight Connector 25">
            <a:extLst>
              <a:ext uri="{FF2B5EF4-FFF2-40B4-BE49-F238E27FC236}">
                <a16:creationId xmlns:a16="http://schemas.microsoft.com/office/drawing/2014/main" id="{DCF0B2F6-75CC-F6A7-A9E8-241CA158A429}"/>
              </a:ext>
            </a:extLst>
          </p:cNvPr>
          <p:cNvCxnSpPr>
            <a:cxnSpLocks/>
          </p:cNvCxnSpPr>
          <p:nvPr/>
        </p:nvCxnSpPr>
        <p:spPr>
          <a:xfrm flipV="1">
            <a:off x="1184413" y="740664"/>
            <a:ext cx="10858235" cy="83429"/>
          </a:xfrm>
          <a:prstGeom prst="line">
            <a:avLst/>
          </a:prstGeom>
          <a:ln w="28575">
            <a:solidFill>
              <a:srgbClr val="FCF000"/>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7600" y="164592"/>
            <a:ext cx="4892040" cy="2339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100" b="1">
                <a:solidFill>
                  <a:srgbClr val="B72329"/>
                </a:solidFill>
                <a:latin typeface="Aptos"/>
              </a:defRPr>
            </a:pPr>
            <a:r>
              <a:rPr kumimoji="0" sz="1100" b="1" i="0" u="none" strike="noStrike" kern="1200" cap="none" spc="0" normalizeH="0" baseline="0" noProof="0" dirty="0">
                <a:ln>
                  <a:noFill/>
                </a:ln>
                <a:solidFill>
                  <a:srgbClr val="C00000"/>
                </a:solidFill>
                <a:effectLst/>
                <a:uLnTx/>
                <a:uFillTx/>
                <a:latin typeface="Aptos"/>
                <a:ea typeface="+mn-ea"/>
                <a:cs typeface="+mn-cs"/>
              </a:rPr>
              <a:t>2027 EVENTS &amp; SPONSORSHIP STRATEGY</a:t>
            </a:r>
          </a:p>
        </p:txBody>
      </p:sp>
      <p:sp>
        <p:nvSpPr>
          <p:cNvPr id="5" name="TextBox 4"/>
          <p:cNvSpPr txBox="1"/>
          <p:nvPr/>
        </p:nvSpPr>
        <p:spPr>
          <a:xfrm>
            <a:off x="731520" y="376037"/>
            <a:ext cx="10744200" cy="433965"/>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sz="2400" b="1" i="0" u="none" strike="noStrike" kern="1200" cap="none" spc="0" normalizeH="0" baseline="0" noProof="0" dirty="0">
                <a:ln>
                  <a:noFill/>
                </a:ln>
                <a:solidFill>
                  <a:srgbClr val="C00000"/>
                </a:solidFill>
                <a:effectLst/>
                <a:uLnTx/>
                <a:uFillTx/>
                <a:latin typeface="Aptos"/>
                <a:ea typeface="+mn-ea"/>
                <a:cs typeface="+mn-cs"/>
              </a:rPr>
              <a:t>SKOL MALT  </a:t>
            </a:r>
            <a:r>
              <a:rPr kumimoji="0" lang="en-US" sz="2400" b="1" i="0" u="none" strike="noStrike" kern="1200" cap="none" spc="0" normalizeH="0" baseline="0" noProof="0" dirty="0">
                <a:ln>
                  <a:noFill/>
                </a:ln>
                <a:solidFill>
                  <a:srgbClr val="C00000"/>
                </a:solidFill>
                <a:effectLst/>
                <a:uLnTx/>
                <a:uFillTx/>
                <a:latin typeface="Aptos"/>
                <a:ea typeface="+mn-ea"/>
                <a:cs typeface="+mn-cs"/>
              </a:rPr>
              <a:t>-</a:t>
            </a:r>
            <a:r>
              <a:rPr kumimoji="0" sz="2400" b="1" i="0" u="none" strike="noStrike" kern="1200" cap="none" spc="0" normalizeH="0" baseline="0" noProof="0" dirty="0">
                <a:ln>
                  <a:noFill/>
                </a:ln>
                <a:solidFill>
                  <a:srgbClr val="C00000"/>
                </a:solidFill>
                <a:effectLst/>
                <a:uLnTx/>
                <a:uFillTx/>
                <a:latin typeface="Aptos"/>
                <a:ea typeface="+mn-ea"/>
                <a:cs typeface="+mn-cs"/>
              </a:rPr>
              <a:t>  FOOTBALL &amp; DIRECT SALES</a:t>
            </a:r>
          </a:p>
        </p:txBody>
      </p:sp>
      <p:sp>
        <p:nvSpPr>
          <p:cNvPr id="8" name="TextBox 7"/>
          <p:cNvSpPr txBox="1"/>
          <p:nvPr/>
        </p:nvSpPr>
        <p:spPr>
          <a:xfrm>
            <a:off x="548640" y="6537960"/>
            <a:ext cx="7315200" cy="20116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900" b="0">
                <a:solidFill>
                  <a:srgbClr val="556371"/>
                </a:solidFill>
                <a:latin typeface="Aptos"/>
              </a:defRPr>
            </a:pPr>
            <a:r>
              <a:rPr kumimoji="0" sz="900" b="0" i="0" u="none" strike="noStrike" kern="1200" cap="none" spc="0" normalizeH="0" baseline="0" noProof="0" dirty="0">
                <a:ln>
                  <a:noFill/>
                </a:ln>
                <a:solidFill>
                  <a:srgbClr val="556371"/>
                </a:solidFill>
                <a:effectLst/>
                <a:uLnTx/>
                <a:uFillTx/>
                <a:latin typeface="Aptos"/>
                <a:ea typeface="+mn-ea"/>
                <a:cs typeface="+mn-cs"/>
              </a:rPr>
              <a:t>BRAND-LED PLAN  · </a:t>
            </a:r>
            <a:r>
              <a:rPr kumimoji="0" lang="en-US" sz="900" b="0" i="0" u="none" strike="noStrike" kern="1200" cap="none" spc="0" normalizeH="0" baseline="0" noProof="0" dirty="0">
                <a:ln>
                  <a:noFill/>
                </a:ln>
                <a:solidFill>
                  <a:srgbClr val="556371"/>
                </a:solidFill>
                <a:effectLst/>
                <a:uLnTx/>
                <a:uFillTx/>
                <a:latin typeface="Aptos"/>
                <a:ea typeface="+mn-ea"/>
                <a:cs typeface="+mn-cs"/>
              </a:rPr>
              <a:t>QRM</a:t>
            </a:r>
            <a:endParaRPr kumimoji="0" sz="900" b="0" i="0" u="none" strike="noStrike" kern="1200" cap="none" spc="0" normalizeH="0" baseline="0" noProof="0" dirty="0">
              <a:ln>
                <a:noFill/>
              </a:ln>
              <a:solidFill>
                <a:srgbClr val="556371"/>
              </a:solidFill>
              <a:effectLst/>
              <a:uLnTx/>
              <a:uFillTx/>
              <a:latin typeface="Aptos"/>
              <a:ea typeface="+mn-ea"/>
              <a:cs typeface="+mn-cs"/>
            </a:endParaRPr>
          </a:p>
        </p:txBody>
      </p:sp>
      <p:sp>
        <p:nvSpPr>
          <p:cNvPr id="11" name="Rounded Rectangle 10"/>
          <p:cNvSpPr/>
          <p:nvPr/>
        </p:nvSpPr>
        <p:spPr>
          <a:xfrm>
            <a:off x="5892291" y="971518"/>
            <a:ext cx="5742432" cy="1427220"/>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ounded Rectangle 11"/>
          <p:cNvSpPr/>
          <p:nvPr/>
        </p:nvSpPr>
        <p:spPr>
          <a:xfrm>
            <a:off x="5892291" y="971518"/>
            <a:ext cx="64008" cy="1427220"/>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6075171" y="1061433"/>
            <a:ext cx="537667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600" b="1">
                <a:solidFill>
                  <a:srgbClr val="142B4D"/>
                </a:solidFill>
                <a:latin typeface="Aptos"/>
              </a:defRPr>
            </a:pPr>
            <a:r>
              <a:rPr kumimoji="0" lang="en-US" sz="1600" b="1" i="0" u="none" strike="noStrike" kern="1200" cap="none" spc="0" normalizeH="0" baseline="0" noProof="0" dirty="0">
                <a:ln>
                  <a:noFill/>
                </a:ln>
                <a:solidFill>
                  <a:srgbClr val="002060"/>
                </a:solidFill>
                <a:effectLst/>
                <a:uLnTx/>
                <a:uFillTx/>
                <a:latin typeface="Aptos"/>
                <a:ea typeface="+mn-ea"/>
                <a:cs typeface="+mn-cs"/>
              </a:rPr>
              <a:t>RPL :  ALL 306 MATCHES</a:t>
            </a:r>
          </a:p>
        </p:txBody>
      </p:sp>
      <p:sp>
        <p:nvSpPr>
          <p:cNvPr id="14" name="TextBox 13"/>
          <p:cNvSpPr txBox="1"/>
          <p:nvPr/>
        </p:nvSpPr>
        <p:spPr>
          <a:xfrm>
            <a:off x="6075171" y="1366200"/>
            <a:ext cx="5376672" cy="92127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Activate every match across 9 stadiums sales points and branded bars.</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Serve fans directly through stadium vendors and dedicated beverage areas; drive sell-out and measure sales by fixture.</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Add fan-zone entertainment and product engagement at priority games.</a:t>
            </a:r>
          </a:p>
        </p:txBody>
      </p:sp>
      <p:sp>
        <p:nvSpPr>
          <p:cNvPr id="15" name="Rounded Rectangle 14"/>
          <p:cNvSpPr/>
          <p:nvPr/>
        </p:nvSpPr>
        <p:spPr>
          <a:xfrm>
            <a:off x="5879590" y="5126936"/>
            <a:ext cx="5742432" cy="1427271"/>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ounded Rectangle 15"/>
          <p:cNvSpPr/>
          <p:nvPr/>
        </p:nvSpPr>
        <p:spPr>
          <a:xfrm>
            <a:off x="5879589" y="5126936"/>
            <a:ext cx="73621" cy="1427271"/>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6062469" y="5254953"/>
            <a:ext cx="5321741"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600" b="1">
                <a:solidFill>
                  <a:srgbClr val="142B4D"/>
                </a:solidFill>
                <a:latin typeface="Aptos"/>
              </a:defRPr>
            </a:pPr>
            <a:r>
              <a:rPr kumimoji="0" lang="fi-FI" sz="1600" b="1" i="0" u="none" strike="noStrike" kern="1200" cap="none" spc="0" normalizeH="0" baseline="0" noProof="0" dirty="0">
                <a:ln>
                  <a:noFill/>
                </a:ln>
                <a:solidFill>
                  <a:srgbClr val="002060"/>
                </a:solidFill>
                <a:effectLst/>
                <a:uLnTx/>
                <a:uFillTx/>
                <a:latin typeface="Aptos"/>
                <a:ea typeface="+mn-ea"/>
                <a:cs typeface="+mn-cs"/>
              </a:rPr>
              <a:t>AFCON PAMOJA 2027 :  MINI SCREENINGS</a:t>
            </a:r>
          </a:p>
        </p:txBody>
      </p:sp>
      <p:sp>
        <p:nvSpPr>
          <p:cNvPr id="18" name="TextBox 17"/>
          <p:cNvSpPr txBox="1"/>
          <p:nvPr/>
        </p:nvSpPr>
        <p:spPr>
          <a:xfrm>
            <a:off x="6062469" y="5638649"/>
            <a:ext cx="5321741" cy="752001"/>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Set up compact, cost-efficient viewing areas, smaller than the 2026 </a:t>
            </a:r>
            <a:r>
              <a:rPr kumimoji="0" lang="en-US" sz="1100" b="0" i="0" u="none" strike="noStrike" kern="1200" cap="none" spc="0" normalizeH="0" baseline="0" noProof="0" dirty="0" err="1">
                <a:ln>
                  <a:noFill/>
                </a:ln>
                <a:solidFill>
                  <a:srgbClr val="002060"/>
                </a:solidFill>
                <a:effectLst/>
                <a:uLnTx/>
                <a:uFillTx/>
                <a:latin typeface="Aptos"/>
                <a:ea typeface="+mn-ea"/>
                <a:cs typeface="+mn-cs"/>
              </a:rPr>
              <a:t>WCVillage</a:t>
            </a:r>
            <a:r>
              <a:rPr kumimoji="0" lang="en-US" sz="1100" b="0" i="0" u="none" strike="noStrike" kern="1200" cap="none" spc="0" normalizeH="0" baseline="0" noProof="0" dirty="0">
                <a:ln>
                  <a:noFill/>
                </a:ln>
                <a:solidFill>
                  <a:srgbClr val="002060"/>
                </a:solidFill>
                <a:effectLst/>
                <a:uLnTx/>
                <a:uFillTx/>
                <a:latin typeface="Aptos"/>
                <a:ea typeface="+mn-ea"/>
                <a:cs typeface="+mn-cs"/>
              </a:rPr>
              <a:t>.</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a:t>
            </a:r>
            <a:r>
              <a:rPr kumimoji="0" lang="en-US" sz="1100" b="0" i="0" u="none" strike="noStrike" kern="1200" cap="none" spc="0" normalizeH="0" baseline="0" noProof="0" dirty="0" err="1">
                <a:ln>
                  <a:noFill/>
                </a:ln>
                <a:solidFill>
                  <a:srgbClr val="002060"/>
                </a:solidFill>
                <a:effectLst/>
                <a:uLnTx/>
                <a:uFillTx/>
                <a:latin typeface="Aptos"/>
                <a:ea typeface="+mn-ea"/>
                <a:cs typeface="+mn-cs"/>
              </a:rPr>
              <a:t>Capitalise</a:t>
            </a:r>
            <a:r>
              <a:rPr kumimoji="0" lang="en-US" sz="1100" b="0" i="0" u="none" strike="noStrike" kern="1200" cap="none" spc="0" normalizeH="0" baseline="0" noProof="0" dirty="0">
                <a:ln>
                  <a:noFill/>
                </a:ln>
                <a:solidFill>
                  <a:srgbClr val="002060"/>
                </a:solidFill>
                <a:effectLst/>
                <a:uLnTx/>
                <a:uFillTx/>
                <a:latin typeface="Aptos"/>
                <a:ea typeface="+mn-ea"/>
                <a:cs typeface="+mn-cs"/>
              </a:rPr>
              <a:t> on AFCON taking place in </a:t>
            </a:r>
            <a:r>
              <a:rPr kumimoji="0" lang="en-US" sz="1100" b="0" i="0" u="none" strike="noStrike" kern="1200" cap="none" spc="0" normalizeH="0" baseline="0" noProof="0" dirty="0" err="1">
                <a:ln>
                  <a:noFill/>
                </a:ln>
                <a:solidFill>
                  <a:srgbClr val="002060"/>
                </a:solidFill>
                <a:effectLst/>
                <a:uLnTx/>
                <a:uFillTx/>
                <a:latin typeface="Aptos"/>
                <a:ea typeface="+mn-ea"/>
                <a:cs typeface="+mn-cs"/>
              </a:rPr>
              <a:t>neighbouring</a:t>
            </a:r>
            <a:r>
              <a:rPr kumimoji="0" lang="en-US" sz="1100" b="0" i="0" u="none" strike="noStrike" kern="1200" cap="none" spc="0" normalizeH="0" baseline="0" noProof="0" dirty="0">
                <a:ln>
                  <a:noFill/>
                </a:ln>
                <a:solidFill>
                  <a:srgbClr val="002060"/>
                </a:solidFill>
                <a:effectLst/>
                <a:uLnTx/>
                <a:uFillTx/>
                <a:latin typeface="Aptos"/>
                <a:ea typeface="+mn-ea"/>
                <a:cs typeface="+mn-cs"/>
              </a:rPr>
              <a:t> Kenya, Uganda and Tanzania.</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Scale Rwanda-focused screenings if </a:t>
            </a:r>
            <a:r>
              <a:rPr kumimoji="0" lang="en-US" sz="1100" b="0" i="0" u="none" strike="noStrike" kern="1200" cap="none" spc="0" normalizeH="0" baseline="0" noProof="0" dirty="0" err="1">
                <a:ln>
                  <a:noFill/>
                </a:ln>
                <a:solidFill>
                  <a:srgbClr val="002060"/>
                </a:solidFill>
                <a:effectLst/>
                <a:uLnTx/>
                <a:uFillTx/>
                <a:latin typeface="Aptos"/>
                <a:ea typeface="+mn-ea"/>
                <a:cs typeface="+mn-cs"/>
              </a:rPr>
              <a:t>Amavubi</a:t>
            </a:r>
            <a:r>
              <a:rPr kumimoji="0" lang="en-US" sz="1100" b="0" i="0" u="none" strike="noStrike" kern="1200" cap="none" spc="0" normalizeH="0" baseline="0" noProof="0" dirty="0">
                <a:ln>
                  <a:noFill/>
                </a:ln>
                <a:solidFill>
                  <a:srgbClr val="002060"/>
                </a:solidFill>
                <a:effectLst/>
                <a:uLnTx/>
                <a:uFillTx/>
                <a:latin typeface="Aptos"/>
                <a:ea typeface="+mn-ea"/>
                <a:cs typeface="+mn-cs"/>
              </a:rPr>
              <a:t> qualify.</a:t>
            </a:r>
          </a:p>
        </p:txBody>
      </p:sp>
      <p:sp>
        <p:nvSpPr>
          <p:cNvPr id="19" name="Rounded Rectangle 18"/>
          <p:cNvSpPr/>
          <p:nvPr/>
        </p:nvSpPr>
        <p:spPr>
          <a:xfrm>
            <a:off x="5900927" y="2531519"/>
            <a:ext cx="5742432" cy="1182215"/>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ounded Rectangle 19"/>
          <p:cNvSpPr/>
          <p:nvPr/>
        </p:nvSpPr>
        <p:spPr>
          <a:xfrm>
            <a:off x="5888227" y="2531519"/>
            <a:ext cx="64008" cy="1182215"/>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C00000"/>
              </a:solidFill>
              <a:effectLst/>
              <a:uLnTx/>
              <a:uFillTx/>
              <a:latin typeface="Calibri"/>
              <a:ea typeface="+mn-ea"/>
              <a:cs typeface="+mn-cs"/>
            </a:endParaRPr>
          </a:p>
        </p:txBody>
      </p:sp>
      <p:sp>
        <p:nvSpPr>
          <p:cNvPr id="21" name="TextBox 20"/>
          <p:cNvSpPr txBox="1"/>
          <p:nvPr/>
        </p:nvSpPr>
        <p:spPr>
          <a:xfrm>
            <a:off x="6083807" y="2608736"/>
            <a:ext cx="537667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600" b="1">
                <a:solidFill>
                  <a:srgbClr val="142B4D"/>
                </a:solidFill>
                <a:latin typeface="Aptos"/>
              </a:defRPr>
            </a:pPr>
            <a:r>
              <a:rPr kumimoji="0" lang="en-US" sz="1600" b="1" i="0" u="none" strike="noStrike" kern="1200" cap="none" spc="0" normalizeH="0" baseline="0" noProof="0" dirty="0">
                <a:ln>
                  <a:noFill/>
                </a:ln>
                <a:solidFill>
                  <a:srgbClr val="002060"/>
                </a:solidFill>
                <a:effectLst/>
                <a:uLnTx/>
                <a:uFillTx/>
                <a:latin typeface="Aptos"/>
                <a:ea typeface="+mn-ea"/>
                <a:cs typeface="+mn-cs"/>
              </a:rPr>
              <a:t>STADIUM BRANDING &amp; TV REACH</a:t>
            </a:r>
          </a:p>
        </p:txBody>
      </p:sp>
      <p:sp>
        <p:nvSpPr>
          <p:cNvPr id="22" name="TextBox 21"/>
          <p:cNvSpPr txBox="1"/>
          <p:nvPr/>
        </p:nvSpPr>
        <p:spPr>
          <a:xfrm>
            <a:off x="6083807" y="2866371"/>
            <a:ext cx="5474208" cy="752001"/>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Consistent Skol Generic visibility at every stadium and throughout the league calendar.</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Deploy pitch-side boards, bar branding and consumer touchpoints to stadiums</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Prioritize high-visibility placements at televised matches.</a:t>
            </a:r>
          </a:p>
        </p:txBody>
      </p:sp>
      <p:pic>
        <p:nvPicPr>
          <p:cNvPr id="23" name="Picture 22">
            <a:extLst>
              <a:ext uri="{FF2B5EF4-FFF2-40B4-BE49-F238E27FC236}">
                <a16:creationId xmlns:a16="http://schemas.microsoft.com/office/drawing/2014/main" id="{1358549B-7B0C-5677-85B1-73C3FD68953D}"/>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24" name="Straight Connector 23">
            <a:extLst>
              <a:ext uri="{FF2B5EF4-FFF2-40B4-BE49-F238E27FC236}">
                <a16:creationId xmlns:a16="http://schemas.microsoft.com/office/drawing/2014/main" id="{0543D68F-B79C-E572-DFCC-3474CAC25A92}"/>
              </a:ext>
            </a:extLst>
          </p:cNvPr>
          <p:cNvCxnSpPr>
            <a:cxnSpLocks/>
          </p:cNvCxnSpPr>
          <p:nvPr/>
        </p:nvCxnSpPr>
        <p:spPr>
          <a:xfrm flipV="1">
            <a:off x="1184413" y="740664"/>
            <a:ext cx="10858235" cy="83429"/>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26" name="Rounded Rectangle 18">
            <a:extLst>
              <a:ext uri="{FF2B5EF4-FFF2-40B4-BE49-F238E27FC236}">
                <a16:creationId xmlns:a16="http://schemas.microsoft.com/office/drawing/2014/main" id="{12381F11-8911-633D-0201-C892E838850A}"/>
              </a:ext>
            </a:extLst>
          </p:cNvPr>
          <p:cNvSpPr/>
          <p:nvPr/>
        </p:nvSpPr>
        <p:spPr>
          <a:xfrm>
            <a:off x="5892290" y="3826930"/>
            <a:ext cx="5742432" cy="1182215"/>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Rounded Rectangle 19">
            <a:extLst>
              <a:ext uri="{FF2B5EF4-FFF2-40B4-BE49-F238E27FC236}">
                <a16:creationId xmlns:a16="http://schemas.microsoft.com/office/drawing/2014/main" id="{904B1D28-7065-91AA-A8A3-47A101FBFCAB}"/>
              </a:ext>
            </a:extLst>
          </p:cNvPr>
          <p:cNvSpPr/>
          <p:nvPr/>
        </p:nvSpPr>
        <p:spPr>
          <a:xfrm>
            <a:off x="5879590" y="3826930"/>
            <a:ext cx="64008" cy="1182215"/>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C00000"/>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6BFD7A73-C32D-C84F-AA8A-E9836F0E7B4A}"/>
              </a:ext>
            </a:extLst>
          </p:cNvPr>
          <p:cNvSpPr txBox="1"/>
          <p:nvPr/>
        </p:nvSpPr>
        <p:spPr>
          <a:xfrm>
            <a:off x="6075170" y="3904147"/>
            <a:ext cx="537667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600" b="1">
                <a:solidFill>
                  <a:srgbClr val="142B4D"/>
                </a:solidFill>
                <a:latin typeface="Aptos"/>
              </a:defRPr>
            </a:pPr>
            <a:r>
              <a:rPr kumimoji="0" lang="en-US" sz="1600" b="1" i="0" u="none" strike="noStrike" kern="1200" cap="none" spc="0" normalizeH="0" baseline="0" noProof="0" dirty="0">
                <a:ln>
                  <a:noFill/>
                </a:ln>
                <a:solidFill>
                  <a:srgbClr val="142B4D"/>
                </a:solidFill>
                <a:effectLst/>
                <a:uLnTx/>
                <a:uFillTx/>
                <a:latin typeface="Aptos"/>
                <a:ea typeface="+mn-ea"/>
                <a:cs typeface="+mn-cs"/>
              </a:rPr>
              <a:t>END OF SEASON CELEBRATION</a:t>
            </a:r>
          </a:p>
        </p:txBody>
      </p:sp>
      <p:sp>
        <p:nvSpPr>
          <p:cNvPr id="32" name="TextBox 31">
            <a:extLst>
              <a:ext uri="{FF2B5EF4-FFF2-40B4-BE49-F238E27FC236}">
                <a16:creationId xmlns:a16="http://schemas.microsoft.com/office/drawing/2014/main" id="{FCFFB5D3-3F07-ED32-D955-3C1F7E71C8CA}"/>
              </a:ext>
            </a:extLst>
          </p:cNvPr>
          <p:cNvSpPr txBox="1"/>
          <p:nvPr/>
        </p:nvSpPr>
        <p:spPr>
          <a:xfrm>
            <a:off x="6075170" y="4161782"/>
            <a:ext cx="5474208" cy="752001"/>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Skol Malt sponsorship of Player of the Month and Best Fans recognition.</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Matchday supporter rewards, fan competitions and branded prizes to build loyalty.</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Sponsor the end-of-season gala night, celebrating players, clubs and supporters.</a:t>
            </a:r>
          </a:p>
        </p:txBody>
      </p:sp>
      <p:pic>
        <p:nvPicPr>
          <p:cNvPr id="34" name="Picture 33">
            <a:extLst>
              <a:ext uri="{FF2B5EF4-FFF2-40B4-BE49-F238E27FC236}">
                <a16:creationId xmlns:a16="http://schemas.microsoft.com/office/drawing/2014/main" id="{9DDB6BB7-D241-6CB0-DFDE-9994D71B28A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1" y="1015295"/>
            <a:ext cx="2563876" cy="2711550"/>
          </a:xfrm>
          <a:prstGeom prst="rect">
            <a:avLst/>
          </a:prstGeom>
        </p:spPr>
      </p:pic>
      <p:pic>
        <p:nvPicPr>
          <p:cNvPr id="36" name="Picture 35">
            <a:extLst>
              <a:ext uri="{FF2B5EF4-FFF2-40B4-BE49-F238E27FC236}">
                <a16:creationId xmlns:a16="http://schemas.microsoft.com/office/drawing/2014/main" id="{96BCEF1A-2B56-09F2-E002-A1E03B0AC6F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14236" y="1013904"/>
            <a:ext cx="2153764" cy="2711550"/>
          </a:xfrm>
          <a:prstGeom prst="rect">
            <a:avLst/>
          </a:prstGeom>
        </p:spPr>
      </p:pic>
      <p:pic>
        <p:nvPicPr>
          <p:cNvPr id="38" name="Picture 37">
            <a:extLst>
              <a:ext uri="{FF2B5EF4-FFF2-40B4-BE49-F238E27FC236}">
                <a16:creationId xmlns:a16="http://schemas.microsoft.com/office/drawing/2014/main" id="{C39F0DDA-47D4-BB57-0DC0-B955D6191FD3}"/>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48640" y="3739545"/>
            <a:ext cx="2588075" cy="2711549"/>
          </a:xfrm>
          <a:prstGeom prst="rect">
            <a:avLst/>
          </a:prstGeom>
        </p:spPr>
      </p:pic>
      <p:pic>
        <p:nvPicPr>
          <p:cNvPr id="40" name="Picture 39">
            <a:extLst>
              <a:ext uri="{FF2B5EF4-FFF2-40B4-BE49-F238E27FC236}">
                <a16:creationId xmlns:a16="http://schemas.microsoft.com/office/drawing/2014/main" id="{25E93878-6B74-B08D-C24B-0241D591C82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104623" y="3714860"/>
            <a:ext cx="2166492" cy="273623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7600" y="172605"/>
            <a:ext cx="4892040" cy="2339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100" b="1">
                <a:solidFill>
                  <a:srgbClr val="B72329"/>
                </a:solidFill>
                <a:latin typeface="Aptos"/>
              </a:defRPr>
            </a:pPr>
            <a:r>
              <a:rPr kumimoji="0" sz="1100" b="1" i="0" u="none" strike="noStrike" kern="1200" cap="none" spc="0" normalizeH="0" baseline="0" noProof="0" dirty="0">
                <a:ln>
                  <a:noFill/>
                </a:ln>
                <a:solidFill>
                  <a:srgbClr val="305B26"/>
                </a:solidFill>
                <a:effectLst/>
                <a:uLnTx/>
                <a:uFillTx/>
                <a:latin typeface="Aptos"/>
                <a:ea typeface="+mn-ea"/>
                <a:cs typeface="+mn-cs"/>
              </a:rPr>
              <a:t>2027 EVENTS &amp; SPONSORSHIP STRATEGY</a:t>
            </a:r>
          </a:p>
        </p:txBody>
      </p:sp>
      <p:sp>
        <p:nvSpPr>
          <p:cNvPr id="5" name="TextBox 4"/>
          <p:cNvSpPr txBox="1"/>
          <p:nvPr/>
        </p:nvSpPr>
        <p:spPr>
          <a:xfrm>
            <a:off x="723900" y="362712"/>
            <a:ext cx="10744200" cy="433965"/>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sz="2400" b="1" i="0" u="none" strike="noStrike" kern="1200" cap="none" spc="0" normalizeH="0" baseline="0" noProof="0" dirty="0">
                <a:ln>
                  <a:noFill/>
                </a:ln>
                <a:solidFill>
                  <a:srgbClr val="305B26"/>
                </a:solidFill>
                <a:effectLst/>
                <a:uLnTx/>
                <a:uFillTx/>
                <a:latin typeface="Aptos"/>
                <a:ea typeface="+mn-ea"/>
                <a:cs typeface="+mn-cs"/>
              </a:rPr>
              <a:t>VIRUNGA  </a:t>
            </a:r>
            <a:r>
              <a:rPr kumimoji="0" lang="en-US" sz="2400" b="1" i="0" u="none" strike="noStrike" kern="1200" cap="none" spc="0" normalizeH="0" baseline="0" noProof="0" dirty="0">
                <a:ln>
                  <a:noFill/>
                </a:ln>
                <a:solidFill>
                  <a:srgbClr val="305B26"/>
                </a:solidFill>
                <a:effectLst/>
                <a:uLnTx/>
                <a:uFillTx/>
                <a:latin typeface="Aptos"/>
                <a:ea typeface="+mn-ea"/>
                <a:cs typeface="+mn-cs"/>
              </a:rPr>
              <a:t>-</a:t>
            </a:r>
            <a:r>
              <a:rPr kumimoji="0" sz="2400" b="1" i="0" u="none" strike="noStrike" kern="1200" cap="none" spc="0" normalizeH="0" baseline="0" noProof="0" dirty="0">
                <a:ln>
                  <a:noFill/>
                </a:ln>
                <a:solidFill>
                  <a:srgbClr val="305B26"/>
                </a:solidFill>
                <a:effectLst/>
                <a:uLnTx/>
                <a:uFillTx/>
                <a:latin typeface="Aptos"/>
                <a:ea typeface="+mn-ea"/>
                <a:cs typeface="+mn-cs"/>
              </a:rPr>
              <a:t>  MUSIC, LIFESTYLE &amp; </a:t>
            </a:r>
            <a:r>
              <a:rPr kumimoji="0" lang="en-US" sz="2400" b="1" i="0" u="none" strike="noStrike" kern="1200" cap="none" spc="0" normalizeH="0" baseline="0" noProof="0" dirty="0">
                <a:ln>
                  <a:noFill/>
                </a:ln>
                <a:solidFill>
                  <a:srgbClr val="305B26"/>
                </a:solidFill>
                <a:effectLst/>
                <a:uLnTx/>
                <a:uFillTx/>
                <a:latin typeface="Aptos"/>
                <a:ea typeface="+mn-ea"/>
                <a:cs typeface="+mn-cs"/>
              </a:rPr>
              <a:t>POP UP EVENTS</a:t>
            </a:r>
            <a:endParaRPr kumimoji="0" sz="2400" b="1" i="0" u="none" strike="noStrike" kern="1200" cap="none" spc="0" normalizeH="0" baseline="0" noProof="0" dirty="0">
              <a:ln>
                <a:noFill/>
              </a:ln>
              <a:solidFill>
                <a:srgbClr val="305B26"/>
              </a:solidFill>
              <a:effectLst/>
              <a:uLnTx/>
              <a:uFillTx/>
              <a:latin typeface="Aptos"/>
              <a:ea typeface="+mn-ea"/>
              <a:cs typeface="+mn-cs"/>
            </a:endParaRPr>
          </a:p>
        </p:txBody>
      </p:sp>
      <p:sp>
        <p:nvSpPr>
          <p:cNvPr id="8" name="TextBox 7"/>
          <p:cNvSpPr txBox="1"/>
          <p:nvPr/>
        </p:nvSpPr>
        <p:spPr>
          <a:xfrm>
            <a:off x="548640" y="6537960"/>
            <a:ext cx="7315200" cy="20116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900" b="0">
                <a:solidFill>
                  <a:srgbClr val="556371"/>
                </a:solidFill>
                <a:latin typeface="Aptos"/>
              </a:defRPr>
            </a:pPr>
            <a:r>
              <a:rPr kumimoji="0" sz="900" b="0" i="0" u="none" strike="noStrike" kern="1200" cap="none" spc="0" normalizeH="0" baseline="0" noProof="0" dirty="0">
                <a:ln>
                  <a:noFill/>
                </a:ln>
                <a:solidFill>
                  <a:srgbClr val="556371"/>
                </a:solidFill>
                <a:effectLst/>
                <a:uLnTx/>
                <a:uFillTx/>
                <a:latin typeface="Aptos"/>
                <a:ea typeface="+mn-ea"/>
                <a:cs typeface="+mn-cs"/>
              </a:rPr>
              <a:t>BRAND-LED PLAN  · </a:t>
            </a:r>
            <a:r>
              <a:rPr kumimoji="0" lang="en-US" sz="900" b="0" i="0" u="none" strike="noStrike" kern="1200" cap="none" spc="0" normalizeH="0" baseline="0" noProof="0" dirty="0">
                <a:ln>
                  <a:noFill/>
                </a:ln>
                <a:solidFill>
                  <a:srgbClr val="556371"/>
                </a:solidFill>
                <a:effectLst/>
                <a:uLnTx/>
                <a:uFillTx/>
                <a:latin typeface="Aptos"/>
                <a:ea typeface="+mn-ea"/>
                <a:cs typeface="+mn-cs"/>
              </a:rPr>
              <a:t>QRM</a:t>
            </a:r>
            <a:endParaRPr kumimoji="0" sz="900" b="0" i="0" u="none" strike="noStrike" kern="1200" cap="none" spc="0" normalizeH="0" baseline="0" noProof="0" dirty="0">
              <a:ln>
                <a:noFill/>
              </a:ln>
              <a:solidFill>
                <a:srgbClr val="556371"/>
              </a:solidFill>
              <a:effectLst/>
              <a:uLnTx/>
              <a:uFillTx/>
              <a:latin typeface="Aptos"/>
              <a:ea typeface="+mn-ea"/>
              <a:cs typeface="+mn-cs"/>
            </a:endParaRPr>
          </a:p>
        </p:txBody>
      </p:sp>
      <p:pic>
        <p:nvPicPr>
          <p:cNvPr id="23" name="Picture 22">
            <a:extLst>
              <a:ext uri="{FF2B5EF4-FFF2-40B4-BE49-F238E27FC236}">
                <a16:creationId xmlns:a16="http://schemas.microsoft.com/office/drawing/2014/main" id="{9F0B3DA6-7D09-809A-8F8F-C56F839BBE55}"/>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24" name="Straight Connector 23">
            <a:extLst>
              <a:ext uri="{FF2B5EF4-FFF2-40B4-BE49-F238E27FC236}">
                <a16:creationId xmlns:a16="http://schemas.microsoft.com/office/drawing/2014/main" id="{50E2144A-AB47-3148-0A63-B89C59F2B7EC}"/>
              </a:ext>
            </a:extLst>
          </p:cNvPr>
          <p:cNvCxnSpPr>
            <a:cxnSpLocks/>
          </p:cNvCxnSpPr>
          <p:nvPr/>
        </p:nvCxnSpPr>
        <p:spPr>
          <a:xfrm flipV="1">
            <a:off x="1184413" y="740664"/>
            <a:ext cx="10858235" cy="83429"/>
          </a:xfrm>
          <a:prstGeom prst="line">
            <a:avLst/>
          </a:prstGeom>
          <a:ln w="28575">
            <a:solidFill>
              <a:srgbClr val="305B26"/>
            </a:solidFill>
          </a:ln>
        </p:spPr>
        <p:style>
          <a:lnRef idx="1">
            <a:schemeClr val="dk1"/>
          </a:lnRef>
          <a:fillRef idx="0">
            <a:schemeClr val="dk1"/>
          </a:fillRef>
          <a:effectRef idx="0">
            <a:schemeClr val="dk1"/>
          </a:effectRef>
          <a:fontRef idx="minor">
            <a:schemeClr val="tx1"/>
          </a:fontRef>
        </p:style>
      </p:cxnSp>
      <p:sp>
        <p:nvSpPr>
          <p:cNvPr id="26" name="Rounded Rectangle 11">
            <a:extLst>
              <a:ext uri="{FF2B5EF4-FFF2-40B4-BE49-F238E27FC236}">
                <a16:creationId xmlns:a16="http://schemas.microsoft.com/office/drawing/2014/main" id="{41C2A56E-F0BC-5BD3-9BD7-0F3B2D72AC95}"/>
              </a:ext>
            </a:extLst>
          </p:cNvPr>
          <p:cNvSpPr/>
          <p:nvPr/>
        </p:nvSpPr>
        <p:spPr>
          <a:xfrm>
            <a:off x="4933188" y="903355"/>
            <a:ext cx="6976872" cy="2020824"/>
          </a:xfrm>
          <a:prstGeom prst="round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Rounded Rectangle 12">
            <a:extLst>
              <a:ext uri="{FF2B5EF4-FFF2-40B4-BE49-F238E27FC236}">
                <a16:creationId xmlns:a16="http://schemas.microsoft.com/office/drawing/2014/main" id="{0E18D98B-1078-BB92-51C5-45F3C4701471}"/>
              </a:ext>
            </a:extLst>
          </p:cNvPr>
          <p:cNvSpPr/>
          <p:nvPr/>
        </p:nvSpPr>
        <p:spPr>
          <a:xfrm>
            <a:off x="4933188" y="903355"/>
            <a:ext cx="61742" cy="2020824"/>
          </a:xfrm>
          <a:prstGeom prst="roundRect">
            <a:avLst/>
          </a:prstGeom>
          <a:solidFill>
            <a:srgbClr val="305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05B26"/>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CAC61026-7D5F-CF9A-5162-A177333489A5}"/>
              </a:ext>
            </a:extLst>
          </p:cNvPr>
          <p:cNvSpPr txBox="1"/>
          <p:nvPr/>
        </p:nvSpPr>
        <p:spPr>
          <a:xfrm>
            <a:off x="5170932" y="996827"/>
            <a:ext cx="6500575" cy="310854"/>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700" b="1">
                <a:solidFill>
                  <a:srgbClr val="162F4D"/>
                </a:solidFill>
                <a:latin typeface="Aptos"/>
              </a:defRPr>
            </a:pPr>
            <a:r>
              <a:rPr kumimoji="0" sz="1600" b="1" i="0" u="none" strike="noStrike" kern="1200" cap="none" spc="0" normalizeH="0" baseline="0" noProof="0" dirty="0">
                <a:ln>
                  <a:noFill/>
                </a:ln>
                <a:solidFill>
                  <a:srgbClr val="002060"/>
                </a:solidFill>
                <a:effectLst/>
                <a:uLnTx/>
                <a:uFillTx/>
                <a:latin typeface="Aptos"/>
                <a:ea typeface="+mn-ea"/>
                <a:cs typeface="+mn-cs"/>
              </a:rPr>
              <a:t> SPINNY &amp; FRIENDS </a:t>
            </a:r>
          </a:p>
        </p:txBody>
      </p:sp>
      <p:sp>
        <p:nvSpPr>
          <p:cNvPr id="32" name="TextBox 31">
            <a:extLst>
              <a:ext uri="{FF2B5EF4-FFF2-40B4-BE49-F238E27FC236}">
                <a16:creationId xmlns:a16="http://schemas.microsoft.com/office/drawing/2014/main" id="{31CDAFB5-75A4-8D3E-98FA-D52B8AF28982}"/>
              </a:ext>
            </a:extLst>
          </p:cNvPr>
          <p:cNvSpPr txBox="1"/>
          <p:nvPr/>
        </p:nvSpPr>
        <p:spPr>
          <a:xfrm>
            <a:off x="5170932" y="1402719"/>
            <a:ext cx="6640068" cy="1511183"/>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a:ln>
                  <a:noFill/>
                </a:ln>
                <a:solidFill>
                  <a:srgbClr val="002060"/>
                </a:solidFill>
                <a:effectLst/>
                <a:uLnTx/>
                <a:uFillTx/>
                <a:latin typeface="Aptos"/>
                <a:ea typeface="+mn-ea"/>
                <a:cs typeface="+mn-cs"/>
              </a:rPr>
              <a:t>1</a:t>
            </a:r>
            <a:r>
              <a:rPr kumimoji="0" lang="en-US" sz="1200" b="0" i="0" u="none" strike="noStrike" kern="1200" cap="none" spc="0" normalizeH="0" baseline="30000" noProof="0" dirty="0">
                <a:ln>
                  <a:noFill/>
                </a:ln>
                <a:solidFill>
                  <a:srgbClr val="002060"/>
                </a:solidFill>
                <a:effectLst/>
                <a:uLnTx/>
                <a:uFillTx/>
                <a:latin typeface="Aptos"/>
                <a:ea typeface="+mn-ea"/>
                <a:cs typeface="+mn-cs"/>
              </a:rPr>
              <a:t>st</a:t>
            </a: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sz="1200" b="0" i="0" u="none" strike="noStrike" kern="1200" cap="none" spc="0" normalizeH="0" baseline="0" noProof="0" dirty="0">
                <a:ln>
                  <a:noFill/>
                </a:ln>
                <a:solidFill>
                  <a:srgbClr val="002060"/>
                </a:solidFill>
                <a:effectLst/>
                <a:uLnTx/>
                <a:uFillTx/>
                <a:latin typeface="Aptos"/>
                <a:ea typeface="+mn-ea"/>
                <a:cs typeface="+mn-cs"/>
              </a:rPr>
              <a:t>edition drew over 5,000 attendees; target a bigger, more ambitious </a:t>
            </a:r>
            <a:r>
              <a:rPr kumimoji="0" lang="en-US" sz="1200" b="0" i="0" u="none" strike="noStrike" kern="1200" cap="none" spc="0" normalizeH="0" baseline="0" noProof="0" dirty="0">
                <a:ln>
                  <a:noFill/>
                </a:ln>
                <a:solidFill>
                  <a:srgbClr val="002060"/>
                </a:solidFill>
                <a:effectLst/>
                <a:uLnTx/>
                <a:uFillTx/>
                <a:latin typeface="Aptos"/>
                <a:ea typeface="+mn-ea"/>
                <a:cs typeface="+mn-cs"/>
              </a:rPr>
              <a:t>2</a:t>
            </a:r>
            <a:r>
              <a:rPr kumimoji="0" lang="en-US" sz="1200" b="0" i="0" u="none" strike="noStrike" kern="1200" cap="none" spc="0" normalizeH="0" baseline="30000" noProof="0" dirty="0">
                <a:ln>
                  <a:noFill/>
                </a:ln>
                <a:solidFill>
                  <a:srgbClr val="002060"/>
                </a:solidFill>
                <a:effectLst/>
                <a:uLnTx/>
                <a:uFillTx/>
                <a:latin typeface="Aptos"/>
                <a:ea typeface="+mn-ea"/>
                <a:cs typeface="+mn-cs"/>
              </a:rPr>
              <a:t>nd</a:t>
            </a: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sz="1200" b="0" i="0" u="none" strike="noStrike" kern="1200" cap="none" spc="0" normalizeH="0" baseline="0" noProof="0" dirty="0">
                <a:ln>
                  <a:noFill/>
                </a:ln>
                <a:solidFill>
                  <a:srgbClr val="002060"/>
                </a:solidFill>
                <a:effectLst/>
                <a:uLnTx/>
                <a:uFillTx/>
                <a:latin typeface="Aptos"/>
                <a:ea typeface="+mn-ea"/>
                <a:cs typeface="+mn-cs"/>
              </a:rPr>
              <a:t>edition at </a:t>
            </a:r>
            <a:r>
              <a:rPr kumimoji="0" sz="1200" b="0" i="0" u="none" strike="noStrike" kern="1200" cap="none" spc="0" normalizeH="0" baseline="0" noProof="0" dirty="0" err="1">
                <a:ln>
                  <a:noFill/>
                </a:ln>
                <a:solidFill>
                  <a:srgbClr val="002060"/>
                </a:solidFill>
                <a:effectLst/>
                <a:uLnTx/>
                <a:uFillTx/>
                <a:latin typeface="Aptos"/>
                <a:ea typeface="+mn-ea"/>
                <a:cs typeface="+mn-cs"/>
              </a:rPr>
              <a:t>Gahanga</a:t>
            </a:r>
            <a:r>
              <a:rPr kumimoji="0" sz="1200" b="0" i="0" u="none" strike="noStrike" kern="1200" cap="none" spc="0" normalizeH="0" baseline="0" noProof="0" dirty="0">
                <a:ln>
                  <a:noFill/>
                </a:ln>
                <a:solidFill>
                  <a:srgbClr val="002060"/>
                </a:solidFill>
                <a:effectLst/>
                <a:uLnTx/>
                <a:uFillTx/>
                <a:latin typeface="Aptos"/>
                <a:ea typeface="+mn-ea"/>
                <a:cs typeface="+mn-cs"/>
              </a:rPr>
              <a:t> Cricket Ground.</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 Premium DJ line-up designed to attract audiences from across Rwanda, Uganda and South Africa.</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 Large open-air venue enables a full Virunga experience: production, bars, hospitality, branding and consumer engagement.</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 “Road to </a:t>
            </a:r>
            <a:r>
              <a:rPr kumimoji="0" sz="1200" b="0" i="0" u="none" strike="noStrike" kern="1200" cap="none" spc="0" normalizeH="0" baseline="0" noProof="0" dirty="0" err="1">
                <a:ln>
                  <a:noFill/>
                </a:ln>
                <a:solidFill>
                  <a:srgbClr val="002060"/>
                </a:solidFill>
                <a:effectLst/>
                <a:uLnTx/>
                <a:uFillTx/>
                <a:latin typeface="Aptos"/>
                <a:ea typeface="+mn-ea"/>
                <a:cs typeface="+mn-cs"/>
              </a:rPr>
              <a:t>Spinny</a:t>
            </a:r>
            <a:r>
              <a:rPr kumimoji="0" sz="1200" b="0" i="0" u="none" strike="noStrike" kern="1200" cap="none" spc="0" normalizeH="0" baseline="0" noProof="0" dirty="0">
                <a:ln>
                  <a:noFill/>
                </a:ln>
                <a:solidFill>
                  <a:srgbClr val="002060"/>
                </a:solidFill>
                <a:effectLst/>
                <a:uLnTx/>
                <a:uFillTx/>
                <a:latin typeface="Aptos"/>
                <a:ea typeface="+mn-ea"/>
                <a:cs typeface="+mn-cs"/>
              </a:rPr>
              <a:t> &amp; Friends”: partner-outlet activations, promotions and ticket giveaways ahead of the event.</a:t>
            </a:r>
          </a:p>
        </p:txBody>
      </p:sp>
      <p:sp>
        <p:nvSpPr>
          <p:cNvPr id="34" name="Rounded Rectangle 15">
            <a:extLst>
              <a:ext uri="{FF2B5EF4-FFF2-40B4-BE49-F238E27FC236}">
                <a16:creationId xmlns:a16="http://schemas.microsoft.com/office/drawing/2014/main" id="{B0FF791F-B3A8-F952-BB1B-BFB581A3AE4F}"/>
              </a:ext>
            </a:extLst>
          </p:cNvPr>
          <p:cNvSpPr/>
          <p:nvPr/>
        </p:nvSpPr>
        <p:spPr>
          <a:xfrm>
            <a:off x="4933188" y="3070482"/>
            <a:ext cx="6976872" cy="949814"/>
          </a:xfrm>
          <a:prstGeom prst="round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ounded Rectangle 16">
            <a:extLst>
              <a:ext uri="{FF2B5EF4-FFF2-40B4-BE49-F238E27FC236}">
                <a16:creationId xmlns:a16="http://schemas.microsoft.com/office/drawing/2014/main" id="{4149180F-1D78-BF98-593A-CB818BC973B3}"/>
              </a:ext>
            </a:extLst>
          </p:cNvPr>
          <p:cNvSpPr/>
          <p:nvPr/>
        </p:nvSpPr>
        <p:spPr>
          <a:xfrm>
            <a:off x="4933188" y="3070482"/>
            <a:ext cx="61742" cy="949814"/>
          </a:xfrm>
          <a:prstGeom prst="roundRect">
            <a:avLst/>
          </a:prstGeom>
          <a:solidFill>
            <a:srgbClr val="305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05B26"/>
              </a:solidFill>
              <a:effectLst/>
              <a:uLnTx/>
              <a:uFillTx/>
              <a:latin typeface="Calibri"/>
              <a:ea typeface="+mn-ea"/>
              <a:cs typeface="+mn-cs"/>
            </a:endParaRPr>
          </a:p>
        </p:txBody>
      </p:sp>
      <p:sp>
        <p:nvSpPr>
          <p:cNvPr id="38" name="TextBox 37">
            <a:extLst>
              <a:ext uri="{FF2B5EF4-FFF2-40B4-BE49-F238E27FC236}">
                <a16:creationId xmlns:a16="http://schemas.microsoft.com/office/drawing/2014/main" id="{B3439AA8-39C9-5A2E-99AE-310D59032543}"/>
              </a:ext>
            </a:extLst>
          </p:cNvPr>
          <p:cNvSpPr txBox="1"/>
          <p:nvPr/>
        </p:nvSpPr>
        <p:spPr>
          <a:xfrm>
            <a:off x="5170932" y="3171067"/>
            <a:ext cx="6438833" cy="295466"/>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500" b="1">
                <a:solidFill>
                  <a:srgbClr val="162F4D"/>
                </a:solidFill>
                <a:latin typeface="Aptos"/>
              </a:defRPr>
            </a:pPr>
            <a:r>
              <a:rPr kumimoji="0" sz="1500" b="1" i="0" u="none" strike="noStrike" kern="1200" cap="none" spc="0" normalizeH="0" baseline="0" noProof="0" dirty="0">
                <a:ln>
                  <a:noFill/>
                </a:ln>
                <a:solidFill>
                  <a:srgbClr val="002060"/>
                </a:solidFill>
                <a:effectLst/>
                <a:uLnTx/>
                <a:uFillTx/>
                <a:latin typeface="Aptos"/>
                <a:ea typeface="+mn-ea"/>
                <a:cs typeface="+mn-cs"/>
              </a:rPr>
              <a:t> </a:t>
            </a:r>
            <a:r>
              <a:rPr kumimoji="0" lang="en-US" sz="1500" b="1" i="0" u="none" strike="noStrike" kern="1200" cap="none" spc="0" normalizeH="0" baseline="0" noProof="0" dirty="0">
                <a:ln>
                  <a:noFill/>
                </a:ln>
                <a:solidFill>
                  <a:srgbClr val="002060"/>
                </a:solidFill>
                <a:effectLst/>
                <a:uLnTx/>
                <a:uFillTx/>
                <a:latin typeface="Aptos"/>
                <a:ea typeface="+mn-ea"/>
                <a:cs typeface="+mn-cs"/>
              </a:rPr>
              <a:t>OKTOBERFEST OWNED BY SBL</a:t>
            </a:r>
            <a:endParaRPr kumimoji="0" sz="1500" b="1" i="0" u="none" strike="noStrike" kern="1200" cap="none" spc="0" normalizeH="0" baseline="0" noProof="0" dirty="0">
              <a:ln>
                <a:noFill/>
              </a:ln>
              <a:solidFill>
                <a:srgbClr val="002060"/>
              </a:solidFill>
              <a:effectLst/>
              <a:uLnTx/>
              <a:uFillTx/>
              <a:latin typeface="Aptos"/>
              <a:ea typeface="+mn-ea"/>
              <a:cs typeface="+mn-cs"/>
            </a:endParaRPr>
          </a:p>
        </p:txBody>
      </p:sp>
      <p:sp>
        <p:nvSpPr>
          <p:cNvPr id="40" name="TextBox 39">
            <a:extLst>
              <a:ext uri="{FF2B5EF4-FFF2-40B4-BE49-F238E27FC236}">
                <a16:creationId xmlns:a16="http://schemas.microsoft.com/office/drawing/2014/main" id="{0E53C451-5A1A-5F02-F100-C33AD0EE39F7}"/>
              </a:ext>
            </a:extLst>
          </p:cNvPr>
          <p:cNvSpPr txBox="1"/>
          <p:nvPr/>
        </p:nvSpPr>
        <p:spPr>
          <a:xfrm>
            <a:off x="5170932" y="3500251"/>
            <a:ext cx="6447653" cy="433965"/>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Open-air Virunga beer festival combining barbecue, food, beer, music and social experiences an ownable annual lifestyle property.</a:t>
            </a:r>
          </a:p>
        </p:txBody>
      </p:sp>
      <p:sp>
        <p:nvSpPr>
          <p:cNvPr id="42" name="Rounded Rectangle 19">
            <a:extLst>
              <a:ext uri="{FF2B5EF4-FFF2-40B4-BE49-F238E27FC236}">
                <a16:creationId xmlns:a16="http://schemas.microsoft.com/office/drawing/2014/main" id="{AEF75BBB-AC76-C9EC-70FB-419504CE5735}"/>
              </a:ext>
            </a:extLst>
          </p:cNvPr>
          <p:cNvSpPr/>
          <p:nvPr/>
        </p:nvSpPr>
        <p:spPr>
          <a:xfrm>
            <a:off x="4933188" y="4169848"/>
            <a:ext cx="6976872" cy="941832"/>
          </a:xfrm>
          <a:prstGeom prst="round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ounded Rectangle 20">
            <a:extLst>
              <a:ext uri="{FF2B5EF4-FFF2-40B4-BE49-F238E27FC236}">
                <a16:creationId xmlns:a16="http://schemas.microsoft.com/office/drawing/2014/main" id="{2AECE4CD-E6AE-6FB3-83F8-F1D0B7378360}"/>
              </a:ext>
            </a:extLst>
          </p:cNvPr>
          <p:cNvSpPr/>
          <p:nvPr/>
        </p:nvSpPr>
        <p:spPr>
          <a:xfrm>
            <a:off x="4933188" y="4169848"/>
            <a:ext cx="61742" cy="941832"/>
          </a:xfrm>
          <a:prstGeom prst="roundRect">
            <a:avLst/>
          </a:prstGeom>
          <a:solidFill>
            <a:srgbClr val="305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05B26"/>
              </a:solidFill>
              <a:effectLst/>
              <a:uLnTx/>
              <a:uFillTx/>
              <a:latin typeface="Calibri"/>
              <a:ea typeface="+mn-ea"/>
              <a:cs typeface="+mn-cs"/>
            </a:endParaRPr>
          </a:p>
        </p:txBody>
      </p:sp>
      <p:sp>
        <p:nvSpPr>
          <p:cNvPr id="46" name="TextBox 45">
            <a:extLst>
              <a:ext uri="{FF2B5EF4-FFF2-40B4-BE49-F238E27FC236}">
                <a16:creationId xmlns:a16="http://schemas.microsoft.com/office/drawing/2014/main" id="{8533046F-CD2D-BF0F-91F3-9A176DC38E31}"/>
              </a:ext>
            </a:extLst>
          </p:cNvPr>
          <p:cNvSpPr txBox="1"/>
          <p:nvPr/>
        </p:nvSpPr>
        <p:spPr>
          <a:xfrm>
            <a:off x="5170932" y="4270432"/>
            <a:ext cx="6438833" cy="295466"/>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500" b="1">
                <a:solidFill>
                  <a:srgbClr val="162F4D"/>
                </a:solidFill>
                <a:latin typeface="Aptos"/>
              </a:defRPr>
            </a:pPr>
            <a:r>
              <a:rPr kumimoji="0" sz="1500" b="1" i="0" u="none" strike="noStrike" kern="1200" cap="none" spc="0" normalizeH="0" baseline="0" noProof="0" dirty="0">
                <a:ln>
                  <a:noFill/>
                </a:ln>
                <a:solidFill>
                  <a:srgbClr val="002060"/>
                </a:solidFill>
                <a:effectLst/>
                <a:uLnTx/>
                <a:uFillTx/>
                <a:latin typeface="Aptos"/>
                <a:ea typeface="+mn-ea"/>
                <a:cs typeface="+mn-cs"/>
              </a:rPr>
              <a:t>DECEMBER  </a:t>
            </a:r>
            <a:r>
              <a:rPr kumimoji="0" lang="en-US" sz="1500" b="1" i="0" u="none" strike="noStrike" kern="1200" cap="none" spc="0" normalizeH="0" baseline="0" noProof="0" dirty="0">
                <a:ln>
                  <a:noFill/>
                </a:ln>
                <a:solidFill>
                  <a:srgbClr val="002060"/>
                </a:solidFill>
                <a:effectLst/>
                <a:uLnTx/>
                <a:uFillTx/>
                <a:latin typeface="Aptos"/>
                <a:ea typeface="+mn-ea"/>
                <a:cs typeface="+mn-cs"/>
              </a:rPr>
              <a:t>-</a:t>
            </a:r>
            <a:r>
              <a:rPr kumimoji="0" sz="1500" b="1" i="0" u="none" strike="noStrike" kern="1200" cap="none" spc="0" normalizeH="0" baseline="0" noProof="0" dirty="0">
                <a:ln>
                  <a:noFill/>
                </a:ln>
                <a:solidFill>
                  <a:srgbClr val="002060"/>
                </a:solidFill>
                <a:effectLst/>
                <a:uLnTx/>
                <a:uFillTx/>
                <a:latin typeface="Aptos"/>
                <a:ea typeface="+mn-ea"/>
                <a:cs typeface="+mn-cs"/>
              </a:rPr>
              <a:t>  YEAR-END FLAGSHIP CONCERT</a:t>
            </a:r>
          </a:p>
        </p:txBody>
      </p:sp>
      <p:sp>
        <p:nvSpPr>
          <p:cNvPr id="48" name="TextBox 47">
            <a:extLst>
              <a:ext uri="{FF2B5EF4-FFF2-40B4-BE49-F238E27FC236}">
                <a16:creationId xmlns:a16="http://schemas.microsoft.com/office/drawing/2014/main" id="{5BA820B8-74CB-077F-007B-845D56F279F2}"/>
              </a:ext>
            </a:extLst>
          </p:cNvPr>
          <p:cNvSpPr txBox="1"/>
          <p:nvPr/>
        </p:nvSpPr>
        <p:spPr>
          <a:xfrm>
            <a:off x="5170932" y="4581328"/>
            <a:ext cx="6412372" cy="433965"/>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A major end-of-year music occasion to close the calendar, deepen consumer connection and reinforce Virunga’s premium positioning.</a:t>
            </a:r>
          </a:p>
        </p:txBody>
      </p:sp>
      <p:sp>
        <p:nvSpPr>
          <p:cNvPr id="50" name="Rounded Rectangle 19">
            <a:extLst>
              <a:ext uri="{FF2B5EF4-FFF2-40B4-BE49-F238E27FC236}">
                <a16:creationId xmlns:a16="http://schemas.microsoft.com/office/drawing/2014/main" id="{F2E49A67-4371-EA64-0A13-F11967BA0971}"/>
              </a:ext>
            </a:extLst>
          </p:cNvPr>
          <p:cNvSpPr/>
          <p:nvPr/>
        </p:nvSpPr>
        <p:spPr>
          <a:xfrm>
            <a:off x="4933188" y="5272467"/>
            <a:ext cx="6976872" cy="1340729"/>
          </a:xfrm>
          <a:prstGeom prst="round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ounded Rectangle 20">
            <a:extLst>
              <a:ext uri="{FF2B5EF4-FFF2-40B4-BE49-F238E27FC236}">
                <a16:creationId xmlns:a16="http://schemas.microsoft.com/office/drawing/2014/main" id="{A033CA70-26BE-7F6C-3ECA-F2263FBFA074}"/>
              </a:ext>
            </a:extLst>
          </p:cNvPr>
          <p:cNvSpPr/>
          <p:nvPr/>
        </p:nvSpPr>
        <p:spPr>
          <a:xfrm>
            <a:off x="4933188" y="5272467"/>
            <a:ext cx="61742" cy="1340729"/>
          </a:xfrm>
          <a:prstGeom prst="roundRect">
            <a:avLst/>
          </a:prstGeom>
          <a:solidFill>
            <a:srgbClr val="305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05B26"/>
              </a:solidFill>
              <a:effectLst/>
              <a:uLnTx/>
              <a:uFillTx/>
              <a:latin typeface="Calibri"/>
              <a:ea typeface="+mn-ea"/>
              <a:cs typeface="+mn-cs"/>
            </a:endParaRPr>
          </a:p>
        </p:txBody>
      </p:sp>
      <p:sp>
        <p:nvSpPr>
          <p:cNvPr id="54" name="TextBox 53">
            <a:extLst>
              <a:ext uri="{FF2B5EF4-FFF2-40B4-BE49-F238E27FC236}">
                <a16:creationId xmlns:a16="http://schemas.microsoft.com/office/drawing/2014/main" id="{AB49EFBC-A136-9271-C7F0-A1BBA89E1992}"/>
              </a:ext>
            </a:extLst>
          </p:cNvPr>
          <p:cNvSpPr txBox="1"/>
          <p:nvPr/>
        </p:nvSpPr>
        <p:spPr>
          <a:xfrm>
            <a:off x="5170932" y="5373052"/>
            <a:ext cx="6438833" cy="295466"/>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500" b="1">
                <a:solidFill>
                  <a:srgbClr val="162F4D"/>
                </a:solidFill>
                <a:latin typeface="Aptos"/>
              </a:defRPr>
            </a:pPr>
            <a:r>
              <a:rPr kumimoji="0" lang="en-US" sz="1500" b="1" i="0" u="none" strike="noStrike" kern="1200" cap="none" spc="0" normalizeH="0" baseline="0" noProof="0" dirty="0">
                <a:ln>
                  <a:noFill/>
                </a:ln>
                <a:solidFill>
                  <a:srgbClr val="002060"/>
                </a:solidFill>
                <a:effectLst/>
                <a:uLnTx/>
                <a:uFillTx/>
                <a:latin typeface="Aptos"/>
                <a:ea typeface="+mn-ea"/>
                <a:cs typeface="+mn-cs"/>
              </a:rPr>
              <a:t>THE REMINISCE &amp; POP UP ACTIVATIONS</a:t>
            </a:r>
          </a:p>
        </p:txBody>
      </p:sp>
      <p:sp>
        <p:nvSpPr>
          <p:cNvPr id="56" name="TextBox 55">
            <a:extLst>
              <a:ext uri="{FF2B5EF4-FFF2-40B4-BE49-F238E27FC236}">
                <a16:creationId xmlns:a16="http://schemas.microsoft.com/office/drawing/2014/main" id="{A1FC40C6-0F58-DF3F-1F8F-D42789D4EA06}"/>
              </a:ext>
            </a:extLst>
          </p:cNvPr>
          <p:cNvSpPr txBox="1"/>
          <p:nvPr/>
        </p:nvSpPr>
        <p:spPr>
          <a:xfrm>
            <a:off x="5170932" y="5683948"/>
            <a:ext cx="6412372" cy="905889"/>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The Reminisce: 3 editions, building on an established premium music platform.</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Smaller, frequent pop-ups at partner bars and licensed outlets.</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Curated music and branded experiences to attract relevant consumers, increase trial and drive sales.</a:t>
            </a:r>
          </a:p>
        </p:txBody>
      </p:sp>
      <p:pic>
        <p:nvPicPr>
          <p:cNvPr id="58" name="Picture 57">
            <a:extLst>
              <a:ext uri="{FF2B5EF4-FFF2-40B4-BE49-F238E27FC236}">
                <a16:creationId xmlns:a16="http://schemas.microsoft.com/office/drawing/2014/main" id="{617D2655-423C-F837-064B-13CD0C1FB70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938" y="1210496"/>
            <a:ext cx="2043199" cy="2355197"/>
          </a:xfrm>
          <a:prstGeom prst="rect">
            <a:avLst/>
          </a:prstGeom>
        </p:spPr>
      </p:pic>
      <p:pic>
        <p:nvPicPr>
          <p:cNvPr id="59" name="Picture 58">
            <a:extLst>
              <a:ext uri="{FF2B5EF4-FFF2-40B4-BE49-F238E27FC236}">
                <a16:creationId xmlns:a16="http://schemas.microsoft.com/office/drawing/2014/main" id="{6E0C9405-67B4-D48A-A512-BA88F35C500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7938" y="3538092"/>
            <a:ext cx="3301921" cy="2071906"/>
          </a:xfrm>
          <a:prstGeom prst="rect">
            <a:avLst/>
          </a:prstGeom>
        </p:spPr>
      </p:pic>
      <p:pic>
        <p:nvPicPr>
          <p:cNvPr id="60" name="Picture 59" descr="Kigali ushering in the new year 2020-Photos">
            <a:extLst>
              <a:ext uri="{FF2B5EF4-FFF2-40B4-BE49-F238E27FC236}">
                <a16:creationId xmlns:a16="http://schemas.microsoft.com/office/drawing/2014/main" id="{7F8DC797-3001-014A-F0EF-BA7B9185453C}"/>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2101987" y="1211962"/>
            <a:ext cx="2743200" cy="2340696"/>
          </a:xfrm>
          <a:prstGeom prst="rect">
            <a:avLst/>
          </a:prstGeom>
        </p:spPr>
      </p:pic>
      <p:pic>
        <p:nvPicPr>
          <p:cNvPr id="62" name="Picture 61">
            <a:extLst>
              <a:ext uri="{FF2B5EF4-FFF2-40B4-BE49-F238E27FC236}">
                <a16:creationId xmlns:a16="http://schemas.microsoft.com/office/drawing/2014/main" id="{736EE2FD-4460-9006-78BC-EAD24610A79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032769" y="3552658"/>
            <a:ext cx="1812418" cy="205734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43884" y="164592"/>
            <a:ext cx="4892040" cy="2339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100" b="1">
                <a:solidFill>
                  <a:srgbClr val="B72329"/>
                </a:solidFill>
                <a:latin typeface="Aptos"/>
              </a:defRPr>
            </a:pPr>
            <a:r>
              <a:rPr kumimoji="0" sz="1100" b="1" i="0" u="none" strike="noStrike" kern="1200" cap="none" spc="0" normalizeH="0" baseline="0" noProof="0" dirty="0">
                <a:ln>
                  <a:noFill/>
                </a:ln>
                <a:solidFill>
                  <a:srgbClr val="FFC000"/>
                </a:solidFill>
                <a:effectLst/>
                <a:uLnTx/>
                <a:uFillTx/>
                <a:latin typeface="Aptos"/>
                <a:ea typeface="+mn-ea"/>
                <a:cs typeface="+mn-cs"/>
              </a:rPr>
              <a:t>2027 EVENTS &amp; SPONSORSHIP STRATEGY</a:t>
            </a:r>
          </a:p>
        </p:txBody>
      </p:sp>
      <p:sp>
        <p:nvSpPr>
          <p:cNvPr id="5" name="TextBox 4"/>
          <p:cNvSpPr txBox="1"/>
          <p:nvPr/>
        </p:nvSpPr>
        <p:spPr>
          <a:xfrm>
            <a:off x="888171" y="412113"/>
            <a:ext cx="5201733" cy="3724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sz="2000" b="1" i="0" u="none" strike="noStrike" kern="1200" cap="none" spc="0" normalizeH="0" baseline="0" noProof="0" dirty="0">
                <a:ln>
                  <a:noFill/>
                </a:ln>
                <a:solidFill>
                  <a:srgbClr val="00B050"/>
                </a:solidFill>
                <a:effectLst/>
                <a:uLnTx/>
                <a:uFillTx/>
                <a:latin typeface="Aptos"/>
                <a:ea typeface="+mn-ea"/>
                <a:cs typeface="+mn-cs"/>
              </a:rPr>
              <a:t>GATANU  </a:t>
            </a:r>
            <a:r>
              <a:rPr kumimoji="0" lang="en-US" sz="2000" b="1" i="0" u="none" strike="noStrike" kern="1200" cap="none" spc="0" normalizeH="0" baseline="0" noProof="0" dirty="0">
                <a:ln>
                  <a:noFill/>
                </a:ln>
                <a:solidFill>
                  <a:srgbClr val="00B050"/>
                </a:solidFill>
                <a:effectLst/>
                <a:uLnTx/>
                <a:uFillTx/>
                <a:latin typeface="Aptos"/>
                <a:ea typeface="+mn-ea"/>
                <a:cs typeface="+mn-cs"/>
              </a:rPr>
              <a:t>-</a:t>
            </a:r>
            <a:r>
              <a:rPr kumimoji="0" sz="2000" b="1" i="0" u="none" strike="noStrike" kern="1200" cap="none" spc="0" normalizeH="0" baseline="0" noProof="0" dirty="0">
                <a:ln>
                  <a:noFill/>
                </a:ln>
                <a:solidFill>
                  <a:srgbClr val="00B050"/>
                </a:solidFill>
                <a:effectLst/>
                <a:uLnTx/>
                <a:uFillTx/>
                <a:latin typeface="Aptos"/>
                <a:ea typeface="+mn-ea"/>
                <a:cs typeface="+mn-cs"/>
              </a:rPr>
              <a:t>  </a:t>
            </a:r>
            <a:r>
              <a:rPr kumimoji="0" lang="en-US" sz="2000" b="1" i="0" u="none" strike="noStrike" kern="1200" cap="none" spc="0" normalizeH="0" baseline="0" noProof="0" dirty="0">
                <a:ln>
                  <a:noFill/>
                </a:ln>
                <a:solidFill>
                  <a:srgbClr val="00B050"/>
                </a:solidFill>
                <a:effectLst/>
                <a:uLnTx/>
                <a:uFillTx/>
                <a:latin typeface="Aptos"/>
                <a:ea typeface="+mn-ea"/>
                <a:cs typeface="+mn-cs"/>
              </a:rPr>
              <a:t>ROADSHOW </a:t>
            </a:r>
            <a:r>
              <a:rPr kumimoji="0" sz="2000" b="1" i="0" u="none" strike="noStrike" kern="1200" cap="none" spc="0" normalizeH="0" baseline="0" noProof="0" dirty="0">
                <a:ln>
                  <a:noFill/>
                </a:ln>
                <a:solidFill>
                  <a:srgbClr val="00B050"/>
                </a:solidFill>
                <a:effectLst/>
                <a:uLnTx/>
                <a:uFillTx/>
                <a:latin typeface="Aptos"/>
                <a:ea typeface="+mn-ea"/>
                <a:cs typeface="+mn-cs"/>
              </a:rPr>
              <a:t>UPCOUNTRY</a:t>
            </a:r>
          </a:p>
        </p:txBody>
      </p:sp>
      <p:sp>
        <p:nvSpPr>
          <p:cNvPr id="7" name="TextBox 6"/>
          <p:cNvSpPr txBox="1"/>
          <p:nvPr/>
        </p:nvSpPr>
        <p:spPr>
          <a:xfrm>
            <a:off x="382480" y="995088"/>
            <a:ext cx="5257800" cy="249299"/>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200" b="0">
                <a:solidFill>
                  <a:srgbClr val="556371"/>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Four mainstream, ticketed roadshows in major regional cities</a:t>
            </a:r>
          </a:p>
        </p:txBody>
      </p:sp>
      <p:sp>
        <p:nvSpPr>
          <p:cNvPr id="8" name="TextBox 7"/>
          <p:cNvSpPr txBox="1"/>
          <p:nvPr/>
        </p:nvSpPr>
        <p:spPr>
          <a:xfrm>
            <a:off x="548640" y="6537960"/>
            <a:ext cx="7315200" cy="20116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900" b="0">
                <a:solidFill>
                  <a:srgbClr val="556371"/>
                </a:solidFill>
                <a:latin typeface="Aptos"/>
              </a:defRPr>
            </a:pPr>
            <a:r>
              <a:rPr kumimoji="0" sz="900" b="0" i="0" u="none" strike="noStrike" kern="1200" cap="none" spc="0" normalizeH="0" baseline="0" noProof="0" dirty="0">
                <a:ln>
                  <a:noFill/>
                </a:ln>
                <a:solidFill>
                  <a:srgbClr val="556371"/>
                </a:solidFill>
                <a:effectLst/>
                <a:uLnTx/>
                <a:uFillTx/>
                <a:latin typeface="Aptos"/>
                <a:ea typeface="+mn-ea"/>
                <a:cs typeface="+mn-cs"/>
              </a:rPr>
              <a:t>BRAND-LED PLAN  ·  </a:t>
            </a:r>
            <a:r>
              <a:rPr kumimoji="0" lang="en-US" sz="900" b="0" i="0" u="none" strike="noStrike" kern="1200" cap="none" spc="0" normalizeH="0" baseline="0" noProof="0" dirty="0">
                <a:ln>
                  <a:noFill/>
                </a:ln>
                <a:solidFill>
                  <a:srgbClr val="556371"/>
                </a:solidFill>
                <a:effectLst/>
                <a:uLnTx/>
                <a:uFillTx/>
                <a:latin typeface="Aptos"/>
                <a:ea typeface="+mn-ea"/>
                <a:cs typeface="+mn-cs"/>
              </a:rPr>
              <a:t>QRM</a:t>
            </a:r>
            <a:endParaRPr kumimoji="0" sz="900" b="0" i="0" u="none" strike="noStrike" kern="1200" cap="none" spc="0" normalizeH="0" baseline="0" noProof="0" dirty="0">
              <a:ln>
                <a:noFill/>
              </a:ln>
              <a:solidFill>
                <a:srgbClr val="556371"/>
              </a:solidFill>
              <a:effectLst/>
              <a:uLnTx/>
              <a:uFillTx/>
              <a:latin typeface="Aptos"/>
              <a:ea typeface="+mn-ea"/>
              <a:cs typeface="+mn-cs"/>
            </a:endParaRPr>
          </a:p>
        </p:txBody>
      </p:sp>
      <p:sp>
        <p:nvSpPr>
          <p:cNvPr id="11" name="Rounded Rectangle 10"/>
          <p:cNvSpPr/>
          <p:nvPr/>
        </p:nvSpPr>
        <p:spPr>
          <a:xfrm>
            <a:off x="420625" y="4003343"/>
            <a:ext cx="5449824" cy="2373710"/>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2060"/>
              </a:solidFill>
              <a:effectLst/>
              <a:uLnTx/>
              <a:uFillTx/>
              <a:latin typeface="Calibri"/>
              <a:ea typeface="+mn-ea"/>
              <a:cs typeface="+mn-cs"/>
            </a:endParaRPr>
          </a:p>
        </p:txBody>
      </p:sp>
      <p:sp>
        <p:nvSpPr>
          <p:cNvPr id="12" name="Rounded Rectangle 11"/>
          <p:cNvSpPr/>
          <p:nvPr/>
        </p:nvSpPr>
        <p:spPr>
          <a:xfrm>
            <a:off x="420625" y="4003343"/>
            <a:ext cx="64008" cy="237371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B050"/>
              </a:solidFill>
              <a:effectLst/>
              <a:uLnTx/>
              <a:uFillTx/>
              <a:latin typeface="Calibri"/>
              <a:ea typeface="+mn-ea"/>
              <a:cs typeface="+mn-cs"/>
            </a:endParaRPr>
          </a:p>
        </p:txBody>
      </p:sp>
      <p:sp>
        <p:nvSpPr>
          <p:cNvPr id="13" name="TextBox 12"/>
          <p:cNvSpPr txBox="1"/>
          <p:nvPr/>
        </p:nvSpPr>
        <p:spPr>
          <a:xfrm>
            <a:off x="603505" y="4131359"/>
            <a:ext cx="5084064"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600" b="1">
                <a:solidFill>
                  <a:srgbClr val="142B4C"/>
                </a:solidFill>
                <a:latin typeface="Aptos"/>
              </a:defRPr>
            </a:pPr>
            <a:r>
              <a:rPr kumimoji="0" lang="en-US" sz="1600" b="1" i="0" u="none" strike="noStrike" kern="1200" cap="none" spc="0" normalizeH="0" baseline="0" noProof="0" dirty="0">
                <a:ln>
                  <a:noFill/>
                </a:ln>
                <a:solidFill>
                  <a:srgbClr val="002060"/>
                </a:solidFill>
                <a:effectLst/>
                <a:uLnTx/>
                <a:uFillTx/>
                <a:latin typeface="Aptos"/>
                <a:ea typeface="+mn-ea"/>
                <a:cs typeface="+mn-cs"/>
              </a:rPr>
              <a:t>ROADSHOW</a:t>
            </a:r>
            <a:endParaRPr kumimoji="0" sz="1600" b="1" i="0" u="none" strike="noStrike" kern="1200" cap="none" spc="0" normalizeH="0" baseline="0" noProof="0" dirty="0">
              <a:ln>
                <a:noFill/>
              </a:ln>
              <a:solidFill>
                <a:srgbClr val="002060"/>
              </a:solidFill>
              <a:effectLst/>
              <a:uLnTx/>
              <a:uFillTx/>
              <a:latin typeface="Aptos"/>
              <a:ea typeface="+mn-ea"/>
              <a:cs typeface="+mn-cs"/>
            </a:endParaRPr>
          </a:p>
        </p:txBody>
      </p:sp>
      <p:sp>
        <p:nvSpPr>
          <p:cNvPr id="14" name="TextBox 13"/>
          <p:cNvSpPr txBox="1"/>
          <p:nvPr/>
        </p:nvSpPr>
        <p:spPr>
          <a:xfrm>
            <a:off x="603505" y="4615991"/>
            <a:ext cx="5084064" cy="1488100"/>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500"/>
              </a:spcAft>
              <a:buClrTx/>
              <a:buSzTx/>
              <a:buFontTx/>
              <a:buNone/>
              <a:tabLst/>
              <a:defRPr sz="1300" b="0">
                <a:solidFill>
                  <a:srgbClr val="4E5C6B"/>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Relaunch major regional music activations, building on the last comparable SBL upcountry concert platform, </a:t>
            </a:r>
            <a:r>
              <a:rPr kumimoji="0" lang="en-US" sz="1200" b="0" i="0" u="none" strike="noStrike" kern="1200" cap="none" spc="0" normalizeH="0" baseline="0" noProof="0" dirty="0" err="1">
                <a:ln>
                  <a:noFill/>
                </a:ln>
                <a:solidFill>
                  <a:srgbClr val="002060"/>
                </a:solidFill>
                <a:effectLst/>
                <a:uLnTx/>
                <a:uFillTx/>
                <a:latin typeface="Aptos"/>
                <a:ea typeface="+mn-ea"/>
                <a:cs typeface="+mn-cs"/>
              </a:rPr>
              <a:t>Nyega</a:t>
            </a: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err="1">
                <a:ln>
                  <a:noFill/>
                </a:ln>
                <a:solidFill>
                  <a:srgbClr val="002060"/>
                </a:solidFill>
                <a:effectLst/>
                <a:uLnTx/>
                <a:uFillTx/>
                <a:latin typeface="Aptos"/>
                <a:ea typeface="+mn-ea"/>
                <a:cs typeface="+mn-cs"/>
              </a:rPr>
              <a:t>Nyega</a:t>
            </a: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err="1">
                <a:ln>
                  <a:noFill/>
                </a:ln>
                <a:solidFill>
                  <a:srgbClr val="002060"/>
                </a:solidFill>
                <a:effectLst/>
                <a:uLnTx/>
                <a:uFillTx/>
                <a:latin typeface="Aptos"/>
                <a:ea typeface="+mn-ea"/>
                <a:cs typeface="+mn-cs"/>
              </a:rPr>
              <a:t>na</a:t>
            </a:r>
            <a:r>
              <a:rPr kumimoji="0" lang="en-US" sz="1200" b="0" i="0" u="none" strike="noStrike" kern="1200" cap="none" spc="0" normalizeH="0" baseline="0" noProof="0" dirty="0">
                <a:ln>
                  <a:noFill/>
                </a:ln>
                <a:solidFill>
                  <a:srgbClr val="002060"/>
                </a:solidFill>
                <a:effectLst/>
                <a:uLnTx/>
                <a:uFillTx/>
                <a:latin typeface="Aptos"/>
                <a:ea typeface="+mn-ea"/>
                <a:cs typeface="+mn-cs"/>
              </a:rPr>
              <a:t> Skol Lager (2022).</a:t>
            </a:r>
          </a:p>
          <a:p>
            <a:pPr marL="0" marR="0" lvl="0" indent="0" algn="l" defTabSz="457200" rtl="0" eaLnBrk="1" fontAlgn="auto" latinLnBrk="0" hangingPunct="1">
              <a:lnSpc>
                <a:spcPct val="100000"/>
              </a:lnSpc>
              <a:spcBef>
                <a:spcPts val="0"/>
              </a:spcBef>
              <a:spcAft>
                <a:spcPts val="500"/>
              </a:spcAft>
              <a:buClrTx/>
              <a:buSzTx/>
              <a:buFontTx/>
              <a:buNone/>
              <a:tabLst/>
              <a:defRPr sz="1300" b="0">
                <a:solidFill>
                  <a:srgbClr val="4E5C6B"/>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Take </a:t>
            </a:r>
            <a:r>
              <a:rPr kumimoji="0" lang="en-US" sz="1200" b="0" i="0" u="none" strike="noStrike" kern="1200" cap="none" spc="0" normalizeH="0" baseline="0" noProof="0" dirty="0" err="1">
                <a:ln>
                  <a:noFill/>
                </a:ln>
                <a:solidFill>
                  <a:srgbClr val="002060"/>
                </a:solidFill>
                <a:effectLst/>
                <a:uLnTx/>
                <a:uFillTx/>
                <a:latin typeface="Aptos"/>
                <a:ea typeface="+mn-ea"/>
                <a:cs typeface="+mn-cs"/>
              </a:rPr>
              <a:t>Gatanu</a:t>
            </a:r>
            <a:r>
              <a:rPr kumimoji="0" lang="en-US" sz="1200" b="0" i="0" u="none" strike="noStrike" kern="1200" cap="none" spc="0" normalizeH="0" baseline="0" noProof="0" dirty="0">
                <a:ln>
                  <a:noFill/>
                </a:ln>
                <a:solidFill>
                  <a:srgbClr val="002060"/>
                </a:solidFill>
                <a:effectLst/>
                <a:uLnTx/>
                <a:uFillTx/>
                <a:latin typeface="Aptos"/>
                <a:ea typeface="+mn-ea"/>
                <a:cs typeface="+mn-cs"/>
              </a:rPr>
              <a:t> directly to mass-market consumers in four major cities.</a:t>
            </a:r>
          </a:p>
          <a:p>
            <a:pPr marL="0" marR="0" lvl="0" indent="0" algn="l" defTabSz="457200" rtl="0" eaLnBrk="1" fontAlgn="auto" latinLnBrk="0" hangingPunct="1">
              <a:lnSpc>
                <a:spcPct val="100000"/>
              </a:lnSpc>
              <a:spcBef>
                <a:spcPts val="0"/>
              </a:spcBef>
              <a:spcAft>
                <a:spcPts val="500"/>
              </a:spcAft>
              <a:buClrTx/>
              <a:buSzTx/>
              <a:buFontTx/>
              <a:buNone/>
              <a:tabLst/>
              <a:defRPr sz="1300" b="0">
                <a:solidFill>
                  <a:srgbClr val="4E5C6B"/>
                </a:solidFill>
                <a:latin typeface="Aptos"/>
              </a:defRPr>
            </a:pPr>
            <a:r>
              <a:rPr kumimoji="0" lang="en-US" sz="500" b="0" i="0" u="none" strike="noStrike" kern="1200" cap="none" spc="0" normalizeH="0" baseline="0" noProof="0" dirty="0">
                <a:ln>
                  <a:noFill/>
                </a:ln>
                <a:solidFill>
                  <a:prstClr val="white"/>
                </a:solidFill>
                <a:effectLst/>
                <a:uLnTx/>
                <a:uFillTx/>
                <a:latin typeface="Aptos"/>
                <a:ea typeface="+mn-ea"/>
                <a:cs typeface="+mn-cs"/>
              </a:rPr>
              <a:t>.</a:t>
            </a:r>
            <a:endParaRPr kumimoji="0" lang="en-US" sz="400" b="0" i="0" u="none" strike="noStrike" kern="1200" cap="none" spc="0" normalizeH="0" baseline="0" noProof="0" dirty="0">
              <a:ln>
                <a:noFill/>
              </a:ln>
              <a:solidFill>
                <a:prstClr val="white"/>
              </a:solidFill>
              <a:effectLst/>
              <a:uLnTx/>
              <a:uFillTx/>
              <a:latin typeface="Aptos"/>
              <a:ea typeface="+mn-ea"/>
              <a:cs typeface="+mn-cs"/>
            </a:endParaRPr>
          </a:p>
          <a:p>
            <a:pPr marL="0" marR="0" lvl="0" indent="0" algn="l" defTabSz="457200" rtl="0" eaLnBrk="1" fontAlgn="auto" latinLnBrk="0" hangingPunct="1">
              <a:lnSpc>
                <a:spcPct val="100000"/>
              </a:lnSpc>
              <a:spcBef>
                <a:spcPts val="0"/>
              </a:spcBef>
              <a:spcAft>
                <a:spcPts val="500"/>
              </a:spcAft>
              <a:buClrTx/>
              <a:buSzTx/>
              <a:buFontTx/>
              <a:buNone/>
              <a:tabLst/>
              <a:defRPr sz="1300" b="0">
                <a:solidFill>
                  <a:srgbClr val="4E5C6B"/>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Give </a:t>
            </a:r>
            <a:r>
              <a:rPr kumimoji="0" lang="en-US" sz="1200" b="0" i="0" u="none" strike="noStrike" kern="1200" cap="none" spc="0" normalizeH="0" baseline="0" noProof="0" dirty="0" err="1">
                <a:ln>
                  <a:noFill/>
                </a:ln>
                <a:solidFill>
                  <a:srgbClr val="002060"/>
                </a:solidFill>
                <a:effectLst/>
                <a:uLnTx/>
                <a:uFillTx/>
                <a:latin typeface="Aptos"/>
                <a:ea typeface="+mn-ea"/>
                <a:cs typeface="+mn-cs"/>
              </a:rPr>
              <a:t>Gatanu</a:t>
            </a:r>
            <a:r>
              <a:rPr kumimoji="0" lang="en-US" sz="1200" b="0" i="0" u="none" strike="noStrike" kern="1200" cap="none" spc="0" normalizeH="0" baseline="0" noProof="0" dirty="0">
                <a:ln>
                  <a:noFill/>
                </a:ln>
                <a:solidFill>
                  <a:srgbClr val="002060"/>
                </a:solidFill>
                <a:effectLst/>
                <a:uLnTx/>
                <a:uFillTx/>
                <a:latin typeface="Aptos"/>
                <a:ea typeface="+mn-ea"/>
                <a:cs typeface="+mn-cs"/>
              </a:rPr>
              <a:t> its first dedicated activation series, building awareness, product trial and sales where the brand has had little direct event presence.</a:t>
            </a:r>
          </a:p>
        </p:txBody>
      </p:sp>
      <p:pic>
        <p:nvPicPr>
          <p:cNvPr id="17" name="Picture 16">
            <a:extLst>
              <a:ext uri="{FF2B5EF4-FFF2-40B4-BE49-F238E27FC236}">
                <a16:creationId xmlns:a16="http://schemas.microsoft.com/office/drawing/2014/main" id="{6A7E1AB6-19B3-3EE6-4A3D-E8D021E09C2A}"/>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18" name="Straight Connector 17">
            <a:extLst>
              <a:ext uri="{FF2B5EF4-FFF2-40B4-BE49-F238E27FC236}">
                <a16:creationId xmlns:a16="http://schemas.microsoft.com/office/drawing/2014/main" id="{22E46FBA-595B-4B6A-3A16-5F7B828C5181}"/>
              </a:ext>
            </a:extLst>
          </p:cNvPr>
          <p:cNvCxnSpPr>
            <a:cxnSpLocks/>
          </p:cNvCxnSpPr>
          <p:nvPr/>
        </p:nvCxnSpPr>
        <p:spPr>
          <a:xfrm flipV="1">
            <a:off x="1100285" y="772763"/>
            <a:ext cx="10858235" cy="83429"/>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F0194688-1808-22C2-A1EB-E73D5D244AD6}"/>
              </a:ext>
            </a:extLst>
          </p:cNvPr>
          <p:cNvCxnSpPr>
            <a:cxnSpLocks/>
          </p:cNvCxnSpPr>
          <p:nvPr/>
        </p:nvCxnSpPr>
        <p:spPr>
          <a:xfrm flipV="1">
            <a:off x="6053328" y="1059326"/>
            <a:ext cx="0" cy="5575992"/>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06190959-F726-E266-19AB-E7476FEAD356}"/>
              </a:ext>
            </a:extLst>
          </p:cNvPr>
          <p:cNvSpPr txBox="1"/>
          <p:nvPr/>
        </p:nvSpPr>
        <p:spPr>
          <a:xfrm>
            <a:off x="3643884" y="402376"/>
            <a:ext cx="10744200" cy="3724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sz="2000" b="1" i="0" u="none" strike="noStrike" kern="1200" cap="none" spc="0" normalizeH="0" baseline="0" noProof="0" dirty="0">
                <a:ln>
                  <a:noFill/>
                </a:ln>
                <a:solidFill>
                  <a:srgbClr val="0070C0"/>
                </a:solidFill>
                <a:effectLst/>
                <a:uLnTx/>
                <a:uFillTx/>
                <a:latin typeface="Aptos"/>
                <a:ea typeface="+mn-ea"/>
                <a:cs typeface="+mn-cs"/>
              </a:rPr>
              <a:t>PANACHÉ / NO-LO  </a:t>
            </a:r>
            <a:r>
              <a:rPr kumimoji="0" lang="en-US" sz="2000" b="1" i="0" u="none" strike="noStrike" kern="1200" cap="none" spc="0" normalizeH="0" baseline="0" noProof="0" dirty="0">
                <a:ln>
                  <a:noFill/>
                </a:ln>
                <a:solidFill>
                  <a:srgbClr val="0070C0"/>
                </a:solidFill>
                <a:effectLst/>
                <a:uLnTx/>
                <a:uFillTx/>
                <a:latin typeface="Aptos"/>
                <a:ea typeface="+mn-ea"/>
                <a:cs typeface="+mn-cs"/>
              </a:rPr>
              <a:t>-</a:t>
            </a:r>
            <a:r>
              <a:rPr kumimoji="0" sz="2000" b="1" i="0" u="none" strike="noStrike" kern="1200" cap="none" spc="0" normalizeH="0" baseline="0" noProof="0" dirty="0">
                <a:ln>
                  <a:noFill/>
                </a:ln>
                <a:solidFill>
                  <a:srgbClr val="0070C0"/>
                </a:solidFill>
                <a:effectLst/>
                <a:uLnTx/>
                <a:uFillTx/>
                <a:latin typeface="Aptos"/>
                <a:ea typeface="+mn-ea"/>
                <a:cs typeface="+mn-cs"/>
              </a:rPr>
              <a:t>  MOTORSPORT</a:t>
            </a:r>
          </a:p>
        </p:txBody>
      </p:sp>
      <p:sp>
        <p:nvSpPr>
          <p:cNvPr id="23" name="Rounded Rectangle 10">
            <a:extLst>
              <a:ext uri="{FF2B5EF4-FFF2-40B4-BE49-F238E27FC236}">
                <a16:creationId xmlns:a16="http://schemas.microsoft.com/office/drawing/2014/main" id="{C0469D39-8571-DD11-ED86-F56770F9ACB1}"/>
              </a:ext>
            </a:extLst>
          </p:cNvPr>
          <p:cNvSpPr/>
          <p:nvPr/>
        </p:nvSpPr>
        <p:spPr>
          <a:xfrm>
            <a:off x="6386146" y="4131044"/>
            <a:ext cx="5449824" cy="1844963"/>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ounded Rectangle 11">
            <a:extLst>
              <a:ext uri="{FF2B5EF4-FFF2-40B4-BE49-F238E27FC236}">
                <a16:creationId xmlns:a16="http://schemas.microsoft.com/office/drawing/2014/main" id="{A6936D0A-0E03-68D9-5739-AA6FCF97E54A}"/>
              </a:ext>
            </a:extLst>
          </p:cNvPr>
          <p:cNvSpPr/>
          <p:nvPr/>
        </p:nvSpPr>
        <p:spPr>
          <a:xfrm>
            <a:off x="6386146" y="4131044"/>
            <a:ext cx="64008" cy="1844963"/>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B050"/>
              </a:solidFill>
              <a:effectLst/>
              <a:uLnTx/>
              <a:uFillTx/>
              <a:latin typeface="Calibri"/>
              <a:ea typeface="+mn-ea"/>
              <a:cs typeface="+mn-cs"/>
            </a:endParaRPr>
          </a:p>
        </p:txBody>
      </p:sp>
      <p:sp>
        <p:nvSpPr>
          <p:cNvPr id="27" name="TextBox 26">
            <a:extLst>
              <a:ext uri="{FF2B5EF4-FFF2-40B4-BE49-F238E27FC236}">
                <a16:creationId xmlns:a16="http://schemas.microsoft.com/office/drawing/2014/main" id="{B9A0416E-489B-CA6D-B87C-BFBA2B8CD2E6}"/>
              </a:ext>
            </a:extLst>
          </p:cNvPr>
          <p:cNvSpPr txBox="1"/>
          <p:nvPr/>
        </p:nvSpPr>
        <p:spPr>
          <a:xfrm>
            <a:off x="6569026" y="4259061"/>
            <a:ext cx="5084064" cy="295466"/>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500" b="1">
                <a:solidFill>
                  <a:srgbClr val="006DB8"/>
                </a:solidFill>
                <a:latin typeface="Aptos"/>
              </a:defRPr>
            </a:pPr>
            <a:r>
              <a:rPr kumimoji="0" lang="en-US" sz="1500" b="1" i="0" u="none" strike="noStrike" kern="1200" cap="none" spc="0" normalizeH="0" baseline="0" noProof="0" dirty="0">
                <a:ln>
                  <a:noFill/>
                </a:ln>
                <a:solidFill>
                  <a:srgbClr val="002060"/>
                </a:solidFill>
                <a:effectLst/>
                <a:uLnTx/>
                <a:uFillTx/>
                <a:latin typeface="Aptos"/>
                <a:ea typeface="+mn-ea"/>
                <a:cs typeface="+mn-cs"/>
              </a:rPr>
              <a:t>YEAR-ROUND  | ENDURO</a:t>
            </a:r>
          </a:p>
        </p:txBody>
      </p:sp>
      <p:sp>
        <p:nvSpPr>
          <p:cNvPr id="29" name="TextBox 28">
            <a:extLst>
              <a:ext uri="{FF2B5EF4-FFF2-40B4-BE49-F238E27FC236}">
                <a16:creationId xmlns:a16="http://schemas.microsoft.com/office/drawing/2014/main" id="{249F5FBC-0617-7039-ADE9-ACC08ADB647C}"/>
              </a:ext>
            </a:extLst>
          </p:cNvPr>
          <p:cNvSpPr txBox="1"/>
          <p:nvPr/>
        </p:nvSpPr>
        <p:spPr>
          <a:xfrm>
            <a:off x="6569025" y="4743693"/>
            <a:ext cx="5202349" cy="1121333"/>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300" b="0">
                <a:solidFill>
                  <a:srgbClr val="4C5B6D"/>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err="1">
                <a:ln>
                  <a:noFill/>
                </a:ln>
                <a:solidFill>
                  <a:srgbClr val="002060"/>
                </a:solidFill>
                <a:effectLst/>
                <a:uLnTx/>
                <a:uFillTx/>
                <a:latin typeface="Aptos"/>
                <a:ea typeface="+mn-ea"/>
                <a:cs typeface="+mn-cs"/>
              </a:rPr>
              <a:t>Panaché</a:t>
            </a:r>
            <a:r>
              <a:rPr kumimoji="0" lang="en-US" sz="1200" b="0" i="0" u="none" strike="noStrike" kern="1200" cap="none" spc="0" normalizeH="0" baseline="0" noProof="0" dirty="0">
                <a:ln>
                  <a:noFill/>
                </a:ln>
                <a:solidFill>
                  <a:srgbClr val="002060"/>
                </a:solidFill>
                <a:effectLst/>
                <a:uLnTx/>
                <a:uFillTx/>
                <a:latin typeface="Aptos"/>
                <a:ea typeface="+mn-ea"/>
                <a:cs typeface="+mn-cs"/>
              </a:rPr>
              <a:t> to lead motorsport sponsorships and activations of the year.</a:t>
            </a:r>
          </a:p>
          <a:p>
            <a:pPr marL="0" marR="0" lvl="0" indent="0" algn="l" defTabSz="457200" rtl="0" eaLnBrk="1" fontAlgn="auto" latinLnBrk="0" hangingPunct="1">
              <a:lnSpc>
                <a:spcPct val="100000"/>
              </a:lnSpc>
              <a:spcBef>
                <a:spcPts val="0"/>
              </a:spcBef>
              <a:spcAft>
                <a:spcPts val="400"/>
              </a:spcAft>
              <a:buClrTx/>
              <a:buSzTx/>
              <a:buFontTx/>
              <a:buNone/>
              <a:tabLst/>
              <a:defRPr sz="1300" b="0">
                <a:solidFill>
                  <a:srgbClr val="4C5B6D"/>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Brand approved spectator areas, service points and partner touchpoints; build strong event visibility.</a:t>
            </a:r>
          </a:p>
          <a:p>
            <a:pPr marL="0" marR="0" lvl="0" indent="0" algn="l" defTabSz="457200" rtl="0" eaLnBrk="1" fontAlgn="auto" latinLnBrk="0" hangingPunct="1">
              <a:lnSpc>
                <a:spcPct val="100000"/>
              </a:lnSpc>
              <a:spcBef>
                <a:spcPts val="0"/>
              </a:spcBef>
              <a:spcAft>
                <a:spcPts val="400"/>
              </a:spcAft>
              <a:buClrTx/>
              <a:buSzTx/>
              <a:buFontTx/>
              <a:buNone/>
              <a:tabLst/>
              <a:defRPr sz="1300" b="0">
                <a:solidFill>
                  <a:srgbClr val="4C5B6D"/>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Engage enduro fans, crews and spectators through branded experiences and content capture.</a:t>
            </a:r>
          </a:p>
        </p:txBody>
      </p:sp>
      <p:pic>
        <p:nvPicPr>
          <p:cNvPr id="30" name="Picture 29" descr="Day 2: Highlights Nyega Nyega Na SKOL Lager 🍺 📍Musanze">
            <a:extLst>
              <a:ext uri="{FF2B5EF4-FFF2-40B4-BE49-F238E27FC236}">
                <a16:creationId xmlns:a16="http://schemas.microsoft.com/office/drawing/2014/main" id="{571FCCDB-680B-EE6E-9C7A-1601BD295C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0285" y="1264238"/>
            <a:ext cx="3822191" cy="2548127"/>
          </a:xfrm>
          <a:prstGeom prst="rect">
            <a:avLst/>
          </a:prstGeom>
        </p:spPr>
      </p:pic>
      <p:pic>
        <p:nvPicPr>
          <p:cNvPr id="32" name="Picture 31">
            <a:extLst>
              <a:ext uri="{FF2B5EF4-FFF2-40B4-BE49-F238E27FC236}">
                <a16:creationId xmlns:a16="http://schemas.microsoft.com/office/drawing/2014/main" id="{323856F3-C9AF-6DDF-CDC8-2F146FF6314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754642" y="999253"/>
            <a:ext cx="4522684" cy="301512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1348208"/>
            <a:ext cx="9445752" cy="914400"/>
          </a:xfrm>
          <a:prstGeom prst="rect">
            <a:avLst/>
          </a:prstGeom>
          <a:noFill/>
          <a:ln/>
        </p:spPr>
        <p:txBody>
          <a:bodyPr wrap="square" lIns="0" tIns="0" rIns="0" bIns="0" rtlCol="0" anchor="ctr"/>
          <a:lstStyle/>
          <a:p>
            <a:pPr marL="0" indent="0" algn="ctr">
              <a:buNone/>
            </a:pPr>
            <a:r>
              <a:rPr lang="en-US" sz="4000" b="1" dirty="0">
                <a:solidFill>
                  <a:srgbClr val="002060"/>
                </a:solidFill>
                <a:latin typeface="Arial" pitchFamily="34" charset="0"/>
                <a:ea typeface="Arial" pitchFamily="34" charset="-122"/>
                <a:cs typeface="Arial" pitchFamily="34" charset="-120"/>
              </a:rPr>
              <a:t>Thank you</a:t>
            </a:r>
            <a:endParaRPr lang="en-US" sz="4000" dirty="0"/>
          </a:p>
        </p:txBody>
      </p:sp>
      <p:pic>
        <p:nvPicPr>
          <p:cNvPr id="6" name="Picture 5">
            <a:extLst>
              <a:ext uri="{FF2B5EF4-FFF2-40B4-BE49-F238E27FC236}">
                <a16:creationId xmlns:a16="http://schemas.microsoft.com/office/drawing/2014/main" id="{B9A93E41-8B45-7F56-F72E-77FF23E7CEF8}"/>
              </a:ext>
            </a:extLst>
          </p:cNvPr>
          <p:cNvPicPr>
            <a:picLocks noChangeAspect="1"/>
          </p:cNvPicPr>
          <p:nvPr/>
        </p:nvPicPr>
        <p:blipFill>
          <a:blip r:embed="rId3"/>
          <a:stretch>
            <a:fillRect/>
          </a:stretch>
        </p:blipFill>
        <p:spPr>
          <a:xfrm>
            <a:off x="3018820" y="2262607"/>
            <a:ext cx="6154359" cy="4182301"/>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8E8DD-3DF0-6E12-1D87-8F973290E25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476A31-42B6-5F66-B506-BBC207A5BF0E}"/>
              </a:ext>
            </a:extLst>
          </p:cNvPr>
          <p:cNvSpPr txBox="1"/>
          <p:nvPr/>
        </p:nvSpPr>
        <p:spPr>
          <a:xfrm>
            <a:off x="723900" y="254546"/>
            <a:ext cx="10744200" cy="489365"/>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700" b="1">
                <a:solidFill>
                  <a:srgbClr val="122A4B"/>
                </a:solidFill>
                <a:latin typeface="Aptos"/>
              </a:defRPr>
            </a:pPr>
            <a:r>
              <a:rPr lang="en-US" sz="2700" b="1" dirty="0">
                <a:solidFill>
                  <a:srgbClr val="002060"/>
                </a:solidFill>
                <a:latin typeface="Aptos"/>
              </a:rPr>
              <a:t>ANNEXE</a:t>
            </a:r>
            <a:endParaRPr kumimoji="0" sz="2700" b="1" i="0" u="none" strike="noStrike" kern="1200" cap="none" spc="0" normalizeH="0" baseline="0" noProof="0" dirty="0">
              <a:ln>
                <a:noFill/>
              </a:ln>
              <a:solidFill>
                <a:srgbClr val="002060"/>
              </a:solidFill>
              <a:effectLst/>
              <a:uLnTx/>
              <a:uFillTx/>
              <a:latin typeface="Aptos"/>
              <a:ea typeface="+mn-ea"/>
              <a:cs typeface="+mn-cs"/>
            </a:endParaRPr>
          </a:p>
        </p:txBody>
      </p:sp>
      <p:sp>
        <p:nvSpPr>
          <p:cNvPr id="34" name="Rectangle 33">
            <a:extLst>
              <a:ext uri="{FF2B5EF4-FFF2-40B4-BE49-F238E27FC236}">
                <a16:creationId xmlns:a16="http://schemas.microsoft.com/office/drawing/2014/main" id="{69E6E7E5-4DB2-195B-95A7-2610BE00ECCD}"/>
              </a:ext>
            </a:extLst>
          </p:cNvPr>
          <p:cNvSpPr/>
          <p:nvPr/>
        </p:nvSpPr>
        <p:spPr>
          <a:xfrm>
            <a:off x="646175" y="438659"/>
            <a:ext cx="10005753" cy="4969298"/>
          </a:xfrm>
          <a:prstGeom prst="rect">
            <a:avLst/>
          </a:prstGeom>
          <a:noFill/>
          <a:ln w="9525"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endParaRPr kumimoji="0" lang="nl-NL" sz="1800" b="0" i="1"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A48A55BB-7E48-F1B2-82A0-9358BF29AC6F}"/>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38" name="Straight Connector 37">
            <a:extLst>
              <a:ext uri="{FF2B5EF4-FFF2-40B4-BE49-F238E27FC236}">
                <a16:creationId xmlns:a16="http://schemas.microsoft.com/office/drawing/2014/main" id="{4CC2DEE2-44D7-CF0D-B7D2-F10827B15EC5}"/>
              </a:ext>
            </a:extLst>
          </p:cNvPr>
          <p:cNvCxnSpPr>
            <a:cxnSpLocks/>
          </p:cNvCxnSpPr>
          <p:nvPr/>
        </p:nvCxnSpPr>
        <p:spPr>
          <a:xfrm flipV="1">
            <a:off x="1184413" y="740664"/>
            <a:ext cx="10858235" cy="83429"/>
          </a:xfrm>
          <a:prstGeom prst="line">
            <a:avLst/>
          </a:prstGeom>
          <a:ln w="28575">
            <a:solidFill>
              <a:srgbClr val="FCF000"/>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F9984D26-BC10-FCDC-76A0-84F95BD9E658}"/>
              </a:ext>
            </a:extLst>
          </p:cNvPr>
          <p:cNvSpPr txBox="1"/>
          <p:nvPr/>
        </p:nvSpPr>
        <p:spPr>
          <a:xfrm>
            <a:off x="646175" y="924579"/>
            <a:ext cx="11158611" cy="6186309"/>
          </a:xfrm>
          <a:prstGeom prst="rect">
            <a:avLst/>
          </a:prstGeom>
          <a:noFill/>
        </p:spPr>
        <p:txBody>
          <a:bodyPr wrap="square">
            <a:spAutoFit/>
          </a:bodyPr>
          <a:lstStyle/>
          <a:p>
            <a:pPr rtl="0">
              <a:buNone/>
            </a:pPr>
            <a:r>
              <a:rPr lang="fr-FR" b="1" dirty="0"/>
              <a:t>ventes au 19 octobre </a:t>
            </a:r>
          </a:p>
          <a:p>
            <a:pPr rtl="0">
              <a:buNone/>
            </a:pPr>
            <a:endParaRPr lang="fr-FR" sz="600" b="1" dirty="0"/>
          </a:p>
          <a:p>
            <a:pPr rtl="0">
              <a:buNone/>
            </a:pPr>
            <a:r>
              <a:rPr lang="fr-FR" b="1" dirty="0"/>
              <a:t>Total (Domestique + Export)</a:t>
            </a:r>
            <a:endParaRPr lang="fr-FR" dirty="0"/>
          </a:p>
          <a:p>
            <a:pPr marL="342900" lvl="0" indent="-342900" rtl="0">
              <a:buFont typeface="Arial" panose="020B0604020202020204" pitchFamily="34" charset="0"/>
              <a:buChar char="•"/>
            </a:pPr>
            <a:r>
              <a:rPr lang="fr-FR" b="1" dirty="0"/>
              <a:t>53 464 HL MTD, +46 % vs LY à jours comparables.</a:t>
            </a:r>
            <a:endParaRPr lang="fr-FR" dirty="0"/>
          </a:p>
          <a:p>
            <a:pPr marL="342900" lvl="0" indent="-342900" rtl="0">
              <a:buFont typeface="Arial" panose="020B0604020202020204" pitchFamily="34" charset="0"/>
              <a:buChar char="•"/>
            </a:pPr>
            <a:r>
              <a:rPr lang="fr-FR" dirty="0"/>
              <a:t>Cadence d’environ 83 000 HL pour une </a:t>
            </a:r>
            <a:r>
              <a:rPr lang="fr-FR" dirty="0" err="1"/>
              <a:t>target</a:t>
            </a:r>
            <a:r>
              <a:rPr lang="fr-FR" dirty="0"/>
              <a:t> de 74 281</a:t>
            </a:r>
          </a:p>
          <a:p>
            <a:pPr marL="342900" lvl="0" indent="-342900" rtl="0">
              <a:buFont typeface="Arial" panose="020B0604020202020204" pitchFamily="34" charset="0"/>
              <a:buChar char="•"/>
            </a:pPr>
            <a:r>
              <a:rPr lang="fr-FR" dirty="0"/>
              <a:t>Il suffit de 1 900 HL/jour pour la tenir, alors que nous faisons 2 800 en moyenne.</a:t>
            </a:r>
          </a:p>
          <a:p>
            <a:pPr marL="342900" lvl="0" indent="-342900" rtl="0">
              <a:buFont typeface="Arial" panose="020B0604020202020204" pitchFamily="34" charset="0"/>
              <a:buChar char="•"/>
            </a:pPr>
            <a:r>
              <a:rPr lang="fr-FR" dirty="0"/>
              <a:t>YTD : 670 225 HL, </a:t>
            </a:r>
            <a:r>
              <a:rPr lang="fr-FR" b="1" dirty="0"/>
              <a:t>+3,3 %</a:t>
            </a:r>
            <a:r>
              <a:rPr lang="fr-FR" dirty="0"/>
              <a:t>.</a:t>
            </a:r>
          </a:p>
          <a:p>
            <a:pPr rtl="0">
              <a:buNone/>
            </a:pPr>
            <a:r>
              <a:rPr lang="fr-FR" b="1" dirty="0"/>
              <a:t>Domestique seul</a:t>
            </a:r>
            <a:endParaRPr lang="fr-FR" dirty="0"/>
          </a:p>
          <a:p>
            <a:pPr marL="342900" lvl="0" indent="-342900" rtl="0">
              <a:buFont typeface="Arial" panose="020B0604020202020204" pitchFamily="34" charset="0"/>
              <a:buChar char="•"/>
            </a:pPr>
            <a:r>
              <a:rPr lang="fr-FR" b="1" dirty="0"/>
              <a:t>42 825 HL MTD, +40 % vs LY.</a:t>
            </a:r>
            <a:endParaRPr lang="fr-FR" dirty="0"/>
          </a:p>
          <a:p>
            <a:pPr marL="342900" lvl="0" indent="-342900" rtl="0">
              <a:buFont typeface="Arial" panose="020B0604020202020204" pitchFamily="34" charset="0"/>
              <a:buChar char="•"/>
            </a:pPr>
            <a:r>
              <a:rPr lang="fr-FR" dirty="0"/>
              <a:t>Cadence entre −1 % et −6 % de la </a:t>
            </a:r>
            <a:r>
              <a:rPr lang="fr-FR" dirty="0" err="1"/>
              <a:t>target</a:t>
            </a:r>
            <a:r>
              <a:rPr lang="fr-FR" dirty="0"/>
              <a:t> (69 280) : c’est jouable mais ce n’est pas acquis. Il faut tenir environ 2 300 à 2 450 HL/jour jusqu’au 31.</a:t>
            </a:r>
          </a:p>
          <a:p>
            <a:pPr marL="342900" lvl="0" indent="-342900" rtl="0">
              <a:buFont typeface="Arial" panose="020B0604020202020204" pitchFamily="34" charset="0"/>
              <a:buChar char="•"/>
            </a:pPr>
            <a:r>
              <a:rPr lang="fr-FR" dirty="0"/>
              <a:t>YTD : </a:t>
            </a:r>
            <a:r>
              <a:rPr lang="fr-FR" b="1" dirty="0"/>
              <a:t>−10 %</a:t>
            </a:r>
            <a:r>
              <a:rPr lang="fr-FR" dirty="0"/>
              <a:t>. La croissance annuelle vient uniquement de l’Export (+135 %).</a:t>
            </a:r>
          </a:p>
          <a:p>
            <a:pPr rtl="0">
              <a:buNone/>
            </a:pPr>
            <a:r>
              <a:rPr lang="fr-FR" b="1" dirty="0"/>
              <a:t>Ce qui marche</a:t>
            </a:r>
            <a:endParaRPr lang="fr-FR" dirty="0"/>
          </a:p>
          <a:p>
            <a:pPr marL="342900" lvl="0" indent="-342900" rtl="0">
              <a:buFont typeface="Arial" panose="020B0604020202020204" pitchFamily="34" charset="0"/>
              <a:buChar char="•"/>
            </a:pPr>
            <a:r>
              <a:rPr lang="fr-FR" dirty="0"/>
              <a:t>Virunga Mist 50 cl, </a:t>
            </a:r>
            <a:r>
              <a:rPr lang="fr-FR" dirty="0" err="1"/>
              <a:t>Gatanu</a:t>
            </a:r>
            <a:r>
              <a:rPr lang="fr-FR" dirty="0"/>
              <a:t> 65 cl et </a:t>
            </a:r>
            <a:r>
              <a:rPr lang="fr-FR" dirty="0" err="1"/>
              <a:t>Skol</a:t>
            </a:r>
            <a:r>
              <a:rPr lang="fr-FR" dirty="0"/>
              <a:t> Malt 65 cl.</a:t>
            </a:r>
          </a:p>
          <a:p>
            <a:pPr marL="342900" lvl="0" indent="-342900" rtl="0">
              <a:buFont typeface="Arial" panose="020B0604020202020204" pitchFamily="34" charset="0"/>
              <a:buChar char="•"/>
            </a:pPr>
            <a:r>
              <a:rPr lang="fr-FR" dirty="0"/>
              <a:t>KGL (+7 % vs </a:t>
            </a:r>
            <a:r>
              <a:rPr lang="fr-FR" dirty="0" err="1"/>
              <a:t>target</a:t>
            </a:r>
            <a:r>
              <a:rPr lang="fr-FR" dirty="0"/>
              <a:t>), UPC East et UPC South.</a:t>
            </a:r>
          </a:p>
          <a:p>
            <a:pPr rtl="0">
              <a:buNone/>
            </a:pPr>
            <a:r>
              <a:rPr lang="fr-FR" b="1" dirty="0"/>
              <a:t>Ce qui bloque</a:t>
            </a:r>
            <a:endParaRPr lang="fr-FR" dirty="0"/>
          </a:p>
          <a:p>
            <a:pPr marL="342900" lvl="0" indent="-342900" rtl="0">
              <a:buFont typeface="Arial" panose="020B0604020202020204" pitchFamily="34" charset="0"/>
              <a:buChar char="•"/>
            </a:pPr>
            <a:r>
              <a:rPr lang="fr-FR" b="1" dirty="0"/>
              <a:t>UPC West et UPC North, à −24/−25 % de leur </a:t>
            </a:r>
            <a:r>
              <a:rPr lang="fr-FR" b="1" dirty="0" err="1"/>
              <a:t>target</a:t>
            </a:r>
            <a:r>
              <a:rPr lang="fr-FR" b="1" dirty="0"/>
              <a:t>.</a:t>
            </a:r>
            <a:r>
              <a:rPr lang="fr-FR" dirty="0"/>
              <a:t> C’est tout notre écart domestique.</a:t>
            </a:r>
          </a:p>
          <a:p>
            <a:pPr marL="342900" lvl="0" indent="-342900" rtl="0">
              <a:buFont typeface="Arial" panose="020B0604020202020204" pitchFamily="34" charset="0"/>
              <a:buChar char="•"/>
            </a:pPr>
            <a:r>
              <a:rPr lang="fr-FR" dirty="0"/>
              <a:t>Lono à −71 %.</a:t>
            </a:r>
          </a:p>
          <a:p>
            <a:pPr marL="342900" lvl="0" indent="-342900" rtl="0">
              <a:buFont typeface="Arial" panose="020B0604020202020204" pitchFamily="34" charset="0"/>
              <a:buChar char="•"/>
            </a:pPr>
            <a:r>
              <a:rPr lang="fr-FR" dirty="0"/>
              <a:t>Distributeurs ALDIN, PACIS, FIREMC et PROTOGE en net retard sur leur </a:t>
            </a:r>
            <a:r>
              <a:rPr lang="fr-FR" dirty="0" err="1"/>
              <a:t>target</a:t>
            </a:r>
            <a:r>
              <a:rPr lang="fr-FR" dirty="0"/>
              <a:t>.</a:t>
            </a:r>
          </a:p>
          <a:p>
            <a:r>
              <a:rPr lang="fr-FR" b="1" dirty="0"/>
              <a:t>Vigilance</a:t>
            </a:r>
            <a:endParaRPr lang="fr-FR" dirty="0"/>
          </a:p>
          <a:p>
            <a:pPr lvl="0"/>
            <a:r>
              <a:rPr lang="fr-FR" dirty="0"/>
              <a:t>Ralentissement depuis le 15, avec −16 % de moyenne journalière.</a:t>
            </a:r>
          </a:p>
          <a:p>
            <a:pPr lvl="0"/>
            <a:r>
              <a:rPr lang="fr-FR" dirty="0"/>
              <a:t>Nous vérifions les stocks distributeurs pour nous assurer que c’est du </a:t>
            </a:r>
            <a:r>
              <a:rPr lang="fr-FR" dirty="0" err="1"/>
              <a:t>sell</a:t>
            </a:r>
            <a:r>
              <a:rPr lang="fr-FR" dirty="0"/>
              <a:t>-out et non du chargement.</a:t>
            </a:r>
          </a:p>
        </p:txBody>
      </p:sp>
      <p:sp>
        <p:nvSpPr>
          <p:cNvPr id="4" name="TextBox 3">
            <a:extLst>
              <a:ext uri="{FF2B5EF4-FFF2-40B4-BE49-F238E27FC236}">
                <a16:creationId xmlns:a16="http://schemas.microsoft.com/office/drawing/2014/main" id="{7F2B5F69-AE93-6489-3689-AB61BA93E8CC}"/>
              </a:ext>
            </a:extLst>
          </p:cNvPr>
          <p:cNvSpPr txBox="1"/>
          <p:nvPr/>
        </p:nvSpPr>
        <p:spPr>
          <a:xfrm>
            <a:off x="1862647" y="275210"/>
            <a:ext cx="2703682" cy="461665"/>
          </a:xfrm>
          <a:prstGeom prst="rect">
            <a:avLst/>
          </a:prstGeom>
          <a:noFill/>
        </p:spPr>
        <p:txBody>
          <a:bodyPr wrap="square" rtlCol="0">
            <a:spAutoFit/>
          </a:bodyPr>
          <a:lstStyle/>
          <a:p>
            <a:r>
              <a:rPr lang="fr-FR" sz="2400" b="1" dirty="0">
                <a:solidFill>
                  <a:srgbClr val="FF0000"/>
                </a:solidFill>
              </a:rPr>
              <a:t>TREND / TENDANCE</a:t>
            </a:r>
          </a:p>
        </p:txBody>
      </p:sp>
    </p:spTree>
    <p:extLst>
      <p:ext uri="{BB962C8B-B14F-4D97-AF65-F5344CB8AC3E}">
        <p14:creationId xmlns:p14="http://schemas.microsoft.com/office/powerpoint/2010/main" val="27165266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963363" cy="256032"/>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3" name="Text 1"/>
          <p:cNvSpPr txBox="1"/>
          <p:nvPr/>
        </p:nvSpPr>
        <p:spPr>
          <a:xfrm>
            <a:off x="411480" y="256032"/>
            <a:ext cx="4963363"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 · 2026: FOUNDATIONS — RESULTS AND MARKET SHARE</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2026: the foundations are laid</a:t>
            </a:r>
            <a:endParaRPr lang="en-US" sz="2800" dirty="0"/>
          </a:p>
        </p:txBody>
      </p:sp>
      <p:sp>
        <p:nvSpPr>
          <p:cNvPr id="6" name="s1-k1"/>
          <p:cNvSpPr/>
          <p:nvPr/>
        </p:nvSpPr>
        <p:spPr>
          <a:xfrm>
            <a:off x="411480" y="1371600"/>
            <a:ext cx="2743200" cy="1234440"/>
          </a:xfrm>
          <a:prstGeom prst="roundRect">
            <a:avLst>
              <a:gd name="adj" fmla="val 5926"/>
            </a:avLst>
          </a:prstGeom>
          <a:solidFill>
            <a:srgbClr val="F2F5FB"/>
          </a:solidFill>
          <a:ln w="12700">
            <a:solidFill>
              <a:srgbClr val="F2F5FB"/>
            </a:solidFill>
            <a:prstDash val="solid"/>
          </a:ln>
        </p:spPr>
        <p:txBody>
          <a:bodyPr/>
          <a:lstStyle/>
          <a:p>
            <a:endParaRPr lang="fr-FR"/>
          </a:p>
        </p:txBody>
      </p:sp>
      <p:sp>
        <p:nvSpPr>
          <p:cNvPr id="7" name="s1-k1-bar"/>
          <p:cNvSpPr/>
          <p:nvPr/>
        </p:nvSpPr>
        <p:spPr>
          <a:xfrm>
            <a:off x="411480" y="1371600"/>
            <a:ext cx="109728" cy="1234440"/>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8" name="Text 5"/>
          <p:cNvSpPr txBox="1"/>
          <p:nvPr/>
        </p:nvSpPr>
        <p:spPr>
          <a:xfrm>
            <a:off x="640080" y="1417320"/>
            <a:ext cx="2450592" cy="237744"/>
          </a:xfrm>
          <a:prstGeom prst="rect">
            <a:avLst/>
          </a:prstGeom>
          <a:noFill/>
          <a:ln/>
        </p:spPr>
        <p:txBody>
          <a:bodyPr wrap="square" lIns="0" tIns="0" rIns="0" bIns="0" rtlCol="0" anchor="t"/>
          <a:lstStyle/>
          <a:p>
            <a:pPr marL="0" indent="0">
              <a:buNone/>
            </a:pPr>
            <a:r>
              <a:rPr lang="en-US" sz="1050" b="1" dirty="0">
                <a:solidFill>
                  <a:srgbClr val="5B6478"/>
                </a:solidFill>
                <a:latin typeface="Calibri" pitchFamily="34" charset="0"/>
                <a:ea typeface="Calibri" pitchFamily="34" charset="-122"/>
                <a:cs typeface="Calibri" pitchFamily="34" charset="-120"/>
              </a:rPr>
              <a:t>DOMESTIC · CUMULATIVE VOLUME, 30 SEP</a:t>
            </a:r>
            <a:endParaRPr lang="en-US" sz="1050" dirty="0"/>
          </a:p>
        </p:txBody>
      </p:sp>
      <p:sp>
        <p:nvSpPr>
          <p:cNvPr id="9" name="Text 6"/>
          <p:cNvSpPr txBox="1"/>
          <p:nvPr/>
        </p:nvSpPr>
        <p:spPr>
          <a:xfrm>
            <a:off x="640080" y="1645920"/>
            <a:ext cx="1463040" cy="45720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517.7 k hL</a:t>
            </a:r>
            <a:endParaRPr lang="en-US" sz="2150" dirty="0"/>
          </a:p>
        </p:txBody>
      </p:sp>
      <p:sp>
        <p:nvSpPr>
          <p:cNvPr id="10" name="Text 7"/>
          <p:cNvSpPr txBox="1"/>
          <p:nvPr/>
        </p:nvSpPr>
        <p:spPr>
          <a:xfrm>
            <a:off x="1965960" y="1645920"/>
            <a:ext cx="1097280" cy="457200"/>
          </a:xfrm>
          <a:prstGeom prst="rect">
            <a:avLst/>
          </a:prstGeom>
          <a:noFill/>
          <a:ln/>
        </p:spPr>
        <p:txBody>
          <a:bodyPr wrap="square" lIns="0" tIns="0" rIns="0" bIns="0" rtlCol="0" anchor="ctr"/>
          <a:lstStyle/>
          <a:p>
            <a:pPr marL="0" indent="0" algn="r">
              <a:buNone/>
            </a:pPr>
            <a:r>
              <a:rPr lang="en-US" sz="1800" b="1" dirty="0">
                <a:solidFill>
                  <a:srgbClr val="D6281E"/>
                </a:solidFill>
                <a:latin typeface="Calibri" pitchFamily="34" charset="0"/>
                <a:ea typeface="Calibri" pitchFamily="34" charset="-122"/>
                <a:cs typeface="Calibri" pitchFamily="34" charset="-120"/>
              </a:rPr>
              <a:t>−7.9%</a:t>
            </a:r>
            <a:endParaRPr lang="en-US" sz="1800" dirty="0"/>
          </a:p>
        </p:txBody>
      </p:sp>
      <p:sp>
        <p:nvSpPr>
          <p:cNvPr id="11" name="Text 8"/>
          <p:cNvSpPr txBox="1"/>
          <p:nvPr/>
        </p:nvSpPr>
        <p:spPr>
          <a:xfrm>
            <a:off x="640080" y="2121408"/>
            <a:ext cx="2450592" cy="457200"/>
          </a:xfrm>
          <a:prstGeom prst="rect">
            <a:avLst/>
          </a:prstGeom>
          <a:noFill/>
          <a:ln/>
        </p:spPr>
        <p:txBody>
          <a:bodyPr wrap="square" lIns="0" tIns="0" rIns="0" bIns="0" rtlCol="0" anchor="t"/>
          <a:lstStyle/>
          <a:p>
            <a:pPr marL="0" indent="0">
              <a:buNone/>
            </a:pPr>
            <a:r>
              <a:rPr lang="en-US" sz="1050" dirty="0">
                <a:solidFill>
                  <a:srgbClr val="14213D"/>
                </a:solidFill>
                <a:latin typeface="Calibri" pitchFamily="34" charset="0"/>
                <a:ea typeface="Calibri" pitchFamily="34" charset="-122"/>
                <a:cs typeface="Calibri" pitchFamily="34" charset="-120"/>
              </a:rPr>
              <a:t>vs budget 561.9 k · cumulative gap: −11.3% end Aug → −7.9% end Sep · at 19 Oct: 558.6 k hL</a:t>
            </a:r>
            <a:endParaRPr lang="en-US" sz="1050" dirty="0"/>
          </a:p>
        </p:txBody>
      </p:sp>
      <p:sp>
        <p:nvSpPr>
          <p:cNvPr id="12" name="s1-k2"/>
          <p:cNvSpPr/>
          <p:nvPr/>
        </p:nvSpPr>
        <p:spPr>
          <a:xfrm>
            <a:off x="3280867" y="1371600"/>
            <a:ext cx="2743200" cy="1234440"/>
          </a:xfrm>
          <a:prstGeom prst="roundRect">
            <a:avLst>
              <a:gd name="adj" fmla="val 5926"/>
            </a:avLst>
          </a:prstGeom>
          <a:solidFill>
            <a:srgbClr val="F2F5FB"/>
          </a:solidFill>
          <a:ln w="12700">
            <a:solidFill>
              <a:srgbClr val="F2F5FB"/>
            </a:solidFill>
            <a:prstDash val="solid"/>
          </a:ln>
        </p:spPr>
        <p:txBody>
          <a:bodyPr/>
          <a:lstStyle/>
          <a:p>
            <a:endParaRPr lang="fr-FR"/>
          </a:p>
        </p:txBody>
      </p:sp>
      <p:sp>
        <p:nvSpPr>
          <p:cNvPr id="13" name="s1-k2-bar"/>
          <p:cNvSpPr/>
          <p:nvPr/>
        </p:nvSpPr>
        <p:spPr>
          <a:xfrm>
            <a:off x="3280867" y="1371600"/>
            <a:ext cx="109728" cy="1234440"/>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14" name="Text 11"/>
          <p:cNvSpPr txBox="1"/>
          <p:nvPr/>
        </p:nvSpPr>
        <p:spPr>
          <a:xfrm>
            <a:off x="3509467" y="1417320"/>
            <a:ext cx="2450592" cy="237744"/>
          </a:xfrm>
          <a:prstGeom prst="rect">
            <a:avLst/>
          </a:prstGeom>
          <a:noFill/>
          <a:ln/>
        </p:spPr>
        <p:txBody>
          <a:bodyPr wrap="square" lIns="0" tIns="0" rIns="0" bIns="0" rtlCol="0" anchor="t"/>
          <a:lstStyle/>
          <a:p>
            <a:pPr marL="0" indent="0">
              <a:buNone/>
            </a:pPr>
            <a:r>
              <a:rPr lang="en-US" sz="1050" b="1" dirty="0">
                <a:solidFill>
                  <a:srgbClr val="5B6478"/>
                </a:solidFill>
                <a:latin typeface="Calibri" pitchFamily="34" charset="0"/>
                <a:ea typeface="Calibri" pitchFamily="34" charset="-122"/>
                <a:cs typeface="Calibri" pitchFamily="34" charset="-120"/>
              </a:rPr>
              <a:t>DOMESTIC · CUMULATIVE VALUE (RWF)</a:t>
            </a:r>
            <a:endParaRPr lang="en-US" sz="1050" dirty="0"/>
          </a:p>
        </p:txBody>
      </p:sp>
      <p:sp>
        <p:nvSpPr>
          <p:cNvPr id="15" name="Text 12"/>
          <p:cNvSpPr txBox="1"/>
          <p:nvPr/>
        </p:nvSpPr>
        <p:spPr>
          <a:xfrm>
            <a:off x="3509467" y="1645920"/>
            <a:ext cx="1463040" cy="45720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95.5 Bn</a:t>
            </a:r>
            <a:endParaRPr lang="en-US" sz="2150" dirty="0"/>
          </a:p>
        </p:txBody>
      </p:sp>
      <p:sp>
        <p:nvSpPr>
          <p:cNvPr id="16" name="Text 13"/>
          <p:cNvSpPr txBox="1"/>
          <p:nvPr/>
        </p:nvSpPr>
        <p:spPr>
          <a:xfrm>
            <a:off x="4835347" y="1645920"/>
            <a:ext cx="1097280" cy="457200"/>
          </a:xfrm>
          <a:prstGeom prst="rect">
            <a:avLst/>
          </a:prstGeom>
          <a:noFill/>
          <a:ln/>
        </p:spPr>
        <p:txBody>
          <a:bodyPr wrap="square" lIns="0" tIns="0" rIns="0" bIns="0" rtlCol="0" anchor="ctr"/>
          <a:lstStyle/>
          <a:p>
            <a:pPr marL="0" indent="0" algn="r">
              <a:buNone/>
            </a:pPr>
            <a:r>
              <a:rPr lang="en-US" sz="1800" b="1" dirty="0">
                <a:solidFill>
                  <a:srgbClr val="2E5AAC"/>
                </a:solidFill>
                <a:latin typeface="Calibri" pitchFamily="34" charset="0"/>
                <a:ea typeface="Calibri" pitchFamily="34" charset="-122"/>
                <a:cs typeface="Calibri" pitchFamily="34" charset="-120"/>
              </a:rPr>
              <a:t>at 18 Oct</a:t>
            </a:r>
            <a:endParaRPr lang="en-US" sz="1800" dirty="0"/>
          </a:p>
        </p:txBody>
      </p:sp>
      <p:sp>
        <p:nvSpPr>
          <p:cNvPr id="17" name="Text 14"/>
          <p:cNvSpPr txBox="1"/>
          <p:nvPr/>
        </p:nvSpPr>
        <p:spPr>
          <a:xfrm>
            <a:off x="3509467" y="2121408"/>
            <a:ext cx="2450592" cy="457200"/>
          </a:xfrm>
          <a:prstGeom prst="rect">
            <a:avLst/>
          </a:prstGeom>
          <a:noFill/>
          <a:ln/>
        </p:spPr>
        <p:txBody>
          <a:bodyPr wrap="square" lIns="0" tIns="0" rIns="0" bIns="0" rtlCol="0" anchor="t"/>
          <a:lstStyle/>
          <a:p>
            <a:pPr marL="0" indent="0">
              <a:buNone/>
            </a:pPr>
            <a:r>
              <a:rPr lang="en-US" sz="1050" dirty="0" err="1">
                <a:solidFill>
                  <a:srgbClr val="14213D"/>
                </a:solidFill>
                <a:latin typeface="Calibri" pitchFamily="34" charset="0"/>
                <a:ea typeface="Calibri" pitchFamily="34" charset="-122"/>
                <a:cs typeface="Calibri" pitchFamily="34" charset="-120"/>
              </a:rPr>
              <a:t>October to date: 8.5 Bn RWF</a:t>
            </a:r>
            <a:endParaRPr lang="en-US" sz="1050" dirty="0"/>
          </a:p>
        </p:txBody>
      </p:sp>
      <p:sp>
        <p:nvSpPr>
          <p:cNvPr id="18" name="s1-k3"/>
          <p:cNvSpPr/>
          <p:nvPr/>
        </p:nvSpPr>
        <p:spPr>
          <a:xfrm>
            <a:off x="6150254" y="1371600"/>
            <a:ext cx="2743200" cy="1234440"/>
          </a:xfrm>
          <a:prstGeom prst="roundRect">
            <a:avLst>
              <a:gd name="adj" fmla="val 5926"/>
            </a:avLst>
          </a:prstGeom>
          <a:solidFill>
            <a:srgbClr val="F2F5FB"/>
          </a:solidFill>
          <a:ln w="12700">
            <a:solidFill>
              <a:srgbClr val="F2F5FB"/>
            </a:solidFill>
            <a:prstDash val="solid"/>
          </a:ln>
        </p:spPr>
        <p:txBody>
          <a:bodyPr/>
          <a:lstStyle/>
          <a:p>
            <a:endParaRPr lang="fr-FR"/>
          </a:p>
        </p:txBody>
      </p:sp>
      <p:sp>
        <p:nvSpPr>
          <p:cNvPr id="19" name="s1-k3-bar"/>
          <p:cNvSpPr/>
          <p:nvPr/>
        </p:nvSpPr>
        <p:spPr>
          <a:xfrm>
            <a:off x="6150254" y="1371600"/>
            <a:ext cx="109728" cy="1234440"/>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20" name="Text 17"/>
          <p:cNvSpPr txBox="1"/>
          <p:nvPr/>
        </p:nvSpPr>
        <p:spPr>
          <a:xfrm>
            <a:off x="6378854" y="1417320"/>
            <a:ext cx="2450592" cy="237744"/>
          </a:xfrm>
          <a:prstGeom prst="rect">
            <a:avLst/>
          </a:prstGeom>
          <a:noFill/>
          <a:ln/>
        </p:spPr>
        <p:txBody>
          <a:bodyPr wrap="square" lIns="0" tIns="0" rIns="0" bIns="0" rtlCol="0" anchor="t"/>
          <a:lstStyle/>
          <a:p>
            <a:pPr marL="0" indent="0">
              <a:buNone/>
            </a:pPr>
            <a:r>
              <a:rPr lang="en-US" sz="1050" b="1" dirty="0">
                <a:solidFill>
                  <a:srgbClr val="5B6478"/>
                </a:solidFill>
                <a:latin typeface="Calibri" pitchFamily="34" charset="0"/>
                <a:ea typeface="Calibri" pitchFamily="34" charset="-122"/>
                <a:cs typeface="Calibri" pitchFamily="34" charset="-120"/>
              </a:rPr>
              <a:t>TOTAL SBL (DOM. + EXPORT) · AT 30 SEP</a:t>
            </a:r>
            <a:endParaRPr lang="en-US" sz="1050" dirty="0"/>
          </a:p>
        </p:txBody>
      </p:sp>
      <p:sp>
        <p:nvSpPr>
          <p:cNvPr id="21" name="Text 18"/>
          <p:cNvSpPr txBox="1"/>
          <p:nvPr/>
        </p:nvSpPr>
        <p:spPr>
          <a:xfrm>
            <a:off x="6378854" y="1645920"/>
            <a:ext cx="1463040" cy="45720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660.1 k hL</a:t>
            </a:r>
            <a:endParaRPr lang="en-US" sz="2150" dirty="0"/>
          </a:p>
        </p:txBody>
      </p:sp>
      <p:sp>
        <p:nvSpPr>
          <p:cNvPr id="22" name="Text 19"/>
          <p:cNvSpPr txBox="1"/>
          <p:nvPr/>
        </p:nvSpPr>
        <p:spPr>
          <a:xfrm>
            <a:off x="7704734" y="1645920"/>
            <a:ext cx="1097280" cy="457200"/>
          </a:xfrm>
          <a:prstGeom prst="rect">
            <a:avLst/>
          </a:prstGeom>
          <a:noFill/>
          <a:ln/>
        </p:spPr>
        <p:txBody>
          <a:bodyPr wrap="square" lIns="0" tIns="0" rIns="0" bIns="0" rtlCol="0" anchor="ctr"/>
          <a:lstStyle/>
          <a:p>
            <a:pPr marL="0" indent="0" algn="r">
              <a:buNone/>
            </a:pPr>
            <a:r>
              <a:rPr lang="en-US" sz="1800" b="1" dirty="0">
                <a:solidFill>
                  <a:srgbClr val="2E5AAC"/>
                </a:solidFill>
                <a:latin typeface="Calibri" pitchFamily="34" charset="0"/>
                <a:ea typeface="Calibri" pitchFamily="34" charset="-122"/>
                <a:cs typeface="Calibri" pitchFamily="34" charset="-120"/>
              </a:rPr>
              <a:t>+4.7%</a:t>
            </a:r>
            <a:endParaRPr lang="en-US" sz="1800" dirty="0"/>
          </a:p>
        </p:txBody>
      </p:sp>
      <p:sp>
        <p:nvSpPr>
          <p:cNvPr id="23" name="Text 20"/>
          <p:cNvSpPr txBox="1"/>
          <p:nvPr/>
        </p:nvSpPr>
        <p:spPr>
          <a:xfrm>
            <a:off x="6378854" y="2121408"/>
            <a:ext cx="2450592" cy="457200"/>
          </a:xfrm>
          <a:prstGeom prst="rect">
            <a:avLst/>
          </a:prstGeom>
          <a:noFill/>
          <a:ln/>
        </p:spPr>
        <p:txBody>
          <a:bodyPr wrap="square" lIns="0" tIns="0" rIns="0" bIns="0" rtlCol="0" anchor="t"/>
          <a:lstStyle/>
          <a:p>
            <a:pPr marL="0" indent="0">
              <a:buNone/>
            </a:pPr>
            <a:r>
              <a:rPr lang="en-US" sz="1050" dirty="0">
                <a:solidFill>
                  <a:srgbClr val="14213D"/>
                </a:solidFill>
                <a:latin typeface="Calibri" pitchFamily="34" charset="0"/>
                <a:ea typeface="Calibri" pitchFamily="34" charset="-122"/>
                <a:cs typeface="Calibri" pitchFamily="34" charset="-120"/>
              </a:rPr>
              <a:t>export 142.4 k hL = 21.6% of total</a:t>
            </a:r>
            <a:endParaRPr lang="en-US" sz="1050" dirty="0"/>
          </a:p>
        </p:txBody>
      </p:sp>
      <p:sp>
        <p:nvSpPr>
          <p:cNvPr id="24" name="s1-k4"/>
          <p:cNvSpPr/>
          <p:nvPr/>
        </p:nvSpPr>
        <p:spPr>
          <a:xfrm>
            <a:off x="9019642" y="1371600"/>
            <a:ext cx="2743200" cy="1234440"/>
          </a:xfrm>
          <a:prstGeom prst="roundRect">
            <a:avLst>
              <a:gd name="adj" fmla="val 5926"/>
            </a:avLst>
          </a:prstGeom>
          <a:solidFill>
            <a:srgbClr val="F2F5FB"/>
          </a:solidFill>
          <a:ln w="12700">
            <a:solidFill>
              <a:srgbClr val="F2F5FB"/>
            </a:solidFill>
            <a:prstDash val="solid"/>
          </a:ln>
        </p:spPr>
        <p:txBody>
          <a:bodyPr/>
          <a:lstStyle/>
          <a:p>
            <a:endParaRPr lang="fr-FR"/>
          </a:p>
        </p:txBody>
      </p:sp>
      <p:sp>
        <p:nvSpPr>
          <p:cNvPr id="25" name="s1-k4-bar"/>
          <p:cNvSpPr/>
          <p:nvPr/>
        </p:nvSpPr>
        <p:spPr>
          <a:xfrm>
            <a:off x="9019642" y="1371600"/>
            <a:ext cx="109728" cy="123444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26" name="Text 23"/>
          <p:cNvSpPr txBox="1"/>
          <p:nvPr/>
        </p:nvSpPr>
        <p:spPr>
          <a:xfrm>
            <a:off x="9248242" y="1417320"/>
            <a:ext cx="2450592" cy="237744"/>
          </a:xfrm>
          <a:prstGeom prst="rect">
            <a:avLst/>
          </a:prstGeom>
          <a:noFill/>
          <a:ln/>
        </p:spPr>
        <p:txBody>
          <a:bodyPr wrap="square" lIns="0" tIns="0" rIns="0" bIns="0" rtlCol="0" anchor="t"/>
          <a:lstStyle/>
          <a:p>
            <a:pPr marL="0" indent="0">
              <a:buNone/>
            </a:pPr>
            <a:r>
              <a:rPr lang="en-US" sz="1050" b="1" dirty="0">
                <a:solidFill>
                  <a:srgbClr val="5B6478"/>
                </a:solidFill>
                <a:latin typeface="Calibri" pitchFamily="34" charset="0"/>
                <a:ea typeface="Calibri" pitchFamily="34" charset="-122"/>
                <a:cs typeface="Calibri" pitchFamily="34" charset="-120"/>
              </a:rPr>
              <a:t>MARKET SHARE</a:t>
            </a:r>
            <a:endParaRPr lang="en-US" sz="1050" dirty="0"/>
          </a:p>
        </p:txBody>
      </p:sp>
      <p:sp>
        <p:nvSpPr>
          <p:cNvPr id="27" name="Text 24"/>
          <p:cNvSpPr txBox="1"/>
          <p:nvPr/>
        </p:nvSpPr>
        <p:spPr>
          <a:xfrm>
            <a:off x="9248242" y="1645920"/>
            <a:ext cx="1463040" cy="45720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25.7%</a:t>
            </a:r>
            <a:endParaRPr lang="en-US" sz="2150" dirty="0"/>
          </a:p>
        </p:txBody>
      </p:sp>
      <p:sp>
        <p:nvSpPr>
          <p:cNvPr id="28" name="Text 25"/>
          <p:cNvSpPr txBox="1"/>
          <p:nvPr/>
        </p:nvSpPr>
        <p:spPr>
          <a:xfrm>
            <a:off x="10574122" y="1645920"/>
            <a:ext cx="1097280" cy="457200"/>
          </a:xfrm>
          <a:prstGeom prst="rect">
            <a:avLst/>
          </a:prstGeom>
          <a:noFill/>
          <a:ln/>
        </p:spPr>
        <p:txBody>
          <a:bodyPr wrap="square" lIns="0" tIns="0" rIns="0" bIns="0" rtlCol="0" anchor="ctr"/>
          <a:lstStyle/>
          <a:p>
            <a:pPr marL="0" indent="0" algn="r">
              <a:buNone/>
            </a:pPr>
            <a:r>
              <a:rPr lang="en-US" sz="1800" b="1" dirty="0">
                <a:solidFill>
                  <a:srgbClr val="2E5AAC"/>
                </a:solidFill>
                <a:latin typeface="Calibri" pitchFamily="34" charset="0"/>
                <a:ea typeface="Calibri" pitchFamily="34" charset="-122"/>
                <a:cs typeface="Calibri" pitchFamily="34" charset="-120"/>
              </a:rPr>
              <a:t>31.5%</a:t>
            </a:r>
            <a:endParaRPr lang="en-US" sz="1800" dirty="0"/>
          </a:p>
        </p:txBody>
      </p:sp>
      <p:sp>
        <p:nvSpPr>
          <p:cNvPr id="29" name="Text 26"/>
          <p:cNvSpPr txBox="1"/>
          <p:nvPr/>
        </p:nvSpPr>
        <p:spPr>
          <a:xfrm>
            <a:off x="9248242" y="2121408"/>
            <a:ext cx="2450592" cy="457200"/>
          </a:xfrm>
          <a:prstGeom prst="rect">
            <a:avLst/>
          </a:prstGeom>
          <a:noFill/>
          <a:ln/>
        </p:spPr>
        <p:txBody>
          <a:bodyPr wrap="square" lIns="0" tIns="0" rIns="0" bIns="0" rtlCol="0" anchor="t"/>
          <a:lstStyle/>
          <a:p>
            <a:pPr marL="0" indent="0">
              <a:buNone/>
            </a:pPr>
            <a:r>
              <a:rPr lang="en-US" sz="1050" dirty="0" err="1">
                <a:solidFill>
                  <a:srgbClr val="14213D"/>
                </a:solidFill>
                <a:latin typeface="Calibri" pitchFamily="34" charset="0"/>
                <a:ea typeface="Calibri" pitchFamily="34" charset="-122"/>
                <a:cs typeface="Calibri" pitchFamily="34" charset="-120"/>
              </a:rPr>
              <a:t>Cumulative to 30 Sep · September: 31.5%, 22.7% in March · SBL beer vs Bralirwa beer</a:t>
            </a:r>
            <a:endParaRPr lang="en-US" sz="1050" dirty="0"/>
          </a:p>
        </p:txBody>
      </p:sp>
      <p:graphicFrame>
        <p:nvGraphicFramePr>
          <p:cNvPr id="30" name="Chart 0"/>
          <p:cNvGraphicFramePr/>
          <p:nvPr/>
        </p:nvGraphicFramePr>
        <p:xfrm>
          <a:off x="411480" y="2697480"/>
          <a:ext cx="5486400" cy="271576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 name="Chart 1"/>
          <p:cNvGraphicFramePr/>
          <p:nvPr/>
        </p:nvGraphicFramePr>
        <p:xfrm>
          <a:off x="6035040" y="2697480"/>
          <a:ext cx="5742432" cy="2715768"/>
        </p:xfrm>
        <a:graphic>
          <a:graphicData uri="http://schemas.openxmlformats.org/drawingml/2006/chart">
            <c:chart xmlns:c="http://schemas.openxmlformats.org/drawingml/2006/chart" xmlns:r="http://schemas.openxmlformats.org/officeDocument/2006/relationships" r:id="rId5"/>
          </a:graphicData>
        </a:graphic>
      </p:graphicFrame>
      <p:sp>
        <p:nvSpPr>
          <p:cNvPr id="36" name="banner"/>
          <p:cNvSpPr/>
          <p:nvPr/>
        </p:nvSpPr>
        <p:spPr>
          <a:xfrm>
            <a:off x="411480" y="5504688"/>
            <a:ext cx="11365992" cy="777240"/>
          </a:xfrm>
          <a:prstGeom prst="roundRect">
            <a:avLst>
              <a:gd name="adj" fmla="val 9412"/>
            </a:avLst>
          </a:prstGeom>
          <a:solidFill>
            <a:srgbClr val="0B1F4B"/>
          </a:solidFill>
          <a:ln w="12700">
            <a:solidFill>
              <a:srgbClr val="0B1F4B"/>
            </a:solidFill>
            <a:prstDash val="solid"/>
          </a:ln>
        </p:spPr>
        <p:txBody>
          <a:bodyPr/>
          <a:lstStyle/>
          <a:p>
            <a:endParaRPr lang="fr-FR"/>
          </a:p>
        </p:txBody>
      </p:sp>
      <p:sp>
        <p:nvSpPr>
          <p:cNvPr id="37" name="banner-bar"/>
          <p:cNvSpPr/>
          <p:nvPr/>
        </p:nvSpPr>
        <p:spPr>
          <a:xfrm>
            <a:off x="411480" y="5504688"/>
            <a:ext cx="128016" cy="777240"/>
          </a:xfrm>
          <a:prstGeom prst="rect">
            <a:avLst/>
          </a:prstGeom>
          <a:solidFill>
            <a:srgbClr val="FFC20E"/>
          </a:solidFill>
          <a:ln w="12700">
            <a:solidFill>
              <a:srgbClr val="FFC20E"/>
            </a:solidFill>
            <a:prstDash val="solid"/>
          </a:ln>
        </p:spPr>
        <p:txBody>
          <a:bodyPr/>
          <a:lstStyle/>
          <a:p>
            <a:endParaRPr lang="fr-FR"/>
          </a:p>
        </p:txBody>
      </p:sp>
      <p:sp>
        <p:nvSpPr>
          <p:cNvPr id="38" name="Text 33"/>
          <p:cNvSpPr txBox="1"/>
          <p:nvPr/>
        </p:nvSpPr>
        <p:spPr>
          <a:xfrm>
            <a:off x="731520" y="5504688"/>
            <a:ext cx="10927080" cy="777240"/>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Making it a lasting trend…</a:t>
            </a:r>
            <a:endParaRPr lang="en-US" sz="1700" dirty="0"/>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963363" cy="256032"/>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3" name="Text 1"/>
          <p:cNvSpPr txBox="1"/>
          <p:nvPr/>
        </p:nvSpPr>
        <p:spPr>
          <a:xfrm>
            <a:off x="411480" y="256032"/>
            <a:ext cx="4963363"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 · 2026: MONTHLY SALES — LOCAL (DOMESTIC)</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2026: local sales, from 51 k hL in March to 74 k in September</a:t>
            </a:r>
            <a:endParaRPr lang="en-US" sz="2800" dirty="0"/>
          </a:p>
        </p:txBody>
      </p:sp>
      <p:sp>
        <p:nvSpPr>
          <p:cNvPr id="36" name="banner"/>
          <p:cNvSpPr/>
          <p:nvPr/>
        </p:nvSpPr>
        <p:spPr>
          <a:xfrm>
            <a:off x="411480" y="5504688"/>
            <a:ext cx="11365992" cy="777240"/>
          </a:xfrm>
          <a:prstGeom prst="roundRect">
            <a:avLst>
              <a:gd name="adj" fmla="val 9412"/>
            </a:avLst>
          </a:prstGeom>
          <a:solidFill>
            <a:srgbClr val="0B1F4B"/>
          </a:solidFill>
          <a:ln w="12700">
            <a:solidFill>
              <a:srgbClr val="0B1F4B"/>
            </a:solidFill>
            <a:prstDash val="solid"/>
          </a:ln>
        </p:spPr>
        <p:txBody>
          <a:bodyPr/>
          <a:lstStyle/>
          <a:p>
            <a:endParaRPr lang="fr-FR"/>
          </a:p>
        </p:txBody>
      </p:sp>
      <p:sp>
        <p:nvSpPr>
          <p:cNvPr id="37" name="banner-bar"/>
          <p:cNvSpPr/>
          <p:nvPr/>
        </p:nvSpPr>
        <p:spPr>
          <a:xfrm>
            <a:off x="411480" y="5504688"/>
            <a:ext cx="128016" cy="777240"/>
          </a:xfrm>
          <a:prstGeom prst="rect">
            <a:avLst/>
          </a:prstGeom>
          <a:solidFill>
            <a:srgbClr val="FFC20E"/>
          </a:solidFill>
          <a:ln w="12700">
            <a:solidFill>
              <a:srgbClr val="FFC20E"/>
            </a:solidFill>
            <a:prstDash val="solid"/>
          </a:ln>
        </p:spPr>
        <p:txBody>
          <a:bodyPr/>
          <a:lstStyle/>
          <a:p>
            <a:endParaRPr lang="fr-FR"/>
          </a:p>
        </p:txBody>
      </p:sp>
      <p:sp>
        <p:nvSpPr>
          <p:cNvPr id="38" name="Text 33"/>
          <p:cNvSpPr txBox="1"/>
          <p:nvPr/>
        </p:nvSpPr>
        <p:spPr>
          <a:xfrm>
            <a:off x="731520" y="5504688"/>
            <a:ext cx="10927080" cy="777240"/>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September: 74,484 hL local, +20% vs budget · cumulative 517,712 hL (−7.9%)</a:t>
            </a:r>
            <a:endParaRPr lang="en-US" sz="1700" dirty="0"/>
          </a:p>
        </p:txBody>
      </p:sp>
      <p:graphicFrame>
        <p:nvGraphicFramePr>
          <p:cNvPr id="39" name="s2n-chart"/>
          <p:cNvGraphicFramePr>
            <a:graphicFrameLocks noGrp="1"/>
          </p:cNvGraphicFramePr>
          <p:nvPr/>
        </p:nvGraphicFramePr>
        <p:xfrm>
          <a:off x="411480" y="1417320"/>
          <a:ext cx="11365992" cy="3977639"/>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3675888" cy="256032"/>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3" name="Text 1"/>
          <p:cNvSpPr txBox="1"/>
          <p:nvPr/>
        </p:nvSpPr>
        <p:spPr>
          <a:xfrm>
            <a:off x="411480" y="256032"/>
            <a:ext cx="3675888"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 · 2026: A COLLECTIVE TRANSFORMATION</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2026: one team, from activity to execution</a:t>
            </a:r>
            <a:endParaRPr lang="en-US" sz="2800" dirty="0"/>
          </a:p>
        </p:txBody>
      </p:sp>
      <p:sp>
        <p:nvSpPr>
          <p:cNvPr id="6" name="s2-audit"/>
          <p:cNvSpPr/>
          <p:nvPr/>
        </p:nvSpPr>
        <p:spPr>
          <a:xfrm>
            <a:off x="411480" y="1371600"/>
            <a:ext cx="1554480" cy="603504"/>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7" name="Text 4"/>
          <p:cNvSpPr txBox="1"/>
          <p:nvPr/>
        </p:nvSpPr>
        <p:spPr>
          <a:xfrm>
            <a:off x="411480" y="1371600"/>
            <a:ext cx="1554480" cy="60350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MINDSET SHIFT</a:t>
            </a:r>
            <a:endParaRPr lang="en-US" sz="1150" dirty="0"/>
          </a:p>
          <a:p>
            <a:pPr marL="0" indent="0" algn="ctr">
              <a:buNone/>
            </a:pPr>
            <a:r>
              <a:rPr lang="en-US" sz="1100" b="1" dirty="0">
                <a:solidFill>
                  <a:srgbClr val="FFFFFF"/>
                </a:solidFill>
                <a:latin typeface="Calibri" pitchFamily="34" charset="0"/>
                <a:ea typeface="Calibri" pitchFamily="34" charset="-122"/>
                <a:cs typeface="Calibri" pitchFamily="34" charset="-120"/>
              </a:rPr>
              <a:t>BACK TO BASICS</a:t>
            </a:r>
            <a:endParaRPr lang="en-US" sz="1100" dirty="0"/>
          </a:p>
        </p:txBody>
      </p:sp>
      <p:sp>
        <p:nvSpPr>
          <p:cNvPr id="33" name="s2-card1"/>
          <p:cNvSpPr/>
          <p:nvPr/>
        </p:nvSpPr>
        <p:spPr>
          <a:xfrm>
            <a:off x="411480"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34" name="s2-head1"/>
          <p:cNvSpPr/>
          <p:nvPr/>
        </p:nvSpPr>
        <p:spPr>
          <a:xfrm>
            <a:off x="411480" y="2066544"/>
            <a:ext cx="2167128" cy="384048"/>
          </a:xfrm>
          <a:prstGeom prst="roundRect">
            <a:avLst>
              <a:gd name="adj" fmla="val 11905"/>
            </a:avLst>
          </a:prstGeom>
          <a:solidFill>
            <a:srgbClr val="0B1F4B"/>
          </a:solidFill>
          <a:ln w="12700">
            <a:solidFill>
              <a:srgbClr val="0B1F4B"/>
            </a:solidFill>
            <a:prstDash val="solid"/>
          </a:ln>
        </p:spPr>
        <p:txBody>
          <a:bodyPr/>
          <a:lstStyle/>
          <a:p>
            <a:endParaRPr lang="fr-FR"/>
          </a:p>
        </p:txBody>
      </p:sp>
      <p:sp>
        <p:nvSpPr>
          <p:cNvPr id="35" name="Text 32"/>
          <p:cNvSpPr txBox="1"/>
          <p:nvPr/>
        </p:nvSpPr>
        <p:spPr>
          <a:xfrm>
            <a:off x="502920" y="2066544"/>
            <a:ext cx="11612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FIELD SALES</a:t>
            </a:r>
            <a:endParaRPr lang="en-US" sz="1250" dirty="0"/>
          </a:p>
        </p:txBody>
      </p:sp>
      <p:sp>
        <p:nvSpPr>
          <p:cNvPr id="36" name="Text 33"/>
          <p:cNvSpPr txBox="1"/>
          <p:nvPr/>
        </p:nvSpPr>
        <p:spPr>
          <a:xfrm>
            <a:off x="1572768" y="2066544"/>
            <a:ext cx="914400" cy="384048"/>
          </a:xfrm>
          <a:prstGeom prst="rect">
            <a:avLst/>
          </a:prstGeom>
          <a:noFill/>
          <a:ln/>
        </p:spPr>
        <p:txBody>
          <a:bodyPr wrap="square" lIns="0" tIns="0" rIns="0" bIns="0" rtlCol="0" anchor="ctr"/>
          <a:lstStyle/>
          <a:p>
            <a:pPr marL="0" indent="0" algn="r">
              <a:buNone/>
            </a:pPr>
            <a:r>
              <a:rPr lang="en-US" sz="1100" b="1" dirty="0">
                <a:solidFill>
                  <a:srgbClr val="FFC20E"/>
                </a:solidFill>
                <a:latin typeface="Calibri" pitchFamily="34" charset="0"/>
                <a:ea typeface="Calibri" pitchFamily="34" charset="-122"/>
                <a:cs typeface="Calibri" pitchFamily="34" charset="-120"/>
              </a:rPr>
              <a:t>HENRY</a:t>
            </a:r>
            <a:endParaRPr lang="en-US" sz="1100" dirty="0"/>
          </a:p>
        </p:txBody>
      </p:sp>
      <p:sp>
        <p:nvSpPr>
          <p:cNvPr id="37" name="s2-vis1"/>
          <p:cNvSpPr/>
          <p:nvPr/>
        </p:nvSpPr>
        <p:spPr>
          <a:xfrm>
            <a:off x="484632"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sp>
        <p:nvSpPr>
          <p:cNvPr id="41" name="Text 38"/>
          <p:cNvSpPr txBox="1"/>
          <p:nvPr/>
        </p:nvSpPr>
        <p:spPr>
          <a:xfrm>
            <a:off x="521208" y="4480560"/>
            <a:ext cx="1947672" cy="347472"/>
          </a:xfrm>
          <a:prstGeom prst="rect">
            <a:avLst/>
          </a:prstGeom>
          <a:noFill/>
          <a:ln/>
        </p:spPr>
        <p:txBody>
          <a:bodyPr wrap="square" lIns="0" tIns="0" rIns="0" bIns="0" rtlCol="0" anchor="t"/>
          <a:lstStyle/>
          <a:p>
            <a:pPr marL="0" indent="0">
              <a:buNone/>
            </a:pPr>
            <a:endParaRPr lang="en-US" sz="1100" dirty="0"/>
          </a:p>
        </p:txBody>
      </p:sp>
      <p:sp>
        <p:nvSpPr>
          <p:cNvPr id="44" name="s2-card2"/>
          <p:cNvSpPr/>
          <p:nvPr/>
        </p:nvSpPr>
        <p:spPr>
          <a:xfrm>
            <a:off x="2711196"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45" name="s2-head2"/>
          <p:cNvSpPr/>
          <p:nvPr/>
        </p:nvSpPr>
        <p:spPr>
          <a:xfrm>
            <a:off x="2711196" y="2066544"/>
            <a:ext cx="2167128" cy="384048"/>
          </a:xfrm>
          <a:prstGeom prst="roundRect">
            <a:avLst>
              <a:gd name="adj" fmla="val 11905"/>
            </a:avLst>
          </a:prstGeom>
          <a:solidFill>
            <a:srgbClr val="2E5AAC"/>
          </a:solidFill>
          <a:ln w="12700">
            <a:solidFill>
              <a:srgbClr val="2E5AAC"/>
            </a:solidFill>
            <a:prstDash val="solid"/>
          </a:ln>
        </p:spPr>
        <p:txBody>
          <a:bodyPr/>
          <a:lstStyle/>
          <a:p>
            <a:endParaRPr lang="fr-FR"/>
          </a:p>
        </p:txBody>
      </p:sp>
      <p:sp>
        <p:nvSpPr>
          <p:cNvPr id="46" name="Text 43"/>
          <p:cNvSpPr txBox="1"/>
          <p:nvPr/>
        </p:nvSpPr>
        <p:spPr>
          <a:xfrm>
            <a:off x="2802636" y="2066544"/>
            <a:ext cx="11612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ROUTE TO MARKET</a:t>
            </a:r>
            <a:endParaRPr lang="en-US" sz="1250" dirty="0"/>
          </a:p>
        </p:txBody>
      </p:sp>
      <p:sp>
        <p:nvSpPr>
          <p:cNvPr id="47" name="Text 44"/>
          <p:cNvSpPr txBox="1"/>
          <p:nvPr/>
        </p:nvSpPr>
        <p:spPr>
          <a:xfrm>
            <a:off x="3872484" y="2066544"/>
            <a:ext cx="914400" cy="384048"/>
          </a:xfrm>
          <a:prstGeom prst="rect">
            <a:avLst/>
          </a:prstGeom>
          <a:noFill/>
          <a:ln/>
        </p:spPr>
        <p:txBody>
          <a:bodyPr wrap="square" lIns="0" tIns="0" rIns="0" bIns="0" rtlCol="0" anchor="ctr"/>
          <a:lstStyle/>
          <a:p>
            <a:pPr marL="0" indent="0" algn="r">
              <a:buNone/>
            </a:pPr>
            <a:r>
              <a:rPr lang="en-US" sz="1100" b="1" dirty="0">
                <a:solidFill>
                  <a:srgbClr val="FFC20E"/>
                </a:solidFill>
                <a:latin typeface="Calibri" pitchFamily="34" charset="0"/>
                <a:ea typeface="Calibri" pitchFamily="34" charset="-122"/>
                <a:cs typeface="Calibri" pitchFamily="34" charset="-120"/>
              </a:rPr>
              <a:t>BENI</a:t>
            </a:r>
            <a:endParaRPr lang="en-US" sz="1100" dirty="0"/>
          </a:p>
        </p:txBody>
      </p:sp>
      <p:sp>
        <p:nvSpPr>
          <p:cNvPr id="48" name="s2-vis2"/>
          <p:cNvSpPr/>
          <p:nvPr/>
        </p:nvSpPr>
        <p:spPr>
          <a:xfrm>
            <a:off x="2784348"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sp>
        <p:nvSpPr>
          <p:cNvPr id="55" name="s2-card3"/>
          <p:cNvSpPr/>
          <p:nvPr/>
        </p:nvSpPr>
        <p:spPr>
          <a:xfrm>
            <a:off x="5010912"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56" name="s2-head3"/>
          <p:cNvSpPr/>
          <p:nvPr/>
        </p:nvSpPr>
        <p:spPr>
          <a:xfrm>
            <a:off x="5010912" y="2066544"/>
            <a:ext cx="2167128" cy="384048"/>
          </a:xfrm>
          <a:prstGeom prst="roundRect">
            <a:avLst>
              <a:gd name="adj" fmla="val 11905"/>
            </a:avLst>
          </a:prstGeom>
          <a:solidFill>
            <a:srgbClr val="FFC20E"/>
          </a:solidFill>
          <a:ln w="12700">
            <a:solidFill>
              <a:srgbClr val="FFC20E"/>
            </a:solidFill>
            <a:prstDash val="solid"/>
          </a:ln>
        </p:spPr>
        <p:txBody>
          <a:bodyPr/>
          <a:lstStyle/>
          <a:p>
            <a:endParaRPr lang="fr-FR"/>
          </a:p>
        </p:txBody>
      </p:sp>
      <p:sp>
        <p:nvSpPr>
          <p:cNvPr id="57" name="Text 54"/>
          <p:cNvSpPr txBox="1"/>
          <p:nvPr/>
        </p:nvSpPr>
        <p:spPr>
          <a:xfrm>
            <a:off x="5102352" y="2066544"/>
            <a:ext cx="1161288" cy="384048"/>
          </a:xfrm>
          <a:prstGeom prst="rect">
            <a:avLst/>
          </a:prstGeom>
          <a:noFill/>
          <a:ln/>
        </p:spPr>
        <p:txBody>
          <a:bodyPr wrap="square" lIns="0" tIns="0" rIns="0" bIns="0" rtlCol="0" anchor="ctr"/>
          <a:lstStyle/>
          <a:p>
            <a:pPr marL="0" indent="0">
              <a:buNone/>
            </a:pPr>
            <a:r>
              <a:rPr lang="en-US" sz="1250" b="1" dirty="0">
                <a:solidFill>
                  <a:srgbClr val="14213D"/>
                </a:solidFill>
                <a:latin typeface="Calibri" pitchFamily="34" charset="0"/>
                <a:ea typeface="Calibri" pitchFamily="34" charset="-122"/>
                <a:cs typeface="Calibri" pitchFamily="34" charset="-120"/>
              </a:rPr>
              <a:t>BI · ODOO · EBM</a:t>
            </a:r>
            <a:endParaRPr lang="en-US" sz="1250" dirty="0"/>
          </a:p>
        </p:txBody>
      </p:sp>
      <p:sp>
        <p:nvSpPr>
          <p:cNvPr id="58" name="Text 55"/>
          <p:cNvSpPr txBox="1"/>
          <p:nvPr/>
        </p:nvSpPr>
        <p:spPr>
          <a:xfrm>
            <a:off x="6172200" y="2066544"/>
            <a:ext cx="914400" cy="384048"/>
          </a:xfrm>
          <a:prstGeom prst="rect">
            <a:avLst/>
          </a:prstGeom>
          <a:noFill/>
          <a:ln/>
        </p:spPr>
        <p:txBody>
          <a:bodyPr wrap="square" lIns="0" tIns="0" rIns="0" bIns="0" rtlCol="0" anchor="ctr"/>
          <a:lstStyle/>
          <a:p>
            <a:pPr marL="0" indent="0" algn="r">
              <a:buNone/>
            </a:pPr>
            <a:r>
              <a:rPr lang="en-US" sz="1100" b="1" dirty="0">
                <a:solidFill>
                  <a:srgbClr val="14213D"/>
                </a:solidFill>
                <a:latin typeface="Calibri" pitchFamily="34" charset="0"/>
                <a:ea typeface="Calibri" pitchFamily="34" charset="-122"/>
                <a:cs typeface="Calibri" pitchFamily="34" charset="-120"/>
              </a:rPr>
              <a:t>ERNEST</a:t>
            </a:r>
            <a:endParaRPr lang="en-US" sz="1100" dirty="0"/>
          </a:p>
        </p:txBody>
      </p:sp>
      <p:sp>
        <p:nvSpPr>
          <p:cNvPr id="59" name="s2-vis3"/>
          <p:cNvSpPr/>
          <p:nvPr/>
        </p:nvSpPr>
        <p:spPr>
          <a:xfrm>
            <a:off x="5084064"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sp>
        <p:nvSpPr>
          <p:cNvPr id="66" name="s2-card4"/>
          <p:cNvSpPr/>
          <p:nvPr/>
        </p:nvSpPr>
        <p:spPr>
          <a:xfrm>
            <a:off x="7310628"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67" name="s2-head4"/>
          <p:cNvSpPr/>
          <p:nvPr/>
        </p:nvSpPr>
        <p:spPr>
          <a:xfrm>
            <a:off x="7310628" y="2066544"/>
            <a:ext cx="2167128" cy="384048"/>
          </a:xfrm>
          <a:prstGeom prst="roundRect">
            <a:avLst>
              <a:gd name="adj" fmla="val 11905"/>
            </a:avLst>
          </a:prstGeom>
          <a:solidFill>
            <a:srgbClr val="D6281E"/>
          </a:solidFill>
          <a:ln w="12700">
            <a:solidFill>
              <a:srgbClr val="D6281E"/>
            </a:solidFill>
            <a:prstDash val="solid"/>
          </a:ln>
        </p:spPr>
        <p:txBody>
          <a:bodyPr/>
          <a:lstStyle/>
          <a:p>
            <a:endParaRPr lang="fr-FR"/>
          </a:p>
        </p:txBody>
      </p:sp>
      <p:sp>
        <p:nvSpPr>
          <p:cNvPr id="68" name="Text 65"/>
          <p:cNvSpPr txBox="1"/>
          <p:nvPr/>
        </p:nvSpPr>
        <p:spPr>
          <a:xfrm>
            <a:off x="7402068" y="2066544"/>
            <a:ext cx="11612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TRADE MARKETING</a:t>
            </a:r>
            <a:endParaRPr lang="en-US" sz="1250" dirty="0"/>
          </a:p>
        </p:txBody>
      </p:sp>
      <p:sp>
        <p:nvSpPr>
          <p:cNvPr id="69" name="Text 66"/>
          <p:cNvSpPr txBox="1"/>
          <p:nvPr/>
        </p:nvSpPr>
        <p:spPr>
          <a:xfrm>
            <a:off x="8471916" y="2066544"/>
            <a:ext cx="914400" cy="384048"/>
          </a:xfrm>
          <a:prstGeom prst="rect">
            <a:avLst/>
          </a:prstGeom>
          <a:noFill/>
          <a:ln/>
        </p:spPr>
        <p:txBody>
          <a:bodyPr wrap="square" lIns="0" tIns="0" rIns="0" bIns="0" rtlCol="0" anchor="ctr"/>
          <a:lstStyle/>
          <a:p>
            <a:pPr marL="0" indent="0" algn="r">
              <a:buNone/>
            </a:pPr>
            <a:r>
              <a:rPr lang="en-US" sz="1100" b="1" dirty="0">
                <a:solidFill>
                  <a:srgbClr val="FFC20E"/>
                </a:solidFill>
                <a:latin typeface="Calibri" pitchFamily="34" charset="0"/>
                <a:ea typeface="Calibri" pitchFamily="34" charset="-122"/>
                <a:cs typeface="Calibri" pitchFamily="34" charset="-120"/>
              </a:rPr>
              <a:t>PACIFIQUE</a:t>
            </a:r>
            <a:endParaRPr lang="en-US" sz="1100" dirty="0"/>
          </a:p>
        </p:txBody>
      </p:sp>
      <p:sp>
        <p:nvSpPr>
          <p:cNvPr id="70" name="s2-vis4"/>
          <p:cNvSpPr/>
          <p:nvPr/>
        </p:nvSpPr>
        <p:spPr>
          <a:xfrm>
            <a:off x="7383780"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sp>
        <p:nvSpPr>
          <p:cNvPr id="77" name="s2-card5"/>
          <p:cNvSpPr/>
          <p:nvPr/>
        </p:nvSpPr>
        <p:spPr>
          <a:xfrm>
            <a:off x="9610344" y="2066544"/>
            <a:ext cx="2167128" cy="3511296"/>
          </a:xfrm>
          <a:prstGeom prst="roundRect">
            <a:avLst>
              <a:gd name="adj" fmla="val 3376"/>
            </a:avLst>
          </a:prstGeom>
          <a:solidFill>
            <a:srgbClr val="F2F5FB"/>
          </a:solidFill>
          <a:ln w="12700">
            <a:solidFill>
              <a:srgbClr val="F2F5FB"/>
            </a:solidFill>
            <a:prstDash val="solid"/>
          </a:ln>
        </p:spPr>
        <p:txBody>
          <a:bodyPr/>
          <a:lstStyle/>
          <a:p>
            <a:endParaRPr lang="fr-FR"/>
          </a:p>
        </p:txBody>
      </p:sp>
      <p:sp>
        <p:nvSpPr>
          <p:cNvPr id="78" name="s2-head5"/>
          <p:cNvSpPr/>
          <p:nvPr/>
        </p:nvSpPr>
        <p:spPr>
          <a:xfrm>
            <a:off x="9610344" y="2066544"/>
            <a:ext cx="2167128" cy="384048"/>
          </a:xfrm>
          <a:prstGeom prst="roundRect">
            <a:avLst>
              <a:gd name="adj" fmla="val 11905"/>
            </a:avLst>
          </a:prstGeom>
          <a:solidFill>
            <a:srgbClr val="0B1F4B"/>
          </a:solidFill>
          <a:ln w="12700">
            <a:solidFill>
              <a:srgbClr val="0B1F4B"/>
            </a:solidFill>
            <a:prstDash val="solid"/>
          </a:ln>
        </p:spPr>
        <p:txBody>
          <a:bodyPr/>
          <a:lstStyle/>
          <a:p>
            <a:endParaRPr lang="fr-FR"/>
          </a:p>
        </p:txBody>
      </p:sp>
      <p:sp>
        <p:nvSpPr>
          <p:cNvPr id="79" name="Text 76"/>
          <p:cNvSpPr txBox="1"/>
          <p:nvPr/>
        </p:nvSpPr>
        <p:spPr>
          <a:xfrm>
            <a:off x="9701784" y="2066544"/>
            <a:ext cx="11612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EVENTS</a:t>
            </a:r>
            <a:endParaRPr lang="en-US" sz="1250" dirty="0"/>
          </a:p>
        </p:txBody>
      </p:sp>
      <p:sp>
        <p:nvSpPr>
          <p:cNvPr id="80" name="Text 77"/>
          <p:cNvSpPr txBox="1"/>
          <p:nvPr/>
        </p:nvSpPr>
        <p:spPr>
          <a:xfrm>
            <a:off x="10771632" y="2066544"/>
            <a:ext cx="914400" cy="384048"/>
          </a:xfrm>
          <a:prstGeom prst="rect">
            <a:avLst/>
          </a:prstGeom>
          <a:noFill/>
          <a:ln/>
        </p:spPr>
        <p:txBody>
          <a:bodyPr wrap="square" lIns="0" tIns="0" rIns="0" bIns="0" rtlCol="0" anchor="ctr"/>
          <a:lstStyle/>
          <a:p>
            <a:pPr marL="0" indent="0" algn="r">
              <a:buNone/>
            </a:pPr>
            <a:r>
              <a:rPr lang="en-US" sz="1100" b="1" dirty="0">
                <a:solidFill>
                  <a:srgbClr val="FFC20E"/>
                </a:solidFill>
                <a:latin typeface="Calibri" pitchFamily="34" charset="0"/>
                <a:ea typeface="Calibri" pitchFamily="34" charset="-122"/>
                <a:cs typeface="Calibri" pitchFamily="34" charset="-120"/>
              </a:rPr>
              <a:t>FLORIAN</a:t>
            </a:r>
            <a:endParaRPr lang="en-US" sz="1100" dirty="0"/>
          </a:p>
        </p:txBody>
      </p:sp>
      <p:sp>
        <p:nvSpPr>
          <p:cNvPr id="81" name="s2-vis5"/>
          <p:cNvSpPr/>
          <p:nvPr/>
        </p:nvSpPr>
        <p:spPr>
          <a:xfrm>
            <a:off x="9683496" y="2505456"/>
            <a:ext cx="2020824" cy="932688"/>
          </a:xfrm>
          <a:prstGeom prst="roundRect">
            <a:avLst>
              <a:gd name="adj" fmla="val 3922"/>
            </a:avLst>
          </a:prstGeom>
          <a:solidFill>
            <a:srgbClr val="FFFFFF"/>
          </a:solidFill>
          <a:ln w="12700">
            <a:solidFill>
              <a:srgbClr val="FFFFFF"/>
            </a:solidFill>
            <a:prstDash val="solid"/>
          </a:ln>
        </p:spPr>
        <p:txBody>
          <a:bodyPr/>
          <a:lstStyle/>
          <a:p>
            <a:endParaRPr lang="fr-FR"/>
          </a:p>
        </p:txBody>
      </p:sp>
      <p:pic>
        <p:nvPicPr>
          <p:cNvPr id="88" name="s2-vis-helmet" descr="Casque Born to sell"/>
          <p:cNvPicPr>
            <a:picLocks noChangeAspect="1"/>
          </p:cNvPicPr>
          <p:nvPr/>
        </p:nvPicPr>
        <p:blipFill>
          <a:blip r:embed="rId4"/>
          <a:stretch>
            <a:fillRect/>
          </a:stretch>
        </p:blipFill>
        <p:spPr>
          <a:xfrm>
            <a:off x="909828" y="2532888"/>
            <a:ext cx="1170432" cy="868680"/>
          </a:xfrm>
          <a:prstGeom prst="rect">
            <a:avLst/>
          </a:prstGeom>
        </p:spPr>
      </p:pic>
      <p:pic>
        <p:nvPicPr>
          <p:cNvPr id="89" name="s2-vis-map" descr="Carte du réseau de distribution"/>
          <p:cNvPicPr>
            <a:picLocks noChangeAspect="1"/>
          </p:cNvPicPr>
          <p:nvPr/>
        </p:nvPicPr>
        <p:blipFill>
          <a:blip r:embed="rId5"/>
          <a:stretch>
            <a:fillRect/>
          </a:stretch>
        </p:blipFill>
        <p:spPr>
          <a:xfrm>
            <a:off x="3328416" y="2523744"/>
            <a:ext cx="932688" cy="896112"/>
          </a:xfrm>
          <a:prstGeom prst="rect">
            <a:avLst/>
          </a:prstGeom>
        </p:spPr>
      </p:pic>
      <p:graphicFrame>
        <p:nvGraphicFramePr>
          <p:cNvPr id="90" name="Chart 0"/>
          <p:cNvGraphicFramePr/>
          <p:nvPr/>
        </p:nvGraphicFramePr>
        <p:xfrm>
          <a:off x="5084064" y="2505456"/>
          <a:ext cx="2020824" cy="932688"/>
        </p:xfrm>
        <a:graphic>
          <a:graphicData uri="http://schemas.openxmlformats.org/drawingml/2006/chart">
            <c:chart xmlns:c="http://schemas.openxmlformats.org/drawingml/2006/chart" xmlns:r="http://schemas.openxmlformats.org/officeDocument/2006/relationships" r:id="rId6"/>
          </a:graphicData>
        </a:graphic>
      </p:graphicFrame>
      <p:pic>
        <p:nvPicPr>
          <p:cNvPr id="91" name="s2-vis-malt" descr="Bouteille malt"/>
          <p:cNvPicPr>
            <a:picLocks noChangeAspect="1"/>
          </p:cNvPicPr>
          <p:nvPr/>
        </p:nvPicPr>
        <p:blipFill>
          <a:blip r:embed="rId7"/>
          <a:stretch>
            <a:fillRect/>
          </a:stretch>
        </p:blipFill>
        <p:spPr>
          <a:xfrm>
            <a:off x="7703820" y="2532888"/>
            <a:ext cx="374538" cy="877824"/>
          </a:xfrm>
          <a:prstGeom prst="rect">
            <a:avLst/>
          </a:prstGeom>
        </p:spPr>
      </p:pic>
      <p:pic>
        <p:nvPicPr>
          <p:cNvPr id="92" name="s2-vis-gatanu" descr="Bouteille gatanu"/>
          <p:cNvPicPr>
            <a:picLocks noChangeAspect="1"/>
          </p:cNvPicPr>
          <p:nvPr/>
        </p:nvPicPr>
        <p:blipFill>
          <a:blip r:embed="rId8"/>
          <a:stretch>
            <a:fillRect/>
          </a:stretch>
        </p:blipFill>
        <p:spPr>
          <a:xfrm>
            <a:off x="8206740" y="2532888"/>
            <a:ext cx="260421" cy="877824"/>
          </a:xfrm>
          <a:prstGeom prst="rect">
            <a:avLst/>
          </a:prstGeom>
        </p:spPr>
      </p:pic>
      <p:pic>
        <p:nvPicPr>
          <p:cNvPr id="93" name="s2-vis-mist" descr="Bouteille mist"/>
          <p:cNvPicPr>
            <a:picLocks noChangeAspect="1"/>
          </p:cNvPicPr>
          <p:nvPr/>
        </p:nvPicPr>
        <p:blipFill>
          <a:blip r:embed="rId9"/>
          <a:stretch>
            <a:fillRect/>
          </a:stretch>
        </p:blipFill>
        <p:spPr>
          <a:xfrm>
            <a:off x="8663940" y="2532888"/>
            <a:ext cx="296509" cy="877824"/>
          </a:xfrm>
          <a:prstGeom prst="rect">
            <a:avLst/>
          </a:prstGeom>
        </p:spPr>
      </p:pic>
      <p:pic>
        <p:nvPicPr>
          <p:cNvPr id="94" name="s2-vis-event" descr="Village Coupe du Monde"/>
          <p:cNvPicPr>
            <a:picLocks noChangeAspect="1"/>
          </p:cNvPicPr>
          <p:nvPr/>
        </p:nvPicPr>
        <p:blipFill>
          <a:blip r:embed="rId10"/>
          <a:stretch>
            <a:fillRect/>
          </a:stretch>
        </p:blipFill>
        <p:spPr>
          <a:xfrm>
            <a:off x="9683496" y="2505456"/>
            <a:ext cx="2020824" cy="932688"/>
          </a:xfrm>
          <a:prstGeom prst="rect">
            <a:avLst/>
          </a:prstGeom>
        </p:spPr>
      </p:pic>
      <p:sp>
        <p:nvSpPr>
          <p:cNvPr id="95" name="banner"/>
          <p:cNvSpPr/>
          <p:nvPr/>
        </p:nvSpPr>
        <p:spPr>
          <a:xfrm>
            <a:off x="411480" y="5687568"/>
            <a:ext cx="11365992" cy="594360"/>
          </a:xfrm>
          <a:prstGeom prst="roundRect">
            <a:avLst>
              <a:gd name="adj" fmla="val 12308"/>
            </a:avLst>
          </a:prstGeom>
          <a:solidFill>
            <a:srgbClr val="0B1F4B"/>
          </a:solidFill>
          <a:ln w="12700">
            <a:solidFill>
              <a:srgbClr val="0B1F4B"/>
            </a:solidFill>
            <a:prstDash val="solid"/>
          </a:ln>
        </p:spPr>
        <p:txBody>
          <a:bodyPr/>
          <a:lstStyle/>
          <a:p>
            <a:endParaRPr lang="fr-FR"/>
          </a:p>
        </p:txBody>
      </p:sp>
      <p:sp>
        <p:nvSpPr>
          <p:cNvPr id="96" name="banner-bar"/>
          <p:cNvSpPr/>
          <p:nvPr/>
        </p:nvSpPr>
        <p:spPr>
          <a:xfrm>
            <a:off x="411480" y="5687568"/>
            <a:ext cx="128016" cy="594360"/>
          </a:xfrm>
          <a:prstGeom prst="rect">
            <a:avLst/>
          </a:prstGeom>
          <a:solidFill>
            <a:srgbClr val="FFC20E"/>
          </a:solidFill>
          <a:ln w="12700">
            <a:solidFill>
              <a:srgbClr val="FFC20E"/>
            </a:solidFill>
            <a:prstDash val="solid"/>
          </a:ln>
        </p:spPr>
        <p:txBody>
          <a:bodyPr/>
          <a:lstStyle/>
          <a:p>
            <a:endParaRPr lang="fr-FR"/>
          </a:p>
        </p:txBody>
      </p:sp>
      <p:sp>
        <p:nvSpPr>
          <p:cNvPr id="97" name="Text 87"/>
          <p:cNvSpPr txBox="1"/>
          <p:nvPr/>
        </p:nvSpPr>
        <p:spPr>
          <a:xfrm>
            <a:off x="731520" y="5687568"/>
            <a:ext cx="10927080" cy="594360"/>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ONE COMMERCIAL TEAM · ONE DIRECTION · ONE EXECUTION</a:t>
            </a:r>
            <a:r>
              <a:rPr lang="en-US" sz="1700" b="1" dirty="0">
                <a:solidFill>
                  <a:srgbClr val="FFFFFF"/>
                </a:solidFill>
                <a:latin typeface="Calibri" pitchFamily="34" charset="0"/>
                <a:ea typeface="Calibri" pitchFamily="34" charset="-122"/>
                <a:cs typeface="Calibri" pitchFamily="34" charset="-120"/>
              </a:rPr>
              <a:t>  —&gt;  From Brewery to Consumer…</a:t>
            </a:r>
            <a:endParaRPr lang="en-US" sz="1700" dirty="0"/>
          </a:p>
        </p:txBody>
      </p:sp>
      <p:sp>
        <p:nvSpPr>
          <p:cNvPr id="98" name="s2-plan1"/>
          <p:cNvSpPr txBox="1"/>
          <p:nvPr/>
        </p:nvSpPr>
        <p:spPr>
          <a:xfrm>
            <a:off x="502920" y="3529584"/>
            <a:ext cx="1984248" cy="1851789"/>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a:solidFill>
                  <a:srgbClr val="14213D"/>
                </a:solidFill>
                <a:latin typeface="Calibri"/>
              </a:rPr>
              <a:t>From activity to execution: 4 pillars</a:t>
            </a:r>
          </a:p>
          <a:p>
            <a:pPr>
              <a:spcAft>
                <a:spcPts val="500"/>
              </a:spcAft>
            </a:pPr>
            <a:r>
              <a:rPr sz="1050" b="1" dirty="0">
                <a:solidFill>
                  <a:srgbClr val="D6281E"/>
                </a:solidFill>
                <a:latin typeface="Calibri"/>
              </a:rPr>
              <a:t>2 · </a:t>
            </a:r>
            <a:r>
              <a:rPr sz="1050" dirty="0" err="1">
                <a:solidFill>
                  <a:srgbClr val="14213D"/>
                </a:solidFill>
                <a:latin typeface="Calibri"/>
              </a:rPr>
              <a:t>Proof: territories, interchangeability, KPI reviews and bonus</a:t>
            </a:r>
          </a:p>
          <a:p>
            <a:pPr>
              <a:spcAft>
                <a:spcPts val="500"/>
              </a:spcAft>
            </a:pPr>
            <a:r>
              <a:rPr sz="1050" b="1" dirty="0">
                <a:solidFill>
                  <a:srgbClr val="D6281E"/>
                </a:solidFill>
                <a:latin typeface="Calibri"/>
              </a:rPr>
              <a:t>3 · </a:t>
            </a:r>
            <a:r>
              <a:rPr sz="1050" dirty="0" err="1">
                <a:solidFill>
                  <a:srgbClr val="14213D"/>
                </a:solidFill>
                <a:latin typeface="Calibri"/>
              </a:rPr>
              <a:t>Price parity and 5 gaps to close</a:t>
            </a:r>
            <a:endParaRPr sz="1050" dirty="0">
              <a:solidFill>
                <a:srgbClr val="14213D"/>
              </a:solidFill>
              <a:latin typeface="Calibri"/>
            </a:endParaRPr>
          </a:p>
          <a:p>
            <a:pPr>
              <a:spcAft>
                <a:spcPts val="500"/>
              </a:spcAft>
            </a:pPr>
            <a:r>
              <a:rPr sz="1050" b="1" dirty="0">
                <a:solidFill>
                  <a:srgbClr val="D6281E"/>
                </a:solidFill>
                <a:latin typeface="Calibri"/>
              </a:rPr>
              <a:t>4 · </a:t>
            </a:r>
            <a:r>
              <a:rPr sz="1050" dirty="0">
                <a:solidFill>
                  <a:srgbClr val="14213D"/>
                </a:solidFill>
                <a:latin typeface="Calibri"/>
              </a:rPr>
              <a:t>Q4: consolidate and correct · 2027: invest where execution creates value</a:t>
            </a:r>
          </a:p>
        </p:txBody>
      </p:sp>
      <p:sp>
        <p:nvSpPr>
          <p:cNvPr id="99" name="s2-plan2"/>
          <p:cNvSpPr txBox="1"/>
          <p:nvPr/>
        </p:nvSpPr>
        <p:spPr>
          <a:xfrm>
            <a:off x="2802636" y="3529584"/>
            <a:ext cx="1984248" cy="1915909"/>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a:solidFill>
                  <a:srgbClr val="14213D"/>
                </a:solidFill>
                <a:latin typeface="Calibri"/>
              </a:rPr>
              <a:t>Three rules: cover, price, sell-out</a:t>
            </a:r>
          </a:p>
          <a:p>
            <a:pPr>
              <a:spcAft>
                <a:spcPts val="500"/>
              </a:spcAft>
            </a:pPr>
            <a:r>
              <a:rPr sz="1050" b="1" dirty="0">
                <a:solidFill>
                  <a:srgbClr val="D6281E"/>
                </a:solidFill>
                <a:latin typeface="Calibri"/>
              </a:rPr>
              <a:t>2 · </a:t>
            </a:r>
            <a:r>
              <a:rPr sz="1050" dirty="0">
                <a:solidFill>
                  <a:srgbClr val="14213D"/>
                </a:solidFill>
                <a:latin typeface="Calibri"/>
              </a:rPr>
              <a:t>Coverage: mapping, redistricting</a:t>
            </a:r>
          </a:p>
          <a:p>
            <a:pPr>
              <a:spcAft>
                <a:spcPts val="500"/>
              </a:spcAft>
            </a:pPr>
            <a:r>
              <a:rPr sz="1050" b="1" dirty="0">
                <a:solidFill>
                  <a:srgbClr val="D6281E"/>
                </a:solidFill>
                <a:latin typeface="Calibri"/>
              </a:rPr>
              <a:t>3 · </a:t>
            </a:r>
            <a:r>
              <a:rPr sz="1050" dirty="0">
                <a:solidFill>
                  <a:srgbClr val="14213D"/>
                </a:solidFill>
                <a:latin typeface="Calibri"/>
              </a:rPr>
              <a:t>Price: support in return for discipline</a:t>
            </a:r>
          </a:p>
          <a:p>
            <a:pPr>
              <a:spcAft>
                <a:spcPts val="500"/>
              </a:spcAft>
            </a:pPr>
            <a:r>
              <a:rPr sz="1050" b="1" dirty="0">
                <a:solidFill>
                  <a:srgbClr val="D6281E"/>
                </a:solidFill>
                <a:latin typeface="Calibri"/>
              </a:rPr>
              <a:t>4 · </a:t>
            </a:r>
            <a:r>
              <a:rPr sz="1050" dirty="0">
                <a:solidFill>
                  <a:srgbClr val="14213D"/>
                </a:solidFill>
                <a:latin typeface="Calibri"/>
              </a:rPr>
              <a:t>Sell-out: interchangeability, Odoo, EBM</a:t>
            </a:r>
          </a:p>
          <a:p>
            <a:pPr>
              <a:spcAft>
                <a:spcPts val="500"/>
              </a:spcAft>
            </a:pPr>
            <a:r>
              <a:rPr sz="1050" b="1" dirty="0">
                <a:solidFill>
                  <a:srgbClr val="D6281E"/>
                </a:solidFill>
                <a:latin typeface="Calibri"/>
              </a:rPr>
              <a:t>5 · </a:t>
            </a:r>
            <a:r>
              <a:rPr sz="1050" dirty="0" err="1">
                <a:solidFill>
                  <a:srgbClr val="14213D"/>
                </a:solidFill>
                <a:latin typeface="Calibri"/>
              </a:rPr>
              <a:t>Next steps and decisions (2027 RTM)</a:t>
            </a:r>
          </a:p>
        </p:txBody>
      </p:sp>
      <p:sp>
        <p:nvSpPr>
          <p:cNvPr id="100" name="s2-plan3"/>
          <p:cNvSpPr txBox="1"/>
          <p:nvPr/>
        </p:nvSpPr>
        <p:spPr>
          <a:xfrm>
            <a:off x="5102352" y="3529584"/>
            <a:ext cx="1984248" cy="1690206"/>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err="1">
                <a:solidFill>
                  <a:srgbClr val="14213D"/>
                </a:solidFill>
                <a:latin typeface="Calibri"/>
              </a:rPr>
              <a:t>Digital foundation: Odoo adoption</a:t>
            </a:r>
          </a:p>
          <a:p>
            <a:pPr>
              <a:spcAft>
                <a:spcPts val="500"/>
              </a:spcAft>
            </a:pPr>
            <a:r>
              <a:rPr sz="1050" b="1" dirty="0">
                <a:solidFill>
                  <a:srgbClr val="D6281E"/>
                </a:solidFill>
                <a:latin typeface="Calibri"/>
              </a:rPr>
              <a:t>2 · </a:t>
            </a:r>
            <a:r>
              <a:rPr sz="1050" dirty="0" err="1">
                <a:solidFill>
                  <a:srgbClr val="14213D"/>
                </a:solidFill>
                <a:latin typeface="Calibri"/>
              </a:rPr>
              <a:t>Data quality and sell-out ratio</a:t>
            </a:r>
          </a:p>
          <a:p>
            <a:pPr>
              <a:spcAft>
                <a:spcPts val="500"/>
              </a:spcAft>
            </a:pPr>
            <a:r>
              <a:rPr sz="1050" b="1" dirty="0">
                <a:solidFill>
                  <a:srgbClr val="D6281E"/>
                </a:solidFill>
                <a:latin typeface="Calibri"/>
              </a:rPr>
              <a:t>3 · </a:t>
            </a:r>
            <a:r>
              <a:rPr sz="1050" dirty="0">
                <a:solidFill>
                  <a:srgbClr val="14213D"/>
                </a:solidFill>
                <a:latin typeface="Calibri"/>
              </a:rPr>
              <a:t>CIS certification and EBM onboarding of each depot</a:t>
            </a:r>
          </a:p>
          <a:p>
            <a:pPr>
              <a:spcAft>
                <a:spcPts val="500"/>
              </a:spcAft>
            </a:pPr>
            <a:r>
              <a:rPr sz="1050" b="1" dirty="0">
                <a:solidFill>
                  <a:srgbClr val="D6281E"/>
                </a:solidFill>
                <a:latin typeface="Calibri"/>
              </a:rPr>
              <a:t>4 · </a:t>
            </a:r>
            <a:r>
              <a:rPr sz="1050" dirty="0">
                <a:solidFill>
                  <a:srgbClr val="14213D"/>
                </a:solidFill>
                <a:latin typeface="Calibri"/>
              </a:rPr>
              <a:t>2027 vision: reliability, continuity, 168.5 M RWF</a:t>
            </a:r>
          </a:p>
        </p:txBody>
      </p:sp>
      <p:sp>
        <p:nvSpPr>
          <p:cNvPr id="101" name="s2-plan4"/>
          <p:cNvSpPr txBox="1"/>
          <p:nvPr/>
        </p:nvSpPr>
        <p:spPr>
          <a:xfrm>
            <a:off x="7402068" y="3529584"/>
            <a:ext cx="1984248" cy="1528624"/>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a:solidFill>
                  <a:srgbClr val="14213D"/>
                </a:solidFill>
                <a:latin typeface="Calibri"/>
              </a:rPr>
              <a:t>Q3 review: availability, price, activations</a:t>
            </a:r>
          </a:p>
          <a:p>
            <a:pPr>
              <a:spcAft>
                <a:spcPts val="500"/>
              </a:spcAft>
            </a:pPr>
            <a:r>
              <a:rPr sz="1050" b="1" dirty="0">
                <a:solidFill>
                  <a:srgbClr val="D6281E"/>
                </a:solidFill>
                <a:latin typeface="Calibri"/>
              </a:rPr>
              <a:t>2 · </a:t>
            </a:r>
            <a:r>
              <a:rPr sz="1050" dirty="0">
                <a:solidFill>
                  <a:srgbClr val="14213D"/>
                </a:solidFill>
                <a:latin typeface="Calibri"/>
              </a:rPr>
              <a:t>Q4 plan: priority activities</a:t>
            </a:r>
          </a:p>
          <a:p>
            <a:pPr>
              <a:spcAft>
                <a:spcPts val="500"/>
              </a:spcAft>
            </a:pPr>
            <a:r>
              <a:rPr sz="1050" b="1" dirty="0">
                <a:solidFill>
                  <a:srgbClr val="D6281E"/>
                </a:solidFill>
                <a:latin typeface="Calibri"/>
              </a:rPr>
              <a:t>3 · </a:t>
            </a:r>
            <a:r>
              <a:rPr sz="1050" dirty="0">
                <a:solidFill>
                  <a:srgbClr val="14213D"/>
                </a:solidFill>
                <a:latin typeface="Calibri"/>
              </a:rPr>
              <a:t>Winning in 2027: Skol Malt, Virunga, Gatanu</a:t>
            </a:r>
          </a:p>
          <a:p>
            <a:pPr>
              <a:spcAft>
                <a:spcPts val="500"/>
              </a:spcAft>
            </a:pPr>
            <a:r>
              <a:rPr sz="1050" b="1" dirty="0">
                <a:solidFill>
                  <a:srgbClr val="D6281E"/>
                </a:solidFill>
                <a:latin typeface="Calibri"/>
              </a:rPr>
              <a:t>4 · </a:t>
            </a:r>
            <a:r>
              <a:rPr sz="1050" dirty="0">
                <a:solidFill>
                  <a:srgbClr val="14213D"/>
                </a:solidFill>
                <a:latin typeface="Calibri"/>
              </a:rPr>
              <a:t>2027 budget by SKU, brand, activity</a:t>
            </a:r>
          </a:p>
        </p:txBody>
      </p:sp>
      <p:sp>
        <p:nvSpPr>
          <p:cNvPr id="102" name="s2-plan5"/>
          <p:cNvSpPr txBox="1"/>
          <p:nvPr/>
        </p:nvSpPr>
        <p:spPr>
          <a:xfrm>
            <a:off x="9701784" y="3529584"/>
            <a:ext cx="1984248" cy="1528624"/>
          </a:xfrm>
          <a:prstGeom prst="rect">
            <a:avLst/>
          </a:prstGeom>
          <a:noFill/>
        </p:spPr>
        <p:txBody>
          <a:bodyPr wrap="square" lIns="0" tIns="0" rIns="0" bIns="0" anchor="t">
            <a:spAutoFit/>
          </a:bodyPr>
          <a:lstStyle/>
          <a:p>
            <a:pPr>
              <a:spcAft>
                <a:spcPts val="400"/>
              </a:spcAft>
            </a:pPr>
            <a:r>
              <a:rPr sz="1000" b="1" dirty="0">
                <a:solidFill>
                  <a:srgbClr val="D6281E"/>
                </a:solidFill>
                <a:latin typeface="Calibri"/>
              </a:rPr>
              <a:t>PLAN</a:t>
            </a:r>
          </a:p>
          <a:p>
            <a:pPr>
              <a:spcAft>
                <a:spcPts val="500"/>
              </a:spcAft>
            </a:pPr>
            <a:r>
              <a:rPr sz="1050" b="1" dirty="0">
                <a:solidFill>
                  <a:srgbClr val="D6281E"/>
                </a:solidFill>
                <a:latin typeface="Calibri"/>
              </a:rPr>
              <a:t>1 · </a:t>
            </a:r>
            <a:r>
              <a:rPr sz="1050" dirty="0">
                <a:solidFill>
                  <a:srgbClr val="14213D"/>
                </a:solidFill>
                <a:latin typeface="Calibri"/>
              </a:rPr>
              <a:t>Q3 review: World Cup Village, RPL, Reminisce</a:t>
            </a:r>
          </a:p>
          <a:p>
            <a:pPr>
              <a:spcAft>
                <a:spcPts val="500"/>
              </a:spcAft>
            </a:pPr>
            <a:r>
              <a:rPr sz="1050" b="1" dirty="0">
                <a:solidFill>
                  <a:srgbClr val="D6281E"/>
                </a:solidFill>
                <a:latin typeface="Calibri"/>
              </a:rPr>
              <a:t>2 · </a:t>
            </a:r>
            <a:r>
              <a:rPr sz="1050" dirty="0">
                <a:solidFill>
                  <a:srgbClr val="14213D"/>
                </a:solidFill>
                <a:latin typeface="Calibri"/>
              </a:rPr>
              <a:t>Q4 plan: RPL, Reminisce 3, …</a:t>
            </a:r>
          </a:p>
          <a:p>
            <a:pPr>
              <a:spcAft>
                <a:spcPts val="500"/>
              </a:spcAft>
            </a:pPr>
            <a:r>
              <a:rPr sz="1050" b="1" dirty="0">
                <a:solidFill>
                  <a:srgbClr val="D6281E"/>
                </a:solidFill>
                <a:latin typeface="Calibri"/>
              </a:rPr>
              <a:t>3 · </a:t>
            </a:r>
            <a:r>
              <a:rPr sz="1050" dirty="0">
                <a:solidFill>
                  <a:srgbClr val="14213D"/>
                </a:solidFill>
                <a:latin typeface="Calibri"/>
              </a:rPr>
              <a:t>2027: own production, compliance, ROI</a:t>
            </a:r>
          </a:p>
          <a:p>
            <a:pPr>
              <a:spcAft>
                <a:spcPts val="500"/>
              </a:spcAft>
            </a:pPr>
            <a:r>
              <a:rPr sz="1050" b="1" dirty="0">
                <a:solidFill>
                  <a:srgbClr val="D6281E"/>
                </a:solidFill>
                <a:latin typeface="Calibri"/>
              </a:rPr>
              <a:t>4 · </a:t>
            </a:r>
            <a:r>
              <a:rPr sz="1050" dirty="0" err="1">
                <a:solidFill>
                  <a:srgbClr val="14213D"/>
                </a:solidFill>
                <a:latin typeface="Calibri"/>
              </a:rPr>
              <a:t>Brand strategy and 2027 CAPEX</a:t>
            </a:r>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3917290" cy="256032"/>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3" name="Text 1"/>
          <p:cNvSpPr txBox="1"/>
          <p:nvPr/>
        </p:nvSpPr>
        <p:spPr>
          <a:xfrm>
            <a:off x="411480" y="256032"/>
            <a:ext cx="3917290"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 · 2027: AMBITION AND CONDITIONS FOR SUCCESS</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760,583 hL local, or 63 k hL/month</a:t>
            </a:r>
            <a:endParaRPr lang="en-US" sz="2800" dirty="0"/>
          </a:p>
        </p:txBody>
      </p:sp>
      <p:sp>
        <p:nvSpPr>
          <p:cNvPr id="6" name="s3-vol"/>
          <p:cNvSpPr/>
          <p:nvPr/>
        </p:nvSpPr>
        <p:spPr>
          <a:xfrm>
            <a:off x="411480" y="1371600"/>
            <a:ext cx="2788920" cy="868680"/>
          </a:xfrm>
          <a:prstGeom prst="roundRect">
            <a:avLst>
              <a:gd name="adj" fmla="val 8421"/>
            </a:avLst>
          </a:prstGeom>
          <a:solidFill>
            <a:srgbClr val="0B1F4B"/>
          </a:solidFill>
          <a:ln w="12700">
            <a:solidFill>
              <a:srgbClr val="0B1F4B"/>
            </a:solidFill>
            <a:prstDash val="solid"/>
          </a:ln>
        </p:spPr>
        <p:txBody>
          <a:bodyPr/>
          <a:lstStyle/>
          <a:p>
            <a:endParaRPr lang="fr-FR"/>
          </a:p>
        </p:txBody>
      </p:sp>
      <p:sp>
        <p:nvSpPr>
          <p:cNvPr id="7" name="Text 4"/>
          <p:cNvSpPr txBox="1"/>
          <p:nvPr/>
        </p:nvSpPr>
        <p:spPr>
          <a:xfrm>
            <a:off x="548640" y="1389888"/>
            <a:ext cx="2560320" cy="502920"/>
          </a:xfrm>
          <a:prstGeom prst="rect">
            <a:avLst/>
          </a:prstGeom>
          <a:noFill/>
          <a:ln/>
        </p:spPr>
        <p:txBody>
          <a:bodyPr wrap="square" lIns="0" tIns="0" rIns="0" bIns="0" rtlCol="0" anchor="ctr"/>
          <a:lstStyle/>
          <a:p>
            <a:pPr marL="0" indent="0">
              <a:buNone/>
            </a:pPr>
            <a:r>
              <a:rPr lang="en-US" sz="2450" b="1" dirty="0">
                <a:solidFill>
                  <a:srgbClr val="FFC20E"/>
                </a:solidFill>
                <a:latin typeface="Calibri" pitchFamily="34" charset="0"/>
                <a:ea typeface="Calibri" pitchFamily="34" charset="-122"/>
                <a:cs typeface="Calibri" pitchFamily="34" charset="-120"/>
              </a:rPr>
              <a:t>760,583 hL</a:t>
            </a:r>
            <a:r>
              <a:rPr lang="en-US" sz="1300" b="1" dirty="0">
                <a:solidFill>
                  <a:srgbClr val="FFFFFF"/>
                </a:solidFill>
                <a:latin typeface="Calibri" pitchFamily="34" charset="0"/>
                <a:ea typeface="Calibri" pitchFamily="34" charset="-122"/>
                <a:cs typeface="Calibri" pitchFamily="34" charset="-120"/>
              </a:rPr>
              <a:t>  LOCAL</a:t>
            </a:r>
            <a:endParaRPr lang="en-US" sz="1550" dirty="0"/>
          </a:p>
        </p:txBody>
      </p:sp>
      <p:sp>
        <p:nvSpPr>
          <p:cNvPr id="8" name="Text 5"/>
          <p:cNvSpPr txBox="1"/>
          <p:nvPr/>
        </p:nvSpPr>
        <p:spPr>
          <a:xfrm>
            <a:off x="548640" y="1874520"/>
            <a:ext cx="2560320" cy="347472"/>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+9.7% vs 2026 forecast landing (693,619 hL) · avg 63.4 k/month · Dec peak: 68.6 k</a:t>
            </a:r>
            <a:endParaRPr lang="en-US" sz="1050" dirty="0"/>
          </a:p>
        </p:txBody>
      </p:sp>
      <p:sp>
        <p:nvSpPr>
          <p:cNvPr id="9" name="s3-val"/>
          <p:cNvSpPr/>
          <p:nvPr/>
        </p:nvSpPr>
        <p:spPr>
          <a:xfrm>
            <a:off x="3310128" y="1371600"/>
            <a:ext cx="2862072" cy="868680"/>
          </a:xfrm>
          <a:prstGeom prst="roundRect">
            <a:avLst>
              <a:gd name="adj" fmla="val 8421"/>
            </a:avLst>
          </a:prstGeom>
          <a:solidFill>
            <a:srgbClr val="FFF1BF"/>
          </a:solidFill>
          <a:ln w="12700">
            <a:solidFill>
              <a:srgbClr val="FFF1BF"/>
            </a:solidFill>
            <a:prstDash val="solid"/>
          </a:ln>
        </p:spPr>
        <p:txBody>
          <a:bodyPr/>
          <a:lstStyle/>
          <a:p>
            <a:endParaRPr lang="fr-FR"/>
          </a:p>
        </p:txBody>
      </p:sp>
      <p:sp>
        <p:nvSpPr>
          <p:cNvPr id="10" name="Text 7"/>
          <p:cNvSpPr txBox="1"/>
          <p:nvPr/>
        </p:nvSpPr>
        <p:spPr>
          <a:xfrm>
            <a:off x="3429000" y="1371600"/>
            <a:ext cx="2697480" cy="86868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945,756 hL</a:t>
            </a:r>
            <a:endParaRPr lang="en-US" sz="1550" dirty="0"/>
          </a:p>
          <a:p>
            <a:pPr marL="0" indent="0">
              <a:buNone/>
            </a:pPr>
            <a:r>
              <a:rPr lang="en-US" sz="1050" b="1" dirty="0">
                <a:solidFill>
                  <a:srgbClr val="D6281E"/>
                </a:solidFill>
                <a:latin typeface="Calibri" pitchFamily="34" charset="0"/>
                <a:ea typeface="Calibri" pitchFamily="34" charset="-122"/>
                <a:cs typeface="Calibri" pitchFamily="34" charset="-120"/>
              </a:rPr>
              <a:t>LOCAL + EXPORT · +7.4% vs 2026 landing (880,724 hL) · incl. export 185,173 hL (19.6%)</a:t>
            </a:r>
            <a:endParaRPr lang="en-US" sz="1550" dirty="0"/>
          </a:p>
        </p:txBody>
      </p:sp>
      <p:sp>
        <p:nvSpPr>
          <p:cNvPr id="11" name="s3-brand1"/>
          <p:cNvSpPr/>
          <p:nvPr/>
        </p:nvSpPr>
        <p:spPr>
          <a:xfrm>
            <a:off x="411480" y="2350008"/>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12" name="s3-img1" descr="Bouteille gatanu"/>
          <p:cNvPicPr>
            <a:picLocks noChangeAspect="1"/>
          </p:cNvPicPr>
          <p:nvPr/>
        </p:nvPicPr>
        <p:blipFill>
          <a:blip r:embed="rId4"/>
          <a:stretch>
            <a:fillRect/>
          </a:stretch>
        </p:blipFill>
        <p:spPr>
          <a:xfrm>
            <a:off x="475488" y="2368296"/>
            <a:ext cx="151912" cy="512064"/>
          </a:xfrm>
          <a:prstGeom prst="rect">
            <a:avLst/>
          </a:prstGeom>
        </p:spPr>
      </p:pic>
      <p:sp>
        <p:nvSpPr>
          <p:cNvPr id="13" name="Text 9"/>
          <p:cNvSpPr txBox="1"/>
          <p:nvPr/>
        </p:nvSpPr>
        <p:spPr>
          <a:xfrm>
            <a:off x="960120" y="2368296"/>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GATANU</a:t>
            </a:r>
            <a:endParaRPr lang="en-US" sz="1150" dirty="0"/>
          </a:p>
        </p:txBody>
      </p:sp>
      <p:sp>
        <p:nvSpPr>
          <p:cNvPr id="14" name="Text 10"/>
          <p:cNvSpPr txBox="1"/>
          <p:nvPr/>
        </p:nvSpPr>
        <p:spPr>
          <a:xfrm>
            <a:off x="960120" y="2587752"/>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263,407 hL</a:t>
            </a:r>
            <a:endParaRPr lang="en-US" sz="1800" dirty="0"/>
          </a:p>
        </p:txBody>
      </p:sp>
      <p:sp>
        <p:nvSpPr>
          <p:cNvPr id="15" name="s3-track1"/>
          <p:cNvSpPr/>
          <p:nvPr/>
        </p:nvSpPr>
        <p:spPr>
          <a:xfrm>
            <a:off x="2697480" y="2459736"/>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16" name="s3-fill1"/>
          <p:cNvSpPr/>
          <p:nvPr/>
        </p:nvSpPr>
        <p:spPr>
          <a:xfrm>
            <a:off x="2697480" y="2459736"/>
            <a:ext cx="1186434" cy="146304"/>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17" name="Text 13"/>
          <p:cNvSpPr txBox="1"/>
          <p:nvPr/>
        </p:nvSpPr>
        <p:spPr>
          <a:xfrm>
            <a:off x="4114800" y="2386584"/>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34.6%</a:t>
            </a:r>
            <a:endParaRPr lang="en-US" sz="1300" dirty="0"/>
          </a:p>
        </p:txBody>
      </p:sp>
      <p:sp>
        <p:nvSpPr>
          <p:cNvPr id="18" name="Text 14"/>
          <p:cNvSpPr txBox="1"/>
          <p:nvPr/>
        </p:nvSpPr>
        <p:spPr>
          <a:xfrm>
            <a:off x="2697480" y="2642616"/>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+9.5% · volume base: accessibility, availability</a:t>
            </a:r>
            <a:endParaRPr lang="en-US" sz="1100" dirty="0"/>
          </a:p>
        </p:txBody>
      </p:sp>
      <p:sp>
        <p:nvSpPr>
          <p:cNvPr id="19" name="s3-brand2"/>
          <p:cNvSpPr/>
          <p:nvPr/>
        </p:nvSpPr>
        <p:spPr>
          <a:xfrm>
            <a:off x="411480" y="2953512"/>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20" name="s3-img2" descr="Bouteille malt"/>
          <p:cNvPicPr>
            <a:picLocks noChangeAspect="1"/>
          </p:cNvPicPr>
          <p:nvPr/>
        </p:nvPicPr>
        <p:blipFill>
          <a:blip r:embed="rId5"/>
          <a:stretch>
            <a:fillRect/>
          </a:stretch>
        </p:blipFill>
        <p:spPr>
          <a:xfrm>
            <a:off x="475488" y="2971800"/>
            <a:ext cx="218481" cy="512064"/>
          </a:xfrm>
          <a:prstGeom prst="rect">
            <a:avLst/>
          </a:prstGeom>
        </p:spPr>
      </p:pic>
      <p:sp>
        <p:nvSpPr>
          <p:cNvPr id="21" name="Text 16"/>
          <p:cNvSpPr txBox="1"/>
          <p:nvPr/>
        </p:nvSpPr>
        <p:spPr>
          <a:xfrm>
            <a:off x="960120" y="2971800"/>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SKOL MALT</a:t>
            </a:r>
            <a:endParaRPr lang="en-US" sz="1150" dirty="0"/>
          </a:p>
        </p:txBody>
      </p:sp>
      <p:sp>
        <p:nvSpPr>
          <p:cNvPr id="22" name="Text 17"/>
          <p:cNvSpPr txBox="1"/>
          <p:nvPr/>
        </p:nvSpPr>
        <p:spPr>
          <a:xfrm>
            <a:off x="960120" y="3191256"/>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242,716 hL</a:t>
            </a:r>
            <a:endParaRPr lang="en-US" sz="1800" dirty="0"/>
          </a:p>
        </p:txBody>
      </p:sp>
      <p:sp>
        <p:nvSpPr>
          <p:cNvPr id="23" name="s3-track2"/>
          <p:cNvSpPr/>
          <p:nvPr/>
        </p:nvSpPr>
        <p:spPr>
          <a:xfrm>
            <a:off x="2697480" y="3063240"/>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24" name="s3-fill2"/>
          <p:cNvSpPr/>
          <p:nvPr/>
        </p:nvSpPr>
        <p:spPr>
          <a:xfrm>
            <a:off x="2697480" y="3063240"/>
            <a:ext cx="1093851" cy="146304"/>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25" name="Text 20"/>
          <p:cNvSpPr txBox="1"/>
          <p:nvPr/>
        </p:nvSpPr>
        <p:spPr>
          <a:xfrm>
            <a:off x="4114800" y="2990088"/>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31.9%</a:t>
            </a:r>
            <a:endParaRPr lang="en-US" sz="1300" dirty="0"/>
          </a:p>
        </p:txBody>
      </p:sp>
      <p:sp>
        <p:nvSpPr>
          <p:cNvPr id="26" name="Text 21"/>
          <p:cNvSpPr txBox="1"/>
          <p:nvPr/>
        </p:nvSpPr>
        <p:spPr>
          <a:xfrm>
            <a:off x="2697480" y="3246120"/>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+2.8% · accessible local premium · football and RPL</a:t>
            </a:r>
            <a:endParaRPr lang="en-US" sz="1100" dirty="0"/>
          </a:p>
        </p:txBody>
      </p:sp>
      <p:sp>
        <p:nvSpPr>
          <p:cNvPr id="27" name="s3-brand3"/>
          <p:cNvSpPr/>
          <p:nvPr/>
        </p:nvSpPr>
        <p:spPr>
          <a:xfrm>
            <a:off x="411480" y="3557016"/>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28" name="s3-img3" descr="Bouteille mist"/>
          <p:cNvPicPr>
            <a:picLocks noChangeAspect="1"/>
          </p:cNvPicPr>
          <p:nvPr/>
        </p:nvPicPr>
        <p:blipFill>
          <a:blip r:embed="rId6"/>
          <a:stretch>
            <a:fillRect/>
          </a:stretch>
        </p:blipFill>
        <p:spPr>
          <a:xfrm>
            <a:off x="475488" y="3575304"/>
            <a:ext cx="172964" cy="512064"/>
          </a:xfrm>
          <a:prstGeom prst="rect">
            <a:avLst/>
          </a:prstGeom>
        </p:spPr>
      </p:pic>
      <p:sp>
        <p:nvSpPr>
          <p:cNvPr id="29" name="Text 23"/>
          <p:cNvSpPr txBox="1"/>
          <p:nvPr/>
        </p:nvSpPr>
        <p:spPr>
          <a:xfrm>
            <a:off x="960120" y="3575304"/>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VIRUNGA</a:t>
            </a:r>
            <a:endParaRPr lang="en-US" sz="1150" dirty="0"/>
          </a:p>
        </p:txBody>
      </p:sp>
      <p:sp>
        <p:nvSpPr>
          <p:cNvPr id="30" name="Text 24"/>
          <p:cNvSpPr txBox="1"/>
          <p:nvPr/>
        </p:nvSpPr>
        <p:spPr>
          <a:xfrm>
            <a:off x="960120" y="3794760"/>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151,032 hL</a:t>
            </a:r>
            <a:endParaRPr lang="en-US" sz="1800" dirty="0"/>
          </a:p>
        </p:txBody>
      </p:sp>
      <p:sp>
        <p:nvSpPr>
          <p:cNvPr id="31" name="s3-track3"/>
          <p:cNvSpPr/>
          <p:nvPr/>
        </p:nvSpPr>
        <p:spPr>
          <a:xfrm>
            <a:off x="2697480" y="3666744"/>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32" name="s3-fill3"/>
          <p:cNvSpPr/>
          <p:nvPr/>
        </p:nvSpPr>
        <p:spPr>
          <a:xfrm>
            <a:off x="2697480" y="3666744"/>
            <a:ext cx="682371" cy="146304"/>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33" name="Text 27"/>
          <p:cNvSpPr txBox="1"/>
          <p:nvPr/>
        </p:nvSpPr>
        <p:spPr>
          <a:xfrm>
            <a:off x="4114800" y="3593592"/>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19.9%</a:t>
            </a:r>
            <a:endParaRPr lang="en-US" sz="1300" dirty="0"/>
          </a:p>
        </p:txBody>
      </p:sp>
      <p:sp>
        <p:nvSpPr>
          <p:cNvPr id="34" name="Text 28"/>
          <p:cNvSpPr txBox="1"/>
          <p:nvPr/>
        </p:nvSpPr>
        <p:spPr>
          <a:xfrm>
            <a:off x="2697480" y="3849624"/>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+39.6%: the biggest bet (Mist 50 cl +64.5%)</a:t>
            </a:r>
            <a:endParaRPr lang="en-US" sz="1100" dirty="0"/>
          </a:p>
        </p:txBody>
      </p:sp>
      <p:sp>
        <p:nvSpPr>
          <p:cNvPr id="35" name="s3-brand4"/>
          <p:cNvSpPr/>
          <p:nvPr/>
        </p:nvSpPr>
        <p:spPr>
          <a:xfrm>
            <a:off x="411480" y="4160520"/>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36" name="s3-img4" descr="Bouteille panache"/>
          <p:cNvPicPr>
            <a:picLocks noChangeAspect="1"/>
          </p:cNvPicPr>
          <p:nvPr/>
        </p:nvPicPr>
        <p:blipFill>
          <a:blip r:embed="rId7"/>
          <a:stretch>
            <a:fillRect/>
          </a:stretch>
        </p:blipFill>
        <p:spPr>
          <a:xfrm>
            <a:off x="475488" y="4178808"/>
            <a:ext cx="139537" cy="512064"/>
          </a:xfrm>
          <a:prstGeom prst="rect">
            <a:avLst/>
          </a:prstGeom>
        </p:spPr>
      </p:pic>
      <p:sp>
        <p:nvSpPr>
          <p:cNvPr id="37" name="Text 30"/>
          <p:cNvSpPr txBox="1"/>
          <p:nvPr/>
        </p:nvSpPr>
        <p:spPr>
          <a:xfrm>
            <a:off x="960120" y="4178808"/>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PANACHÉ</a:t>
            </a:r>
            <a:endParaRPr lang="en-US" sz="1150" dirty="0"/>
          </a:p>
        </p:txBody>
      </p:sp>
      <p:sp>
        <p:nvSpPr>
          <p:cNvPr id="38" name="Text 31"/>
          <p:cNvSpPr txBox="1"/>
          <p:nvPr/>
        </p:nvSpPr>
        <p:spPr>
          <a:xfrm>
            <a:off x="960120" y="4398264"/>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102,229 hL</a:t>
            </a:r>
            <a:endParaRPr lang="en-US" sz="1800" dirty="0"/>
          </a:p>
        </p:txBody>
      </p:sp>
      <p:sp>
        <p:nvSpPr>
          <p:cNvPr id="39" name="s3-track4"/>
          <p:cNvSpPr/>
          <p:nvPr/>
        </p:nvSpPr>
        <p:spPr>
          <a:xfrm>
            <a:off x="2697480" y="4270248"/>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40" name="s3-fill4"/>
          <p:cNvSpPr/>
          <p:nvPr/>
        </p:nvSpPr>
        <p:spPr>
          <a:xfrm>
            <a:off x="2697480" y="4270248"/>
            <a:ext cx="459486" cy="146304"/>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41" name="Text 34"/>
          <p:cNvSpPr txBox="1"/>
          <p:nvPr/>
        </p:nvSpPr>
        <p:spPr>
          <a:xfrm>
            <a:off x="4114800" y="4197096"/>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13.4%</a:t>
            </a:r>
            <a:endParaRPr lang="en-US" sz="1300" dirty="0"/>
          </a:p>
        </p:txBody>
      </p:sp>
      <p:sp>
        <p:nvSpPr>
          <p:cNvPr id="42" name="Text 35"/>
          <p:cNvSpPr txBox="1"/>
          <p:nvPr/>
        </p:nvSpPr>
        <p:spPr>
          <a:xfrm>
            <a:off x="2697480" y="4453128"/>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−3.8% vs 2026 base · insufficient stock in September</a:t>
            </a:r>
            <a:endParaRPr lang="en-US" sz="1100" dirty="0"/>
          </a:p>
        </p:txBody>
      </p:sp>
      <p:sp>
        <p:nvSpPr>
          <p:cNvPr id="43" name="s3-c1"/>
          <p:cNvSpPr/>
          <p:nvPr/>
        </p:nvSpPr>
        <p:spPr>
          <a:xfrm>
            <a:off x="6309360" y="137160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44" name="s3-cbar1"/>
          <p:cNvSpPr/>
          <p:nvPr/>
        </p:nvSpPr>
        <p:spPr>
          <a:xfrm>
            <a:off x="6309360" y="1371600"/>
            <a:ext cx="109728" cy="804672"/>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45" name="Text 38"/>
          <p:cNvSpPr txBox="1"/>
          <p:nvPr/>
        </p:nvSpPr>
        <p:spPr>
          <a:xfrm>
            <a:off x="6510528" y="139903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1 · PRODUCTION vs TARGETS</a:t>
            </a:r>
            <a:endParaRPr lang="en-US" sz="1150" dirty="0"/>
          </a:p>
        </p:txBody>
      </p:sp>
      <p:sp>
        <p:nvSpPr>
          <p:cNvPr id="46" name="Text 39"/>
          <p:cNvSpPr txBox="1"/>
          <p:nvPr/>
        </p:nvSpPr>
        <p:spPr>
          <a:xfrm>
            <a:off x="6510528" y="1627632"/>
            <a:ext cx="5212080" cy="530352"/>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Yes: our 2 lines are under strain; mandatory maintenance and overhauls reduce capacity. No month (max 68.6 k) reaches Sep 2026 (74.5 k); with export, 78.8 k/month vs 78 k quoted capacity.</a:t>
            </a:r>
            <a:endParaRPr lang="en-US" sz="1150" dirty="0"/>
          </a:p>
        </p:txBody>
      </p:sp>
      <p:sp>
        <p:nvSpPr>
          <p:cNvPr id="47" name="s3-c2"/>
          <p:cNvSpPr/>
          <p:nvPr/>
        </p:nvSpPr>
        <p:spPr>
          <a:xfrm>
            <a:off x="6309360" y="224028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48" name="s3-cbar2"/>
          <p:cNvSpPr/>
          <p:nvPr/>
        </p:nvSpPr>
        <p:spPr>
          <a:xfrm>
            <a:off x="6309360" y="2240280"/>
            <a:ext cx="109728" cy="804672"/>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49" name="Text 42"/>
          <p:cNvSpPr txBox="1"/>
          <p:nvPr/>
        </p:nvSpPr>
        <p:spPr>
          <a:xfrm>
            <a:off x="6510528" y="226771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2 · PACKAGING</a:t>
            </a:r>
            <a:endParaRPr lang="en-US" sz="1150" dirty="0"/>
          </a:p>
        </p:txBody>
      </p:sp>
      <p:sp>
        <p:nvSpPr>
          <p:cNvPr id="50" name="Text 43"/>
          <p:cNvSpPr txBox="1"/>
          <p:nvPr/>
        </p:nvSpPr>
        <p:spPr>
          <a:xfrm>
            <a:off x="6510528" y="249631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Interchangeability under constraint / Returns determine the production schedule.</a:t>
            </a:r>
            <a:endParaRPr lang="en-US" sz="1150" dirty="0"/>
          </a:p>
        </p:txBody>
      </p:sp>
      <p:sp>
        <p:nvSpPr>
          <p:cNvPr id="51" name="s3-c3"/>
          <p:cNvSpPr/>
          <p:nvPr/>
        </p:nvSpPr>
        <p:spPr>
          <a:xfrm>
            <a:off x="6309360" y="310896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52" name="s3-cbar3"/>
          <p:cNvSpPr/>
          <p:nvPr/>
        </p:nvSpPr>
        <p:spPr>
          <a:xfrm>
            <a:off x="6309360" y="3108960"/>
            <a:ext cx="109728" cy="804672"/>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53" name="Text 46"/>
          <p:cNvSpPr txBox="1"/>
          <p:nvPr/>
        </p:nvSpPr>
        <p:spPr>
          <a:xfrm>
            <a:off x="6510528" y="313639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3 · DATA</a:t>
            </a:r>
            <a:endParaRPr lang="en-US" sz="1150" dirty="0"/>
          </a:p>
        </p:txBody>
      </p:sp>
      <p:sp>
        <p:nvSpPr>
          <p:cNvPr id="54" name="Text 47"/>
          <p:cNvSpPr txBox="1"/>
          <p:nvPr/>
        </p:nvSpPr>
        <p:spPr>
          <a:xfrm>
            <a:off x="6510528" y="336499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SAS tracking for the field, tracking of sell-in / sell-out gaps; P4P on sell-out; EBM: 156 depots to integrate in 2027</a:t>
            </a:r>
            <a:endParaRPr lang="en-US" sz="1150" dirty="0"/>
          </a:p>
        </p:txBody>
      </p:sp>
      <p:sp>
        <p:nvSpPr>
          <p:cNvPr id="55" name="s3-c4"/>
          <p:cNvSpPr/>
          <p:nvPr/>
        </p:nvSpPr>
        <p:spPr>
          <a:xfrm>
            <a:off x="6309360" y="397764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56" name="s3-cbar4"/>
          <p:cNvSpPr/>
          <p:nvPr/>
        </p:nvSpPr>
        <p:spPr>
          <a:xfrm>
            <a:off x="6309360" y="3977640"/>
            <a:ext cx="109728" cy="804672"/>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57" name="Text 50"/>
          <p:cNvSpPr txBox="1"/>
          <p:nvPr/>
        </p:nvSpPr>
        <p:spPr>
          <a:xfrm>
            <a:off x="6510528" y="400507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4 · OUR MANAGERS</a:t>
            </a:r>
            <a:endParaRPr lang="en-US" sz="1150" dirty="0"/>
          </a:p>
        </p:txBody>
      </p:sp>
      <p:sp>
        <p:nvSpPr>
          <p:cNvPr id="58" name="Text 51"/>
          <p:cNvSpPr txBox="1"/>
          <p:nvPr/>
        </p:nvSpPr>
        <p:spPr>
          <a:xfrm>
            <a:off x="6510528" y="423367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Awareness / Training on 3 axes: commercial finance, sales forecasting, data-driven decisions. Goal: run each territory and each department like a business unit. Take ownership.</a:t>
            </a:r>
            <a:endParaRPr lang="en-US" sz="1150" dirty="0"/>
          </a:p>
        </p:txBody>
      </p:sp>
      <p:sp>
        <p:nvSpPr>
          <p:cNvPr id="59" name="s3-lead"/>
          <p:cNvSpPr/>
          <p:nvPr/>
        </p:nvSpPr>
        <p:spPr>
          <a:xfrm>
            <a:off x="411480" y="4937760"/>
            <a:ext cx="1783080" cy="457200"/>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60" name="Text 53"/>
          <p:cNvSpPr txBox="1"/>
          <p:nvPr/>
        </p:nvSpPr>
        <p:spPr>
          <a:xfrm>
            <a:off x="411480" y="4937760"/>
            <a:ext cx="17830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2026 FOUNDATIONS → 2027 CONSOLIDATION</a:t>
            </a:r>
            <a:endParaRPr lang="en-US" sz="1100" dirty="0"/>
          </a:p>
        </p:txBody>
      </p:sp>
      <p:sp>
        <p:nvSpPr>
          <p:cNvPr id="61" name="s3-prio1"/>
          <p:cNvSpPr/>
          <p:nvPr/>
        </p:nvSpPr>
        <p:spPr>
          <a:xfrm>
            <a:off x="2258568"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62" name="Text 55"/>
          <p:cNvSpPr txBox="1"/>
          <p:nvPr/>
        </p:nvSpPr>
        <p:spPr>
          <a:xfrm>
            <a:off x="2258568"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VALUE CREATION</a:t>
            </a:r>
            <a:endParaRPr lang="en-US" sz="900" dirty="0"/>
          </a:p>
        </p:txBody>
      </p:sp>
      <p:sp>
        <p:nvSpPr>
          <p:cNvPr id="63" name="s3-prio2"/>
          <p:cNvSpPr/>
          <p:nvPr/>
        </p:nvSpPr>
        <p:spPr>
          <a:xfrm>
            <a:off x="3572691" y="4937760"/>
            <a:ext cx="1634163"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64" name="Text 57"/>
          <p:cNvSpPr txBox="1"/>
          <p:nvPr/>
        </p:nvSpPr>
        <p:spPr>
          <a:xfrm>
            <a:off x="3572691" y="4937760"/>
            <a:ext cx="1634163"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AVAILABILITY / PRODUCTION · NEW LINE</a:t>
            </a:r>
            <a:endParaRPr lang="en-US" sz="900" dirty="0"/>
          </a:p>
        </p:txBody>
      </p:sp>
      <p:sp>
        <p:nvSpPr>
          <p:cNvPr id="65" name="s3-prio3"/>
          <p:cNvSpPr/>
          <p:nvPr/>
        </p:nvSpPr>
        <p:spPr>
          <a:xfrm>
            <a:off x="5270863"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66" name="Text 59"/>
          <p:cNvSpPr txBox="1"/>
          <p:nvPr/>
        </p:nvSpPr>
        <p:spPr>
          <a:xfrm>
            <a:off x="5270863"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DISTRIBUTION / RTM</a:t>
            </a:r>
            <a:endParaRPr lang="en-US" sz="900" dirty="0"/>
          </a:p>
        </p:txBody>
      </p:sp>
      <p:sp>
        <p:nvSpPr>
          <p:cNvPr id="67" name="s3-prio4"/>
          <p:cNvSpPr/>
          <p:nvPr/>
        </p:nvSpPr>
        <p:spPr>
          <a:xfrm>
            <a:off x="6584986" y="4937760"/>
            <a:ext cx="1250115" cy="457200"/>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68" name="Text 61"/>
          <p:cNvSpPr txBox="1"/>
          <p:nvPr/>
        </p:nvSpPr>
        <p:spPr>
          <a:xfrm>
            <a:off x="6584986" y="4937760"/>
            <a:ext cx="1250115" cy="457200"/>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BRAND PRIORITIES</a:t>
            </a:r>
            <a:endParaRPr lang="en-US" sz="900" dirty="0"/>
          </a:p>
        </p:txBody>
      </p:sp>
      <p:sp>
        <p:nvSpPr>
          <p:cNvPr id="69" name="s3-prio5"/>
          <p:cNvSpPr/>
          <p:nvPr/>
        </p:nvSpPr>
        <p:spPr>
          <a:xfrm>
            <a:off x="7899110" y="4937760"/>
            <a:ext cx="1250115"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70" name="Text 63"/>
          <p:cNvSpPr txBox="1"/>
          <p:nvPr/>
        </p:nvSpPr>
        <p:spPr>
          <a:xfrm>
            <a:off x="7899110"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RPL / BRAND ACTIVATIONS</a:t>
            </a:r>
            <a:endParaRPr lang="en-US" sz="900" dirty="0"/>
          </a:p>
        </p:txBody>
      </p:sp>
      <p:sp>
        <p:nvSpPr>
          <p:cNvPr id="71" name="s3-prio6"/>
          <p:cNvSpPr/>
          <p:nvPr/>
        </p:nvSpPr>
        <p:spPr>
          <a:xfrm>
            <a:off x="9213233"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72" name="Text 65"/>
          <p:cNvSpPr txBox="1"/>
          <p:nvPr/>
        </p:nvSpPr>
        <p:spPr>
          <a:xfrm>
            <a:off x="9213233"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DIGITALISATION / ODOO</a:t>
            </a:r>
            <a:endParaRPr lang="en-US" sz="900" dirty="0"/>
          </a:p>
        </p:txBody>
      </p:sp>
      <p:sp>
        <p:nvSpPr>
          <p:cNvPr id="73" name="s3-prio7"/>
          <p:cNvSpPr/>
          <p:nvPr/>
        </p:nvSpPr>
        <p:spPr>
          <a:xfrm>
            <a:off x="10527357" y="4937760"/>
            <a:ext cx="1250115"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74" name="Text 67"/>
          <p:cNvSpPr txBox="1"/>
          <p:nvPr/>
        </p:nvSpPr>
        <p:spPr>
          <a:xfrm>
            <a:off x="10527357"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TRAINING / ACCOUNTABILITY</a:t>
            </a:r>
            <a:endParaRPr lang="en-US" sz="900" dirty="0"/>
          </a:p>
        </p:txBody>
      </p:sp>
      <p:sp>
        <p:nvSpPr>
          <p:cNvPr id="75" name="banner"/>
          <p:cNvSpPr/>
          <p:nvPr/>
        </p:nvSpPr>
        <p:spPr>
          <a:xfrm>
            <a:off x="411480" y="5513832"/>
            <a:ext cx="11365992" cy="768096"/>
          </a:xfrm>
          <a:prstGeom prst="roundRect">
            <a:avLst>
              <a:gd name="adj" fmla="val 9524"/>
            </a:avLst>
          </a:prstGeom>
          <a:solidFill>
            <a:srgbClr val="0B1F4B"/>
          </a:solidFill>
          <a:ln w="12700">
            <a:solidFill>
              <a:srgbClr val="0B1F4B"/>
            </a:solidFill>
            <a:prstDash val="solid"/>
          </a:ln>
        </p:spPr>
        <p:txBody>
          <a:bodyPr/>
          <a:lstStyle/>
          <a:p>
            <a:endParaRPr lang="fr-FR"/>
          </a:p>
        </p:txBody>
      </p:sp>
      <p:sp>
        <p:nvSpPr>
          <p:cNvPr id="76" name="banner-bar"/>
          <p:cNvSpPr/>
          <p:nvPr/>
        </p:nvSpPr>
        <p:spPr>
          <a:xfrm>
            <a:off x="411480" y="5513832"/>
            <a:ext cx="128016" cy="768096"/>
          </a:xfrm>
          <a:prstGeom prst="rect">
            <a:avLst/>
          </a:prstGeom>
          <a:solidFill>
            <a:srgbClr val="FFC20E"/>
          </a:solidFill>
          <a:ln w="12700">
            <a:solidFill>
              <a:srgbClr val="FFC20E"/>
            </a:solidFill>
            <a:prstDash val="solid"/>
          </a:ln>
        </p:spPr>
        <p:txBody>
          <a:bodyPr/>
          <a:lstStyle/>
          <a:p>
            <a:endParaRPr lang="fr-FR"/>
          </a:p>
        </p:txBody>
      </p:sp>
      <p:sp>
        <p:nvSpPr>
          <p:cNvPr id="77" name="Text 70"/>
          <p:cNvSpPr txBox="1"/>
          <p:nvPr/>
        </p:nvSpPr>
        <p:spPr>
          <a:xfrm>
            <a:off x="731520" y="5513832"/>
            <a:ext cx="10927080" cy="768096"/>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“Our ambition cannot durably exceed our capacity to execute.”</a:t>
            </a:r>
            <a:endParaRPr lang="en-US" sz="1700" dirty="0"/>
          </a:p>
          <a:p>
            <a:pPr marL="0" indent="0">
              <a:buNone/>
            </a:pPr>
            <a:r>
              <a:rPr lang="en-US" sz="1450" b="1" dirty="0">
                <a:solidFill>
                  <a:srgbClr val="FFFFFF"/>
                </a:solidFill>
                <a:latin typeface="Calibri" pitchFamily="34" charset="0"/>
                <a:ea typeface="Calibri" pitchFamily="34" charset="-122"/>
                <a:cs typeface="Calibri" pitchFamily="34" charset="-120"/>
              </a:rPr>
              <a:t>Targets under production constraint…</a:t>
            </a:r>
            <a:endParaRPr lang="en-US" sz="1700" dirty="0"/>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480560" cy="256032"/>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3" name="Text 1"/>
          <p:cNvSpPr txBox="1"/>
          <p:nvPr/>
        </p:nvSpPr>
        <p:spPr>
          <a:xfrm>
            <a:off x="411480" y="256032"/>
            <a:ext cx="4480560"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5 · 2027: THE MONTH-BY-MONTH BUDGET — LOCAL FIRST</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Budget bounded by production</a:t>
            </a:r>
            <a:endParaRPr lang="en-US" sz="2800" dirty="0"/>
          </a:p>
        </p:txBody>
      </p:sp>
      <p:graphicFrame>
        <p:nvGraphicFramePr>
          <p:cNvPr id="6" name="s3b-table"/>
          <p:cNvGraphicFramePr>
            <a:graphicFrameLocks noGrp="1"/>
          </p:cNvGraphicFramePr>
          <p:nvPr/>
        </p:nvGraphicFramePr>
        <p:xfrm>
          <a:off x="411480" y="1325880"/>
          <a:ext cx="11365992" cy="3115056"/>
        </p:xfrm>
        <a:graphic>
          <a:graphicData uri="http://schemas.openxmlformats.org/drawingml/2006/table">
            <a:tbl>
              <a:tblPr/>
              <a:tblGrid>
                <a:gridCol w="1920240">
                  <a:extLst>
                    <a:ext uri="{9D8B030D-6E8A-4147-A177-3AD203B41FA5}">
                      <a16:colId xmlns:a16="http://schemas.microsoft.com/office/drawing/2014/main" val="20000"/>
                    </a:ext>
                  </a:extLst>
                </a:gridCol>
                <a:gridCol w="630936">
                  <a:extLst>
                    <a:ext uri="{9D8B030D-6E8A-4147-A177-3AD203B41FA5}">
                      <a16:colId xmlns:a16="http://schemas.microsoft.com/office/drawing/2014/main" val="20001"/>
                    </a:ext>
                  </a:extLst>
                </a:gridCol>
                <a:gridCol w="630936">
                  <a:extLst>
                    <a:ext uri="{9D8B030D-6E8A-4147-A177-3AD203B41FA5}">
                      <a16:colId xmlns:a16="http://schemas.microsoft.com/office/drawing/2014/main" val="20002"/>
                    </a:ext>
                  </a:extLst>
                </a:gridCol>
                <a:gridCol w="630936">
                  <a:extLst>
                    <a:ext uri="{9D8B030D-6E8A-4147-A177-3AD203B41FA5}">
                      <a16:colId xmlns:a16="http://schemas.microsoft.com/office/drawing/2014/main" val="20003"/>
                    </a:ext>
                  </a:extLst>
                </a:gridCol>
                <a:gridCol w="630936">
                  <a:extLst>
                    <a:ext uri="{9D8B030D-6E8A-4147-A177-3AD203B41FA5}">
                      <a16:colId xmlns:a16="http://schemas.microsoft.com/office/drawing/2014/main" val="20004"/>
                    </a:ext>
                  </a:extLst>
                </a:gridCol>
                <a:gridCol w="630936">
                  <a:extLst>
                    <a:ext uri="{9D8B030D-6E8A-4147-A177-3AD203B41FA5}">
                      <a16:colId xmlns:a16="http://schemas.microsoft.com/office/drawing/2014/main" val="20005"/>
                    </a:ext>
                  </a:extLst>
                </a:gridCol>
                <a:gridCol w="630936">
                  <a:extLst>
                    <a:ext uri="{9D8B030D-6E8A-4147-A177-3AD203B41FA5}">
                      <a16:colId xmlns:a16="http://schemas.microsoft.com/office/drawing/2014/main" val="20006"/>
                    </a:ext>
                  </a:extLst>
                </a:gridCol>
                <a:gridCol w="630936">
                  <a:extLst>
                    <a:ext uri="{9D8B030D-6E8A-4147-A177-3AD203B41FA5}">
                      <a16:colId xmlns:a16="http://schemas.microsoft.com/office/drawing/2014/main" val="20007"/>
                    </a:ext>
                  </a:extLst>
                </a:gridCol>
                <a:gridCol w="630936">
                  <a:extLst>
                    <a:ext uri="{9D8B030D-6E8A-4147-A177-3AD203B41FA5}">
                      <a16:colId xmlns:a16="http://schemas.microsoft.com/office/drawing/2014/main" val="20008"/>
                    </a:ext>
                  </a:extLst>
                </a:gridCol>
                <a:gridCol w="630936">
                  <a:extLst>
                    <a:ext uri="{9D8B030D-6E8A-4147-A177-3AD203B41FA5}">
                      <a16:colId xmlns:a16="http://schemas.microsoft.com/office/drawing/2014/main" val="20009"/>
                    </a:ext>
                  </a:extLst>
                </a:gridCol>
                <a:gridCol w="630936">
                  <a:extLst>
                    <a:ext uri="{9D8B030D-6E8A-4147-A177-3AD203B41FA5}">
                      <a16:colId xmlns:a16="http://schemas.microsoft.com/office/drawing/2014/main" val="20010"/>
                    </a:ext>
                  </a:extLst>
                </a:gridCol>
                <a:gridCol w="630936">
                  <a:extLst>
                    <a:ext uri="{9D8B030D-6E8A-4147-A177-3AD203B41FA5}">
                      <a16:colId xmlns:a16="http://schemas.microsoft.com/office/drawing/2014/main" val="20011"/>
                    </a:ext>
                  </a:extLst>
                </a:gridCol>
                <a:gridCol w="630936">
                  <a:extLst>
                    <a:ext uri="{9D8B030D-6E8A-4147-A177-3AD203B41FA5}">
                      <a16:colId xmlns:a16="http://schemas.microsoft.com/office/drawing/2014/main" val="20012"/>
                    </a:ext>
                  </a:extLst>
                </a:gridCol>
                <a:gridCol w="914400">
                  <a:extLst>
                    <a:ext uri="{9D8B030D-6E8A-4147-A177-3AD203B41FA5}">
                      <a16:colId xmlns:a16="http://schemas.microsoft.com/office/drawing/2014/main" val="20013"/>
                    </a:ext>
                  </a:extLst>
                </a:gridCol>
                <a:gridCol w="960120">
                  <a:extLst>
                    <a:ext uri="{9D8B030D-6E8A-4147-A177-3AD203B41FA5}">
                      <a16:colId xmlns:a16="http://schemas.microsoft.com/office/drawing/2014/main" val="20014"/>
                    </a:ext>
                  </a:extLst>
                </a:gridCol>
              </a:tblGrid>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hL</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Jan</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Feb</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Mar</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Apr</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May</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Jun</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Jul</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Aug</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Sep</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Oct</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Nov</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Dec</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2027</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vs 2026 landing</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Skol Malt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18,899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17,549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15,659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21,599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21,599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242,716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Gatanu</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20,510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19,045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16,994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23,440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23,440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263,407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Virunga</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11,760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10,920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9,744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151,032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+39.6%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Panaché</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7,653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7,106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6,341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8,746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8,746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9,500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11,500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102,229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−3.8%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14213D"/>
                          </a:solidFill>
                          <a:latin typeface="Calibri" pitchFamily="34" charset="0"/>
                          <a:ea typeface="Calibri" pitchFamily="34" charset="-122"/>
                          <a:cs typeface="Calibri" pitchFamily="34" charset="-120"/>
                        </a:rPr>
                        <a:t>LOCAL (DOMESTIC)</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58,872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54,670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48,788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67,275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67,275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65,644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66,617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68,617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760,583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+9.7%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5B6478"/>
                          </a:solidFill>
                          <a:latin typeface="Calibri" pitchFamily="34" charset="0"/>
                          <a:ea typeface="Calibri" pitchFamily="34" charset="-122"/>
                          <a:cs typeface="Calibri" pitchFamily="34" charset="-120"/>
                        </a:rPr>
                        <a:t>Export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15,024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14,539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13,870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12,934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15,876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15,876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16,329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18,290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b="1" dirty="0">
                          <a:solidFill>
                            <a:srgbClr val="5B6478"/>
                          </a:solidFill>
                          <a:latin typeface="Calibri" pitchFamily="34" charset="0"/>
                          <a:ea typeface="Calibri" pitchFamily="34" charset="-122"/>
                          <a:cs typeface="Calibri" pitchFamily="34" charset="-120"/>
                        </a:rPr>
                        <a:t>185,173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b="1" dirty="0">
                          <a:solidFill>
                            <a:srgbClr val="5B6478"/>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extLst>
                  <a:ext uri="{0D108BD9-81ED-4DB2-BD59-A6C34878D82A}">
                    <a16:rowId xmlns:a16="http://schemas.microsoft.com/office/drawing/2014/main" val="10006"/>
                  </a:ext>
                </a:extLst>
              </a:tr>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LOCAL + EXPORT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80,618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73,410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68,540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61,722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83,151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83,151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81,253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82,946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86,907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945,756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+7.4%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extLst>
                  <a:ext uri="{0D108BD9-81ED-4DB2-BD59-A6C34878D82A}">
                    <a16:rowId xmlns:a16="http://schemas.microsoft.com/office/drawing/2014/main" val="10007"/>
                  </a:ext>
                </a:extLst>
              </a:tr>
            </a:tbl>
          </a:graphicData>
        </a:graphic>
      </p:graphicFrame>
      <p:graphicFrame>
        <p:nvGraphicFramePr>
          <p:cNvPr id="7" name="Chart 0"/>
          <p:cNvGraphicFramePr/>
          <p:nvPr/>
        </p:nvGraphicFramePr>
        <p:xfrm>
          <a:off x="411480" y="4544568"/>
          <a:ext cx="667512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8" name="s3b-c1"/>
          <p:cNvSpPr/>
          <p:nvPr/>
        </p:nvSpPr>
        <p:spPr>
          <a:xfrm>
            <a:off x="7269480" y="4544568"/>
            <a:ext cx="4507992" cy="822960"/>
          </a:xfrm>
          <a:prstGeom prst="roundRect">
            <a:avLst>
              <a:gd name="adj" fmla="val 11765"/>
            </a:avLst>
          </a:prstGeom>
          <a:solidFill>
            <a:srgbClr val="F2F5FB"/>
          </a:solidFill>
          <a:ln w="12700">
            <a:solidFill>
              <a:srgbClr val="F2F5FB"/>
            </a:solidFill>
            <a:prstDash val="solid"/>
          </a:ln>
        </p:spPr>
        <p:txBody>
          <a:bodyPr/>
          <a:lstStyle/>
          <a:p>
            <a:endParaRPr lang="fr-FR"/>
          </a:p>
        </p:txBody>
      </p:sp>
      <p:sp>
        <p:nvSpPr>
          <p:cNvPr id="9" name="s3b-cbar1"/>
          <p:cNvSpPr/>
          <p:nvPr/>
        </p:nvSpPr>
        <p:spPr>
          <a:xfrm>
            <a:off x="7269480" y="4544568"/>
            <a:ext cx="109728" cy="82296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10" name="Text 5"/>
          <p:cNvSpPr txBox="1"/>
          <p:nvPr/>
        </p:nvSpPr>
        <p:spPr>
          <a:xfrm>
            <a:off x="7479792" y="4599431"/>
            <a:ext cx="4206240" cy="237744"/>
          </a:xfrm>
          <a:prstGeom prst="rect">
            <a:avLst/>
          </a:prstGeom>
          <a:noFill/>
          <a:ln/>
        </p:spPr>
        <p:txBody>
          <a:bodyPr wrap="square" lIns="0" tIns="0" rIns="0" bIns="0" rtlCol="0" anchor="t"/>
          <a:lstStyle/>
          <a:p>
            <a:pPr marL="0" indent="0">
              <a:buNone/>
            </a:pPr>
            <a:r>
              <a:rPr lang="en-US" sz="1250" b="1" dirty="0">
                <a:solidFill>
                  <a:srgbClr val="0B1F4B"/>
                </a:solidFill>
                <a:latin typeface="Calibri" pitchFamily="34" charset="0"/>
                <a:ea typeface="Calibri" pitchFamily="34" charset="-122"/>
                <a:cs typeface="Calibri" pitchFamily="34" charset="-120"/>
              </a:rPr>
              <a:t>2 LINES UNDER STRAIN</a:t>
            </a:r>
            <a:endParaRPr lang="en-US" sz="1150" dirty="0"/>
          </a:p>
        </p:txBody>
      </p:sp>
      <p:sp>
        <p:nvSpPr>
          <p:cNvPr id="11" name="Text 6"/>
          <p:cNvSpPr txBox="1"/>
          <p:nvPr/>
        </p:nvSpPr>
        <p:spPr>
          <a:xfrm>
            <a:off x="7479792" y="4864607"/>
            <a:ext cx="4206240" cy="457200"/>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Mandatory maintenance and overhauls reduce capacity: we consolidate while waiting for the new line.</a:t>
            </a:r>
            <a:endParaRPr lang="en-US" sz="1100" dirty="0"/>
          </a:p>
        </p:txBody>
      </p:sp>
      <p:sp>
        <p:nvSpPr>
          <p:cNvPr id="16" name="s3b-c3"/>
          <p:cNvSpPr/>
          <p:nvPr/>
        </p:nvSpPr>
        <p:spPr>
          <a:xfrm>
            <a:off x="7269480" y="5458968"/>
            <a:ext cx="4507992" cy="822960"/>
          </a:xfrm>
          <a:prstGeom prst="roundRect">
            <a:avLst>
              <a:gd name="adj" fmla="val 11765"/>
            </a:avLst>
          </a:prstGeom>
          <a:solidFill>
            <a:srgbClr val="F2F5FB"/>
          </a:solidFill>
          <a:ln w="12700">
            <a:solidFill>
              <a:srgbClr val="F2F5FB"/>
            </a:solidFill>
            <a:prstDash val="solid"/>
          </a:ln>
        </p:spPr>
        <p:txBody>
          <a:bodyPr/>
          <a:lstStyle/>
          <a:p>
            <a:endParaRPr lang="fr-FR"/>
          </a:p>
        </p:txBody>
      </p:sp>
      <p:sp>
        <p:nvSpPr>
          <p:cNvPr id="17" name="s3b-cbar3"/>
          <p:cNvSpPr/>
          <p:nvPr/>
        </p:nvSpPr>
        <p:spPr>
          <a:xfrm>
            <a:off x="7269480" y="5458968"/>
            <a:ext cx="109728" cy="82296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18" name="Text 13"/>
          <p:cNvSpPr txBox="1"/>
          <p:nvPr/>
        </p:nvSpPr>
        <p:spPr>
          <a:xfrm>
            <a:off x="7479792" y="5513831"/>
            <a:ext cx="4206240" cy="237744"/>
          </a:xfrm>
          <a:prstGeom prst="rect">
            <a:avLst/>
          </a:prstGeom>
          <a:noFill/>
          <a:ln/>
        </p:spPr>
        <p:txBody>
          <a:bodyPr wrap="square" lIns="0" tIns="0" rIns="0" bIns="0" rtlCol="0" anchor="t"/>
          <a:lstStyle/>
          <a:p>
            <a:pPr marL="0" indent="0">
              <a:buNone/>
            </a:pPr>
            <a:r>
              <a:rPr lang="en-US" sz="1250" b="1" dirty="0">
                <a:solidFill>
                  <a:srgbClr val="0B1F4B"/>
                </a:solidFill>
                <a:latin typeface="Calibri" pitchFamily="34" charset="0"/>
                <a:ea typeface="Calibri" pitchFamily="34" charset="-122"/>
                <a:cs typeface="Calibri" pitchFamily="34" charset="-120"/>
              </a:rPr>
              <a:t>REGULATION: WE ARE WAITING FOR THE AUTHORITIES</a:t>
            </a:r>
            <a:endParaRPr lang="en-US" sz="1150" dirty="0"/>
          </a:p>
        </p:txBody>
      </p:sp>
      <p:sp>
        <p:nvSpPr>
          <p:cNvPr id="19" name="Text 14"/>
          <p:cNvSpPr txBox="1"/>
          <p:nvPr/>
        </p:nvSpPr>
        <p:spPr>
          <a:xfrm>
            <a:off x="7479792" y="5779007"/>
            <a:ext cx="4206240" cy="457200"/>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Local spirits and banana beers are probably re-authorised after the new regulation; we are waiting for it to decide and invest.</a:t>
            </a:r>
            <a:endParaRPr lang="en-US" sz="1100" dirty="0"/>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802429" cy="256032"/>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3" name="Text 1"/>
          <p:cNvSpPr txBox="1"/>
          <p:nvPr/>
        </p:nvSpPr>
        <p:spPr>
          <a:xfrm>
            <a:off x="411480" y="256032"/>
            <a:ext cx="4802429"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6 · 2027: INVEST, EXECUTE, WIN — FOOD FOR THOUGHT</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4 trade-offs to consolidate, execute and win</a:t>
            </a:r>
            <a:endParaRPr lang="en-US" sz="2800" dirty="0"/>
          </a:p>
        </p:txBody>
      </p:sp>
      <p:sp>
        <p:nvSpPr>
          <p:cNvPr id="6" name="s4-e1"/>
          <p:cNvSpPr/>
          <p:nvPr/>
        </p:nvSpPr>
        <p:spPr>
          <a:xfrm>
            <a:off x="411480"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7" name="s4-ebar1"/>
          <p:cNvSpPr/>
          <p:nvPr/>
        </p:nvSpPr>
        <p:spPr>
          <a:xfrm>
            <a:off x="411480" y="1371600"/>
            <a:ext cx="109728" cy="100584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8" name="Text 5"/>
          <p:cNvSpPr txBox="1"/>
          <p:nvPr/>
        </p:nvSpPr>
        <p:spPr>
          <a:xfrm>
            <a:off x="640080"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OPEX TM &amp; EVENTS</a:t>
            </a:r>
            <a:endParaRPr lang="en-US" sz="1100" dirty="0"/>
          </a:p>
        </p:txBody>
      </p:sp>
      <p:sp>
        <p:nvSpPr>
          <p:cNvPr id="9" name="Text 6"/>
          <p:cNvSpPr txBox="1"/>
          <p:nvPr/>
        </p:nvSpPr>
        <p:spPr>
          <a:xfrm>
            <a:off x="640080"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2,757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10" name="Text 7"/>
          <p:cNvSpPr txBox="1"/>
          <p:nvPr/>
        </p:nvSpPr>
        <p:spPr>
          <a:xfrm>
            <a:off x="640080"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+4.8% vs LE T3 · +24% vs 2026 budget</a:t>
            </a:r>
            <a:endParaRPr lang="en-US" sz="1100" dirty="0"/>
          </a:p>
        </p:txBody>
      </p:sp>
      <p:sp>
        <p:nvSpPr>
          <p:cNvPr id="11" name="s4-e2"/>
          <p:cNvSpPr/>
          <p:nvPr/>
        </p:nvSpPr>
        <p:spPr>
          <a:xfrm>
            <a:off x="3285439"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12" name="s4-ebar2"/>
          <p:cNvSpPr/>
          <p:nvPr/>
        </p:nvSpPr>
        <p:spPr>
          <a:xfrm>
            <a:off x="3285439" y="1371600"/>
            <a:ext cx="109728" cy="1005840"/>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13" name="Text 10"/>
          <p:cNvSpPr txBox="1"/>
          <p:nvPr/>
        </p:nvSpPr>
        <p:spPr>
          <a:xfrm>
            <a:off x="3514039"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CAPEX TM &amp; EVENTS</a:t>
            </a:r>
            <a:endParaRPr lang="en-US" sz="1100" dirty="0"/>
          </a:p>
        </p:txBody>
      </p:sp>
      <p:sp>
        <p:nvSpPr>
          <p:cNvPr id="14" name="Text 11"/>
          <p:cNvSpPr txBox="1"/>
          <p:nvPr/>
        </p:nvSpPr>
        <p:spPr>
          <a:xfrm>
            <a:off x="3514039"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1,412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15" name="Text 12"/>
          <p:cNvSpPr txBox="1"/>
          <p:nvPr/>
        </p:nvSpPr>
        <p:spPr>
          <a:xfrm>
            <a:off x="3514039"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−17.5% vs LE T3 · −16% vs 2026 budget</a:t>
            </a:r>
            <a:endParaRPr lang="en-US" sz="1100" dirty="0"/>
          </a:p>
        </p:txBody>
      </p:sp>
      <p:sp>
        <p:nvSpPr>
          <p:cNvPr id="16" name="s4-e3"/>
          <p:cNvSpPr/>
          <p:nvPr/>
        </p:nvSpPr>
        <p:spPr>
          <a:xfrm>
            <a:off x="6159398"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17" name="s4-ebar3"/>
          <p:cNvSpPr/>
          <p:nvPr/>
        </p:nvSpPr>
        <p:spPr>
          <a:xfrm>
            <a:off x="6159398" y="1371600"/>
            <a:ext cx="109728" cy="1005840"/>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18" name="Text 15"/>
          <p:cNvSpPr txBox="1"/>
          <p:nvPr/>
        </p:nvSpPr>
        <p:spPr>
          <a:xfrm>
            <a:off x="6387998"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FREE GOODS</a:t>
            </a:r>
            <a:endParaRPr lang="en-US" sz="1100" dirty="0"/>
          </a:p>
        </p:txBody>
      </p:sp>
      <p:sp>
        <p:nvSpPr>
          <p:cNvPr id="19" name="Text 16"/>
          <p:cNvSpPr txBox="1"/>
          <p:nvPr/>
        </p:nvSpPr>
        <p:spPr>
          <a:xfrm>
            <a:off x="6387998"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1,250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20" name="Text 17"/>
          <p:cNvSpPr txBox="1"/>
          <p:nvPr/>
        </p:nvSpPr>
        <p:spPr>
          <a:xfrm>
            <a:off x="6387998"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+13.6% vs LE T3 · incl. P4P 814 M</a:t>
            </a:r>
            <a:endParaRPr lang="en-US" sz="1100" dirty="0"/>
          </a:p>
        </p:txBody>
      </p:sp>
      <p:sp>
        <p:nvSpPr>
          <p:cNvPr id="21" name="s4-e4"/>
          <p:cNvSpPr/>
          <p:nvPr/>
        </p:nvSpPr>
        <p:spPr>
          <a:xfrm>
            <a:off x="9033358"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22" name="s4-ebar4"/>
          <p:cNvSpPr/>
          <p:nvPr/>
        </p:nvSpPr>
        <p:spPr>
          <a:xfrm>
            <a:off x="9033358" y="1371600"/>
            <a:ext cx="109728" cy="1005840"/>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23" name="Text 20"/>
          <p:cNvSpPr txBox="1"/>
          <p:nvPr/>
        </p:nvSpPr>
        <p:spPr>
          <a:xfrm>
            <a:off x="9261958"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BI · ODOO · EBM</a:t>
            </a:r>
            <a:endParaRPr lang="en-US" sz="1100" dirty="0"/>
          </a:p>
        </p:txBody>
      </p:sp>
      <p:sp>
        <p:nvSpPr>
          <p:cNvPr id="24" name="Text 21"/>
          <p:cNvSpPr txBox="1"/>
          <p:nvPr/>
        </p:nvSpPr>
        <p:spPr>
          <a:xfrm>
            <a:off x="9261958"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168.5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25" name="Text 22"/>
          <p:cNvSpPr txBox="1"/>
          <p:nvPr/>
        </p:nvSpPr>
        <p:spPr>
          <a:xfrm>
            <a:off x="9261958"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vs 109.7 M 2026 budget</a:t>
            </a:r>
            <a:endParaRPr lang="en-US" sz="1100" dirty="0"/>
          </a:p>
        </p:txBody>
      </p:sp>
      <p:graphicFrame>
        <p:nvGraphicFramePr>
          <p:cNvPr id="26" name="Chart 0"/>
          <p:cNvGraphicFramePr/>
          <p:nvPr/>
        </p:nvGraphicFramePr>
        <p:xfrm>
          <a:off x="411480" y="2468880"/>
          <a:ext cx="557784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27" name="s4-prio"/>
          <p:cNvSpPr/>
          <p:nvPr/>
        </p:nvSpPr>
        <p:spPr>
          <a:xfrm>
            <a:off x="6126480" y="2468880"/>
            <a:ext cx="5650992" cy="2331720"/>
          </a:xfrm>
          <a:prstGeom prst="roundRect">
            <a:avLst>
              <a:gd name="adj" fmla="val 3137"/>
            </a:avLst>
          </a:prstGeom>
          <a:solidFill>
            <a:srgbClr val="E3EAF7"/>
          </a:solidFill>
          <a:ln w="12700">
            <a:solidFill>
              <a:srgbClr val="E3EAF7"/>
            </a:solidFill>
            <a:prstDash val="solid"/>
          </a:ln>
        </p:spPr>
        <p:txBody>
          <a:bodyPr/>
          <a:lstStyle/>
          <a:p>
            <a:endParaRPr lang="fr-FR"/>
          </a:p>
        </p:txBody>
      </p:sp>
      <p:sp>
        <p:nvSpPr>
          <p:cNvPr id="28" name="Text 24"/>
          <p:cNvSpPr txBox="1"/>
          <p:nvPr/>
        </p:nvSpPr>
        <p:spPr>
          <a:xfrm>
            <a:off x="6263640" y="2505456"/>
            <a:ext cx="5394960" cy="237744"/>
          </a:xfrm>
          <a:prstGeom prst="rect">
            <a:avLst/>
          </a:prstGeom>
          <a:noFill/>
          <a:ln/>
        </p:spPr>
        <p:txBody>
          <a:bodyPr wrap="square" lIns="0" tIns="0" rIns="0" bIns="0" rtlCol="0" anchor="t"/>
          <a:lstStyle/>
          <a:p>
            <a:pPr marL="0" indent="0">
              <a:buNone/>
            </a:pPr>
            <a:r>
              <a:rPr lang="en-US" sz="1300" b="1" dirty="0">
                <a:solidFill>
                  <a:srgbClr val="0B1F4B"/>
                </a:solidFill>
                <a:latin typeface="Calibri" pitchFamily="34" charset="0"/>
                <a:ea typeface="Calibri" pitchFamily="34" charset="-122"/>
                <a:cs typeface="Calibri" pitchFamily="34" charset="-120"/>
              </a:rPr>
              <a:t>OUR 2027 DECISION RULES</a:t>
            </a:r>
            <a:endParaRPr lang="en-US" sz="1300" dirty="0"/>
          </a:p>
        </p:txBody>
      </p:sp>
      <p:sp>
        <p:nvSpPr>
          <p:cNvPr id="29" name="Text 25"/>
          <p:cNvSpPr txBox="1"/>
          <p:nvPr/>
        </p:nvSpPr>
        <p:spPr>
          <a:xfrm>
            <a:off x="6263640" y="276148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SELL-OUT</a:t>
            </a:r>
            <a:r>
              <a:rPr lang="en-US" sz="1300" b="1" dirty="0">
                <a:solidFill>
                  <a:srgbClr val="0B1F4B"/>
                </a:solidFill>
                <a:latin typeface="Calibri" pitchFamily="34" charset="0"/>
                <a:ea typeface="Calibri" pitchFamily="34" charset="-122"/>
                <a:cs typeface="Calibri" pitchFamily="34" charset="-120"/>
              </a:rPr>
              <a:t> before sell-in</a:t>
            </a:r>
            <a:endParaRPr lang="en-US" sz="1300" dirty="0"/>
          </a:p>
        </p:txBody>
      </p:sp>
      <p:sp>
        <p:nvSpPr>
          <p:cNvPr id="30" name="Text 26"/>
          <p:cNvSpPr txBox="1"/>
          <p:nvPr/>
        </p:nvSpPr>
        <p:spPr>
          <a:xfrm>
            <a:off x="8961120" y="276148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PERFORMANCE</a:t>
            </a:r>
            <a:r>
              <a:rPr lang="en-US" sz="1300" b="1" dirty="0">
                <a:solidFill>
                  <a:srgbClr val="0B1F4B"/>
                </a:solidFill>
                <a:latin typeface="Calibri" pitchFamily="34" charset="0"/>
                <a:ea typeface="Calibri" pitchFamily="34" charset="-122"/>
                <a:cs typeface="Calibri" pitchFamily="34" charset="-120"/>
              </a:rPr>
              <a:t> before exclusivity</a:t>
            </a:r>
            <a:endParaRPr lang="en-US" sz="1300" dirty="0"/>
          </a:p>
        </p:txBody>
      </p:sp>
      <p:sp>
        <p:nvSpPr>
          <p:cNvPr id="31" name="Text 27"/>
          <p:cNvSpPr txBox="1"/>
          <p:nvPr/>
        </p:nvSpPr>
        <p:spPr>
          <a:xfrm>
            <a:off x="6263640" y="303580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ROI</a:t>
            </a:r>
            <a:r>
              <a:rPr lang="en-US" sz="1300" b="1" dirty="0">
                <a:solidFill>
                  <a:srgbClr val="0B1F4B"/>
                </a:solidFill>
                <a:latin typeface="Calibri" pitchFamily="34" charset="0"/>
                <a:ea typeface="Calibri" pitchFamily="34" charset="-122"/>
                <a:cs typeface="Calibri" pitchFamily="34" charset="-120"/>
              </a:rPr>
              <a:t> before investment</a:t>
            </a:r>
            <a:endParaRPr lang="en-US" sz="1300" dirty="0"/>
          </a:p>
        </p:txBody>
      </p:sp>
      <p:sp>
        <p:nvSpPr>
          <p:cNvPr id="32" name="Text 28"/>
          <p:cNvSpPr txBox="1"/>
          <p:nvPr/>
        </p:nvSpPr>
        <p:spPr>
          <a:xfrm>
            <a:off x="8961120" y="303580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SIMPLIFY</a:t>
            </a:r>
            <a:r>
              <a:rPr lang="en-US" sz="1300" b="1" dirty="0">
                <a:solidFill>
                  <a:srgbClr val="0B1F4B"/>
                </a:solidFill>
                <a:latin typeface="Calibri" pitchFamily="34" charset="0"/>
                <a:ea typeface="Calibri" pitchFamily="34" charset="-122"/>
                <a:cs typeface="Calibri" pitchFamily="34" charset="-120"/>
              </a:rPr>
              <a:t> before adding</a:t>
            </a:r>
            <a:endParaRPr lang="en-US" sz="1300" dirty="0"/>
          </a:p>
        </p:txBody>
      </p:sp>
      <p:sp>
        <p:nvSpPr>
          <p:cNvPr id="33" name="Text 29"/>
          <p:cNvSpPr txBox="1"/>
          <p:nvPr/>
        </p:nvSpPr>
        <p:spPr>
          <a:xfrm>
            <a:off x="6263640" y="331012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DATA</a:t>
            </a:r>
            <a:r>
              <a:rPr lang="en-US" sz="1300" b="1" dirty="0">
                <a:solidFill>
                  <a:srgbClr val="0B1F4B"/>
                </a:solidFill>
                <a:latin typeface="Calibri" pitchFamily="34" charset="0"/>
                <a:ea typeface="Calibri" pitchFamily="34" charset="-122"/>
                <a:cs typeface="Calibri" pitchFamily="34" charset="-120"/>
              </a:rPr>
              <a:t> before opinion</a:t>
            </a:r>
            <a:endParaRPr lang="en-US" sz="1300" dirty="0"/>
          </a:p>
        </p:txBody>
      </p:sp>
      <p:sp>
        <p:nvSpPr>
          <p:cNvPr id="34" name="Text 30"/>
          <p:cNvSpPr txBox="1"/>
          <p:nvPr/>
        </p:nvSpPr>
        <p:spPr>
          <a:xfrm>
            <a:off x="8961120" y="331012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EXECUTION</a:t>
            </a:r>
            <a:r>
              <a:rPr lang="en-US" sz="1300" b="1" dirty="0">
                <a:solidFill>
                  <a:srgbClr val="0B1F4B"/>
                </a:solidFill>
                <a:latin typeface="Calibri" pitchFamily="34" charset="0"/>
                <a:ea typeface="Calibri" pitchFamily="34" charset="-122"/>
                <a:cs typeface="Calibri" pitchFamily="34" charset="-120"/>
              </a:rPr>
              <a:t> before more budget</a:t>
            </a:r>
            <a:endParaRPr lang="en-US" sz="1300" dirty="0"/>
          </a:p>
        </p:txBody>
      </p:sp>
      <p:sp>
        <p:nvSpPr>
          <p:cNvPr id="35" name="Text 31"/>
          <p:cNvSpPr txBox="1"/>
          <p:nvPr/>
        </p:nvSpPr>
        <p:spPr>
          <a:xfrm>
            <a:off x="6263640" y="3611880"/>
            <a:ext cx="5394960" cy="117043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2027 teams (FTE budget): 76 permanent (+3), 13 temporary (−2), 1,368 M RWF/year</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RPL: 3-year sponsorship partnership, hence a significant Trade Marketing and Events budget; return tracked event by event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OPEX +24% vs 2026 budget, but +4.8% vs LE T3: the 2026 budget was exceeded by 18%</a:t>
            </a:r>
            <a:endParaRPr lang="en-US" sz="1100" dirty="0"/>
          </a:p>
        </p:txBody>
      </p:sp>
      <p:sp>
        <p:nvSpPr>
          <p:cNvPr id="36" name="s4-d1"/>
          <p:cNvSpPr/>
          <p:nvPr/>
        </p:nvSpPr>
        <p:spPr>
          <a:xfrm>
            <a:off x="411480"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37" name="Text 33"/>
          <p:cNvSpPr txBox="1"/>
          <p:nvPr/>
        </p:nvSpPr>
        <p:spPr>
          <a:xfrm>
            <a:off x="521208"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CAPACITY</a:t>
            </a:r>
            <a:endParaRPr lang="en-US" sz="1150" dirty="0"/>
          </a:p>
        </p:txBody>
      </p:sp>
      <p:sp>
        <p:nvSpPr>
          <p:cNvPr id="38" name="Text 34"/>
          <p:cNvSpPr txBox="1"/>
          <p:nvPr/>
        </p:nvSpPr>
        <p:spPr>
          <a:xfrm>
            <a:off x="521208"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Lines under strain: trade-offs, quotas, allocations … Mist 50 cl, Malt 65 cl, Gatanu or export (19.6%)?</a:t>
            </a:r>
            <a:endParaRPr lang="en-US" sz="1250" dirty="0"/>
          </a:p>
        </p:txBody>
      </p:sp>
      <p:sp>
        <p:nvSpPr>
          <p:cNvPr id="39" name="s4-d2"/>
          <p:cNvSpPr/>
          <p:nvPr/>
        </p:nvSpPr>
        <p:spPr>
          <a:xfrm>
            <a:off x="3285439"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0" name="Text 36"/>
          <p:cNvSpPr txBox="1"/>
          <p:nvPr/>
        </p:nvSpPr>
        <p:spPr>
          <a:xfrm>
            <a:off x="3395167"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PACKAGING</a:t>
            </a:r>
            <a:endParaRPr lang="en-US" sz="1150" dirty="0"/>
          </a:p>
        </p:txBody>
      </p:sp>
      <p:sp>
        <p:nvSpPr>
          <p:cNvPr id="41" name="Text 37"/>
          <p:cNvSpPr txBox="1"/>
          <p:nvPr/>
        </p:nvSpPr>
        <p:spPr>
          <a:xfrm>
            <a:off x="3395167"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Invest in crates and bottles, and arbitrate the price / product mix</a:t>
            </a:r>
            <a:endParaRPr lang="en-US" sz="1250" dirty="0"/>
          </a:p>
        </p:txBody>
      </p:sp>
      <p:sp>
        <p:nvSpPr>
          <p:cNvPr id="42" name="s4-d3"/>
          <p:cNvSpPr/>
          <p:nvPr/>
        </p:nvSpPr>
        <p:spPr>
          <a:xfrm>
            <a:off x="6159398"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3" name="Text 39"/>
          <p:cNvSpPr txBox="1"/>
          <p:nvPr/>
        </p:nvSpPr>
        <p:spPr>
          <a:xfrm>
            <a:off x="6269126"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P4P</a:t>
            </a:r>
            <a:endParaRPr lang="en-US" sz="1150" dirty="0"/>
          </a:p>
        </p:txBody>
      </p:sp>
      <p:sp>
        <p:nvSpPr>
          <p:cNvPr id="44" name="Text 40"/>
          <p:cNvSpPr txBox="1"/>
          <p:nvPr/>
        </p:nvSpPr>
        <p:spPr>
          <a:xfrm>
            <a:off x="6269126"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Pay for sell-out, redistribute better. March 2027 Distribution contracts…</a:t>
            </a:r>
            <a:endParaRPr lang="en-US" sz="1250" dirty="0"/>
          </a:p>
        </p:txBody>
      </p:sp>
      <p:sp>
        <p:nvSpPr>
          <p:cNvPr id="45" name="s4-d4"/>
          <p:cNvSpPr/>
          <p:nvPr/>
        </p:nvSpPr>
        <p:spPr>
          <a:xfrm>
            <a:off x="9033358"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6" name="Text 42"/>
          <p:cNvSpPr txBox="1"/>
          <p:nvPr/>
        </p:nvSpPr>
        <p:spPr>
          <a:xfrm>
            <a:off x="9143086"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OPEX AND RPL</a:t>
            </a:r>
            <a:endParaRPr lang="en-US" sz="1150" dirty="0"/>
          </a:p>
        </p:txBody>
      </p:sp>
      <p:sp>
        <p:nvSpPr>
          <p:cNvPr id="47" name="Text 43"/>
          <p:cNvSpPr txBox="1"/>
          <p:nvPr/>
        </p:nvSpPr>
        <p:spPr>
          <a:xfrm>
            <a:off x="9143086"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3-year RPL and keeping what has been gained, what works (B2B, B2C, …)</a:t>
            </a:r>
            <a:endParaRPr lang="en-US" sz="1250" dirty="0"/>
          </a:p>
        </p:txBody>
      </p:sp>
      <p:sp>
        <p:nvSpPr>
          <p:cNvPr id="48" name="banner"/>
          <p:cNvSpPr/>
          <p:nvPr/>
        </p:nvSpPr>
        <p:spPr>
          <a:xfrm>
            <a:off x="411480" y="5815584"/>
            <a:ext cx="11365992" cy="493776"/>
          </a:xfrm>
          <a:prstGeom prst="roundRect">
            <a:avLst>
              <a:gd name="adj" fmla="val 14815"/>
            </a:avLst>
          </a:prstGeom>
          <a:solidFill>
            <a:srgbClr val="0B1F4B"/>
          </a:solidFill>
          <a:ln w="12700">
            <a:solidFill>
              <a:srgbClr val="0B1F4B"/>
            </a:solidFill>
            <a:prstDash val="solid"/>
          </a:ln>
        </p:spPr>
        <p:txBody>
          <a:bodyPr/>
          <a:lstStyle/>
          <a:p>
            <a:endParaRPr lang="fr-FR"/>
          </a:p>
        </p:txBody>
      </p:sp>
      <p:sp>
        <p:nvSpPr>
          <p:cNvPr id="49" name="banner-bar"/>
          <p:cNvSpPr/>
          <p:nvPr/>
        </p:nvSpPr>
        <p:spPr>
          <a:xfrm>
            <a:off x="411480" y="5815584"/>
            <a:ext cx="128016" cy="493776"/>
          </a:xfrm>
          <a:prstGeom prst="rect">
            <a:avLst/>
          </a:prstGeom>
          <a:solidFill>
            <a:srgbClr val="FFC20E"/>
          </a:solidFill>
          <a:ln w="12700">
            <a:solidFill>
              <a:srgbClr val="FFC20E"/>
            </a:solidFill>
            <a:prstDash val="solid"/>
          </a:ln>
        </p:spPr>
        <p:txBody>
          <a:bodyPr/>
          <a:lstStyle/>
          <a:p>
            <a:endParaRPr lang="fr-FR"/>
          </a:p>
        </p:txBody>
      </p:sp>
      <p:sp>
        <p:nvSpPr>
          <p:cNvPr id="50" name="Text 46"/>
          <p:cNvSpPr txBox="1"/>
          <p:nvPr/>
        </p:nvSpPr>
        <p:spPr>
          <a:xfrm>
            <a:off x="731520" y="5815584"/>
            <a:ext cx="10927080" cy="493776"/>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We will fund what helps us sell, distribute and retain.</a:t>
            </a:r>
            <a:endParaRPr lang="en-US" sz="17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16689</Words>
  <Application>Microsoft Office PowerPoint</Application>
  <PresentationFormat>Widescreen</PresentationFormat>
  <Paragraphs>1739</Paragraphs>
  <Slides>66</Slides>
  <Notes>49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66</vt:i4>
      </vt:variant>
    </vt:vector>
  </HeadingPairs>
  <TitlesOfParts>
    <vt:vector size="79" baseType="lpstr">
      <vt:lpstr>Aptos</vt:lpstr>
      <vt:lpstr>Aptos Display</vt:lpstr>
      <vt:lpstr>Aptos Narrow</vt:lpstr>
      <vt:lpstr>Arial</vt:lpstr>
      <vt:lpstr>Calibri</vt:lpstr>
      <vt:lpstr>Calibri Light</vt:lpstr>
      <vt:lpstr>Century Gothic</vt:lpstr>
      <vt:lpstr>Courier New</vt:lpstr>
      <vt:lpstr>Garamond</vt:lpstr>
      <vt:lpstr>Times New Roman</vt:lpstr>
      <vt:lpstr>Verdana</vt:lpstr>
      <vt:lpstr>Wingdings</vt:lpstr>
      <vt:lpstr>Office Theme</vt:lpstr>
      <vt:lpstr>QRM  Octobre 2026</vt:lpstr>
      <vt:lpstr>2026 : les fondations sont posées</vt:lpstr>
      <vt:lpstr>2026 : le local, de 51 k hL en mars à 74 k en septembre</vt:lpstr>
      <vt:lpstr>2026 : 1 équipe, de l'activité à l'exécution</vt:lpstr>
      <vt:lpstr>2027 : 760 583 hL en local, soit 63 k hL/mois</vt:lpstr>
      <vt:lpstr>2027 : Budget borné par la production</vt:lpstr>
      <vt:lpstr>2027 : 4 arbitrages pour consolider, exécuter et gagner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RTM Q3 2026</vt:lpstr>
      <vt:lpstr>Q3 2026: three rules driving our Route to Market</vt:lpstr>
      <vt:lpstr>Market coverage: every territory assigned and visited</vt:lpstr>
      <vt:lpstr>Price compliance: support given, discipline enforced</vt:lpstr>
      <vt:lpstr>Sell-out mindset: what the market buys, not what we load</vt:lpstr>
      <vt:lpstr>P4P 2027: from sell-in to a full sell-out mindset</vt:lpstr>
      <vt:lpstr>Next steps and board decisions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lpstr>2026: the foundations are laid</vt:lpstr>
      <vt:lpstr>2026: local sales, from 51 k hL in March to 74 k in September</vt:lpstr>
      <vt:lpstr>2026: one team, from activity to execution</vt:lpstr>
      <vt:lpstr>2027: 760,583 hL local, or 63 k hL/month</vt:lpstr>
      <vt:lpstr>2027: Budget bounded by production</vt:lpstr>
      <vt:lpstr>2027: 4 trade-offs to consolidate, execute and win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Ernest BIZIMANA</dc:creator>
  <cp:lastModifiedBy>Ernest BIZIMANA</cp:lastModifiedBy>
  <cp:revision>1</cp:revision>
  <dcterms:created xsi:type="dcterms:W3CDTF">2026-10-20T09:16:35Z</dcterms:created>
  <dcterms:modified xsi:type="dcterms:W3CDTF">2026-10-20T09:16:57Z</dcterms:modified>
</cp:coreProperties>
</file>